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7"/>
    <p:sldId id="257" r:id="rId8"/>
    <p:sldId id="258" r:id="rId9"/>
    <p:sldId id="259" r:id="rId10"/>
    <p:sldId id="260" r:id="rId11"/>
    <p:sldId id="261" r:id="rId12"/>
    <p:sldId id="262" r:id="rId13"/>
    <p:sldId id="263" r:id="rId14"/>
    <p:sldId id="264" r:id="rId15"/>
    <p:sldId id="265" r:id="rId1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  <Relationship Id="rId17"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en-US"/>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en-US"/>
          </a:p>
        </p:txBody>
      </p:sp>
    </p:spTree>
  </p:cSld>
  <p:clrMap bg1="lt1" tx1="dk1" bg2="lt2" tx2="dk2" accent1="accent1" accent2="accent2" accent3="accent3" accent4="accent4" accent5="accent5" accent6="accent6" hlink="hlink" folHlink="folHlink"/>
  <p:hf/>
  <p:notesStyle>
    <a:lvl1pPr marL="0" algn="l">
      <a:defRPr sz="1200" lang="en-US"/>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This case study asks whether a small, transparent photonic feature map can add value in few-label steel defect classification. In one frozen outer-fold pilot measured on 11 September 2026, the photonic model reaches a macro-F1 of 0.8708 at forty-eight labels per class. The full CLIP embedding with a linear classifier reaches 0.9852 on the same test fold, leaving a gap of 0.1143. The photonic model does beat the locked random Fourier feature baseline, but it does not beat ELM, the RBF-SVM controls, or the full embedding. That result is useful because it identifies a concrete representation bottleneck and gives the next experiment a falsifiable decision gate.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benchmark contains 1,800 valid images, balanced across six surface-defect classes with three hundred images per class: crazing, inclusion, patches, pitted surface, rolled-in scale, and scratches. The audit quarantined no invalid files, but it found one exact duplicate pair, Pa_101 and Pa_105. Those two images share one duplicate group, so they can never cross the train, validation, and test boundary. Fold zero uses seed forty-two and holds out sixty images per class, with checks confirming there is no sample-ID or duplicate-group overlap. This group-safe split matters because even one duplicated image on both sides could make a small-data result look stronger than it is.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Every model starts from a frozen OpenCLIP ViT-B/32 embedding, which is L2-normalized. PCA is fitted on training data only, reduces the representation to five dimensions, and scales those values into the phase range from minus pi to pi. The ideal photonic map uses six modes and two photons: modes zero through four encode the input while mode five acts as a reference, with occupation one-zero-one-zero-zero-zero. A fixed Haar-random unitary appears on both sides of the diagonal phase encoding, and postselection converts twenty-one possible outputs into a fifteen-dimensional conditional probability feature vector for a linear readout. Map seeds 101, 202, and 303 are averaged rather than selected or ensembled. Independent checks against Perceval 1.2.4 and MerLin 0.4.1 agree to about four times ten to the minus seventeen and eight times ten to the minus seventeen maximum error, respectively, which supports the simulator semantics used here.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paired label budgets are twelve, twenty-four, and forty-eight examples per class, divided into eight plus four, sixteen plus eight, and thirty-two plus sixteen for training and validation. Subset seeds eleven, twenty-two, and thirty-three are nested and share the same outer test fold. Seven model families face the same test gate: linear and RBF classifiers on full CLIP, linear and RBF classifiers on PCA-five, random Fourier features with fifteen outputs, ELM with fifteen outputs, and the fifteen-output photonic model. The first-run ledger contains 1,404 candidate fits but only 117 test evaluations. Hyperparameters are selected using validation macro-F1, map seeds are averaged rather than picked, training and validation are not refit together, and each selected configuration receives one locked test evaluation. Because evaluations reuse one outer test set, the repeated cells improve descriptive stability but do not create independent estimates of population generalization.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learning curves show that the photonic model learns useful structure as the label budget rises: mean macro-F1 moves from 0.7812 at twelve labels per class to 0.7886 at twenty-four and 0.8708 at forty-eight. The full CLIP linear model is already at 0.9242 at the smallest budget and reaches 0.9852 at the largest. At forty-eight labels, Q1 therefore trails B1 by 0.1143, even though its own gain with more labels is real. Each point is the mean across three subset seeds, and the uncertainty bars are sample standard deviations, so the chart should be read as a measured pattern on this outer fold. The evidence supports continued study of the learned photonic representation, but it gives no case for discarding the full embedding.</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Compressing the CLIP embedding to five principal components causes a large performance penalty before any nonlinear map is applied. For the linear classifier, the full-minus-PCA gap is 0.1018, 0.0993, and 0.0713 at label budgets twelve, twenty-four, and forty-eight. For the RBF classifier, the corresponding gaps are 0.0657, 0.0872, and 0.0263. At twenty-four labels per class, PCA-five linear scores 0.8646, PCA-five RBF scores 0.8444, ELM scores 0.8318, and Q1 scores 0.7886. The key implication is that information is lost during compression, before the classical or photonic nonlinear feature map is evaluated. Any follow-up should therefore separate the effect of compression from the effect of the circuit.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Pairing results by subset makes the comparison direction clear. Against the fifteen-feature random Fourier map, Q1 gains 0.3133, 0.2238, and 0.2307 macro-F1 at twelve, twenty-four, and forty-eight labels per class. Against ELM, however, Q1 is lower by 0.0166, 0.0432, and 0.0215. Against PCA-five RBF, it is lower by 0.0507, 0.0558, and 0.0534. These are descriptive differences paired within the same subset and outer test fold, so they reveal a consistent ranking without supporting a broad significance claim. The result narrows the claim to a specific weak baseline: this photonic map is better than locked RFF, but it does not establish an advantage over the stronger nonlinear controls.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Finite-shot inference was evaluated fifteen times at each of three shot counts. Mean macro-F1 is 0.7662 with five hundred launched shots, 0.7739 with two thousand, and 0.7725 with eight thousand; the sample standard deviations are about 0.0322, 0.0308, and 0.0363. Acceptance stays near 0.754 and there are no zero-acceptance failures across all forty-five evaluations. Increasing the number of launched shots therefore produces no meaningful recovery toward the ideal-model benchmark. This test uses a readout trained on ideal probabilities, rather than noise-aware training, so it isolates sampling sensitivity but does not represent a complete hardware-noise study.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On the measured local CPU run, OpenCLIP feature extraction takes 96.57 seconds and the first-run benchmark after embeddings takes about 59.9 seconds. Within that benchmark, Q1 candidate fitting and validation accounts for about twenty-six seconds, with roughly 8.37 seconds for its test inference, so the pilot is computationally manageable. The stronger limitation is the evidence ladder: simulator semantics are validated, repeated subset evaluations are complete, and one outer-fold generalization test exists, while realistic photonic noise and hardware execution remain untested. The result also depends on small validation cells, and the full CLIP linear baseline is already near ceiling. Runtime is therefore not the current decision constraint; external validity under more folds, harder data, noise, and hardware is.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next experiment is a twelve-week conditional program. Weeks one and two freeze an R4 protocol with five outer folds; weeks three and four preregister PCA and circuit ablations; weeks five and six add loss, phase drift, and detector effects; weeks seven and eight run a remote subset with raw counts and calibration; and weeks nine through twelve replicate on a harder dataset. The program continues only if Q1 closes the ELM or RBF gap across outer folds, or demonstrates a resource tradeoff with practical value. If Q1 continues to beat only RFF, the correct conclusion is feasibility without utility and the line should stop. The complete code, protocol, results, and interview materials are available in the linked GitHub repository for reproduction and review.</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quanova_interview_case_study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quanova_interview_case_study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30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7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6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5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95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850" kern="1200">
          <a:solidFill>
            <a:schemeClr val="tx1"/>
          </a:solidFill>
          <a:latin typeface="+mn-lt"/>
          <a:ea typeface="+mn-ea"/>
          <a:cs typeface="+mn-cs"/>
        </a:defRPr>
      </a:lvl9pPr>
    </p:bodyStyle>
    <p:otherStyle>
      <a:defPPr>
        <a:defRPr lang="en-US"/>
      </a:defPPr>
      <a:lvl1pPr marL="0" algn="l" defTabSz="457200" rtl="0" eaLnBrk="1" latinLnBrk="0" hangingPunct="1">
        <a:defRPr sz="1700" kern="1200">
          <a:solidFill>
            <a:schemeClr val="tx1"/>
          </a:solidFill>
          <a:latin typeface="+mn-lt"/>
          <a:ea typeface="+mn-ea"/>
          <a:cs typeface="+mn-cs"/>
        </a:defRPr>
      </a:lvl1pPr>
      <a:lvl2pPr marL="457200" algn="l" defTabSz="457200" rtl="0" eaLnBrk="1" latinLnBrk="0" hangingPunct="1">
        <a:defRPr sz="1600" kern="1200">
          <a:solidFill>
            <a:schemeClr val="tx1"/>
          </a:solidFill>
          <a:latin typeface="+mn-lt"/>
          <a:ea typeface="+mn-ea"/>
          <a:cs typeface="+mn-cs"/>
        </a:defRPr>
      </a:lvl2pPr>
      <a:lvl3pPr marL="914400" algn="l" defTabSz="457200" rtl="0" eaLnBrk="1" latinLnBrk="0" hangingPunct="1">
        <a:defRPr sz="1500" kern="1200">
          <a:solidFill>
            <a:schemeClr val="tx1"/>
          </a:solidFill>
          <a:latin typeface="+mn-lt"/>
          <a:ea typeface="+mn-ea"/>
          <a:cs typeface="+mn-cs"/>
        </a:defRPr>
      </a:lvl3pPr>
      <a:lvl4pPr marL="1371600" algn="l" defTabSz="457200" rtl="0" eaLnBrk="1" latinLnBrk="0" hangingPunct="1">
        <a:defRPr sz="1400" kern="1200">
          <a:solidFill>
            <a:schemeClr val="tx1"/>
          </a:solidFill>
          <a:latin typeface="+mn-lt"/>
          <a:ea typeface="+mn-ea"/>
          <a:cs typeface="+mn-cs"/>
        </a:defRPr>
      </a:lvl4pPr>
      <a:lvl5pPr marL="1828800" algn="l" defTabSz="457200" rtl="0" eaLnBrk="1" latinLnBrk="0" hangingPunct="1">
        <a:defRPr sz="13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100" kern="1200">
          <a:solidFill>
            <a:schemeClr val="tx1"/>
          </a:solidFill>
          <a:latin typeface="+mn-lt"/>
          <a:ea typeface="+mn-ea"/>
          <a:cs typeface="+mn-cs"/>
        </a:defRPr>
      </a:lvl7pPr>
      <a:lvl8pPr marL="3200400" algn="l" defTabSz="457200" rtl="0" eaLnBrk="1" latinLnBrk="0" hangingPunct="1">
        <a:defRPr sz="950" kern="1200">
          <a:solidFill>
            <a:schemeClr val="tx1"/>
          </a:solidFill>
          <a:latin typeface="+mn-lt"/>
          <a:ea typeface="+mn-ea"/>
          <a:cs typeface="+mn-cs"/>
        </a:defRPr>
      </a:lvl8pPr>
      <a:lvl9pPr marL="3657600" algn="l" defTabSz="457200" rtl="0" eaLnBrk="1" latinLnBrk="0" hangingPunct="1">
        <a:defRPr sz="8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4284d2cc43e5ab5.png"/>
  <Relationship Id="rId3" Type="http://schemas.openxmlformats.org/officeDocument/2006/relationships/image" Target="../media/image_e293769c30b47a18.png"/>
  <Relationship Id="rId4" Type="http://schemas.openxmlformats.org/officeDocument/2006/relationships/image" Target="../media/image_dcc98b48f2678b03.png"/>
  <Relationship Id="rId5" Type="http://schemas.openxmlformats.org/officeDocument/2006/relationships/image" Target="../media/image_7a56227ed108e195.png"/>
  <Relationship Id="rId6" Type="http://schemas.openxmlformats.org/officeDocument/2006/relationships/image" Target="../media/image_a33fe4ec7588815e.png"/>
  <Relationship Id="rId7" Type="http://schemas.openxmlformats.org/officeDocument/2006/relationships/image" Target="../media/image_490aee84795026a0.png"/>
  <Relationship Id="rId8"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284333faf7751ba.png"/>
  <Relationship Id="rId3"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2e0d82f4d160f3f1.pn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e56e56969241214.png"/>
  <Relationship Id="rId3"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df4d430b28f2d68.png"/>
  <Relationship Id="rId3"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c55d58644f85c149.pn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hyperlink" Target="https://github.com/MonsieurNam/Quanova_Photonic_Defect_QML" TargetMode="External"/>
  <Relationship Id="rId3" Type="http://schemas.openxmlformats.org/officeDocument/2006/relationships/notesSlide" Target="../notesSlides/notesSlide10.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95250"/>
          </a:xfrm>
          <a:prstGeom prst="rect">
            <a:avLst/>
          </a:prstGeom>
          <a:solidFill>
            <a:schemeClr val="accent3"/>
          </a:solidFill>
          <a:ln>
            <a:noFill/>
          </a:ln>
        </p:spPr>
      </p:sp>
      <p:grpSp>
        <p:nvGrpSpPr>
          <p:cNvPr id="6" name="Group 6"/>
          <p:cNvGrpSpPr/>
          <p:nvPr/>
        </p:nvGrpSpPr>
        <p:grpSpPr>
          <a:xfrm>
            <a:off x="669798" y="568642"/>
            <a:ext cx="6982079" cy="2687670"/>
            <a:chOff x="669798" y="568642"/>
            <a:chExt cx="6982079" cy="2687670"/>
          </a:xfrm>
        </p:grpSpPr>
        <p:sp>
          <p:nvSpPr>
            <p:cNvPr id="3" name="TextBox 3"/>
            <p:cNvSpPr txBox="1"/>
            <p:nvPr/>
          </p:nvSpPr>
          <p:spPr>
            <a:xfrm>
              <a:off x="678942" y="568642"/>
              <a:ext cx="3621065" cy="264033"/>
            </a:xfrm>
            <a:prstGeom prst="rect">
              <a:avLst/>
            </a:prstGeom>
            <a:noFill/>
            <a:ln>
              <a:noFill/>
            </a:ln>
          </p:spPr>
          <p:txBody>
            <a:bodyPr wrap="none" lIns="0" tIns="0" rIns="0" bIns="0" anchor="t" anchorCtr="0">
              <a:spAutoFit/>
            </a:bodyPr>
            <a:lstStyle/>
            <a:p>
              <a:pPr algn="l"/>
              <a:r>
                <a:rPr lang="en-US" sz="1350" b="1" spc="112" dirty="0">
                  <a:solidFill>
                    <a:schemeClr val="accent3"/>
                  </a:solidFill>
                  <a:latin typeface="+mn-lt"/>
                  <a:ea typeface="+mn-ea"/>
                  <a:cs typeface="+mn-cs"/>
                </a:rPr>
                <a:t>QUANOVA · INTERVIEW CASE STUDY</a:t>
              </a:r>
            </a:p>
          </p:txBody>
        </p:sp>
        <p:sp>
          <p:nvSpPr>
            <p:cNvPr id="4" name="TextBox 4"/>
            <p:cNvSpPr txBox="1"/>
            <p:nvPr/>
          </p:nvSpPr>
          <p:spPr>
            <a:xfrm>
              <a:off x="669798" y="1126808"/>
              <a:ext cx="6710839" cy="1111377"/>
            </a:xfrm>
            <a:prstGeom prst="rect">
              <a:avLst/>
            </a:prstGeom>
            <a:noFill/>
            <a:ln>
              <a:noFill/>
            </a:ln>
          </p:spPr>
          <p:txBody>
            <a:bodyPr wrap="none" lIns="0" tIns="0" rIns="0" bIns="0" anchor="t" anchorCtr="0">
              <a:spAutoFit/>
            </a:bodyPr>
            <a:lstStyle/>
            <a:p>
              <a:pPr algn="l">
                <a:lnSpc>
                  <a:spcPts val="3900"/>
                </a:lnSpc>
              </a:pPr>
              <a:r>
                <a:rPr lang="en-US" sz="3150" b="1" dirty="0">
                  <a:solidFill>
                    <a:schemeClr val="accent1"/>
                  </a:solidFill>
                  <a:latin typeface="+mj-lt"/>
                  <a:ea typeface="+mj-ea"/>
                  <a:cs typeface="+mj-cs"/>
                </a:rPr>
                <a:t>A reproducible photonic pilot</a:t>
              </a:r>
              <a:br/>
              <a:r>
                <a:rPr lang="en-US" sz="3150" b="1" dirty="0">
                  <a:solidFill>
                    <a:schemeClr val="accent1"/>
                  </a:solidFill>
                  <a:latin typeface="+mj-lt"/>
                  <a:ea typeface="+mj-ea"/>
                  <a:cs typeface="+mj-cs"/>
                </a:rPr>
                <a:t>delivers a useful negative result</a:t>
              </a:r>
            </a:p>
          </p:txBody>
        </p:sp>
        <p:sp>
          <p:nvSpPr>
            <p:cNvPr id="5" name="TextBox 5"/>
            <p:cNvSpPr txBox="1"/>
            <p:nvPr/>
          </p:nvSpPr>
          <p:spPr>
            <a:xfrm>
              <a:off x="677037" y="2614136"/>
              <a:ext cx="6974840" cy="642176"/>
            </a:xfrm>
            <a:prstGeom prst="rect">
              <a:avLst/>
            </a:prstGeom>
            <a:noFill/>
            <a:ln>
              <a:noFill/>
            </a:ln>
          </p:spPr>
          <p:txBody>
            <a:bodyPr wrap="none" lIns="0" tIns="0" rIns="0" bIns="0" anchor="t" anchorCtr="0">
              <a:spAutoFit/>
            </a:bodyPr>
            <a:lstStyle/>
            <a:p>
              <a:pPr algn="l">
                <a:lnSpc>
                  <a:spcPts val="2400"/>
                </a:lnSpc>
              </a:pPr>
              <a:r>
                <a:rPr lang="en-US" sz="1720" dirty="0">
                  <a:solidFill>
                    <a:schemeClr val="dk1"/>
                  </a:solidFill>
                  <a:latin typeface="+mn-lt"/>
                  <a:ea typeface="+mn-ea"/>
                  <a:cs typeface="+mn-cs"/>
                </a:rPr>
                <a:t>Few-label steel defect classification · ideal photonic simulation</a:t>
              </a:r>
              <a:br/>
              <a:r>
                <a:rPr lang="en-US" sz="1720" dirty="0">
                  <a:solidFill>
                    <a:schemeClr val="dk1"/>
                  </a:solidFill>
                  <a:latin typeface="+mn-lt"/>
                  <a:ea typeface="+mn-ea"/>
                  <a:cs typeface="+mn-cs"/>
                </a:rPr>
                <a:t>One outer-fold pilot · frozen protocol · measured on 11 Sep 2026</a:t>
              </a:r>
            </a:p>
          </p:txBody>
        </p:sp>
      </p:grpSp>
      <p:grpSp>
        <p:nvGrpSpPr>
          <p:cNvPr id="18" name="Group 18"/>
          <p:cNvGrpSpPr/>
          <p:nvPr/>
        </p:nvGrpSpPr>
        <p:grpSpPr>
          <a:xfrm>
            <a:off x="666750" y="3695700"/>
            <a:ext cx="10839450" cy="1771650"/>
            <a:chOff x="666750" y="3695700"/>
            <a:chExt cx="10839450" cy="1771650"/>
          </a:xfrm>
        </p:grpSpPr>
        <p:sp>
          <p:nvSpPr>
            <p:cNvPr id="7" name="Line 7"/>
            <p:cNvSpPr/>
            <p:nvPr/>
          </p:nvSpPr>
          <p:spPr>
            <a:xfrm>
              <a:off x="685800" y="3695700"/>
              <a:ext cx="10820400" cy="9525"/>
            </a:xfrm>
            <a:custGeom>
              <a:avLst/>
              <a:gdLst/>
              <a:ahLst/>
              <a:cxnLst/>
              <a:rect l="l" t="t" r="r" b="b"/>
              <a:pathLst>
                <a:path w="10820400" h="9525">
                  <a:moveTo>
                    <a:pt x="0" y="0"/>
                  </a:moveTo>
                  <a:lnTo>
                    <a:pt x="10820400" y="0"/>
                  </a:lnTo>
                </a:path>
              </a:pathLst>
            </a:custGeom>
            <a:noFill/>
            <a:ln w="19050">
              <a:solidFill>
                <a:schemeClr val="accent1"/>
              </a:solidFill>
            </a:ln>
          </p:spPr>
        </p:sp>
        <p:sp>
          <p:nvSpPr>
            <p:cNvPr id="8" name="TextBox 8"/>
            <p:cNvSpPr txBox="1"/>
            <p:nvPr/>
          </p:nvSpPr>
          <p:spPr>
            <a:xfrm>
              <a:off x="678942" y="3978592"/>
              <a:ext cx="1360391" cy="264033"/>
            </a:xfrm>
            <a:prstGeom prst="rect">
              <a:avLst/>
            </a:prstGeom>
            <a:noFill/>
            <a:ln>
              <a:noFill/>
            </a:ln>
          </p:spPr>
          <p:txBody>
            <a:bodyPr wrap="none" lIns="0" tIns="0" rIns="0" bIns="0" anchor="t" anchorCtr="0">
              <a:spAutoFit/>
            </a:bodyPr>
            <a:lstStyle/>
            <a:p>
              <a:pPr algn="l"/>
              <a:r>
                <a:rPr lang="en-US" sz="1350" b="1" spc="75" dirty="0">
                  <a:solidFill>
                    <a:schemeClr val="accent2"/>
                  </a:solidFill>
                  <a:latin typeface="+mn-lt"/>
                  <a:ea typeface="+mn-ea"/>
                  <a:cs typeface="+mn-cs"/>
                </a:rPr>
                <a:t>PHOTONIC Q1</a:t>
              </a:r>
            </a:p>
          </p:txBody>
        </p:sp>
        <p:sp>
          <p:nvSpPr>
            <p:cNvPr id="9" name="TextBox 9"/>
            <p:cNvSpPr txBox="1"/>
            <p:nvPr/>
          </p:nvSpPr>
          <p:spPr>
            <a:xfrm>
              <a:off x="666750" y="4334828"/>
              <a:ext cx="2626944" cy="1076325"/>
            </a:xfrm>
            <a:prstGeom prst="rect">
              <a:avLst/>
            </a:prstGeom>
            <a:noFill/>
            <a:ln>
              <a:noFill/>
            </a:ln>
          </p:spPr>
          <p:txBody>
            <a:bodyPr wrap="none" lIns="0" tIns="0" rIns="0" bIns="0" anchor="t" anchorCtr="0">
              <a:spAutoFit/>
            </a:bodyPr>
            <a:lstStyle/>
            <a:p>
              <a:pPr algn="l"/>
              <a:r>
                <a:rPr lang="en-US" sz="5550" b="1" dirty="0">
                  <a:solidFill>
                    <a:schemeClr val="accent2"/>
                  </a:solidFill>
                  <a:latin typeface="Consolas"/>
                  <a:ea typeface="Consolas"/>
                  <a:cs typeface="Consolas"/>
                </a:rPr>
                <a:t>0.8708</a:t>
              </a:r>
            </a:p>
          </p:txBody>
        </p:sp>
        <p:sp>
          <p:nvSpPr>
            <p:cNvPr id="10" name="TextBox 10"/>
            <p:cNvSpPr txBox="1"/>
            <p:nvPr/>
          </p:nvSpPr>
          <p:spPr>
            <a:xfrm>
              <a:off x="678942" y="5121592"/>
              <a:ext cx="2692811"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macro-F1 · 48 labels per class</a:t>
              </a:r>
            </a:p>
          </p:txBody>
        </p:sp>
        <p:sp>
          <p:nvSpPr>
            <p:cNvPr id="11" name="Line 11"/>
            <p:cNvSpPr/>
            <p:nvPr/>
          </p:nvSpPr>
          <p:spPr>
            <a:xfrm>
              <a:off x="5048250" y="3943350"/>
              <a:ext cx="9525" cy="1524000"/>
            </a:xfrm>
            <a:custGeom>
              <a:avLst/>
              <a:gdLst/>
              <a:ahLst/>
              <a:cxnLst/>
              <a:rect l="l" t="t" r="r" b="b"/>
              <a:pathLst>
                <a:path w="9525" h="1524000">
                  <a:moveTo>
                    <a:pt x="0" y="0"/>
                  </a:moveTo>
                  <a:lnTo>
                    <a:pt x="0" y="1524000"/>
                  </a:lnTo>
                </a:path>
              </a:pathLst>
            </a:custGeom>
            <a:noFill/>
            <a:ln w="19050">
              <a:solidFill>
                <a:srgbClr val="C9BDA8"/>
              </a:solidFill>
            </a:ln>
          </p:spPr>
        </p:sp>
        <p:sp>
          <p:nvSpPr>
            <p:cNvPr id="12" name="TextBox 12"/>
            <p:cNvSpPr txBox="1"/>
            <p:nvPr/>
          </p:nvSpPr>
          <p:spPr>
            <a:xfrm>
              <a:off x="5422392" y="3978592"/>
              <a:ext cx="1939130" cy="264033"/>
            </a:xfrm>
            <a:prstGeom prst="rect">
              <a:avLst/>
            </a:prstGeom>
            <a:noFill/>
            <a:ln>
              <a:noFill/>
            </a:ln>
          </p:spPr>
          <p:txBody>
            <a:bodyPr wrap="none" lIns="0" tIns="0" rIns="0" bIns="0" anchor="t" anchorCtr="0">
              <a:spAutoFit/>
            </a:bodyPr>
            <a:lstStyle/>
            <a:p>
              <a:pPr algn="l"/>
              <a:r>
                <a:rPr lang="en-US" sz="1350" b="1" spc="75" dirty="0">
                  <a:solidFill>
                    <a:schemeClr val="accent3"/>
                  </a:solidFill>
                  <a:latin typeface="+mn-lt"/>
                  <a:ea typeface="+mn-ea"/>
                  <a:cs typeface="+mn-cs"/>
                </a:rPr>
                <a:t>FULL CLIP + LINEAR</a:t>
              </a:r>
            </a:p>
          </p:txBody>
        </p:sp>
        <p:sp>
          <p:nvSpPr>
            <p:cNvPr id="13" name="TextBox 13"/>
            <p:cNvSpPr txBox="1"/>
            <p:nvPr/>
          </p:nvSpPr>
          <p:spPr>
            <a:xfrm>
              <a:off x="5410200" y="4334828"/>
              <a:ext cx="2626944" cy="1076325"/>
            </a:xfrm>
            <a:prstGeom prst="rect">
              <a:avLst/>
            </a:prstGeom>
            <a:noFill/>
            <a:ln>
              <a:noFill/>
            </a:ln>
          </p:spPr>
          <p:txBody>
            <a:bodyPr wrap="none" lIns="0" tIns="0" rIns="0" bIns="0" anchor="t" anchorCtr="0">
              <a:spAutoFit/>
            </a:bodyPr>
            <a:lstStyle/>
            <a:p>
              <a:pPr algn="l"/>
              <a:r>
                <a:rPr lang="en-US" sz="5550" b="1" dirty="0">
                  <a:solidFill>
                    <a:schemeClr val="accent3"/>
                  </a:solidFill>
                  <a:latin typeface="Consolas"/>
                  <a:ea typeface="Consolas"/>
                  <a:cs typeface="Consolas"/>
                </a:rPr>
                <a:t>0.9852</a:t>
              </a:r>
            </a:p>
          </p:txBody>
        </p:sp>
        <p:sp>
          <p:nvSpPr>
            <p:cNvPr id="14" name="TextBox 14"/>
            <p:cNvSpPr txBox="1"/>
            <p:nvPr/>
          </p:nvSpPr>
          <p:spPr>
            <a:xfrm>
              <a:off x="5422392" y="5121592"/>
              <a:ext cx="2365496"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macro-F1 · same test fold</a:t>
              </a:r>
            </a:p>
          </p:txBody>
        </p:sp>
        <p:sp>
          <p:nvSpPr>
            <p:cNvPr id="15" name="Rectangle 15"/>
            <p:cNvSpPr/>
            <p:nvPr/>
          </p:nvSpPr>
          <p:spPr>
            <a:xfrm>
              <a:off x="9601200" y="4010025"/>
              <a:ext cx="1905000" cy="1257300"/>
            </a:xfrm>
            <a:prstGeom prst="rect">
              <a:avLst/>
            </a:prstGeom>
            <a:solidFill>
              <a:schemeClr val="lt2"/>
            </a:solidFill>
            <a:ln>
              <a:noFill/>
            </a:ln>
          </p:spPr>
        </p:sp>
        <p:sp>
          <p:nvSpPr>
            <p:cNvPr id="16" name="TextBox 16"/>
            <p:cNvSpPr txBox="1"/>
            <p:nvPr/>
          </p:nvSpPr>
          <p:spPr>
            <a:xfrm>
              <a:off x="10188957" y="4264342"/>
              <a:ext cx="729485" cy="264033"/>
            </a:xfrm>
            <a:prstGeom prst="rect">
              <a:avLst/>
            </a:prstGeom>
            <a:noFill/>
            <a:ln>
              <a:noFill/>
            </a:ln>
          </p:spPr>
          <p:txBody>
            <a:bodyPr wrap="none" lIns="0" tIns="0" rIns="0" bIns="0" anchor="t" anchorCtr="0">
              <a:spAutoFit/>
            </a:bodyPr>
            <a:lstStyle/>
            <a:p>
              <a:pPr algn="ctr"/>
              <a:r>
                <a:rPr lang="en-US" sz="1350" b="1" dirty="0">
                  <a:solidFill>
                    <a:schemeClr val="accent2"/>
                  </a:solidFill>
                  <a:latin typeface="+mn-lt"/>
                  <a:ea typeface="+mn-ea"/>
                  <a:cs typeface="+mn-cs"/>
                </a:rPr>
                <a:t>Q1 − B1</a:t>
              </a:r>
            </a:p>
          </p:txBody>
        </p:sp>
        <p:sp>
          <p:nvSpPr>
            <p:cNvPr id="17" name="TextBox 17"/>
            <p:cNvSpPr txBox="1"/>
            <p:nvPr/>
          </p:nvSpPr>
          <p:spPr>
            <a:xfrm>
              <a:off x="9763735" y="4626292"/>
              <a:ext cx="1579930" cy="557403"/>
            </a:xfrm>
            <a:prstGeom prst="rect">
              <a:avLst/>
            </a:prstGeom>
            <a:noFill/>
            <a:ln>
              <a:noFill/>
            </a:ln>
          </p:spPr>
          <p:txBody>
            <a:bodyPr wrap="none" lIns="0" tIns="0" rIns="0" bIns="0" anchor="t" anchorCtr="0">
              <a:spAutoFit/>
            </a:bodyPr>
            <a:lstStyle/>
            <a:p>
              <a:pPr algn="ctr"/>
              <a:r>
                <a:rPr lang="en-US" sz="2850" b="1" dirty="0">
                  <a:solidFill>
                    <a:schemeClr val="accent2"/>
                  </a:solidFill>
                  <a:latin typeface="Consolas"/>
                  <a:ea typeface="Consolas"/>
                  <a:cs typeface="Consolas"/>
                </a:rPr>
                <a:t>−0.1143</a:t>
              </a:r>
            </a:p>
          </p:txBody>
        </p:sp>
      </p:grpSp>
      <p:grpSp>
        <p:nvGrpSpPr>
          <p:cNvPr id="21" name="Group 21"/>
          <p:cNvGrpSpPr/>
          <p:nvPr/>
        </p:nvGrpSpPr>
        <p:grpSpPr>
          <a:xfrm>
            <a:off x="685800" y="5772150"/>
            <a:ext cx="10820400" cy="495300"/>
            <a:chOff x="685800" y="5772150"/>
            <a:chExt cx="10820400" cy="495300"/>
          </a:xfrm>
        </p:grpSpPr>
        <p:sp>
          <p:nvSpPr>
            <p:cNvPr id="19" name="Rectangle 19"/>
            <p:cNvSpPr/>
            <p:nvPr/>
          </p:nvSpPr>
          <p:spPr>
            <a:xfrm>
              <a:off x="685800" y="5772150"/>
              <a:ext cx="10820400" cy="495300"/>
            </a:xfrm>
            <a:prstGeom prst="rect">
              <a:avLst/>
            </a:prstGeom>
            <a:solidFill>
              <a:schemeClr val="accent1"/>
            </a:solidFill>
            <a:ln>
              <a:noFill/>
            </a:ln>
          </p:spPr>
        </p:sp>
        <p:sp>
          <p:nvSpPr>
            <p:cNvPr id="20" name="TextBox 20"/>
            <p:cNvSpPr txBox="1"/>
            <p:nvPr/>
          </p:nvSpPr>
          <p:spPr>
            <a:xfrm>
              <a:off x="906018" y="5908358"/>
              <a:ext cx="7854996" cy="322707"/>
            </a:xfrm>
            <a:prstGeom prst="rect">
              <a:avLst/>
            </a:prstGeom>
            <a:noFill/>
            <a:ln>
              <a:noFill/>
            </a:ln>
          </p:spPr>
          <p:txBody>
            <a:bodyPr wrap="none" lIns="0" tIns="0" rIns="0" bIns="0" anchor="t" anchorCtr="0">
              <a:spAutoFit/>
            </a:bodyPr>
            <a:lstStyle/>
            <a:p>
              <a:pPr algn="l"/>
              <a:r>
                <a:rPr lang="en-US" sz="1650" b="1" dirty="0">
                  <a:solidFill>
                    <a:srgbClr val="FBF7EE"/>
                  </a:solidFill>
                  <a:latin typeface="+mn-lt"/>
                  <a:ea typeface="+mn-ea"/>
                  <a:cs typeface="+mn-cs"/>
                </a:rPr>
                <a:t>Q1 beats locked RFF — but not ELM, RBF-SVM, or the full embedding.</a:t>
              </a:r>
            </a:p>
          </p:txBody>
        </p:sp>
      </p:grpSp>
      <p:grpSp>
        <p:nvGrpSpPr>
          <p:cNvPr id="23" name="Group 23"/>
          <p:cNvGrpSpPr/>
          <p:nvPr/>
        </p:nvGrpSpPr>
        <p:grpSpPr>
          <a:xfrm>
            <a:off x="10890523" y="6426518"/>
            <a:ext cx="622535" cy="264033"/>
            <a:chOff x="10890523" y="6426518"/>
            <a:chExt cx="622535" cy="264033"/>
          </a:xfrm>
        </p:grpSpPr>
        <p:sp>
          <p:nvSpPr>
            <p:cNvPr id="22" name="TextBox 22"/>
            <p:cNvSpPr txBox="1"/>
            <p:nvPr/>
          </p:nvSpPr>
          <p:spPr>
            <a:xfrm>
              <a:off x="108905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01 / 10</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4360" y="482918"/>
            <a:ext cx="10691881" cy="913447"/>
            <a:chOff x="594360" y="482918"/>
            <a:chExt cx="10691881" cy="913447"/>
          </a:xfrm>
        </p:grpSpPr>
        <p:sp>
          <p:nvSpPr>
            <p:cNvPr id="3" name="TextBox 3"/>
            <p:cNvSpPr txBox="1"/>
            <p:nvPr/>
          </p:nvSpPr>
          <p:spPr>
            <a:xfrm>
              <a:off x="602742" y="482918"/>
              <a:ext cx="4472993" cy="264033"/>
            </a:xfrm>
            <a:prstGeom prst="rect">
              <a:avLst/>
            </a:prstGeom>
            <a:noFill/>
            <a:ln>
              <a:noFill/>
            </a:ln>
          </p:spPr>
          <p:txBody>
            <a:bodyPr wrap="none" lIns="0" tIns="0" rIns="0" bIns="0" anchor="t" anchorCtr="0">
              <a:spAutoFit/>
            </a:bodyPr>
            <a:lstStyle/>
            <a:p>
              <a:pPr algn="l"/>
              <a:r>
                <a:rPr lang="en-US" sz="1350" b="1" spc="105" dirty="0">
                  <a:solidFill>
                    <a:schemeClr val="accent3"/>
                  </a:solidFill>
                  <a:latin typeface="+mn-lt"/>
                  <a:ea typeface="+mn-ea"/>
                  <a:cs typeface="+mn-cs"/>
                </a:rPr>
                <a:t>HYPOTHESIS · DATA AND LEAKAGE CONTROL</a:t>
              </a:r>
            </a:p>
          </p:txBody>
        </p:sp>
        <p:sp>
          <p:nvSpPr>
            <p:cNvPr id="4" name="TextBox 4"/>
            <p:cNvSpPr txBox="1"/>
            <p:nvPr/>
          </p:nvSpPr>
          <p:spPr>
            <a:xfrm>
              <a:off x="594360" y="809625"/>
              <a:ext cx="10691881"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The benchmark starts with 1,800 audited images</a:t>
              </a:r>
            </a:p>
          </p:txBody>
        </p:sp>
      </p:grpSp>
      <p:grpSp>
        <p:nvGrpSpPr>
          <p:cNvPr id="18" name="Group 18"/>
          <p:cNvGrpSpPr/>
          <p:nvPr/>
        </p:nvGrpSpPr>
        <p:grpSpPr>
          <a:xfrm>
            <a:off x="609600" y="1524000"/>
            <a:ext cx="10972800" cy="1747075"/>
            <a:chOff x="609600" y="1524000"/>
            <a:chExt cx="10972800" cy="1747075"/>
          </a:xfrm>
        </p:grpSpPr>
        <p:pic>
          <p:nvPicPr>
            <p:cNvPr id="6" name="Image 6"/>
            <p:cNvPicPr>
              <a:picLocks noChangeAspect="1"/>
            </p:cNvPicPr>
            <p:nvPr/>
          </p:nvPicPr>
          <p:blipFill>
            <a:blip r:embed="rId2"/>
            <a:stretch>
              <a:fillRect/>
            </a:stretch>
          </p:blipFill>
          <p:spPr>
            <a:xfrm>
              <a:off x="609600" y="1524000"/>
              <a:ext cx="1371600" cy="1371600"/>
            </a:xfrm>
            <a:prstGeom prst="rect">
              <a:avLst/>
            </a:prstGeom>
          </p:spPr>
        </p:pic>
        <p:pic>
          <p:nvPicPr>
            <p:cNvPr id="7" name="Image 7"/>
            <p:cNvPicPr>
              <a:picLocks noChangeAspect="1"/>
            </p:cNvPicPr>
            <p:nvPr/>
          </p:nvPicPr>
          <p:blipFill>
            <a:blip r:embed="rId3"/>
            <a:stretch>
              <a:fillRect/>
            </a:stretch>
          </p:blipFill>
          <p:spPr>
            <a:xfrm>
              <a:off x="2533650" y="1524000"/>
              <a:ext cx="1371600" cy="1371600"/>
            </a:xfrm>
            <a:prstGeom prst="rect">
              <a:avLst/>
            </a:prstGeom>
          </p:spPr>
        </p:pic>
        <p:pic>
          <p:nvPicPr>
            <p:cNvPr id="8" name="Image 8"/>
            <p:cNvPicPr>
              <a:picLocks noChangeAspect="1"/>
            </p:cNvPicPr>
            <p:nvPr/>
          </p:nvPicPr>
          <p:blipFill>
            <a:blip r:embed="rId4"/>
            <a:stretch>
              <a:fillRect/>
            </a:stretch>
          </p:blipFill>
          <p:spPr>
            <a:xfrm>
              <a:off x="4457700" y="1524000"/>
              <a:ext cx="1371600" cy="1371600"/>
            </a:xfrm>
            <a:prstGeom prst="rect">
              <a:avLst/>
            </a:prstGeom>
          </p:spPr>
        </p:pic>
        <p:pic>
          <p:nvPicPr>
            <p:cNvPr id="9" name="Image 9"/>
            <p:cNvPicPr>
              <a:picLocks noChangeAspect="1"/>
            </p:cNvPicPr>
            <p:nvPr/>
          </p:nvPicPr>
          <p:blipFill>
            <a:blip r:embed="rId5"/>
            <a:stretch>
              <a:fillRect/>
            </a:stretch>
          </p:blipFill>
          <p:spPr>
            <a:xfrm>
              <a:off x="6381750" y="1524000"/>
              <a:ext cx="1371600" cy="1371600"/>
            </a:xfrm>
            <a:prstGeom prst="rect">
              <a:avLst/>
            </a:prstGeom>
          </p:spPr>
        </p:pic>
        <p:pic>
          <p:nvPicPr>
            <p:cNvPr id="10" name="Image 10"/>
            <p:cNvPicPr>
              <a:picLocks noChangeAspect="1"/>
            </p:cNvPicPr>
            <p:nvPr/>
          </p:nvPicPr>
          <p:blipFill>
            <a:blip r:embed="rId6"/>
            <a:stretch>
              <a:fillRect/>
            </a:stretch>
          </p:blipFill>
          <p:spPr>
            <a:xfrm>
              <a:off x="8305800" y="1524000"/>
              <a:ext cx="1371600" cy="1371600"/>
            </a:xfrm>
            <a:prstGeom prst="rect">
              <a:avLst/>
            </a:prstGeom>
          </p:spPr>
        </p:pic>
        <p:pic>
          <p:nvPicPr>
            <p:cNvPr id="11" name="Image 11"/>
            <p:cNvPicPr>
              <a:picLocks noChangeAspect="1"/>
            </p:cNvPicPr>
            <p:nvPr/>
          </p:nvPicPr>
          <p:blipFill>
            <a:blip r:embed="rId7"/>
            <a:stretch>
              <a:fillRect/>
            </a:stretch>
          </p:blipFill>
          <p:spPr>
            <a:xfrm>
              <a:off x="10210800" y="1524000"/>
              <a:ext cx="1371600" cy="1371600"/>
            </a:xfrm>
            <a:prstGeom prst="rect">
              <a:avLst/>
            </a:prstGeom>
          </p:spPr>
        </p:pic>
        <p:sp>
          <p:nvSpPr>
            <p:cNvPr id="12" name="TextBox 12"/>
            <p:cNvSpPr txBox="1"/>
            <p:nvPr/>
          </p:nvSpPr>
          <p:spPr>
            <a:xfrm>
              <a:off x="958770" y="3007042"/>
              <a:ext cx="673260"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mn-lt"/>
                  <a:ea typeface="+mn-ea"/>
                  <a:cs typeface="+mn-cs"/>
                </a:rPr>
                <a:t>Crazing</a:t>
              </a:r>
            </a:p>
          </p:txBody>
        </p:sp>
        <p:sp>
          <p:nvSpPr>
            <p:cNvPr id="13" name="TextBox 13"/>
            <p:cNvSpPr txBox="1"/>
            <p:nvPr/>
          </p:nvSpPr>
          <p:spPr>
            <a:xfrm>
              <a:off x="2828544" y="3007042"/>
              <a:ext cx="781812"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mn-lt"/>
                  <a:ea typeface="+mn-ea"/>
                  <a:cs typeface="+mn-cs"/>
                </a:rPr>
                <a:t>Inclusion</a:t>
              </a:r>
            </a:p>
          </p:txBody>
        </p:sp>
        <p:sp>
          <p:nvSpPr>
            <p:cNvPr id="14" name="TextBox 14"/>
            <p:cNvSpPr txBox="1"/>
            <p:nvPr/>
          </p:nvSpPr>
          <p:spPr>
            <a:xfrm>
              <a:off x="4783969" y="3007042"/>
              <a:ext cx="719061"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mn-lt"/>
                  <a:ea typeface="+mn-ea"/>
                  <a:cs typeface="+mn-cs"/>
                </a:rPr>
                <a:t>Patches</a:t>
              </a:r>
            </a:p>
          </p:txBody>
        </p:sp>
        <p:sp>
          <p:nvSpPr>
            <p:cNvPr id="15" name="TextBox 15"/>
            <p:cNvSpPr txBox="1"/>
            <p:nvPr/>
          </p:nvSpPr>
          <p:spPr>
            <a:xfrm>
              <a:off x="6403590" y="3007042"/>
              <a:ext cx="1327920"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mn-lt"/>
                  <a:ea typeface="+mn-ea"/>
                  <a:cs typeface="+mn-cs"/>
                </a:rPr>
                <a:t>Pitted surface</a:t>
              </a:r>
            </a:p>
          </p:txBody>
        </p:sp>
        <p:sp>
          <p:nvSpPr>
            <p:cNvPr id="16" name="TextBox 16"/>
            <p:cNvSpPr txBox="1"/>
            <p:nvPr/>
          </p:nvSpPr>
          <p:spPr>
            <a:xfrm>
              <a:off x="8345893" y="3007042"/>
              <a:ext cx="1291414"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mn-lt"/>
                  <a:ea typeface="+mn-ea"/>
                  <a:cs typeface="+mn-cs"/>
                </a:rPr>
                <a:t>Rolled-in scale</a:t>
              </a:r>
            </a:p>
          </p:txBody>
        </p:sp>
        <p:sp>
          <p:nvSpPr>
            <p:cNvPr id="17" name="TextBox 17"/>
            <p:cNvSpPr txBox="1"/>
            <p:nvPr/>
          </p:nvSpPr>
          <p:spPr>
            <a:xfrm>
              <a:off x="10437114" y="3007042"/>
              <a:ext cx="918972"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mn-lt"/>
                  <a:ea typeface="+mn-ea"/>
                  <a:cs typeface="+mn-cs"/>
                </a:rPr>
                <a:t>Scratches</a:t>
              </a:r>
            </a:p>
          </p:txBody>
        </p:sp>
      </p:grpSp>
      <p:grpSp>
        <p:nvGrpSpPr>
          <p:cNvPr id="25" name="Group 25"/>
          <p:cNvGrpSpPr/>
          <p:nvPr/>
        </p:nvGrpSpPr>
        <p:grpSpPr>
          <a:xfrm>
            <a:off x="609600" y="3581400"/>
            <a:ext cx="4133850" cy="2171700"/>
            <a:chOff x="609600" y="3581400"/>
            <a:chExt cx="4133850" cy="2171700"/>
          </a:xfrm>
        </p:grpSpPr>
        <p:sp>
          <p:nvSpPr>
            <p:cNvPr id="19" name="Rectangle 19"/>
            <p:cNvSpPr/>
            <p:nvPr/>
          </p:nvSpPr>
          <p:spPr>
            <a:xfrm>
              <a:off x="609600" y="3581400"/>
              <a:ext cx="4133850" cy="2171700"/>
            </a:xfrm>
            <a:prstGeom prst="rect">
              <a:avLst/>
            </a:prstGeom>
            <a:solidFill>
              <a:schemeClr val="lt2"/>
            </a:solidFill>
            <a:ln>
              <a:noFill/>
            </a:ln>
          </p:spPr>
        </p:sp>
        <p:sp>
          <p:nvSpPr>
            <p:cNvPr id="20" name="TextBox 20"/>
            <p:cNvSpPr txBox="1"/>
            <p:nvPr/>
          </p:nvSpPr>
          <p:spPr>
            <a:xfrm>
              <a:off x="869442" y="3826192"/>
              <a:ext cx="1243630"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AUDIT RESULT</a:t>
              </a:r>
            </a:p>
          </p:txBody>
        </p:sp>
        <p:sp>
          <p:nvSpPr>
            <p:cNvPr id="21" name="TextBox 21"/>
            <p:cNvSpPr txBox="1"/>
            <p:nvPr/>
          </p:nvSpPr>
          <p:spPr>
            <a:xfrm>
              <a:off x="861822" y="4216718"/>
              <a:ext cx="2707911" cy="557403"/>
            </a:xfrm>
            <a:prstGeom prst="rect">
              <a:avLst/>
            </a:prstGeom>
            <a:noFill/>
            <a:ln>
              <a:noFill/>
            </a:ln>
          </p:spPr>
          <p:txBody>
            <a:bodyPr wrap="none" lIns="0" tIns="0" rIns="0" bIns="0" anchor="t" anchorCtr="0">
              <a:spAutoFit/>
            </a:bodyPr>
            <a:lstStyle/>
            <a:p>
              <a:pPr algn="l"/>
              <a:r>
                <a:rPr lang="en-US" sz="2850" b="1" dirty="0">
                  <a:solidFill>
                    <a:schemeClr val="accent1"/>
                  </a:solidFill>
                  <a:latin typeface="Consolas"/>
                  <a:ea typeface="Consolas"/>
                  <a:cs typeface="Consolas"/>
                </a:rPr>
                <a:t>1,800 / 1,800</a:t>
              </a:r>
            </a:p>
          </p:txBody>
        </p:sp>
        <p:sp>
          <p:nvSpPr>
            <p:cNvPr id="22" name="TextBox 22"/>
            <p:cNvSpPr txBox="1"/>
            <p:nvPr/>
          </p:nvSpPr>
          <p:spPr>
            <a:xfrm>
              <a:off x="867537" y="4642961"/>
              <a:ext cx="3166557" cy="337376"/>
            </a:xfrm>
            <a:prstGeom prst="rect">
              <a:avLst/>
            </a:prstGeom>
            <a:noFill/>
            <a:ln>
              <a:noFill/>
            </a:ln>
          </p:spPr>
          <p:txBody>
            <a:bodyPr wrap="none" lIns="0" tIns="0" rIns="0" bIns="0" anchor="t" anchorCtr="0">
              <a:spAutoFit/>
            </a:bodyPr>
            <a:lstStyle/>
            <a:p>
              <a:pPr algn="l"/>
              <a:r>
                <a:rPr lang="en-US" sz="1720" dirty="0">
                  <a:solidFill>
                    <a:schemeClr val="dk1"/>
                  </a:solidFill>
                  <a:latin typeface="+mn-lt"/>
                  <a:ea typeface="+mn-ea"/>
                  <a:cs typeface="+mn-cs"/>
                </a:rPr>
                <a:t>valid images · 0 quarantined</a:t>
              </a:r>
            </a:p>
          </p:txBody>
        </p:sp>
        <p:sp>
          <p:nvSpPr>
            <p:cNvPr id="23" name="TextBox 23"/>
            <p:cNvSpPr txBox="1"/>
            <p:nvPr/>
          </p:nvSpPr>
          <p:spPr>
            <a:xfrm>
              <a:off x="864870" y="5014912"/>
              <a:ext cx="1088293"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Consolas"/>
                  <a:ea typeface="Consolas"/>
                  <a:cs typeface="Consolas"/>
                </a:rPr>
                <a:t>6 × 300</a:t>
              </a:r>
            </a:p>
          </p:txBody>
        </p:sp>
        <p:sp>
          <p:nvSpPr>
            <p:cNvPr id="24" name="TextBox 24"/>
            <p:cNvSpPr txBox="1"/>
            <p:nvPr/>
          </p:nvSpPr>
          <p:spPr>
            <a:xfrm>
              <a:off x="868299" y="5364004"/>
              <a:ext cx="1728234" cy="308039"/>
            </a:xfrm>
            <a:prstGeom prst="rect">
              <a:avLst/>
            </a:prstGeom>
            <a:noFill/>
            <a:ln>
              <a:noFill/>
            </a:ln>
          </p:spPr>
          <p:txBody>
            <a:bodyPr wrap="none" lIns="0" tIns="0" rIns="0" bIns="0" anchor="t" anchorCtr="0">
              <a:spAutoFit/>
            </a:bodyPr>
            <a:lstStyle/>
            <a:p>
              <a:pPr algn="l"/>
              <a:r>
                <a:rPr lang="en-US" sz="1580" dirty="0">
                  <a:solidFill>
                    <a:schemeClr val="dk1"/>
                  </a:solidFill>
                  <a:latin typeface="+mn-lt"/>
                  <a:ea typeface="+mn-ea"/>
                  <a:cs typeface="+mn-cs"/>
                </a:rPr>
                <a:t>balanced classes</a:t>
              </a:r>
            </a:p>
          </p:txBody>
        </p:sp>
      </p:grpSp>
      <p:grpSp>
        <p:nvGrpSpPr>
          <p:cNvPr id="41" name="Group 41"/>
          <p:cNvGrpSpPr/>
          <p:nvPr/>
        </p:nvGrpSpPr>
        <p:grpSpPr>
          <a:xfrm>
            <a:off x="5021556" y="3711892"/>
            <a:ext cx="6560844" cy="2388109"/>
            <a:chOff x="5021556" y="3711892"/>
            <a:chExt cx="6560844" cy="2388109"/>
          </a:xfrm>
        </p:grpSpPr>
        <p:sp>
          <p:nvSpPr>
            <p:cNvPr id="26" name="TextBox 26"/>
            <p:cNvSpPr txBox="1"/>
            <p:nvPr/>
          </p:nvSpPr>
          <p:spPr>
            <a:xfrm>
              <a:off x="5041392" y="3711892"/>
              <a:ext cx="2463462"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ONE EXACT DUPLICATE PAIR</a:t>
              </a:r>
            </a:p>
          </p:txBody>
        </p:sp>
        <p:sp>
          <p:nvSpPr>
            <p:cNvPr id="27" name="Rectangle 27"/>
            <p:cNvSpPr/>
            <p:nvPr/>
          </p:nvSpPr>
          <p:spPr>
            <a:xfrm>
              <a:off x="5048250" y="4095750"/>
              <a:ext cx="1733550" cy="704850"/>
            </a:xfrm>
            <a:prstGeom prst="rect">
              <a:avLst/>
            </a:prstGeom>
            <a:solidFill>
              <a:schemeClr val="lt1"/>
            </a:solidFill>
            <a:ln w="19050">
              <a:solidFill>
                <a:schemeClr val="accent2"/>
              </a:solidFill>
            </a:ln>
          </p:spPr>
        </p:sp>
        <p:sp>
          <p:nvSpPr>
            <p:cNvPr id="28" name="TextBox 28"/>
            <p:cNvSpPr txBox="1"/>
            <p:nvPr/>
          </p:nvSpPr>
          <p:spPr>
            <a:xfrm>
              <a:off x="5021556" y="4346258"/>
              <a:ext cx="1786938" cy="322707"/>
            </a:xfrm>
            <a:prstGeom prst="rect">
              <a:avLst/>
            </a:prstGeom>
            <a:noFill/>
            <a:ln>
              <a:noFill/>
            </a:ln>
          </p:spPr>
          <p:txBody>
            <a:bodyPr wrap="none" lIns="0" tIns="0" rIns="0" bIns="0" anchor="t" anchorCtr="0">
              <a:spAutoFit/>
            </a:bodyPr>
            <a:lstStyle/>
            <a:p>
              <a:pPr algn="ctr"/>
              <a:r>
                <a:rPr lang="en-US" sz="1650" dirty="0">
                  <a:solidFill>
                    <a:schemeClr val="dk1"/>
                  </a:solidFill>
                  <a:latin typeface="Consolas"/>
                  <a:ea typeface="Consolas"/>
                  <a:cs typeface="Consolas"/>
                </a:rPr>
                <a:t>Pa_101 · Pa_105</a:t>
              </a:r>
            </a:p>
          </p:txBody>
        </p:sp>
        <p:sp>
          <p:nvSpPr>
            <p:cNvPr id="29" name="Freeform 29"/>
            <p:cNvSpPr/>
            <p:nvPr/>
          </p:nvSpPr>
          <p:spPr>
            <a:xfrm>
              <a:off x="6781800" y="4352925"/>
              <a:ext cx="514350" cy="190500"/>
            </a:xfrm>
            <a:custGeom>
              <a:avLst/>
              <a:gdLst/>
              <a:ahLst/>
              <a:cxnLst/>
              <a:rect l="l" t="t" r="r" b="b"/>
              <a:pathLst>
                <a:path w="514350" h="190500">
                  <a:moveTo>
                    <a:pt x="0" y="95250"/>
                  </a:moveTo>
                  <a:lnTo>
                    <a:pt x="514350" y="95250"/>
                  </a:lnTo>
                  <a:moveTo>
                    <a:pt x="419100" y="0"/>
                  </a:moveTo>
                  <a:lnTo>
                    <a:pt x="514350" y="95250"/>
                  </a:lnTo>
                  <a:lnTo>
                    <a:pt x="419100" y="190500"/>
                  </a:lnTo>
                </a:path>
              </a:pathLst>
            </a:custGeom>
            <a:noFill/>
            <a:ln w="38100">
              <a:solidFill>
                <a:schemeClr val="accent2"/>
              </a:solidFill>
            </a:ln>
          </p:spPr>
        </p:sp>
        <p:sp>
          <p:nvSpPr>
            <p:cNvPr id="30" name="Rectangle 30"/>
            <p:cNvSpPr/>
            <p:nvPr/>
          </p:nvSpPr>
          <p:spPr>
            <a:xfrm>
              <a:off x="7296150" y="4095750"/>
              <a:ext cx="1809750" cy="704850"/>
            </a:xfrm>
            <a:prstGeom prst="rect">
              <a:avLst/>
            </a:prstGeom>
            <a:solidFill>
              <a:schemeClr val="accent3"/>
            </a:solidFill>
            <a:ln>
              <a:noFill/>
            </a:ln>
          </p:spPr>
        </p:sp>
        <p:sp>
          <p:nvSpPr>
            <p:cNvPr id="31" name="TextBox 31"/>
            <p:cNvSpPr txBox="1"/>
            <p:nvPr/>
          </p:nvSpPr>
          <p:spPr>
            <a:xfrm>
              <a:off x="7624576" y="4226242"/>
              <a:ext cx="1152898" cy="264033"/>
            </a:xfrm>
            <a:prstGeom prst="rect">
              <a:avLst/>
            </a:prstGeom>
            <a:noFill/>
            <a:ln>
              <a:noFill/>
            </a:ln>
          </p:spPr>
          <p:txBody>
            <a:bodyPr wrap="none" lIns="0" tIns="0" rIns="0" bIns="0" anchor="t" anchorCtr="0">
              <a:spAutoFit/>
            </a:bodyPr>
            <a:lstStyle/>
            <a:p>
              <a:pPr algn="ctr"/>
              <a:r>
                <a:rPr lang="en-US" sz="1350" b="1" dirty="0">
                  <a:solidFill>
                    <a:srgbClr val="FBF7EE"/>
                  </a:solidFill>
                  <a:latin typeface="+mn-lt"/>
                  <a:ea typeface="+mn-ea"/>
                  <a:cs typeface="+mn-cs"/>
                </a:rPr>
                <a:t>SAME GROUP</a:t>
              </a:r>
            </a:p>
          </p:txBody>
        </p:sp>
        <p:sp>
          <p:nvSpPr>
            <p:cNvPr id="32" name="TextBox 32"/>
            <p:cNvSpPr txBox="1"/>
            <p:nvPr/>
          </p:nvSpPr>
          <p:spPr>
            <a:xfrm>
              <a:off x="7712564" y="4473892"/>
              <a:ext cx="976922" cy="264033"/>
            </a:xfrm>
            <a:prstGeom prst="rect">
              <a:avLst/>
            </a:prstGeom>
            <a:noFill/>
            <a:ln>
              <a:noFill/>
            </a:ln>
          </p:spPr>
          <p:txBody>
            <a:bodyPr wrap="none" lIns="0" tIns="0" rIns="0" bIns="0" anchor="t" anchorCtr="0">
              <a:spAutoFit/>
            </a:bodyPr>
            <a:lstStyle/>
            <a:p>
              <a:pPr algn="ctr"/>
              <a:r>
                <a:rPr lang="en-US" sz="1350" dirty="0">
                  <a:solidFill>
                    <a:srgbClr val="FBF7EE"/>
                  </a:solidFill>
                  <a:latin typeface="+mn-lt"/>
                  <a:ea typeface="+mn-ea"/>
                  <a:cs typeface="+mn-cs"/>
                </a:rPr>
                <a:t>never split</a:t>
              </a:r>
            </a:p>
          </p:txBody>
        </p:sp>
        <p:sp>
          <p:nvSpPr>
            <p:cNvPr id="33" name="Freeform 33"/>
            <p:cNvSpPr/>
            <p:nvPr/>
          </p:nvSpPr>
          <p:spPr>
            <a:xfrm>
              <a:off x="9105900" y="4352925"/>
              <a:ext cx="514350" cy="190500"/>
            </a:xfrm>
            <a:custGeom>
              <a:avLst/>
              <a:gdLst/>
              <a:ahLst/>
              <a:cxnLst/>
              <a:rect l="l" t="t" r="r" b="b"/>
              <a:pathLst>
                <a:path w="514350" h="190500">
                  <a:moveTo>
                    <a:pt x="0" y="95250"/>
                  </a:moveTo>
                  <a:lnTo>
                    <a:pt x="514350" y="95250"/>
                  </a:lnTo>
                  <a:moveTo>
                    <a:pt x="419100" y="0"/>
                  </a:moveTo>
                  <a:lnTo>
                    <a:pt x="514350" y="95250"/>
                  </a:lnTo>
                  <a:lnTo>
                    <a:pt x="419100" y="190500"/>
                  </a:lnTo>
                </a:path>
              </a:pathLst>
            </a:custGeom>
            <a:noFill/>
            <a:ln w="38100">
              <a:solidFill>
                <a:schemeClr val="accent1"/>
              </a:solidFill>
            </a:ln>
          </p:spPr>
        </p:sp>
        <p:sp>
          <p:nvSpPr>
            <p:cNvPr id="34" name="Rectangle 34"/>
            <p:cNvSpPr/>
            <p:nvPr/>
          </p:nvSpPr>
          <p:spPr>
            <a:xfrm>
              <a:off x="9620250" y="3943350"/>
              <a:ext cx="1962150" cy="1009650"/>
            </a:xfrm>
            <a:prstGeom prst="rect">
              <a:avLst/>
            </a:prstGeom>
            <a:solidFill>
              <a:schemeClr val="accent1"/>
            </a:solidFill>
            <a:ln>
              <a:noFill/>
            </a:ln>
          </p:spPr>
        </p:sp>
        <p:sp>
          <p:nvSpPr>
            <p:cNvPr id="35" name="TextBox 35"/>
            <p:cNvSpPr txBox="1"/>
            <p:nvPr/>
          </p:nvSpPr>
          <p:spPr>
            <a:xfrm>
              <a:off x="9661950" y="4102418"/>
              <a:ext cx="1878749" cy="264033"/>
            </a:xfrm>
            <a:prstGeom prst="rect">
              <a:avLst/>
            </a:prstGeom>
            <a:noFill/>
            <a:ln>
              <a:noFill/>
            </a:ln>
          </p:spPr>
          <p:txBody>
            <a:bodyPr wrap="none" lIns="0" tIns="0" rIns="0" bIns="0" anchor="t" anchorCtr="0">
              <a:spAutoFit/>
            </a:bodyPr>
            <a:lstStyle/>
            <a:p>
              <a:pPr algn="ctr"/>
              <a:r>
                <a:rPr lang="en-US" sz="1350" b="1" dirty="0">
                  <a:solidFill>
                    <a:srgbClr val="FBF7EE"/>
                  </a:solidFill>
                  <a:latin typeface="+mn-lt"/>
                  <a:ea typeface="+mn-ea"/>
                  <a:cs typeface="+mn-cs"/>
                </a:rPr>
                <a:t>GROUP-SAFE FOLD 0</a:t>
              </a:r>
            </a:p>
          </p:txBody>
        </p:sp>
        <p:sp>
          <p:nvSpPr>
            <p:cNvPr id="36" name="TextBox 36"/>
            <p:cNvSpPr txBox="1"/>
            <p:nvPr/>
          </p:nvSpPr>
          <p:spPr>
            <a:xfrm>
              <a:off x="9713786" y="4339590"/>
              <a:ext cx="1775079" cy="352044"/>
            </a:xfrm>
            <a:prstGeom prst="rect">
              <a:avLst/>
            </a:prstGeom>
            <a:noFill/>
            <a:ln>
              <a:noFill/>
            </a:ln>
          </p:spPr>
          <p:txBody>
            <a:bodyPr wrap="none" lIns="0" tIns="0" rIns="0" bIns="0" anchor="t" anchorCtr="0">
              <a:spAutoFit/>
            </a:bodyPr>
            <a:lstStyle/>
            <a:p>
              <a:pPr algn="ctr"/>
              <a:r>
                <a:rPr lang="en-US" sz="1800" dirty="0">
                  <a:solidFill>
                    <a:srgbClr val="FBF7EE"/>
                  </a:solidFill>
                  <a:latin typeface="Consolas"/>
                  <a:ea typeface="Consolas"/>
                  <a:cs typeface="Consolas"/>
                </a:rPr>
                <a:t>60 test / class</a:t>
              </a:r>
            </a:p>
          </p:txBody>
        </p:sp>
        <p:sp>
          <p:nvSpPr>
            <p:cNvPr id="37" name="TextBox 37"/>
            <p:cNvSpPr txBox="1"/>
            <p:nvPr/>
          </p:nvSpPr>
          <p:spPr>
            <a:xfrm>
              <a:off x="10267340" y="4635818"/>
              <a:ext cx="667969" cy="264033"/>
            </a:xfrm>
            <a:prstGeom prst="rect">
              <a:avLst/>
            </a:prstGeom>
            <a:noFill/>
            <a:ln>
              <a:noFill/>
            </a:ln>
          </p:spPr>
          <p:txBody>
            <a:bodyPr wrap="none" lIns="0" tIns="0" rIns="0" bIns="0" anchor="t" anchorCtr="0">
              <a:spAutoFit/>
            </a:bodyPr>
            <a:lstStyle/>
            <a:p>
              <a:pPr algn="ctr"/>
              <a:r>
                <a:rPr lang="en-US" sz="1350" dirty="0">
                  <a:solidFill>
                    <a:srgbClr val="FBF7EE"/>
                  </a:solidFill>
                  <a:latin typeface="+mn-lt"/>
                  <a:ea typeface="+mn-ea"/>
                  <a:cs typeface="+mn-cs"/>
                </a:rPr>
                <a:t>seed 42</a:t>
              </a:r>
            </a:p>
          </p:txBody>
        </p:sp>
        <p:sp>
          <p:nvSpPr>
            <p:cNvPr id="38" name="TextBox 38"/>
            <p:cNvSpPr txBox="1"/>
            <p:nvPr/>
          </p:nvSpPr>
          <p:spPr>
            <a:xfrm>
              <a:off x="5039868" y="5136832"/>
              <a:ext cx="4564692" cy="322707"/>
            </a:xfrm>
            <a:prstGeom prst="rect">
              <a:avLst/>
            </a:prstGeom>
            <a:noFill/>
            <a:ln>
              <a:noFill/>
            </a:ln>
          </p:spPr>
          <p:txBody>
            <a:bodyPr wrap="none" lIns="0" tIns="0" rIns="0" bIns="0" anchor="t" anchorCtr="0">
              <a:spAutoFit/>
            </a:bodyPr>
            <a:lstStyle/>
            <a:p>
              <a:pPr algn="l"/>
              <a:r>
                <a:rPr lang="en-US" sz="1650" b="1" dirty="0">
                  <a:solidFill>
                    <a:schemeClr val="accent1"/>
                  </a:solidFill>
                  <a:latin typeface="+mn-lt"/>
                  <a:ea typeface="+mn-ea"/>
                  <a:cs typeface="+mn-cs"/>
                </a:rPr>
                <a:t>No sample-ID or duplicate-group overlap</a:t>
              </a:r>
            </a:p>
          </p:txBody>
        </p:sp>
        <p:sp>
          <p:nvSpPr>
            <p:cNvPr id="39" name="TextBox 39"/>
            <p:cNvSpPr txBox="1"/>
            <p:nvPr/>
          </p:nvSpPr>
          <p:spPr>
            <a:xfrm>
              <a:off x="5040249" y="5449729"/>
              <a:ext cx="3280941" cy="308039"/>
            </a:xfrm>
            <a:prstGeom prst="rect">
              <a:avLst/>
            </a:prstGeom>
            <a:noFill/>
            <a:ln>
              <a:noFill/>
            </a:ln>
          </p:spPr>
          <p:txBody>
            <a:bodyPr wrap="none" lIns="0" tIns="0" rIns="0" bIns="0" anchor="t" anchorCtr="0">
              <a:spAutoFit/>
            </a:bodyPr>
            <a:lstStyle/>
            <a:p>
              <a:pPr algn="l"/>
              <a:r>
                <a:rPr lang="en-US" sz="1580" dirty="0">
                  <a:solidFill>
                    <a:schemeClr val="dk1"/>
                  </a:solidFill>
                  <a:latin typeface="+mn-lt"/>
                  <a:ea typeface="+mn-ea"/>
                  <a:cs typeface="+mn-cs"/>
                </a:rPr>
                <a:t>across train · validation · test</a:t>
              </a:r>
            </a:p>
          </p:txBody>
        </p:sp>
        <p:sp>
          <p:nvSpPr>
            <p:cNvPr id="40" name="TextBox 40"/>
            <p:cNvSpPr txBox="1"/>
            <p:nvPr/>
          </p:nvSpPr>
          <p:spPr>
            <a:xfrm>
              <a:off x="5041392" y="5835968"/>
              <a:ext cx="5090556" cy="264033"/>
            </a:xfrm>
            <a:prstGeom prst="rect">
              <a:avLst/>
            </a:prstGeom>
            <a:noFill/>
            <a:ln>
              <a:noFill/>
            </a:ln>
          </p:spPr>
          <p:txBody>
            <a:bodyPr wrap="none" lIns="0" tIns="0" rIns="0" bIns="0" anchor="t" anchorCtr="0">
              <a:spAutoFit/>
            </a:bodyPr>
            <a:lstStyle/>
            <a:p>
              <a:pPr algn="l"/>
              <a:r>
                <a:rPr lang="en-US" sz="1350" dirty="0">
                  <a:solidFill>
                    <a:srgbClr val="766E62"/>
                  </a:solidFill>
                  <a:latin typeface="+mn-lt"/>
                  <a:ea typeface="+mn-ea"/>
                  <a:cs typeface="+mn-cs"/>
                </a:rPr>
                <a:t>Source: dataset_audit.csv · frozen experiment protocol</a:t>
              </a:r>
            </a:p>
          </p:txBody>
        </p:sp>
      </p:grpSp>
      <p:grpSp>
        <p:nvGrpSpPr>
          <p:cNvPr id="43" name="Group 43"/>
          <p:cNvGrpSpPr/>
          <p:nvPr/>
        </p:nvGrpSpPr>
        <p:grpSpPr>
          <a:xfrm>
            <a:off x="10966723" y="6426518"/>
            <a:ext cx="622535" cy="264033"/>
            <a:chOff x="10966723" y="6426518"/>
            <a:chExt cx="622535" cy="264033"/>
          </a:xfrm>
        </p:grpSpPr>
        <p:sp>
          <p:nvSpPr>
            <p:cNvPr id="42" name="TextBox 42"/>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02 / 10</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4360" y="482918"/>
            <a:ext cx="10704907" cy="913447"/>
            <a:chOff x="594360" y="482918"/>
            <a:chExt cx="10704907" cy="913447"/>
          </a:xfrm>
        </p:grpSpPr>
        <p:sp>
          <p:nvSpPr>
            <p:cNvPr id="3" name="TextBox 3"/>
            <p:cNvSpPr txBox="1"/>
            <p:nvPr/>
          </p:nvSpPr>
          <p:spPr>
            <a:xfrm>
              <a:off x="602742" y="482918"/>
              <a:ext cx="4196319" cy="264033"/>
            </a:xfrm>
            <a:prstGeom prst="rect">
              <a:avLst/>
            </a:prstGeom>
            <a:noFill/>
            <a:ln>
              <a:noFill/>
            </a:ln>
          </p:spPr>
          <p:txBody>
            <a:bodyPr wrap="none" lIns="0" tIns="0" rIns="0" bIns="0" anchor="t" anchorCtr="0">
              <a:spAutoFit/>
            </a:bodyPr>
            <a:lstStyle/>
            <a:p>
              <a:pPr algn="l"/>
              <a:r>
                <a:rPr lang="en-US" sz="1350" b="1" spc="105" dirty="0">
                  <a:solidFill>
                    <a:schemeClr val="accent3"/>
                  </a:solidFill>
                  <a:latin typeface="+mn-lt"/>
                  <a:ea typeface="+mn-ea"/>
                  <a:cs typeface="+mn-cs"/>
                </a:rPr>
                <a:t>CONTROLS · TRANSPARENT FEATURE MAP</a:t>
              </a:r>
            </a:p>
          </p:txBody>
        </p:sp>
        <p:sp>
          <p:nvSpPr>
            <p:cNvPr id="4" name="TextBox 4"/>
            <p:cNvSpPr txBox="1"/>
            <p:nvPr/>
          </p:nvSpPr>
          <p:spPr>
            <a:xfrm>
              <a:off x="594360" y="809625"/>
              <a:ext cx="10704907"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The circuit is fixed; only phase encoding changes</a:t>
              </a:r>
            </a:p>
          </p:txBody>
        </p:sp>
      </p:grpSp>
      <p:grpSp>
        <p:nvGrpSpPr>
          <p:cNvPr id="30" name="Group 30"/>
          <p:cNvGrpSpPr/>
          <p:nvPr/>
        </p:nvGrpSpPr>
        <p:grpSpPr>
          <a:xfrm>
            <a:off x="609600" y="1600200"/>
            <a:ext cx="11031945" cy="1428750"/>
            <a:chOff x="609600" y="1600200"/>
            <a:chExt cx="11031945" cy="1428750"/>
          </a:xfrm>
        </p:grpSpPr>
        <p:sp>
          <p:nvSpPr>
            <p:cNvPr id="6" name="Rectangle 6"/>
            <p:cNvSpPr/>
            <p:nvPr/>
          </p:nvSpPr>
          <p:spPr>
            <a:xfrm>
              <a:off x="609600" y="1752600"/>
              <a:ext cx="1657350" cy="1123950"/>
            </a:xfrm>
            <a:prstGeom prst="rect">
              <a:avLst/>
            </a:prstGeom>
            <a:solidFill>
              <a:schemeClr val="lt2"/>
            </a:solidFill>
            <a:ln>
              <a:noFill/>
            </a:ln>
          </p:spPr>
        </p:sp>
        <p:sp>
          <p:nvSpPr>
            <p:cNvPr id="7" name="TextBox 7"/>
            <p:cNvSpPr txBox="1"/>
            <p:nvPr/>
          </p:nvSpPr>
          <p:spPr>
            <a:xfrm>
              <a:off x="1078573" y="1930718"/>
              <a:ext cx="719404" cy="264033"/>
            </a:xfrm>
            <a:prstGeom prst="rect">
              <a:avLst/>
            </a:prstGeom>
            <a:noFill/>
            <a:ln>
              <a:noFill/>
            </a:ln>
          </p:spPr>
          <p:txBody>
            <a:bodyPr wrap="none" lIns="0" tIns="0" rIns="0" bIns="0" anchor="t" anchorCtr="0">
              <a:spAutoFit/>
            </a:bodyPr>
            <a:lstStyle/>
            <a:p>
              <a:pPr algn="ctr"/>
              <a:r>
                <a:rPr lang="en-US" sz="1350" b="1" dirty="0">
                  <a:solidFill>
                    <a:schemeClr val="accent3"/>
                  </a:solidFill>
                  <a:latin typeface="+mn-lt"/>
                  <a:ea typeface="+mn-ea"/>
                  <a:cs typeface="+mn-cs"/>
                </a:rPr>
                <a:t>FROZEN</a:t>
              </a:r>
            </a:p>
          </p:txBody>
        </p:sp>
        <p:sp>
          <p:nvSpPr>
            <p:cNvPr id="8" name="TextBox 8"/>
            <p:cNvSpPr txBox="1"/>
            <p:nvPr/>
          </p:nvSpPr>
          <p:spPr>
            <a:xfrm>
              <a:off x="882011" y="2233136"/>
              <a:ext cx="1112529" cy="337376"/>
            </a:xfrm>
            <a:prstGeom prst="rect">
              <a:avLst/>
            </a:prstGeom>
            <a:noFill/>
            <a:ln>
              <a:noFill/>
            </a:ln>
          </p:spPr>
          <p:txBody>
            <a:bodyPr wrap="none" lIns="0" tIns="0" rIns="0" bIns="0" anchor="t" anchorCtr="0">
              <a:spAutoFit/>
            </a:bodyPr>
            <a:lstStyle/>
            <a:p>
              <a:pPr algn="ctr"/>
              <a:r>
                <a:rPr lang="en-US" sz="1720" b="1" dirty="0">
                  <a:solidFill>
                    <a:schemeClr val="accent1"/>
                  </a:solidFill>
                  <a:latin typeface="+mn-lt"/>
                  <a:ea typeface="+mn-ea"/>
                  <a:cs typeface="+mn-cs"/>
                </a:rPr>
                <a:t>OpenCLIP</a:t>
              </a:r>
            </a:p>
          </p:txBody>
        </p:sp>
        <p:sp>
          <p:nvSpPr>
            <p:cNvPr id="9" name="TextBox 9"/>
            <p:cNvSpPr txBox="1"/>
            <p:nvPr/>
          </p:nvSpPr>
          <p:spPr>
            <a:xfrm>
              <a:off x="823524" y="2530792"/>
              <a:ext cx="1229502"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mn-lt"/>
                  <a:ea typeface="+mn-ea"/>
                  <a:cs typeface="+mn-cs"/>
                </a:rPr>
                <a:t>ViT-B/32 · L2</a:t>
              </a:r>
            </a:p>
          </p:txBody>
        </p:sp>
        <p:sp>
          <p:nvSpPr>
            <p:cNvPr id="10" name="Freeform 10"/>
            <p:cNvSpPr/>
            <p:nvPr/>
          </p:nvSpPr>
          <p:spPr>
            <a:xfrm>
              <a:off x="2266950" y="2219325"/>
              <a:ext cx="457200" cy="190500"/>
            </a:xfrm>
            <a:custGeom>
              <a:avLst/>
              <a:gdLst/>
              <a:ahLst/>
              <a:cxnLst/>
              <a:rect l="l" t="t" r="r" b="b"/>
              <a:pathLst>
                <a:path w="457200" h="190500">
                  <a:moveTo>
                    <a:pt x="0" y="95250"/>
                  </a:moveTo>
                  <a:lnTo>
                    <a:pt x="457200" y="95250"/>
                  </a:lnTo>
                  <a:moveTo>
                    <a:pt x="361950" y="0"/>
                  </a:moveTo>
                  <a:lnTo>
                    <a:pt x="457200" y="95250"/>
                  </a:lnTo>
                  <a:lnTo>
                    <a:pt x="361950" y="190500"/>
                  </a:lnTo>
                </a:path>
              </a:pathLst>
            </a:custGeom>
            <a:noFill/>
            <a:ln w="38100">
              <a:solidFill>
                <a:schemeClr val="accent1"/>
              </a:solidFill>
            </a:ln>
          </p:spPr>
        </p:sp>
        <p:sp>
          <p:nvSpPr>
            <p:cNvPr id="11" name="Rectangle 11"/>
            <p:cNvSpPr/>
            <p:nvPr/>
          </p:nvSpPr>
          <p:spPr>
            <a:xfrm>
              <a:off x="2724150" y="1752600"/>
              <a:ext cx="1657350" cy="1123950"/>
            </a:xfrm>
            <a:prstGeom prst="rect">
              <a:avLst/>
            </a:prstGeom>
            <a:solidFill>
              <a:schemeClr val="lt1"/>
            </a:solidFill>
            <a:ln w="19050">
              <a:solidFill>
                <a:schemeClr val="accent1"/>
              </a:solidFill>
            </a:ln>
          </p:spPr>
        </p:sp>
        <p:sp>
          <p:nvSpPr>
            <p:cNvPr id="12" name="TextBox 12"/>
            <p:cNvSpPr txBox="1"/>
            <p:nvPr/>
          </p:nvSpPr>
          <p:spPr>
            <a:xfrm>
              <a:off x="3021741" y="1930718"/>
              <a:ext cx="1062167" cy="264033"/>
            </a:xfrm>
            <a:prstGeom prst="rect">
              <a:avLst/>
            </a:prstGeom>
            <a:noFill/>
            <a:ln>
              <a:noFill/>
            </a:ln>
          </p:spPr>
          <p:txBody>
            <a:bodyPr wrap="none" lIns="0" tIns="0" rIns="0" bIns="0" anchor="t" anchorCtr="0">
              <a:spAutoFit/>
            </a:bodyPr>
            <a:lstStyle/>
            <a:p>
              <a:pPr algn="ctr"/>
              <a:r>
                <a:rPr lang="en-US" sz="1350" b="1" dirty="0">
                  <a:solidFill>
                    <a:schemeClr val="accent2"/>
                  </a:solidFill>
                  <a:latin typeface="+mn-lt"/>
                  <a:ea typeface="+mn-ea"/>
                  <a:cs typeface="+mn-cs"/>
                </a:rPr>
                <a:t>TRAIN ONLY</a:t>
              </a:r>
            </a:p>
          </p:txBody>
        </p:sp>
        <p:sp>
          <p:nvSpPr>
            <p:cNvPr id="13" name="TextBox 13"/>
            <p:cNvSpPr txBox="1"/>
            <p:nvPr/>
          </p:nvSpPr>
          <p:spPr>
            <a:xfrm>
              <a:off x="2749552" y="2233136"/>
              <a:ext cx="1606546" cy="337376"/>
            </a:xfrm>
            <a:prstGeom prst="rect">
              <a:avLst/>
            </a:prstGeom>
            <a:noFill/>
            <a:ln>
              <a:noFill/>
            </a:ln>
          </p:spPr>
          <p:txBody>
            <a:bodyPr wrap="none" lIns="0" tIns="0" rIns="0" bIns="0" anchor="t" anchorCtr="0">
              <a:spAutoFit/>
            </a:bodyPr>
            <a:lstStyle/>
            <a:p>
              <a:pPr algn="ctr"/>
              <a:r>
                <a:rPr lang="en-US" sz="1720" b="1" dirty="0">
                  <a:solidFill>
                    <a:schemeClr val="accent1"/>
                  </a:solidFill>
                  <a:latin typeface="+mn-lt"/>
                  <a:ea typeface="+mn-ea"/>
                  <a:cs typeface="+mn-cs"/>
                </a:rPr>
                <a:t>PCA-5 + scale</a:t>
              </a:r>
            </a:p>
          </p:txBody>
        </p:sp>
        <p:sp>
          <p:nvSpPr>
            <p:cNvPr id="14" name="TextBox 14"/>
            <p:cNvSpPr txBox="1"/>
            <p:nvPr/>
          </p:nvSpPr>
          <p:spPr>
            <a:xfrm>
              <a:off x="2941691" y="2530792"/>
              <a:ext cx="1222267" cy="264033"/>
            </a:xfrm>
            <a:prstGeom prst="rect">
              <a:avLst/>
            </a:prstGeom>
            <a:noFill/>
            <a:ln>
              <a:noFill/>
            </a:ln>
          </p:spPr>
          <p:txBody>
            <a:bodyPr wrap="none" lIns="0" tIns="0" rIns="0" bIns="0" anchor="t" anchorCtr="0">
              <a:spAutoFit/>
            </a:bodyPr>
            <a:lstStyle/>
            <a:p>
              <a:pPr algn="ctr"/>
              <a:r>
                <a:rPr lang="el-GR" sz="1350" dirty="0">
                  <a:solidFill>
                    <a:schemeClr val="dk1"/>
                  </a:solidFill>
                  <a:latin typeface="+mn-lt"/>
                  <a:ea typeface="+mn-ea"/>
                  <a:cs typeface="+mn-cs"/>
                </a:rPr>
                <a:t>range [−π, π]</a:t>
              </a:r>
            </a:p>
          </p:txBody>
        </p:sp>
        <p:sp>
          <p:nvSpPr>
            <p:cNvPr id="15" name="Freeform 15"/>
            <p:cNvSpPr/>
            <p:nvPr/>
          </p:nvSpPr>
          <p:spPr>
            <a:xfrm>
              <a:off x="4381500" y="2219325"/>
              <a:ext cx="457200" cy="190500"/>
            </a:xfrm>
            <a:custGeom>
              <a:avLst/>
              <a:gdLst/>
              <a:ahLst/>
              <a:cxnLst/>
              <a:rect l="l" t="t" r="r" b="b"/>
              <a:pathLst>
                <a:path w="457200" h="190500">
                  <a:moveTo>
                    <a:pt x="0" y="95250"/>
                  </a:moveTo>
                  <a:lnTo>
                    <a:pt x="457200" y="95250"/>
                  </a:lnTo>
                  <a:moveTo>
                    <a:pt x="361950" y="0"/>
                  </a:moveTo>
                  <a:lnTo>
                    <a:pt x="457200" y="95250"/>
                  </a:lnTo>
                  <a:lnTo>
                    <a:pt x="361950" y="190500"/>
                  </a:lnTo>
                </a:path>
              </a:pathLst>
            </a:custGeom>
            <a:noFill/>
            <a:ln w="38100">
              <a:solidFill>
                <a:schemeClr val="accent1"/>
              </a:solidFill>
            </a:ln>
          </p:spPr>
        </p:sp>
        <p:sp>
          <p:nvSpPr>
            <p:cNvPr id="16" name="Rectangle 16"/>
            <p:cNvSpPr/>
            <p:nvPr/>
          </p:nvSpPr>
          <p:spPr>
            <a:xfrm>
              <a:off x="4838700" y="1600200"/>
              <a:ext cx="2514600" cy="1428750"/>
            </a:xfrm>
            <a:prstGeom prst="rect">
              <a:avLst/>
            </a:prstGeom>
            <a:solidFill>
              <a:schemeClr val="accent1"/>
            </a:solidFill>
            <a:ln>
              <a:noFill/>
            </a:ln>
          </p:spPr>
        </p:sp>
        <p:sp>
          <p:nvSpPr>
            <p:cNvPr id="17" name="TextBox 17"/>
            <p:cNvSpPr txBox="1"/>
            <p:nvPr/>
          </p:nvSpPr>
          <p:spPr>
            <a:xfrm>
              <a:off x="5055813" y="1778318"/>
              <a:ext cx="2080374" cy="264033"/>
            </a:xfrm>
            <a:prstGeom prst="rect">
              <a:avLst/>
            </a:prstGeom>
            <a:noFill/>
            <a:ln>
              <a:noFill/>
            </a:ln>
          </p:spPr>
          <p:txBody>
            <a:bodyPr wrap="none" lIns="0" tIns="0" rIns="0" bIns="0" anchor="t" anchorCtr="0">
              <a:spAutoFit/>
            </a:bodyPr>
            <a:lstStyle/>
            <a:p>
              <a:pPr algn="ctr"/>
              <a:r>
                <a:rPr lang="en-US" sz="1350" b="1" dirty="0">
                  <a:solidFill>
                    <a:srgbClr val="FBF7EE"/>
                  </a:solidFill>
                  <a:latin typeface="+mn-lt"/>
                  <a:ea typeface="+mn-ea"/>
                  <a:cs typeface="+mn-cs"/>
                </a:rPr>
                <a:t>6 MODES · 2 PHOTONS</a:t>
              </a:r>
            </a:p>
          </p:txBody>
        </p:sp>
        <p:sp>
          <p:nvSpPr>
            <p:cNvPr id="18" name="TextBox 18"/>
            <p:cNvSpPr txBox="1"/>
            <p:nvPr/>
          </p:nvSpPr>
          <p:spPr>
            <a:xfrm>
              <a:off x="4918862" y="2112645"/>
              <a:ext cx="2354275" cy="469392"/>
            </a:xfrm>
            <a:prstGeom prst="rect">
              <a:avLst/>
            </a:prstGeom>
            <a:noFill/>
            <a:ln>
              <a:noFill/>
            </a:ln>
          </p:spPr>
          <p:txBody>
            <a:bodyPr wrap="none" lIns="0" tIns="0" rIns="0" bIns="0" anchor="t" anchorCtr="0">
              <a:spAutoFit/>
            </a:bodyPr>
            <a:lstStyle/>
            <a:p>
              <a:pPr algn="ctr"/>
              <a:r>
                <a:rPr lang="en-US" sz="2400" b="1" dirty="0">
                  <a:solidFill>
                    <a:srgbClr val="FBF7EE"/>
                  </a:solidFill>
                  <a:latin typeface="+mj-lt"/>
                  <a:ea typeface="+mj-ea"/>
                  <a:cs typeface="+mj-cs"/>
                </a:rPr>
                <a:t>U · D(x) · U</a:t>
              </a:r>
            </a:p>
          </p:txBody>
        </p:sp>
        <p:sp>
          <p:nvSpPr>
            <p:cNvPr id="19" name="TextBox 19"/>
            <p:cNvSpPr txBox="1"/>
            <p:nvPr/>
          </p:nvSpPr>
          <p:spPr>
            <a:xfrm>
              <a:off x="4439879" y="2549842"/>
              <a:ext cx="3312243" cy="264033"/>
            </a:xfrm>
            <a:prstGeom prst="rect">
              <a:avLst/>
            </a:prstGeom>
            <a:noFill/>
            <a:ln>
              <a:noFill/>
            </a:ln>
          </p:spPr>
          <p:txBody>
            <a:bodyPr wrap="none" lIns="0" tIns="0" rIns="0" bIns="0" anchor="t" anchorCtr="0">
              <a:spAutoFit/>
            </a:bodyPr>
            <a:lstStyle/>
            <a:p>
              <a:pPr algn="ctr"/>
              <a:r>
                <a:rPr lang="en-US" sz="1350" dirty="0">
                  <a:solidFill>
                    <a:srgbClr val="FBF7EE"/>
                  </a:solidFill>
                  <a:latin typeface="+mn-lt"/>
                  <a:ea typeface="+mn-ea"/>
                  <a:cs typeface="+mn-cs"/>
                </a:rPr>
                <a:t>modes 0–4 encode · mode 5 reference</a:t>
              </a:r>
            </a:p>
          </p:txBody>
        </p:sp>
        <p:sp>
          <p:nvSpPr>
            <p:cNvPr id="20" name="Freeform 20"/>
            <p:cNvSpPr/>
            <p:nvPr/>
          </p:nvSpPr>
          <p:spPr>
            <a:xfrm>
              <a:off x="7353300" y="2219325"/>
              <a:ext cx="457200" cy="190500"/>
            </a:xfrm>
            <a:custGeom>
              <a:avLst/>
              <a:gdLst/>
              <a:ahLst/>
              <a:cxnLst/>
              <a:rect l="l" t="t" r="r" b="b"/>
              <a:pathLst>
                <a:path w="457200" h="190500">
                  <a:moveTo>
                    <a:pt x="0" y="95250"/>
                  </a:moveTo>
                  <a:lnTo>
                    <a:pt x="457200" y="95250"/>
                  </a:lnTo>
                  <a:moveTo>
                    <a:pt x="361950" y="0"/>
                  </a:moveTo>
                  <a:lnTo>
                    <a:pt x="457200" y="95250"/>
                  </a:lnTo>
                  <a:lnTo>
                    <a:pt x="361950" y="190500"/>
                  </a:lnTo>
                </a:path>
              </a:pathLst>
            </a:custGeom>
            <a:noFill/>
            <a:ln w="38100">
              <a:solidFill>
                <a:schemeClr val="accent1"/>
              </a:solidFill>
            </a:ln>
          </p:spPr>
        </p:sp>
        <p:sp>
          <p:nvSpPr>
            <p:cNvPr id="21" name="Rectangle 21"/>
            <p:cNvSpPr/>
            <p:nvPr/>
          </p:nvSpPr>
          <p:spPr>
            <a:xfrm>
              <a:off x="7810500" y="1752600"/>
              <a:ext cx="1657350" cy="1123950"/>
            </a:xfrm>
            <a:prstGeom prst="rect">
              <a:avLst/>
            </a:prstGeom>
            <a:solidFill>
              <a:schemeClr val="lt2"/>
            </a:solidFill>
            <a:ln>
              <a:noFill/>
            </a:ln>
          </p:spPr>
        </p:sp>
        <p:sp>
          <p:nvSpPr>
            <p:cNvPr id="22" name="TextBox 22"/>
            <p:cNvSpPr txBox="1"/>
            <p:nvPr/>
          </p:nvSpPr>
          <p:spPr>
            <a:xfrm>
              <a:off x="8057685" y="1930718"/>
              <a:ext cx="1162980" cy="264033"/>
            </a:xfrm>
            <a:prstGeom prst="rect">
              <a:avLst/>
            </a:prstGeom>
            <a:noFill/>
            <a:ln>
              <a:noFill/>
            </a:ln>
          </p:spPr>
          <p:txBody>
            <a:bodyPr wrap="none" lIns="0" tIns="0" rIns="0" bIns="0" anchor="t" anchorCtr="0">
              <a:spAutoFit/>
            </a:bodyPr>
            <a:lstStyle/>
            <a:p>
              <a:pPr algn="ctr"/>
              <a:r>
                <a:rPr lang="en-US" sz="1350" b="1" dirty="0">
                  <a:solidFill>
                    <a:schemeClr val="accent3"/>
                  </a:solidFill>
                  <a:latin typeface="+mn-lt"/>
                  <a:ea typeface="+mn-ea"/>
                  <a:cs typeface="+mn-cs"/>
                </a:rPr>
                <a:t>POSTSELECT</a:t>
              </a:r>
            </a:p>
          </p:txBody>
        </p:sp>
        <p:sp>
          <p:nvSpPr>
            <p:cNvPr id="23" name="TextBox 23"/>
            <p:cNvSpPr txBox="1"/>
            <p:nvPr/>
          </p:nvSpPr>
          <p:spPr>
            <a:xfrm>
              <a:off x="8095028" y="2176462"/>
              <a:ext cx="1088293" cy="440055"/>
            </a:xfrm>
            <a:prstGeom prst="rect">
              <a:avLst/>
            </a:prstGeom>
            <a:noFill/>
            <a:ln>
              <a:noFill/>
            </a:ln>
          </p:spPr>
          <p:txBody>
            <a:bodyPr wrap="none" lIns="0" tIns="0" rIns="0" bIns="0" anchor="t" anchorCtr="0">
              <a:spAutoFit/>
            </a:bodyPr>
            <a:lstStyle/>
            <a:p>
              <a:pPr algn="ctr"/>
              <a:r>
                <a:rPr lang="en-US" sz="2250" b="1" dirty="0">
                  <a:solidFill>
                    <a:schemeClr val="accent1"/>
                  </a:solidFill>
                  <a:latin typeface="Consolas"/>
                  <a:ea typeface="Consolas"/>
                  <a:cs typeface="Consolas"/>
                </a:rPr>
                <a:t>21 → 15</a:t>
              </a:r>
            </a:p>
          </p:txBody>
        </p:sp>
        <p:sp>
          <p:nvSpPr>
            <p:cNvPr id="24" name="TextBox 24"/>
            <p:cNvSpPr txBox="1"/>
            <p:nvPr/>
          </p:nvSpPr>
          <p:spPr>
            <a:xfrm>
              <a:off x="7843127" y="2530792"/>
              <a:ext cx="1592097"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mn-lt"/>
                  <a:ea typeface="+mn-ea"/>
                  <a:cs typeface="+mn-cs"/>
                </a:rPr>
                <a:t>conditional P(n|x)</a:t>
              </a:r>
            </a:p>
          </p:txBody>
        </p:sp>
        <p:sp>
          <p:nvSpPr>
            <p:cNvPr id="25" name="Freeform 25"/>
            <p:cNvSpPr/>
            <p:nvPr/>
          </p:nvSpPr>
          <p:spPr>
            <a:xfrm>
              <a:off x="9467850" y="2219325"/>
              <a:ext cx="457200" cy="190500"/>
            </a:xfrm>
            <a:custGeom>
              <a:avLst/>
              <a:gdLst/>
              <a:ahLst/>
              <a:cxnLst/>
              <a:rect l="l" t="t" r="r" b="b"/>
              <a:pathLst>
                <a:path w="457200" h="190500">
                  <a:moveTo>
                    <a:pt x="0" y="95250"/>
                  </a:moveTo>
                  <a:lnTo>
                    <a:pt x="457200" y="95250"/>
                  </a:lnTo>
                  <a:moveTo>
                    <a:pt x="361950" y="0"/>
                  </a:moveTo>
                  <a:lnTo>
                    <a:pt x="457200" y="95250"/>
                  </a:lnTo>
                  <a:lnTo>
                    <a:pt x="361950" y="190500"/>
                  </a:lnTo>
                </a:path>
              </a:pathLst>
            </a:custGeom>
            <a:noFill/>
            <a:ln w="38100">
              <a:solidFill>
                <a:schemeClr val="accent1"/>
              </a:solidFill>
            </a:ln>
          </p:spPr>
        </p:sp>
        <p:sp>
          <p:nvSpPr>
            <p:cNvPr id="26" name="Rectangle 26"/>
            <p:cNvSpPr/>
            <p:nvPr/>
          </p:nvSpPr>
          <p:spPr>
            <a:xfrm>
              <a:off x="9925050" y="1752600"/>
              <a:ext cx="1657350" cy="1123950"/>
            </a:xfrm>
            <a:prstGeom prst="rect">
              <a:avLst/>
            </a:prstGeom>
            <a:solidFill>
              <a:schemeClr val="accent3"/>
            </a:solidFill>
            <a:ln>
              <a:noFill/>
            </a:ln>
          </p:spPr>
        </p:sp>
        <p:sp>
          <p:nvSpPr>
            <p:cNvPr id="27" name="TextBox 27"/>
            <p:cNvSpPr txBox="1"/>
            <p:nvPr/>
          </p:nvSpPr>
          <p:spPr>
            <a:xfrm>
              <a:off x="10383942" y="2006918"/>
              <a:ext cx="739567" cy="264033"/>
            </a:xfrm>
            <a:prstGeom prst="rect">
              <a:avLst/>
            </a:prstGeom>
            <a:noFill/>
            <a:ln>
              <a:noFill/>
            </a:ln>
          </p:spPr>
          <p:txBody>
            <a:bodyPr wrap="none" lIns="0" tIns="0" rIns="0" bIns="0" anchor="t" anchorCtr="0">
              <a:spAutoFit/>
            </a:bodyPr>
            <a:lstStyle/>
            <a:p>
              <a:pPr algn="ctr"/>
              <a:r>
                <a:rPr lang="en-US" sz="1350" b="1" dirty="0">
                  <a:solidFill>
                    <a:srgbClr val="FBF7EE"/>
                  </a:solidFill>
                  <a:latin typeface="+mn-lt"/>
                  <a:ea typeface="+mn-ea"/>
                  <a:cs typeface="+mn-cs"/>
                </a:rPr>
                <a:t>TRAINED</a:t>
              </a:r>
            </a:p>
          </p:txBody>
        </p:sp>
        <p:sp>
          <p:nvSpPr>
            <p:cNvPr id="28" name="TextBox 28"/>
            <p:cNvSpPr txBox="1"/>
            <p:nvPr/>
          </p:nvSpPr>
          <p:spPr>
            <a:xfrm>
              <a:off x="9865906" y="2299811"/>
              <a:ext cx="1775639" cy="337376"/>
            </a:xfrm>
            <a:prstGeom prst="rect">
              <a:avLst/>
            </a:prstGeom>
            <a:noFill/>
            <a:ln>
              <a:noFill/>
            </a:ln>
          </p:spPr>
          <p:txBody>
            <a:bodyPr wrap="none" lIns="0" tIns="0" rIns="0" bIns="0" anchor="t" anchorCtr="0">
              <a:spAutoFit/>
            </a:bodyPr>
            <a:lstStyle/>
            <a:p>
              <a:pPr algn="ctr"/>
              <a:r>
                <a:rPr lang="en-US" sz="1720" b="1" dirty="0">
                  <a:solidFill>
                    <a:srgbClr val="FBF7EE"/>
                  </a:solidFill>
                  <a:latin typeface="+mn-lt"/>
                  <a:ea typeface="+mn-ea"/>
                  <a:cs typeface="+mn-cs"/>
                </a:rPr>
                <a:t>Linear readout</a:t>
              </a:r>
            </a:p>
          </p:txBody>
        </p:sp>
        <p:sp>
          <p:nvSpPr>
            <p:cNvPr id="29" name="TextBox 29"/>
            <p:cNvSpPr txBox="1"/>
            <p:nvPr/>
          </p:nvSpPr>
          <p:spPr>
            <a:xfrm>
              <a:off x="10324929" y="2587942"/>
              <a:ext cx="857593" cy="264033"/>
            </a:xfrm>
            <a:prstGeom prst="rect">
              <a:avLst/>
            </a:prstGeom>
            <a:noFill/>
            <a:ln>
              <a:noFill/>
            </a:ln>
          </p:spPr>
          <p:txBody>
            <a:bodyPr wrap="none" lIns="0" tIns="0" rIns="0" bIns="0" anchor="t" anchorCtr="0">
              <a:spAutoFit/>
            </a:bodyPr>
            <a:lstStyle/>
            <a:p>
              <a:pPr algn="ctr"/>
              <a:r>
                <a:rPr lang="en-US" sz="1350" dirty="0">
                  <a:solidFill>
                    <a:srgbClr val="FBF7EE"/>
                  </a:solidFill>
                  <a:latin typeface="+mn-lt"/>
                  <a:ea typeface="+mn-ea"/>
                  <a:cs typeface="+mn-cs"/>
                </a:rPr>
                <a:t>macro-F1</a:t>
              </a:r>
            </a:p>
          </p:txBody>
        </p:sp>
      </p:grpSp>
      <p:grpSp>
        <p:nvGrpSpPr>
          <p:cNvPr id="36" name="Group 36"/>
          <p:cNvGrpSpPr/>
          <p:nvPr/>
        </p:nvGrpSpPr>
        <p:grpSpPr>
          <a:xfrm>
            <a:off x="600837" y="3454718"/>
            <a:ext cx="4055268" cy="2014347"/>
            <a:chOff x="600837" y="3454718"/>
            <a:chExt cx="4055268" cy="2014347"/>
          </a:xfrm>
        </p:grpSpPr>
        <p:sp>
          <p:nvSpPr>
            <p:cNvPr id="31" name="TextBox 31"/>
            <p:cNvSpPr txBox="1"/>
            <p:nvPr/>
          </p:nvSpPr>
          <p:spPr>
            <a:xfrm>
              <a:off x="602742" y="3454718"/>
              <a:ext cx="1848505"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FIXED PER MAP SEED</a:t>
              </a:r>
            </a:p>
          </p:txBody>
        </p:sp>
        <p:sp>
          <p:nvSpPr>
            <p:cNvPr id="32" name="TextBox 32"/>
            <p:cNvSpPr txBox="1"/>
            <p:nvPr/>
          </p:nvSpPr>
          <p:spPr>
            <a:xfrm>
              <a:off x="600837" y="3776186"/>
              <a:ext cx="4055268" cy="337376"/>
            </a:xfrm>
            <a:prstGeom prst="rect">
              <a:avLst/>
            </a:prstGeom>
            <a:noFill/>
            <a:ln>
              <a:noFill/>
            </a:ln>
          </p:spPr>
          <p:txBody>
            <a:bodyPr wrap="none" lIns="0" tIns="0" rIns="0" bIns="0" anchor="t" anchorCtr="0">
              <a:spAutoFit/>
            </a:bodyPr>
            <a:lstStyle/>
            <a:p>
              <a:pPr algn="l"/>
              <a:r>
                <a:rPr lang="en-US" sz="1720" b="1" dirty="0">
                  <a:solidFill>
                    <a:schemeClr val="accent1"/>
                  </a:solidFill>
                  <a:latin typeface="+mn-lt"/>
                  <a:ea typeface="+mn-ea"/>
                  <a:cs typeface="+mn-cs"/>
                </a:rPr>
                <a:t>Same Haar-random U on both sides</a:t>
              </a:r>
            </a:p>
          </p:txBody>
        </p:sp>
        <p:sp>
          <p:nvSpPr>
            <p:cNvPr id="33" name="TextBox 33"/>
            <p:cNvSpPr txBox="1"/>
            <p:nvPr/>
          </p:nvSpPr>
          <p:spPr>
            <a:xfrm>
              <a:off x="601599" y="4116229"/>
              <a:ext cx="3788410" cy="593788"/>
            </a:xfrm>
            <a:prstGeom prst="rect">
              <a:avLst/>
            </a:prstGeom>
            <a:noFill/>
            <a:ln>
              <a:noFill/>
            </a:ln>
          </p:spPr>
          <p:txBody>
            <a:bodyPr wrap="none" lIns="0" tIns="0" rIns="0" bIns="0" anchor="t" anchorCtr="0">
              <a:spAutoFit/>
            </a:bodyPr>
            <a:lstStyle/>
            <a:p>
              <a:pPr algn="l">
                <a:lnSpc>
                  <a:spcPts val="2250"/>
                </a:lnSpc>
              </a:pPr>
              <a:r>
                <a:rPr lang="en-US" sz="1580" dirty="0">
                  <a:solidFill>
                    <a:schemeClr val="dk1"/>
                  </a:solidFill>
                  <a:latin typeface="+mn-lt"/>
                  <a:ea typeface="+mn-ea"/>
                  <a:cs typeface="+mn-cs"/>
                </a:rPr>
                <a:t>Seeds 101 · 202 · 303 are averaged</a:t>
              </a:r>
              <a:br/>
              <a:r>
                <a:rPr lang="en-US" sz="1580" dirty="0">
                  <a:solidFill>
                    <a:schemeClr val="dk1"/>
                  </a:solidFill>
                  <a:latin typeface="+mn-lt"/>
                  <a:ea typeface="+mn-ea"/>
                  <a:cs typeface="+mn-cs"/>
                </a:rPr>
                <a:t>They are never selected or ensembled.</a:t>
              </a:r>
            </a:p>
          </p:txBody>
        </p:sp>
        <p:sp>
          <p:nvSpPr>
            <p:cNvPr id="34" name="TextBox 34"/>
            <p:cNvSpPr txBox="1"/>
            <p:nvPr/>
          </p:nvSpPr>
          <p:spPr>
            <a:xfrm>
              <a:off x="602742" y="4902518"/>
              <a:ext cx="1482220" cy="264033"/>
            </a:xfrm>
            <a:prstGeom prst="rect">
              <a:avLst/>
            </a:prstGeom>
            <a:noFill/>
            <a:ln>
              <a:noFill/>
            </a:ln>
          </p:spPr>
          <p:txBody>
            <a:bodyPr wrap="none" lIns="0" tIns="0" rIns="0" bIns="0" anchor="t" anchorCtr="0">
              <a:spAutoFit/>
            </a:bodyPr>
            <a:lstStyle/>
            <a:p>
              <a:pPr algn="l"/>
              <a:r>
                <a:rPr lang="en-US" sz="1350" dirty="0">
                  <a:solidFill>
                    <a:srgbClr val="766E62"/>
                  </a:solidFill>
                  <a:latin typeface="+mn-lt"/>
                  <a:ea typeface="+mn-ea"/>
                  <a:cs typeface="+mn-cs"/>
                </a:rPr>
                <a:t>Input occupation</a:t>
              </a:r>
            </a:p>
          </p:txBody>
        </p:sp>
        <p:sp>
          <p:nvSpPr>
            <p:cNvPr id="35" name="TextBox 35"/>
            <p:cNvSpPr txBox="1"/>
            <p:nvPr/>
          </p:nvSpPr>
          <p:spPr>
            <a:xfrm>
              <a:off x="601218" y="5146358"/>
              <a:ext cx="1604943" cy="322707"/>
            </a:xfrm>
            <a:prstGeom prst="rect">
              <a:avLst/>
            </a:prstGeom>
            <a:noFill/>
            <a:ln>
              <a:noFill/>
            </a:ln>
          </p:spPr>
          <p:txBody>
            <a:bodyPr wrap="none" lIns="0" tIns="0" rIns="0" bIns="0" anchor="t" anchorCtr="0">
              <a:spAutoFit/>
            </a:bodyPr>
            <a:lstStyle/>
            <a:p>
              <a:pPr algn="l"/>
              <a:r>
                <a:rPr lang="en-US" sz="1650" dirty="0">
                  <a:solidFill>
                    <a:schemeClr val="accent1"/>
                  </a:solidFill>
                  <a:latin typeface="Consolas"/>
                  <a:ea typeface="Consolas"/>
                  <a:cs typeface="Consolas"/>
                </a:rPr>
                <a:t>[1,0,1,0,0,0]</a:t>
              </a:r>
            </a:p>
          </p:txBody>
        </p:sp>
      </p:grpSp>
      <mc:AlternateContent xmlns:mc="http://schemas.openxmlformats.org/markup-compatibility/2006">
        <mc:Choice xmlns:a14="http://schemas.microsoft.com/office/drawing/2010/main" Requires="a14">
          <p:sp>
            <p:nvSpPr>
              <p:cNvPr id="37" name="formula"/>
              <p:cNvSpPr txBox="1">
                <a:spLocks noGrp="1"/>
              </p:cNvSpPr>
              <p:nvPr/>
            </p:nvSpPr>
            <p:spPr>
              <a:xfrm>
                <a:off x="5124450" y="3467100"/>
                <a:ext cx="6457950" cy="87630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en-US" sz="2250" dirty="0">
                          <a:solidFill>
                            <a:srgbClr val="1C2D38"/>
                          </a:solidFill>
                          <a:latin typeface="Cambria Math"/>
                          <a:ea typeface="Cambria Math"/>
                          <a:cs typeface="Cambria Math"/>
                        </a:rPr>
                        <m:t>U</m:t>
                      </m:r>
                      <m:d>
                        <m:dPr>
                          <m:begChr m:val="("/>
                          <m:sepChr m:val=""/>
                          <m:endChr m:val=")"/>
                          <m:grow m:val="on"/>
                          <m:ctrlPr>
                            <a:rPr lang="en-US" sz="2250" dirty="0">
                              <a:solidFill>
                                <a:srgbClr val="1C2D38"/>
                              </a:solidFill>
                              <a:latin typeface="Cambria Math"/>
                              <a:ea typeface="Cambria Math"/>
                              <a:cs typeface="Cambria Math"/>
                            </a:rPr>
                          </m:ctrlPr>
                        </m:dPr>
                        <m:e>
                          <m:r>
                            <a:rPr lang="en-US" sz="2250" dirty="0">
                              <a:solidFill>
                                <a:srgbClr val="1C2D38"/>
                              </a:solidFill>
                              <a:latin typeface="Cambria Math"/>
                              <a:ea typeface="Cambria Math"/>
                              <a:cs typeface="Cambria Math"/>
                            </a:rPr>
                            <m:t>x</m:t>
                          </m:r>
                        </m:e>
                      </m:d>
                      <m:r>
                        <m:rPr>
                          <m:sty m:val="p"/>
                        </m:rPr>
                        <a:rPr lang="en-US" sz="2250" dirty="0">
                          <a:solidFill>
                            <a:srgbClr val="1C2D38"/>
                          </a:solidFill>
                          <a:latin typeface="Cambria Math"/>
                          <a:ea typeface="Cambria Math"/>
                          <a:cs typeface="Cambria Math"/>
                        </a:rPr>
                        <m:t>=</m:t>
                      </m:r>
                      <m:r>
                        <a:rPr lang="en-US" sz="2250" dirty="0">
                          <a:solidFill>
                            <a:srgbClr val="1C2D38"/>
                          </a:solidFill>
                          <a:latin typeface="Cambria Math"/>
                          <a:ea typeface="Cambria Math"/>
                          <a:cs typeface="Cambria Math"/>
                        </a:rPr>
                        <m:t>UD</m:t>
                      </m:r>
                      <m:d>
                        <m:dPr>
                          <m:begChr m:val="("/>
                          <m:sepChr m:val=""/>
                          <m:endChr m:val=")"/>
                          <m:grow m:val="on"/>
                          <m:ctrlPr>
                            <a:rPr lang="en-US" sz="2250" dirty="0">
                              <a:solidFill>
                                <a:srgbClr val="1C2D38"/>
                              </a:solidFill>
                              <a:latin typeface="Cambria Math"/>
                              <a:ea typeface="Cambria Math"/>
                              <a:cs typeface="Cambria Math"/>
                            </a:rPr>
                          </m:ctrlPr>
                        </m:dPr>
                        <m:e>
                          <m:r>
                            <a:rPr lang="en-US" sz="2250" dirty="0">
                              <a:solidFill>
                                <a:srgbClr val="1C2D38"/>
                              </a:solidFill>
                              <a:latin typeface="Cambria Math"/>
                              <a:ea typeface="Cambria Math"/>
                              <a:cs typeface="Cambria Math"/>
                            </a:rPr>
                            <m:t>x</m:t>
                          </m:r>
                        </m:e>
                      </m:d>
                      <m:r>
                        <a:rPr lang="en-US" sz="2250" dirty="0">
                          <a:solidFill>
                            <a:srgbClr val="1C2D38"/>
                          </a:solidFill>
                          <a:latin typeface="Cambria Math"/>
                          <a:ea typeface="Cambria Math"/>
                          <a:cs typeface="Cambria Math"/>
                        </a:rPr>
                        <m:t>U</m:t>
                      </m:r>
                      <m:r>
                        <m:rPr>
                          <m:sty m:val="p"/>
                        </m:rPr>
                        <a:rPr lang="en-US" sz="2250" dirty="0">
                          <a:solidFill>
                            <a:srgbClr val="1C2D38"/>
                          </a:solidFill>
                          <a:latin typeface="Cambria Math"/>
                          <a:ea typeface="Cambria Math"/>
                          <a:cs typeface="Cambria Math"/>
                        </a:rPr>
                        <m:t>,</m:t>
                      </m:r>
                      <m:r>
                        <a:rPr lang="en-US" sz="2250" dirty="0">
                          <a:solidFill>
                            <a:srgbClr val="1C2D38"/>
                          </a:solidFill>
                          <a:latin typeface="Cambria Math"/>
                          <a:ea typeface="Cambria Math"/>
                          <a:cs typeface="Cambria Math"/>
                        </a:rPr>
                        <m:t xml:space="preserve"> </m:t>
                      </m:r>
                      <m:sSub>
                        <m:e>
                          <m:r>
                            <a:rPr lang="en-US" sz="2250" dirty="0">
                              <a:solidFill>
                                <a:srgbClr val="1C2D38"/>
                              </a:solidFill>
                              <a:latin typeface="Cambria Math"/>
                              <a:ea typeface="Cambria Math"/>
                              <a:cs typeface="Cambria Math"/>
                            </a:rPr>
                            <m:t>ϕ</m:t>
                          </m:r>
                        </m:e>
                        <m:sub>
                          <m:r>
                            <a:rPr lang="en-US" sz="2250" dirty="0">
                              <a:solidFill>
                                <a:srgbClr val="1C2D38"/>
                              </a:solidFill>
                              <a:latin typeface="Cambria Math"/>
                              <a:ea typeface="Cambria Math"/>
                              <a:cs typeface="Cambria Math"/>
                            </a:rPr>
                            <m:t>Q</m:t>
                          </m:r>
                        </m:sub>
                      </m:sSub>
                      <m:d>
                        <m:dPr>
                          <m:begChr m:val="("/>
                          <m:sepChr m:val=""/>
                          <m:endChr m:val=")"/>
                          <m:grow m:val="on"/>
                          <m:ctrlPr>
                            <a:rPr lang="en-US" sz="2250" dirty="0">
                              <a:solidFill>
                                <a:srgbClr val="1C2D38"/>
                              </a:solidFill>
                              <a:latin typeface="Cambria Math"/>
                              <a:ea typeface="Cambria Math"/>
                              <a:cs typeface="Cambria Math"/>
                            </a:rPr>
                          </m:ctrlPr>
                        </m:dPr>
                        <m:e>
                          <m:r>
                            <a:rPr lang="en-US" sz="2250" dirty="0">
                              <a:solidFill>
                                <a:srgbClr val="1C2D38"/>
                              </a:solidFill>
                              <a:latin typeface="Cambria Math"/>
                              <a:ea typeface="Cambria Math"/>
                              <a:cs typeface="Cambria Math"/>
                            </a:rPr>
                            <m:t>x</m:t>
                          </m:r>
                        </m:e>
                      </m:d>
                      <m:r>
                        <m:rPr>
                          <m:sty m:val="p"/>
                        </m:rPr>
                        <a:rPr lang="en-US" sz="2250" dirty="0">
                          <a:solidFill>
                            <a:srgbClr val="1C2D38"/>
                          </a:solidFill>
                          <a:latin typeface="Cambria Math"/>
                          <a:ea typeface="Cambria Math"/>
                          <a:cs typeface="Cambria Math"/>
                        </a:rPr>
                        <m:t>=</m:t>
                      </m:r>
                      <m:func>
                        <m:funcPr/>
                        <m:fName>
                          <m:r>
                            <m:rPr>
                              <m:sty m:val="p"/>
                            </m:rPr>
                            <a:rPr lang="en-US" sz="2250" dirty="0">
                              <a:solidFill>
                                <a:srgbClr val="1C2D38"/>
                              </a:solidFill>
                              <a:latin typeface="Cambria Math"/>
                              <a:ea typeface="Cambria Math"/>
                              <a:cs typeface="Cambria Math"/>
                            </a:rPr>
                            <m:t>Normalize</m:t>
                          </m:r>
                        </m:fName>
                        <m:e>
                          <m:d>
                            <m:dPr>
                              <m:begChr m:val="("/>
                              <m:sepChr m:val=""/>
                              <m:endChr m:val=")"/>
                              <m:grow m:val="on"/>
                              <m:ctrlPr>
                                <a:rPr lang="en-US" sz="2250" dirty="0">
                                  <a:solidFill>
                                    <a:srgbClr val="1C2D38"/>
                                  </a:solidFill>
                                  <a:latin typeface="Cambria Math"/>
                                  <a:ea typeface="Cambria Math"/>
                                  <a:cs typeface="Cambria Math"/>
                                </a:rPr>
                              </m:ctrlPr>
                            </m:dPr>
                            <m:e>
                              <m:sSub>
                                <m:e>
                                  <m:d>
                                    <m:dPr>
                                      <m:begChr m:val="{"/>
                                      <m:sepChr m:val=""/>
                                      <m:endChr m:val="}"/>
                                      <m:grow m:val="on"/>
                                      <m:ctrlPr>
                                        <a:rPr lang="en-US" sz="2250" dirty="0">
                                          <a:solidFill>
                                            <a:srgbClr val="1C2D38"/>
                                          </a:solidFill>
                                          <a:latin typeface="Cambria Math"/>
                                          <a:ea typeface="Cambria Math"/>
                                          <a:cs typeface="Cambria Math"/>
                                        </a:rPr>
                                      </m:ctrlPr>
                                    </m:dPr>
                                    <m:e>
                                      <m:r>
                                        <a:rPr lang="en-US" sz="2250" dirty="0">
                                          <a:solidFill>
                                            <a:srgbClr val="1C2D38"/>
                                          </a:solidFill>
                                          <a:latin typeface="Cambria Math"/>
                                          <a:ea typeface="Cambria Math"/>
                                          <a:cs typeface="Cambria Math"/>
                                        </a:rPr>
                                        <m:t>P</m:t>
                                      </m:r>
                                      <m:d>
                                        <m:dPr>
                                          <m:begChr m:val="("/>
                                          <m:sepChr m:val=""/>
                                          <m:endChr m:val=")"/>
                                          <m:grow m:val="on"/>
                                          <m:ctrlPr>
                                            <a:rPr lang="en-US" sz="2250" dirty="0">
                                              <a:solidFill>
                                                <a:srgbClr val="1C2D38"/>
                                              </a:solidFill>
                                              <a:latin typeface="Cambria Math"/>
                                              <a:ea typeface="Cambria Math"/>
                                              <a:cs typeface="Cambria Math"/>
                                            </a:rPr>
                                          </m:ctrlPr>
                                        </m:dPr>
                                        <m:e>
                                          <m:r>
                                            <m:rPr>
                                              <m:sty m:val="b"/>
                                            </m:rPr>
                                            <a:rPr lang="en-US" sz="2250" dirty="0">
                                              <a:solidFill>
                                                <a:srgbClr val="1C2D38"/>
                                              </a:solidFill>
                                              <a:latin typeface="Cambria Math"/>
                                              <a:ea typeface="Cambria Math"/>
                                              <a:cs typeface="Cambria Math"/>
                                            </a:rPr>
                                            <m:t>n</m:t>
                                          </m:r>
                                          <m:r>
                                            <m:rPr>
                                              <m:sty m:val="p"/>
                                            </m:rPr>
                                            <a:rPr lang="en-US" sz="2250" dirty="0">
                                              <a:solidFill>
                                                <a:srgbClr val="1C2D38"/>
                                              </a:solidFill>
                                              <a:latin typeface="Cambria Math"/>
                                              <a:ea typeface="Cambria Math"/>
                                              <a:cs typeface="Cambria Math"/>
                                            </a:rPr>
                                            <m:t>∣</m:t>
                                          </m:r>
                                          <m:r>
                                            <a:rPr lang="en-US" sz="2250" dirty="0">
                                              <a:solidFill>
                                                <a:srgbClr val="1C2D38"/>
                                              </a:solidFill>
                                              <a:latin typeface="Cambria Math"/>
                                              <a:ea typeface="Cambria Math"/>
                                              <a:cs typeface="Cambria Math"/>
                                            </a:rPr>
                                            <m:t>x</m:t>
                                          </m:r>
                                        </m:e>
                                      </m:d>
                                    </m:e>
                                  </m:d>
                                </m:e>
                                <m:sub>
                                  <m:r>
                                    <m:rPr>
                                      <m:sty m:val="b"/>
                                    </m:rPr>
                                    <a:rPr lang="en-US" sz="2250" dirty="0">
                                      <a:solidFill>
                                        <a:srgbClr val="1C2D38"/>
                                      </a:solidFill>
                                      <a:latin typeface="Cambria Math"/>
                                      <a:ea typeface="Cambria Math"/>
                                      <a:cs typeface="Cambria Math"/>
                                    </a:rPr>
                                    <m:t>n</m:t>
                                  </m:r>
                                  <m:r>
                                    <m:rPr>
                                      <m:sty m:val="p"/>
                                    </m:rPr>
                                    <a:rPr lang="en-US" sz="2250" dirty="0">
                                      <a:solidFill>
                                        <a:srgbClr val="1C2D38"/>
                                      </a:solidFill>
                                      <a:latin typeface="Cambria Math"/>
                                      <a:ea typeface="Cambria Math"/>
                                      <a:cs typeface="Cambria Math"/>
                                    </a:rPr>
                                    <m:t>∈</m:t>
                                  </m:r>
                                  <m:r>
                                    <m:rPr>
                                      <m:scr m:val="script"/>
                                      <m:sty m:val="p"/>
                                    </m:rPr>
                                    <a:rPr lang="en-US" sz="2250" dirty="0">
                                      <a:solidFill>
                                        <a:srgbClr val="1C2D38"/>
                                      </a:solidFill>
                                      <a:latin typeface="Cambria Math"/>
                                      <a:ea typeface="Cambria Math"/>
                                      <a:cs typeface="Cambria Math"/>
                                    </a:rPr>
                                    <m:t>C</m:t>
                                  </m:r>
                                </m:sub>
                              </m:sSub>
                            </m:e>
                          </m:d>
                        </m:e>
                      </m:func>
                    </m:oMath>
                  </m:oMathPara>
                </a14:m>
              </a:p>
            </p:txBody>
          </p:sp>
        </mc:Choice>
      </mc:AlternateContent>
      <p:grpSp>
        <p:nvGrpSpPr>
          <p:cNvPr id="41" name="Group 41"/>
          <p:cNvGrpSpPr/>
          <p:nvPr/>
        </p:nvGrpSpPr>
        <p:grpSpPr>
          <a:xfrm>
            <a:off x="5124450" y="4591050"/>
            <a:ext cx="6457950" cy="1217962"/>
            <a:chOff x="5124450" y="4591050"/>
            <a:chExt cx="6457950" cy="1217962"/>
          </a:xfrm>
        </p:grpSpPr>
        <p:sp>
          <p:nvSpPr>
            <p:cNvPr id="38" name="Rectangle 38"/>
            <p:cNvSpPr/>
            <p:nvPr/>
          </p:nvSpPr>
          <p:spPr>
            <a:xfrm>
              <a:off x="5124450" y="4591050"/>
              <a:ext cx="6457950" cy="1200150"/>
            </a:xfrm>
            <a:prstGeom prst="rect">
              <a:avLst/>
            </a:prstGeom>
            <a:solidFill>
              <a:schemeClr val="accent3"/>
            </a:solidFill>
            <a:ln>
              <a:noFill/>
            </a:ln>
          </p:spPr>
        </p:sp>
        <p:sp>
          <p:nvSpPr>
            <p:cNvPr id="39" name="TextBox 39"/>
            <p:cNvSpPr txBox="1"/>
            <p:nvPr/>
          </p:nvSpPr>
          <p:spPr>
            <a:xfrm>
              <a:off x="5422392" y="4807268"/>
              <a:ext cx="3542157" cy="264033"/>
            </a:xfrm>
            <a:prstGeom prst="rect">
              <a:avLst/>
            </a:prstGeom>
            <a:noFill/>
            <a:ln>
              <a:noFill/>
            </a:ln>
          </p:spPr>
          <p:txBody>
            <a:bodyPr wrap="none" lIns="0" tIns="0" rIns="0" bIns="0" anchor="t" anchorCtr="0">
              <a:spAutoFit/>
            </a:bodyPr>
            <a:lstStyle/>
            <a:p>
              <a:pPr algn="l"/>
              <a:r>
                <a:rPr lang="en-US" sz="1350" b="1" dirty="0">
                  <a:solidFill>
                    <a:srgbClr val="FBF7EE"/>
                  </a:solidFill>
                  <a:latin typeface="+mn-lt"/>
                  <a:ea typeface="+mn-ea"/>
                  <a:cs typeface="+mn-cs"/>
                </a:rPr>
                <a:t>INDEPENDENT IMPLEMENTATION CHECKS</a:t>
              </a:r>
            </a:p>
          </p:txBody>
        </p:sp>
        <p:sp>
          <p:nvSpPr>
            <p:cNvPr id="40" name="TextBox 40"/>
            <p:cNvSpPr txBox="1"/>
            <p:nvPr/>
          </p:nvSpPr>
          <p:spPr>
            <a:xfrm>
              <a:off x="5420487" y="5185886"/>
              <a:ext cx="4524489" cy="623126"/>
            </a:xfrm>
            <a:prstGeom prst="rect">
              <a:avLst/>
            </a:prstGeom>
            <a:noFill/>
            <a:ln>
              <a:noFill/>
            </a:ln>
          </p:spPr>
          <p:txBody>
            <a:bodyPr wrap="none" lIns="0" tIns="0" rIns="0" bIns="0" anchor="t" anchorCtr="0">
              <a:spAutoFit/>
            </a:bodyPr>
            <a:lstStyle/>
            <a:p>
              <a:pPr algn="l">
                <a:lnSpc>
                  <a:spcPts val="2250"/>
                </a:lnSpc>
              </a:pPr>
              <a:r>
                <a:rPr lang="en-US" sz="1720" b="1" dirty="0">
                  <a:solidFill>
                    <a:srgbClr val="FBF7EE"/>
                  </a:solidFill>
                  <a:latin typeface="+mn-lt"/>
                  <a:ea typeface="+mn-ea"/>
                  <a:cs typeface="+mn-cs"/>
                </a:rPr>
                <a:t>Perceval 1.2.4 · 4.16 × 10⁻¹⁷ max error</a:t>
              </a:r>
              <a:br/>
              <a:r>
                <a:rPr lang="en-US" sz="1720" b="1" dirty="0">
                  <a:solidFill>
                    <a:srgbClr val="FBF7EE"/>
                  </a:solidFill>
                  <a:latin typeface="+mn-lt"/>
                  <a:ea typeface="+mn-ea"/>
                  <a:cs typeface="+mn-cs"/>
                </a:rPr>
                <a:t>MerLin 0.4.1 · 8.33 × 10⁻¹⁷ max error</a:t>
              </a:r>
            </a:p>
          </p:txBody>
        </p:sp>
      </p:grpSp>
      <p:grpSp>
        <p:nvGrpSpPr>
          <p:cNvPr id="43" name="Group 43"/>
          <p:cNvGrpSpPr/>
          <p:nvPr/>
        </p:nvGrpSpPr>
        <p:grpSpPr>
          <a:xfrm>
            <a:off x="602742" y="6045518"/>
            <a:ext cx="4681552" cy="264033"/>
            <a:chOff x="602742" y="6045518"/>
            <a:chExt cx="4681552" cy="264033"/>
          </a:xfrm>
        </p:grpSpPr>
        <p:sp>
          <p:nvSpPr>
            <p:cNvPr id="42" name="TextBox 42"/>
            <p:cNvSpPr txBox="1"/>
            <p:nvPr/>
          </p:nvSpPr>
          <p:spPr>
            <a:xfrm>
              <a:off x="602742" y="6045518"/>
              <a:ext cx="4681552" cy="264033"/>
            </a:xfrm>
            <a:prstGeom prst="rect">
              <a:avLst/>
            </a:prstGeom>
            <a:noFill/>
            <a:ln>
              <a:noFill/>
            </a:ln>
          </p:spPr>
          <p:txBody>
            <a:bodyPr wrap="none" lIns="0" tIns="0" rIns="0" bIns="0" anchor="t" anchorCtr="0">
              <a:spAutoFit/>
            </a:bodyPr>
            <a:lstStyle/>
            <a:p>
              <a:pPr algn="l"/>
              <a:r>
                <a:rPr lang="en-US" sz="1350" dirty="0">
                  <a:solidFill>
                    <a:srgbClr val="766E62"/>
                  </a:solidFill>
                  <a:latin typeface="+mn-lt"/>
                  <a:ea typeface="+mn-ea"/>
                  <a:cs typeface="+mn-cs"/>
                </a:rPr>
                <a:t>Source: experiment_protocol.md · verification.json</a:t>
              </a:r>
            </a:p>
          </p:txBody>
        </p:sp>
      </p:grpSp>
      <p:grpSp>
        <p:nvGrpSpPr>
          <p:cNvPr id="45" name="Group 45"/>
          <p:cNvGrpSpPr/>
          <p:nvPr/>
        </p:nvGrpSpPr>
        <p:grpSpPr>
          <a:xfrm>
            <a:off x="10966723" y="6426518"/>
            <a:ext cx="622535" cy="264033"/>
            <a:chOff x="10966723" y="6426518"/>
            <a:chExt cx="622535" cy="264033"/>
          </a:xfrm>
        </p:grpSpPr>
        <p:sp>
          <p:nvSpPr>
            <p:cNvPr id="44" name="TextBox 44"/>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03 / 10</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4360" y="482918"/>
            <a:ext cx="9133629" cy="913447"/>
            <a:chOff x="594360" y="482918"/>
            <a:chExt cx="9133629" cy="913447"/>
          </a:xfrm>
        </p:grpSpPr>
        <p:sp>
          <p:nvSpPr>
            <p:cNvPr id="3" name="TextBox 3"/>
            <p:cNvSpPr txBox="1"/>
            <p:nvPr/>
          </p:nvSpPr>
          <p:spPr>
            <a:xfrm>
              <a:off x="602742" y="482918"/>
              <a:ext cx="3406247" cy="264033"/>
            </a:xfrm>
            <a:prstGeom prst="rect">
              <a:avLst/>
            </a:prstGeom>
            <a:noFill/>
            <a:ln>
              <a:noFill/>
            </a:ln>
          </p:spPr>
          <p:txBody>
            <a:bodyPr wrap="none" lIns="0" tIns="0" rIns="0" bIns="0" anchor="t" anchorCtr="0">
              <a:spAutoFit/>
            </a:bodyPr>
            <a:lstStyle/>
            <a:p>
              <a:pPr algn="l"/>
              <a:r>
                <a:rPr lang="en-US" sz="1350" b="1" spc="105" dirty="0">
                  <a:solidFill>
                    <a:schemeClr val="accent3"/>
                  </a:solidFill>
                  <a:latin typeface="+mn-lt"/>
                  <a:ea typeface="+mn-ea"/>
                  <a:cs typeface="+mn-cs"/>
                </a:rPr>
                <a:t>CONTROLS · FROZEN BENCHMARK</a:t>
              </a:r>
            </a:p>
          </p:txBody>
        </p:sp>
        <p:sp>
          <p:nvSpPr>
            <p:cNvPr id="4" name="TextBox 4"/>
            <p:cNvSpPr txBox="1"/>
            <p:nvPr/>
          </p:nvSpPr>
          <p:spPr>
            <a:xfrm>
              <a:off x="594360" y="809625"/>
              <a:ext cx="9133629"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The protocol makes overclaiming difficult</a:t>
              </a:r>
            </a:p>
          </p:txBody>
        </p:sp>
      </p:grpSp>
      <p:grpSp>
        <p:nvGrpSpPr>
          <p:cNvPr id="22" name="Group 22"/>
          <p:cNvGrpSpPr/>
          <p:nvPr/>
        </p:nvGrpSpPr>
        <p:grpSpPr>
          <a:xfrm>
            <a:off x="602742" y="1711642"/>
            <a:ext cx="2628060" cy="4007359"/>
            <a:chOff x="602742" y="1711642"/>
            <a:chExt cx="2628060" cy="4007359"/>
          </a:xfrm>
        </p:grpSpPr>
        <p:sp>
          <p:nvSpPr>
            <p:cNvPr id="6" name="TextBox 6"/>
            <p:cNvSpPr txBox="1"/>
            <p:nvPr/>
          </p:nvSpPr>
          <p:spPr>
            <a:xfrm>
              <a:off x="602742" y="1711642"/>
              <a:ext cx="2080374"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PAIRED LABEL BUDGETS</a:t>
              </a:r>
            </a:p>
          </p:txBody>
        </p:sp>
        <p:sp>
          <p:nvSpPr>
            <p:cNvPr id="7" name="Line 7"/>
            <p:cNvSpPr/>
            <p:nvPr/>
          </p:nvSpPr>
          <p:spPr>
            <a:xfrm>
              <a:off x="962025" y="2209800"/>
              <a:ext cx="9525" cy="2743200"/>
            </a:xfrm>
            <a:custGeom>
              <a:avLst/>
              <a:gdLst/>
              <a:ahLst/>
              <a:cxnLst/>
              <a:rect l="l" t="t" r="r" b="b"/>
              <a:pathLst>
                <a:path w="9525" h="2743200">
                  <a:moveTo>
                    <a:pt x="0" y="0"/>
                  </a:moveTo>
                  <a:lnTo>
                    <a:pt x="0" y="2743200"/>
                  </a:lnTo>
                </a:path>
              </a:pathLst>
            </a:custGeom>
            <a:noFill/>
            <a:ln w="38100">
              <a:solidFill>
                <a:schemeClr val="accent1"/>
              </a:solidFill>
            </a:ln>
          </p:spPr>
        </p:sp>
        <p:sp>
          <p:nvSpPr>
            <p:cNvPr id="8" name="Ellipse 8"/>
            <p:cNvSpPr/>
            <p:nvPr/>
          </p:nvSpPr>
          <p:spPr>
            <a:xfrm>
              <a:off x="752475" y="2133600"/>
              <a:ext cx="419100" cy="419100"/>
            </a:xfrm>
            <a:prstGeom prst="ellipse">
              <a:avLst/>
            </a:prstGeom>
            <a:solidFill>
              <a:schemeClr val="accent3"/>
            </a:solidFill>
            <a:ln>
              <a:noFill/>
            </a:ln>
          </p:spPr>
        </p:sp>
        <p:sp>
          <p:nvSpPr>
            <p:cNvPr id="9" name="TextBox 9"/>
            <p:cNvSpPr txBox="1"/>
            <p:nvPr/>
          </p:nvSpPr>
          <p:spPr>
            <a:xfrm>
              <a:off x="850214" y="2264092"/>
              <a:ext cx="223622" cy="264033"/>
            </a:xfrm>
            <a:prstGeom prst="rect">
              <a:avLst/>
            </a:prstGeom>
            <a:noFill/>
            <a:ln>
              <a:noFill/>
            </a:ln>
          </p:spPr>
          <p:txBody>
            <a:bodyPr wrap="none" lIns="0" tIns="0" rIns="0" bIns="0" anchor="t" anchorCtr="0">
              <a:spAutoFit/>
            </a:bodyPr>
            <a:lstStyle/>
            <a:p>
              <a:pPr algn="ctr"/>
              <a:r>
                <a:rPr lang="en-US" sz="1350" b="1" dirty="0">
                  <a:solidFill>
                    <a:srgbClr val="FBF7EE"/>
                  </a:solidFill>
                  <a:latin typeface="Consolas"/>
                  <a:ea typeface="Consolas"/>
                  <a:cs typeface="Consolas"/>
                </a:rPr>
                <a:t>12</a:t>
              </a:r>
            </a:p>
          </p:txBody>
        </p:sp>
        <p:sp>
          <p:nvSpPr>
            <p:cNvPr id="10" name="TextBox 10"/>
            <p:cNvSpPr txBox="1"/>
            <p:nvPr/>
          </p:nvSpPr>
          <p:spPr>
            <a:xfrm>
              <a:off x="1363218" y="2117408"/>
              <a:ext cx="1591061" cy="322707"/>
            </a:xfrm>
            <a:prstGeom prst="rect">
              <a:avLst/>
            </a:prstGeom>
            <a:noFill/>
            <a:ln>
              <a:noFill/>
            </a:ln>
          </p:spPr>
          <p:txBody>
            <a:bodyPr wrap="none" lIns="0" tIns="0" rIns="0" bIns="0" anchor="t" anchorCtr="0">
              <a:spAutoFit/>
            </a:bodyPr>
            <a:lstStyle/>
            <a:p>
              <a:pPr algn="l"/>
              <a:r>
                <a:rPr lang="en-US" sz="1650" b="1" dirty="0">
                  <a:solidFill>
                    <a:schemeClr val="accent1"/>
                  </a:solidFill>
                  <a:latin typeface="+mn-lt"/>
                  <a:ea typeface="+mn-ea"/>
                  <a:cs typeface="+mn-cs"/>
                </a:rPr>
                <a:t>8 train + 4 val</a:t>
              </a:r>
            </a:p>
          </p:txBody>
        </p:sp>
        <p:sp>
          <p:nvSpPr>
            <p:cNvPr id="11" name="TextBox 11"/>
            <p:cNvSpPr txBox="1"/>
            <p:nvPr/>
          </p:nvSpPr>
          <p:spPr>
            <a:xfrm>
              <a:off x="1364742" y="2416492"/>
              <a:ext cx="822446"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per class</a:t>
              </a:r>
            </a:p>
          </p:txBody>
        </p:sp>
        <p:sp>
          <p:nvSpPr>
            <p:cNvPr id="12" name="Ellipse 12"/>
            <p:cNvSpPr/>
            <p:nvPr/>
          </p:nvSpPr>
          <p:spPr>
            <a:xfrm>
              <a:off x="752475" y="3228975"/>
              <a:ext cx="419100" cy="419100"/>
            </a:xfrm>
            <a:prstGeom prst="ellipse">
              <a:avLst/>
            </a:prstGeom>
            <a:solidFill>
              <a:schemeClr val="accent3"/>
            </a:solidFill>
            <a:ln>
              <a:noFill/>
            </a:ln>
          </p:spPr>
        </p:sp>
        <p:sp>
          <p:nvSpPr>
            <p:cNvPr id="13" name="TextBox 13"/>
            <p:cNvSpPr txBox="1"/>
            <p:nvPr/>
          </p:nvSpPr>
          <p:spPr>
            <a:xfrm>
              <a:off x="850214" y="3359468"/>
              <a:ext cx="223622" cy="264033"/>
            </a:xfrm>
            <a:prstGeom prst="rect">
              <a:avLst/>
            </a:prstGeom>
            <a:noFill/>
            <a:ln>
              <a:noFill/>
            </a:ln>
          </p:spPr>
          <p:txBody>
            <a:bodyPr wrap="none" lIns="0" tIns="0" rIns="0" bIns="0" anchor="t" anchorCtr="0">
              <a:spAutoFit/>
            </a:bodyPr>
            <a:lstStyle/>
            <a:p>
              <a:pPr algn="ctr"/>
              <a:r>
                <a:rPr lang="en-US" sz="1350" b="1" dirty="0">
                  <a:solidFill>
                    <a:srgbClr val="FBF7EE"/>
                  </a:solidFill>
                  <a:latin typeface="Consolas"/>
                  <a:ea typeface="Consolas"/>
                  <a:cs typeface="Consolas"/>
                </a:rPr>
                <a:t>24</a:t>
              </a:r>
            </a:p>
          </p:txBody>
        </p:sp>
        <p:sp>
          <p:nvSpPr>
            <p:cNvPr id="14" name="TextBox 14"/>
            <p:cNvSpPr txBox="1"/>
            <p:nvPr/>
          </p:nvSpPr>
          <p:spPr>
            <a:xfrm>
              <a:off x="1363218" y="3212782"/>
              <a:ext cx="1719337" cy="322707"/>
            </a:xfrm>
            <a:prstGeom prst="rect">
              <a:avLst/>
            </a:prstGeom>
            <a:noFill/>
            <a:ln>
              <a:noFill/>
            </a:ln>
          </p:spPr>
          <p:txBody>
            <a:bodyPr wrap="none" lIns="0" tIns="0" rIns="0" bIns="0" anchor="t" anchorCtr="0">
              <a:spAutoFit/>
            </a:bodyPr>
            <a:lstStyle/>
            <a:p>
              <a:pPr algn="l"/>
              <a:r>
                <a:rPr lang="en-US" sz="1650" b="1" dirty="0">
                  <a:solidFill>
                    <a:schemeClr val="accent1"/>
                  </a:solidFill>
                  <a:latin typeface="+mn-lt"/>
                  <a:ea typeface="+mn-ea"/>
                  <a:cs typeface="+mn-cs"/>
                </a:rPr>
                <a:t>16 train + 8 val</a:t>
              </a:r>
            </a:p>
          </p:txBody>
        </p:sp>
        <p:sp>
          <p:nvSpPr>
            <p:cNvPr id="15" name="TextBox 15"/>
            <p:cNvSpPr txBox="1"/>
            <p:nvPr/>
          </p:nvSpPr>
          <p:spPr>
            <a:xfrm>
              <a:off x="1364742" y="3511868"/>
              <a:ext cx="822446"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per class</a:t>
              </a:r>
            </a:p>
          </p:txBody>
        </p:sp>
        <p:sp>
          <p:nvSpPr>
            <p:cNvPr id="16" name="Ellipse 16"/>
            <p:cNvSpPr/>
            <p:nvPr/>
          </p:nvSpPr>
          <p:spPr>
            <a:xfrm>
              <a:off x="752475" y="4324350"/>
              <a:ext cx="419100" cy="419100"/>
            </a:xfrm>
            <a:prstGeom prst="ellipse">
              <a:avLst/>
            </a:prstGeom>
            <a:solidFill>
              <a:schemeClr val="accent3"/>
            </a:solidFill>
            <a:ln>
              <a:noFill/>
            </a:ln>
          </p:spPr>
        </p:sp>
        <p:sp>
          <p:nvSpPr>
            <p:cNvPr id="17" name="TextBox 17"/>
            <p:cNvSpPr txBox="1"/>
            <p:nvPr/>
          </p:nvSpPr>
          <p:spPr>
            <a:xfrm>
              <a:off x="850214" y="4454842"/>
              <a:ext cx="223622" cy="264033"/>
            </a:xfrm>
            <a:prstGeom prst="rect">
              <a:avLst/>
            </a:prstGeom>
            <a:noFill/>
            <a:ln>
              <a:noFill/>
            </a:ln>
          </p:spPr>
          <p:txBody>
            <a:bodyPr wrap="none" lIns="0" tIns="0" rIns="0" bIns="0" anchor="t" anchorCtr="0">
              <a:spAutoFit/>
            </a:bodyPr>
            <a:lstStyle/>
            <a:p>
              <a:pPr algn="ctr"/>
              <a:r>
                <a:rPr lang="en-US" sz="1350" b="1" dirty="0">
                  <a:solidFill>
                    <a:srgbClr val="FBF7EE"/>
                  </a:solidFill>
                  <a:latin typeface="Consolas"/>
                  <a:ea typeface="Consolas"/>
                  <a:cs typeface="Consolas"/>
                </a:rPr>
                <a:t>48</a:t>
              </a:r>
            </a:p>
          </p:txBody>
        </p:sp>
        <p:sp>
          <p:nvSpPr>
            <p:cNvPr id="18" name="TextBox 18"/>
            <p:cNvSpPr txBox="1"/>
            <p:nvPr/>
          </p:nvSpPr>
          <p:spPr>
            <a:xfrm>
              <a:off x="1363218" y="4308158"/>
              <a:ext cx="1847613" cy="322707"/>
            </a:xfrm>
            <a:prstGeom prst="rect">
              <a:avLst/>
            </a:prstGeom>
            <a:noFill/>
            <a:ln>
              <a:noFill/>
            </a:ln>
          </p:spPr>
          <p:txBody>
            <a:bodyPr wrap="none" lIns="0" tIns="0" rIns="0" bIns="0" anchor="t" anchorCtr="0">
              <a:spAutoFit/>
            </a:bodyPr>
            <a:lstStyle/>
            <a:p>
              <a:pPr algn="l"/>
              <a:r>
                <a:rPr lang="en-US" sz="1650" b="1" dirty="0">
                  <a:solidFill>
                    <a:schemeClr val="accent1"/>
                  </a:solidFill>
                  <a:latin typeface="+mn-lt"/>
                  <a:ea typeface="+mn-ea"/>
                  <a:cs typeface="+mn-cs"/>
                </a:rPr>
                <a:t>32 train + 16 val</a:t>
              </a:r>
            </a:p>
          </p:txBody>
        </p:sp>
        <p:sp>
          <p:nvSpPr>
            <p:cNvPr id="19" name="TextBox 19"/>
            <p:cNvSpPr txBox="1"/>
            <p:nvPr/>
          </p:nvSpPr>
          <p:spPr>
            <a:xfrm>
              <a:off x="1364742" y="4607242"/>
              <a:ext cx="822446"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per class</a:t>
              </a:r>
            </a:p>
          </p:txBody>
        </p:sp>
        <p:sp>
          <p:nvSpPr>
            <p:cNvPr id="20" name="TextBox 20"/>
            <p:cNvSpPr txBox="1"/>
            <p:nvPr/>
          </p:nvSpPr>
          <p:spPr>
            <a:xfrm>
              <a:off x="602742" y="5169218"/>
              <a:ext cx="2483625"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SUBSET SEEDS 11 · 22 · 33</a:t>
              </a:r>
            </a:p>
          </p:txBody>
        </p:sp>
        <p:sp>
          <p:nvSpPr>
            <p:cNvPr id="21" name="TextBox 21"/>
            <p:cNvSpPr txBox="1"/>
            <p:nvPr/>
          </p:nvSpPr>
          <p:spPr>
            <a:xfrm>
              <a:off x="602742" y="5454968"/>
              <a:ext cx="2628060"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Nested, same outer test fold</a:t>
              </a:r>
            </a:p>
          </p:txBody>
        </p:sp>
      </p:grpSp>
      <p:grpSp>
        <p:nvGrpSpPr>
          <p:cNvPr id="38" name="Group 38"/>
          <p:cNvGrpSpPr/>
          <p:nvPr/>
        </p:nvGrpSpPr>
        <p:grpSpPr>
          <a:xfrm>
            <a:off x="3669792" y="1711642"/>
            <a:ext cx="4007358" cy="4041458"/>
            <a:chOff x="3669792" y="1711642"/>
            <a:chExt cx="4007358" cy="4041458"/>
          </a:xfrm>
        </p:grpSpPr>
        <p:sp>
          <p:nvSpPr>
            <p:cNvPr id="23" name="TextBox 23"/>
            <p:cNvSpPr txBox="1"/>
            <p:nvPr/>
          </p:nvSpPr>
          <p:spPr>
            <a:xfrm>
              <a:off x="3669792" y="1711642"/>
              <a:ext cx="3179232"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SEVEN FAMILIES · SAME TEST GATE</a:t>
              </a:r>
            </a:p>
          </p:txBody>
        </p:sp>
        <p:sp>
          <p:nvSpPr>
            <p:cNvPr id="24" name="Rectangle 24"/>
            <p:cNvSpPr/>
            <p:nvPr/>
          </p:nvSpPr>
          <p:spPr>
            <a:xfrm>
              <a:off x="3676650" y="2095500"/>
              <a:ext cx="4000500" cy="457200"/>
            </a:xfrm>
            <a:prstGeom prst="rect">
              <a:avLst/>
            </a:prstGeom>
            <a:solidFill>
              <a:schemeClr val="accent1"/>
            </a:solidFill>
            <a:ln>
              <a:noFill/>
            </a:ln>
          </p:spPr>
        </p:sp>
        <p:sp>
          <p:nvSpPr>
            <p:cNvPr id="25" name="TextBox 25"/>
            <p:cNvSpPr txBox="1"/>
            <p:nvPr/>
          </p:nvSpPr>
          <p:spPr>
            <a:xfrm>
              <a:off x="3859149" y="2220754"/>
              <a:ext cx="2140040" cy="308039"/>
            </a:xfrm>
            <a:prstGeom prst="rect">
              <a:avLst/>
            </a:prstGeom>
            <a:noFill/>
            <a:ln>
              <a:noFill/>
            </a:ln>
          </p:spPr>
          <p:txBody>
            <a:bodyPr wrap="none" lIns="0" tIns="0" rIns="0" bIns="0" anchor="t" anchorCtr="0">
              <a:spAutoFit/>
            </a:bodyPr>
            <a:lstStyle/>
            <a:p>
              <a:pPr algn="l"/>
              <a:r>
                <a:rPr lang="en-US" sz="1580" b="1" dirty="0">
                  <a:solidFill>
                    <a:srgbClr val="FBF7EE"/>
                  </a:solidFill>
                  <a:latin typeface="+mn-lt"/>
                  <a:ea typeface="+mn-ea"/>
                  <a:cs typeface="+mn-cs"/>
                </a:rPr>
                <a:t>B1 Full CLIP + linear</a:t>
              </a:r>
            </a:p>
          </p:txBody>
        </p:sp>
        <p:sp>
          <p:nvSpPr>
            <p:cNvPr id="26" name="Rectangle 26"/>
            <p:cNvSpPr/>
            <p:nvPr/>
          </p:nvSpPr>
          <p:spPr>
            <a:xfrm>
              <a:off x="3676650" y="2628900"/>
              <a:ext cx="3714750" cy="457200"/>
            </a:xfrm>
            <a:prstGeom prst="rect">
              <a:avLst/>
            </a:prstGeom>
            <a:solidFill>
              <a:srgbClr val="314552"/>
            </a:solidFill>
            <a:ln>
              <a:noFill/>
            </a:ln>
          </p:spPr>
        </p:sp>
        <p:sp>
          <p:nvSpPr>
            <p:cNvPr id="27" name="TextBox 27"/>
            <p:cNvSpPr txBox="1"/>
            <p:nvPr/>
          </p:nvSpPr>
          <p:spPr>
            <a:xfrm>
              <a:off x="3859149" y="2754154"/>
              <a:ext cx="1823096" cy="308039"/>
            </a:xfrm>
            <a:prstGeom prst="rect">
              <a:avLst/>
            </a:prstGeom>
            <a:noFill/>
            <a:ln>
              <a:noFill/>
            </a:ln>
          </p:spPr>
          <p:txBody>
            <a:bodyPr wrap="none" lIns="0" tIns="0" rIns="0" bIns="0" anchor="t" anchorCtr="0">
              <a:spAutoFit/>
            </a:bodyPr>
            <a:lstStyle/>
            <a:p>
              <a:pPr algn="l"/>
              <a:r>
                <a:rPr lang="en-US" sz="1580" dirty="0">
                  <a:solidFill>
                    <a:srgbClr val="FBF7EE"/>
                  </a:solidFill>
                  <a:latin typeface="+mn-lt"/>
                  <a:ea typeface="+mn-ea"/>
                  <a:cs typeface="+mn-cs"/>
                </a:rPr>
                <a:t>B2 Full CLIP + RBF</a:t>
              </a:r>
            </a:p>
          </p:txBody>
        </p:sp>
        <p:sp>
          <p:nvSpPr>
            <p:cNvPr id="28" name="Rectangle 28"/>
            <p:cNvSpPr/>
            <p:nvPr/>
          </p:nvSpPr>
          <p:spPr>
            <a:xfrm>
              <a:off x="3676650" y="3162300"/>
              <a:ext cx="3429000" cy="457200"/>
            </a:xfrm>
            <a:prstGeom prst="rect">
              <a:avLst/>
            </a:prstGeom>
            <a:solidFill>
              <a:schemeClr val="lt2"/>
            </a:solidFill>
            <a:ln>
              <a:noFill/>
            </a:ln>
          </p:spPr>
        </p:sp>
        <p:sp>
          <p:nvSpPr>
            <p:cNvPr id="29" name="TextBox 29"/>
            <p:cNvSpPr txBox="1"/>
            <p:nvPr/>
          </p:nvSpPr>
          <p:spPr>
            <a:xfrm>
              <a:off x="3859149" y="3287554"/>
              <a:ext cx="1777877" cy="308039"/>
            </a:xfrm>
            <a:prstGeom prst="rect">
              <a:avLst/>
            </a:prstGeom>
            <a:noFill/>
            <a:ln>
              <a:noFill/>
            </a:ln>
          </p:spPr>
          <p:txBody>
            <a:bodyPr wrap="none" lIns="0" tIns="0" rIns="0" bIns="0" anchor="t" anchorCtr="0">
              <a:spAutoFit/>
            </a:bodyPr>
            <a:lstStyle/>
            <a:p>
              <a:pPr algn="l"/>
              <a:r>
                <a:rPr lang="en-US" sz="1580" dirty="0">
                  <a:solidFill>
                    <a:schemeClr val="dk1"/>
                  </a:solidFill>
                  <a:latin typeface="+mn-lt"/>
                  <a:ea typeface="+mn-ea"/>
                  <a:cs typeface="+mn-cs"/>
                </a:rPr>
                <a:t>B3 PCA-5 + linear</a:t>
              </a:r>
            </a:p>
          </p:txBody>
        </p:sp>
        <p:sp>
          <p:nvSpPr>
            <p:cNvPr id="30" name="Rectangle 30"/>
            <p:cNvSpPr/>
            <p:nvPr/>
          </p:nvSpPr>
          <p:spPr>
            <a:xfrm>
              <a:off x="3676650" y="3695700"/>
              <a:ext cx="3143250" cy="457200"/>
            </a:xfrm>
            <a:prstGeom prst="rect">
              <a:avLst/>
            </a:prstGeom>
            <a:solidFill>
              <a:srgbClr val="E2D7C4"/>
            </a:solidFill>
            <a:ln>
              <a:noFill/>
            </a:ln>
          </p:spPr>
        </p:sp>
        <p:sp>
          <p:nvSpPr>
            <p:cNvPr id="31" name="TextBox 31"/>
            <p:cNvSpPr txBox="1"/>
            <p:nvPr/>
          </p:nvSpPr>
          <p:spPr>
            <a:xfrm>
              <a:off x="3859149" y="3820954"/>
              <a:ext cx="1577939" cy="308039"/>
            </a:xfrm>
            <a:prstGeom prst="rect">
              <a:avLst/>
            </a:prstGeom>
            <a:noFill/>
            <a:ln>
              <a:noFill/>
            </a:ln>
          </p:spPr>
          <p:txBody>
            <a:bodyPr wrap="none" lIns="0" tIns="0" rIns="0" bIns="0" anchor="t" anchorCtr="0">
              <a:spAutoFit/>
            </a:bodyPr>
            <a:lstStyle/>
            <a:p>
              <a:pPr algn="l"/>
              <a:r>
                <a:rPr lang="en-US" sz="1580" dirty="0">
                  <a:solidFill>
                    <a:schemeClr val="dk1"/>
                  </a:solidFill>
                  <a:latin typeface="+mn-lt"/>
                  <a:ea typeface="+mn-ea"/>
                  <a:cs typeface="+mn-cs"/>
                </a:rPr>
                <a:t>B4 PCA-5 + RBF</a:t>
              </a:r>
            </a:p>
          </p:txBody>
        </p:sp>
        <p:sp>
          <p:nvSpPr>
            <p:cNvPr id="32" name="Rectangle 32"/>
            <p:cNvSpPr/>
            <p:nvPr/>
          </p:nvSpPr>
          <p:spPr>
            <a:xfrm>
              <a:off x="3676650" y="4229100"/>
              <a:ext cx="2857500" cy="457200"/>
            </a:xfrm>
            <a:prstGeom prst="rect">
              <a:avLst/>
            </a:prstGeom>
            <a:solidFill>
              <a:srgbClr val="D6C9B2"/>
            </a:solidFill>
            <a:ln>
              <a:noFill/>
            </a:ln>
          </p:spPr>
        </p:sp>
        <p:sp>
          <p:nvSpPr>
            <p:cNvPr id="33" name="TextBox 33"/>
            <p:cNvSpPr txBox="1"/>
            <p:nvPr/>
          </p:nvSpPr>
          <p:spPr>
            <a:xfrm>
              <a:off x="3859149" y="4354354"/>
              <a:ext cx="1072276" cy="308039"/>
            </a:xfrm>
            <a:prstGeom prst="rect">
              <a:avLst/>
            </a:prstGeom>
            <a:noFill/>
            <a:ln>
              <a:noFill/>
            </a:ln>
          </p:spPr>
          <p:txBody>
            <a:bodyPr wrap="none" lIns="0" tIns="0" rIns="0" bIns="0" anchor="t" anchorCtr="0">
              <a:spAutoFit/>
            </a:bodyPr>
            <a:lstStyle/>
            <a:p>
              <a:pPr algn="l"/>
              <a:r>
                <a:rPr lang="en-US" sz="1580" dirty="0">
                  <a:solidFill>
                    <a:schemeClr val="dk1"/>
                  </a:solidFill>
                  <a:latin typeface="+mn-lt"/>
                  <a:ea typeface="+mn-ea"/>
                  <a:cs typeface="+mn-cs"/>
                </a:rPr>
                <a:t>B5 RFF-15</a:t>
              </a:r>
            </a:p>
          </p:txBody>
        </p:sp>
        <p:sp>
          <p:nvSpPr>
            <p:cNvPr id="34" name="Rectangle 34"/>
            <p:cNvSpPr/>
            <p:nvPr/>
          </p:nvSpPr>
          <p:spPr>
            <a:xfrm>
              <a:off x="3676650" y="4762500"/>
              <a:ext cx="2571750" cy="457200"/>
            </a:xfrm>
            <a:prstGeom prst="rect">
              <a:avLst/>
            </a:prstGeom>
            <a:solidFill>
              <a:srgbClr val="B9D0C7"/>
            </a:solidFill>
            <a:ln>
              <a:noFill/>
            </a:ln>
          </p:spPr>
        </p:sp>
        <p:sp>
          <p:nvSpPr>
            <p:cNvPr id="35" name="TextBox 35"/>
            <p:cNvSpPr txBox="1"/>
            <p:nvPr/>
          </p:nvSpPr>
          <p:spPr>
            <a:xfrm>
              <a:off x="3859149" y="4887754"/>
              <a:ext cx="1117224" cy="308039"/>
            </a:xfrm>
            <a:prstGeom prst="rect">
              <a:avLst/>
            </a:prstGeom>
            <a:noFill/>
            <a:ln>
              <a:noFill/>
            </a:ln>
          </p:spPr>
          <p:txBody>
            <a:bodyPr wrap="none" lIns="0" tIns="0" rIns="0" bIns="0" anchor="t" anchorCtr="0">
              <a:spAutoFit/>
            </a:bodyPr>
            <a:lstStyle/>
            <a:p>
              <a:pPr algn="l"/>
              <a:r>
                <a:rPr lang="en-US" sz="1580" dirty="0">
                  <a:solidFill>
                    <a:schemeClr val="dk1"/>
                  </a:solidFill>
                  <a:latin typeface="+mn-lt"/>
                  <a:ea typeface="+mn-ea"/>
                  <a:cs typeface="+mn-cs"/>
                </a:rPr>
                <a:t>B6 ELM-15</a:t>
              </a:r>
            </a:p>
          </p:txBody>
        </p:sp>
        <p:sp>
          <p:nvSpPr>
            <p:cNvPr id="36" name="Rectangle 36"/>
            <p:cNvSpPr/>
            <p:nvPr/>
          </p:nvSpPr>
          <p:spPr>
            <a:xfrm>
              <a:off x="3676650" y="5295900"/>
              <a:ext cx="2286000" cy="457200"/>
            </a:xfrm>
            <a:prstGeom prst="rect">
              <a:avLst/>
            </a:prstGeom>
            <a:solidFill>
              <a:schemeClr val="accent2"/>
            </a:solidFill>
            <a:ln>
              <a:noFill/>
            </a:ln>
          </p:spPr>
        </p:sp>
        <p:sp>
          <p:nvSpPr>
            <p:cNvPr id="37" name="TextBox 37"/>
            <p:cNvSpPr txBox="1"/>
            <p:nvPr/>
          </p:nvSpPr>
          <p:spPr>
            <a:xfrm>
              <a:off x="3859149" y="5421154"/>
              <a:ext cx="1679072" cy="308039"/>
            </a:xfrm>
            <a:prstGeom prst="rect">
              <a:avLst/>
            </a:prstGeom>
            <a:noFill/>
            <a:ln>
              <a:noFill/>
            </a:ln>
          </p:spPr>
          <p:txBody>
            <a:bodyPr wrap="none" lIns="0" tIns="0" rIns="0" bIns="0" anchor="t" anchorCtr="0">
              <a:spAutoFit/>
            </a:bodyPr>
            <a:lstStyle/>
            <a:p>
              <a:pPr algn="l"/>
              <a:r>
                <a:rPr lang="en-US" sz="1580" b="1" dirty="0">
                  <a:solidFill>
                    <a:srgbClr val="FBF7EE"/>
                  </a:solidFill>
                  <a:latin typeface="+mn-lt"/>
                  <a:ea typeface="+mn-ea"/>
                  <a:cs typeface="+mn-cs"/>
                </a:rPr>
                <a:t>Q1 photonic-15</a:t>
              </a:r>
            </a:p>
          </p:txBody>
        </p:sp>
      </p:grpSp>
      <p:grpSp>
        <p:nvGrpSpPr>
          <p:cNvPr id="47" name="Group 47"/>
          <p:cNvGrpSpPr/>
          <p:nvPr/>
        </p:nvGrpSpPr>
        <p:grpSpPr>
          <a:xfrm>
            <a:off x="7973949" y="1600200"/>
            <a:ext cx="3608451" cy="4243293"/>
            <a:chOff x="7973949" y="1600200"/>
            <a:chExt cx="3608451" cy="4243293"/>
          </a:xfrm>
        </p:grpSpPr>
        <p:sp>
          <p:nvSpPr>
            <p:cNvPr id="39" name="Rectangle 39"/>
            <p:cNvSpPr/>
            <p:nvPr/>
          </p:nvSpPr>
          <p:spPr>
            <a:xfrm>
              <a:off x="7981950" y="1600200"/>
              <a:ext cx="3600450" cy="2324100"/>
            </a:xfrm>
            <a:prstGeom prst="rect">
              <a:avLst/>
            </a:prstGeom>
            <a:solidFill>
              <a:schemeClr val="lt2"/>
            </a:solidFill>
            <a:ln>
              <a:noFill/>
            </a:ln>
          </p:spPr>
        </p:sp>
        <p:sp>
          <p:nvSpPr>
            <p:cNvPr id="40" name="TextBox 40"/>
            <p:cNvSpPr txBox="1"/>
            <p:nvPr/>
          </p:nvSpPr>
          <p:spPr>
            <a:xfrm>
              <a:off x="8279892" y="1787842"/>
              <a:ext cx="961354"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R1 LEDGER</a:t>
              </a:r>
            </a:p>
          </p:txBody>
        </p:sp>
        <p:sp>
          <p:nvSpPr>
            <p:cNvPr id="41" name="TextBox 41"/>
            <p:cNvSpPr txBox="1"/>
            <p:nvPr/>
          </p:nvSpPr>
          <p:spPr>
            <a:xfrm>
              <a:off x="8268462" y="2240280"/>
              <a:ext cx="1435951" cy="704088"/>
            </a:xfrm>
            <a:prstGeom prst="rect">
              <a:avLst/>
            </a:prstGeom>
            <a:noFill/>
            <a:ln>
              <a:noFill/>
            </a:ln>
          </p:spPr>
          <p:txBody>
            <a:bodyPr wrap="none" lIns="0" tIns="0" rIns="0" bIns="0" anchor="t" anchorCtr="0">
              <a:spAutoFit/>
            </a:bodyPr>
            <a:lstStyle/>
            <a:p>
              <a:pPr algn="l"/>
              <a:r>
                <a:rPr lang="en-US" sz="3600" b="1" dirty="0">
                  <a:solidFill>
                    <a:schemeClr val="accent1"/>
                  </a:solidFill>
                  <a:latin typeface="Consolas"/>
                  <a:ea typeface="Consolas"/>
                  <a:cs typeface="Consolas"/>
                </a:rPr>
                <a:t>1,404</a:t>
              </a:r>
            </a:p>
          </p:txBody>
        </p:sp>
        <p:sp>
          <p:nvSpPr>
            <p:cNvPr id="42" name="TextBox 42"/>
            <p:cNvSpPr txBox="1"/>
            <p:nvPr/>
          </p:nvSpPr>
          <p:spPr>
            <a:xfrm>
              <a:off x="8277987" y="2747486"/>
              <a:ext cx="1626773" cy="337376"/>
            </a:xfrm>
            <a:prstGeom prst="rect">
              <a:avLst/>
            </a:prstGeom>
            <a:noFill/>
            <a:ln>
              <a:noFill/>
            </a:ln>
          </p:spPr>
          <p:txBody>
            <a:bodyPr wrap="none" lIns="0" tIns="0" rIns="0" bIns="0" anchor="t" anchorCtr="0">
              <a:spAutoFit/>
            </a:bodyPr>
            <a:lstStyle/>
            <a:p>
              <a:pPr algn="l"/>
              <a:r>
                <a:rPr lang="en-US" sz="1720" dirty="0">
                  <a:solidFill>
                    <a:schemeClr val="dk1"/>
                  </a:solidFill>
                  <a:latin typeface="+mn-lt"/>
                  <a:ea typeface="+mn-ea"/>
                  <a:cs typeface="+mn-cs"/>
                </a:rPr>
                <a:t>candidate fits</a:t>
              </a:r>
            </a:p>
          </p:txBody>
        </p:sp>
        <p:sp>
          <p:nvSpPr>
            <p:cNvPr id="43" name="TextBox 43"/>
            <p:cNvSpPr txBox="1"/>
            <p:nvPr/>
          </p:nvSpPr>
          <p:spPr>
            <a:xfrm>
              <a:off x="8268462" y="3107055"/>
              <a:ext cx="876201" cy="704088"/>
            </a:xfrm>
            <a:prstGeom prst="rect">
              <a:avLst/>
            </a:prstGeom>
            <a:noFill/>
            <a:ln>
              <a:noFill/>
            </a:ln>
          </p:spPr>
          <p:txBody>
            <a:bodyPr wrap="none" lIns="0" tIns="0" rIns="0" bIns="0" anchor="t" anchorCtr="0">
              <a:spAutoFit/>
            </a:bodyPr>
            <a:lstStyle/>
            <a:p>
              <a:pPr algn="l"/>
              <a:r>
                <a:rPr lang="en-US" sz="3600" b="1" dirty="0">
                  <a:solidFill>
                    <a:schemeClr val="accent3"/>
                  </a:solidFill>
                  <a:latin typeface="Consolas"/>
                  <a:ea typeface="Consolas"/>
                  <a:cs typeface="Consolas"/>
                </a:rPr>
                <a:t>117</a:t>
              </a:r>
            </a:p>
          </p:txBody>
        </p:sp>
        <p:sp>
          <p:nvSpPr>
            <p:cNvPr id="44" name="TextBox 44"/>
            <p:cNvSpPr txBox="1"/>
            <p:nvPr/>
          </p:nvSpPr>
          <p:spPr>
            <a:xfrm>
              <a:off x="8277987" y="3614261"/>
              <a:ext cx="1881475" cy="337376"/>
            </a:xfrm>
            <a:prstGeom prst="rect">
              <a:avLst/>
            </a:prstGeom>
            <a:noFill/>
            <a:ln>
              <a:noFill/>
            </a:ln>
          </p:spPr>
          <p:txBody>
            <a:bodyPr wrap="none" lIns="0" tIns="0" rIns="0" bIns="0" anchor="t" anchorCtr="0">
              <a:spAutoFit/>
            </a:bodyPr>
            <a:lstStyle/>
            <a:p>
              <a:pPr algn="l"/>
              <a:r>
                <a:rPr lang="en-US" sz="1720" dirty="0">
                  <a:solidFill>
                    <a:schemeClr val="dk1"/>
                  </a:solidFill>
                  <a:latin typeface="+mn-lt"/>
                  <a:ea typeface="+mn-ea"/>
                  <a:cs typeface="+mn-cs"/>
                </a:rPr>
                <a:t>test evaluations</a:t>
              </a:r>
            </a:p>
          </p:txBody>
        </p:sp>
        <p:sp>
          <p:nvSpPr>
            <p:cNvPr id="45" name="TextBox 45"/>
            <p:cNvSpPr txBox="1"/>
            <p:nvPr/>
          </p:nvSpPr>
          <p:spPr>
            <a:xfrm>
              <a:off x="7975092" y="4235768"/>
              <a:ext cx="1616636"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SELECTION RULES</a:t>
              </a:r>
            </a:p>
          </p:txBody>
        </p:sp>
        <p:sp>
          <p:nvSpPr>
            <p:cNvPr id="46" name="TextBox 46"/>
            <p:cNvSpPr txBox="1"/>
            <p:nvPr/>
          </p:nvSpPr>
          <p:spPr>
            <a:xfrm>
              <a:off x="7973949" y="4592479"/>
              <a:ext cx="3056001" cy="1251014"/>
            </a:xfrm>
            <a:prstGeom prst="rect">
              <a:avLst/>
            </a:prstGeom>
            <a:noFill/>
            <a:ln>
              <a:noFill/>
            </a:ln>
          </p:spPr>
          <p:txBody>
            <a:bodyPr wrap="none" lIns="0" tIns="0" rIns="0" bIns="0" anchor="t" anchorCtr="0">
              <a:spAutoFit/>
            </a:bodyPr>
            <a:lstStyle/>
            <a:p>
              <a:pPr algn="l">
                <a:lnSpc>
                  <a:spcPts val="2475"/>
                </a:lnSpc>
              </a:pPr>
              <a:r>
                <a:rPr lang="en-US" sz="1580" dirty="0">
                  <a:solidFill>
                    <a:schemeClr val="dk1"/>
                  </a:solidFill>
                  <a:latin typeface="+mn-lt"/>
                  <a:ea typeface="+mn-ea"/>
                  <a:cs typeface="+mn-cs"/>
                </a:rPr>
                <a:t>Validation macro-F1 only</a:t>
              </a:r>
              <a:br/>
              <a:r>
                <a:rPr lang="en-US" sz="1580" dirty="0">
                  <a:solidFill>
                    <a:schemeClr val="dk1"/>
                  </a:solidFill>
                  <a:latin typeface="+mn-lt"/>
                  <a:ea typeface="+mn-ea"/>
                  <a:cs typeface="+mn-cs"/>
                </a:rPr>
                <a:t>Map seeds averaged—not picked</a:t>
              </a:r>
              <a:br/>
              <a:r>
                <a:rPr lang="en-US" sz="1580" dirty="0">
                  <a:solidFill>
                    <a:schemeClr val="dk1"/>
                  </a:solidFill>
                  <a:latin typeface="+mn-lt"/>
                  <a:ea typeface="+mn-ea"/>
                  <a:cs typeface="+mn-cs"/>
                </a:rPr>
                <a:t>No train + validation refit</a:t>
              </a:r>
              <a:br/>
              <a:r>
                <a:rPr lang="en-US" sz="1580" dirty="0">
                  <a:solidFill>
                    <a:schemeClr val="dk1"/>
                  </a:solidFill>
                  <a:latin typeface="+mn-lt"/>
                  <a:ea typeface="+mn-ea"/>
                  <a:cs typeface="+mn-cs"/>
                </a:rPr>
                <a:t>One locked test evaluation</a:t>
              </a:r>
            </a:p>
          </p:txBody>
        </p:sp>
      </p:grpSp>
      <p:grpSp>
        <p:nvGrpSpPr>
          <p:cNvPr id="49" name="Group 49"/>
          <p:cNvGrpSpPr/>
          <p:nvPr/>
        </p:nvGrpSpPr>
        <p:grpSpPr>
          <a:xfrm>
            <a:off x="602742" y="6064568"/>
            <a:ext cx="7316621" cy="264033"/>
            <a:chOff x="602742" y="6064568"/>
            <a:chExt cx="7316621" cy="264033"/>
          </a:xfrm>
        </p:grpSpPr>
        <p:sp>
          <p:nvSpPr>
            <p:cNvPr id="48" name="TextBox 48"/>
            <p:cNvSpPr txBox="1"/>
            <p:nvPr/>
          </p:nvSpPr>
          <p:spPr>
            <a:xfrm>
              <a:off x="602742" y="6064568"/>
              <a:ext cx="7316621" cy="264033"/>
            </a:xfrm>
            <a:prstGeom prst="rect">
              <a:avLst/>
            </a:prstGeom>
            <a:noFill/>
            <a:ln>
              <a:noFill/>
            </a:ln>
          </p:spPr>
          <p:txBody>
            <a:bodyPr wrap="none" lIns="0" tIns="0" rIns="0" bIns="0" anchor="t" anchorCtr="0">
              <a:spAutoFit/>
            </a:bodyPr>
            <a:lstStyle/>
            <a:p>
              <a:pPr algn="l"/>
              <a:r>
                <a:rPr lang="en-US" sz="1350" dirty="0">
                  <a:solidFill>
                    <a:srgbClr val="766E62"/>
                  </a:solidFill>
                  <a:latin typeface="+mn-lt"/>
                  <a:ea typeface="+mn-ea"/>
                  <a:cs typeface="+mn-cs"/>
                </a:rPr>
                <a:t>Source: frozen experiment protocol · repeated evaluations share outer test data</a:t>
              </a:r>
            </a:p>
          </p:txBody>
        </p:sp>
      </p:grpSp>
      <p:grpSp>
        <p:nvGrpSpPr>
          <p:cNvPr id="51" name="Group 51"/>
          <p:cNvGrpSpPr/>
          <p:nvPr/>
        </p:nvGrpSpPr>
        <p:grpSpPr>
          <a:xfrm>
            <a:off x="10966723" y="6426518"/>
            <a:ext cx="622535" cy="264033"/>
            <a:chOff x="10966723" y="6426518"/>
            <a:chExt cx="622535" cy="264033"/>
          </a:xfrm>
        </p:grpSpPr>
        <p:sp>
          <p:nvSpPr>
            <p:cNvPr id="50" name="TextBox 50"/>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04 / 10</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4360" y="482918"/>
            <a:ext cx="11916766" cy="913447"/>
            <a:chOff x="594360" y="482918"/>
            <a:chExt cx="11916766" cy="913447"/>
          </a:xfrm>
        </p:grpSpPr>
        <p:sp>
          <p:nvSpPr>
            <p:cNvPr id="3" name="TextBox 3"/>
            <p:cNvSpPr txBox="1"/>
            <p:nvPr/>
          </p:nvSpPr>
          <p:spPr>
            <a:xfrm>
              <a:off x="602742" y="482918"/>
              <a:ext cx="3763571" cy="264033"/>
            </a:xfrm>
            <a:prstGeom prst="rect">
              <a:avLst/>
            </a:prstGeom>
            <a:noFill/>
            <a:ln>
              <a:noFill/>
            </a:ln>
          </p:spPr>
          <p:txBody>
            <a:bodyPr wrap="none" lIns="0" tIns="0" rIns="0" bIns="0" anchor="t" anchorCtr="0">
              <a:spAutoFit/>
            </a:bodyPr>
            <a:lstStyle/>
            <a:p>
              <a:pPr algn="l"/>
              <a:r>
                <a:rPr lang="en-US" sz="1350" b="1" spc="105" dirty="0">
                  <a:solidFill>
                    <a:schemeClr val="accent3"/>
                  </a:solidFill>
                  <a:latin typeface="+mn-lt"/>
                  <a:ea typeface="+mn-ea"/>
                  <a:cs typeface="+mn-cs"/>
                </a:rPr>
                <a:t>OBSERVATIONS · PRIMARY OUTCOME</a:t>
              </a:r>
            </a:p>
          </p:txBody>
        </p:sp>
        <p:sp>
          <p:nvSpPr>
            <p:cNvPr id="4" name="TextBox 4"/>
            <p:cNvSpPr txBox="1"/>
            <p:nvPr/>
          </p:nvSpPr>
          <p:spPr>
            <a:xfrm>
              <a:off x="594360" y="809625"/>
              <a:ext cx="11916766"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Q1 improves with labels, but full embeddings dominate</a:t>
              </a:r>
            </a:p>
          </p:txBody>
        </p:sp>
      </p:grpSp>
      <p:grpSp>
        <p:nvGrpSpPr>
          <p:cNvPr id="8" name="Group 8"/>
          <p:cNvGrpSpPr/>
          <p:nvPr/>
        </p:nvGrpSpPr>
        <p:grpSpPr>
          <a:xfrm>
            <a:off x="609600" y="1466850"/>
            <a:ext cx="7848600" cy="4533900"/>
            <a:chOff x="609600" y="1466850"/>
            <a:chExt cx="7848600" cy="4533900"/>
          </a:xfrm>
        </p:grpSpPr>
        <p:sp>
          <p:nvSpPr>
            <p:cNvPr id="6" name="Rectangle 6"/>
            <p:cNvSpPr/>
            <p:nvPr/>
          </p:nvSpPr>
          <p:spPr>
            <a:xfrm>
              <a:off x="609600" y="1466850"/>
              <a:ext cx="7848600" cy="4533900"/>
            </a:xfrm>
            <a:prstGeom prst="rect">
              <a:avLst/>
            </a:prstGeom>
            <a:solidFill>
              <a:srgbClr val="FFFFFF"/>
            </a:solidFill>
            <a:ln>
              <a:noFill/>
            </a:ln>
          </p:spPr>
        </p:sp>
        <p:pic>
          <p:nvPicPr>
            <p:cNvPr id="7" name="Image 7"/>
            <p:cNvPicPr>
              <a:picLocks noChangeAspect="1"/>
            </p:cNvPicPr>
            <p:nvPr/>
          </p:nvPicPr>
          <p:blipFill>
            <a:blip r:embed="rId2"/>
            <a:stretch>
              <a:fillRect/>
            </a:stretch>
          </p:blipFill>
          <p:spPr>
            <a:xfrm>
              <a:off x="762000" y="1638540"/>
              <a:ext cx="7543800" cy="4057170"/>
            </a:xfrm>
            <a:prstGeom prst="rect">
              <a:avLst/>
            </a:prstGeom>
          </p:spPr>
        </p:pic>
      </p:grpSp>
      <p:grpSp>
        <p:nvGrpSpPr>
          <p:cNvPr id="19" name="Group 19"/>
          <p:cNvGrpSpPr/>
          <p:nvPr/>
        </p:nvGrpSpPr>
        <p:grpSpPr>
          <a:xfrm>
            <a:off x="8746998" y="1597342"/>
            <a:ext cx="3065669" cy="4277678"/>
            <a:chOff x="8746998" y="1597342"/>
            <a:chExt cx="3065669" cy="4277678"/>
          </a:xfrm>
        </p:grpSpPr>
        <p:sp>
          <p:nvSpPr>
            <p:cNvPr id="9" name="TextBox 9"/>
            <p:cNvSpPr txBox="1"/>
            <p:nvPr/>
          </p:nvSpPr>
          <p:spPr>
            <a:xfrm>
              <a:off x="8756142" y="1597342"/>
              <a:ext cx="1747693"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48 LABELS / CLASS</a:t>
              </a:r>
            </a:p>
          </p:txBody>
        </p:sp>
        <p:sp>
          <p:nvSpPr>
            <p:cNvPr id="10" name="TextBox 10"/>
            <p:cNvSpPr txBox="1"/>
            <p:nvPr/>
          </p:nvSpPr>
          <p:spPr>
            <a:xfrm>
              <a:off x="8746998" y="2060258"/>
              <a:ext cx="1501348" cy="616077"/>
            </a:xfrm>
            <a:prstGeom prst="rect">
              <a:avLst/>
            </a:prstGeom>
            <a:noFill/>
            <a:ln>
              <a:noFill/>
            </a:ln>
          </p:spPr>
          <p:txBody>
            <a:bodyPr wrap="none" lIns="0" tIns="0" rIns="0" bIns="0" anchor="t" anchorCtr="0">
              <a:spAutoFit/>
            </a:bodyPr>
            <a:lstStyle/>
            <a:p>
              <a:pPr algn="l"/>
              <a:r>
                <a:rPr lang="en-US" sz="3150" b="1" dirty="0">
                  <a:solidFill>
                    <a:schemeClr val="accent2"/>
                  </a:solidFill>
                  <a:latin typeface="Consolas"/>
                  <a:ea typeface="Consolas"/>
                  <a:cs typeface="Consolas"/>
                </a:rPr>
                <a:t>0.8708</a:t>
              </a:r>
            </a:p>
          </p:txBody>
        </p:sp>
        <p:sp>
          <p:nvSpPr>
            <p:cNvPr id="11" name="TextBox 11"/>
            <p:cNvSpPr txBox="1"/>
            <p:nvPr/>
          </p:nvSpPr>
          <p:spPr>
            <a:xfrm>
              <a:off x="8754999" y="2525554"/>
              <a:ext cx="1356067" cy="308039"/>
            </a:xfrm>
            <a:prstGeom prst="rect">
              <a:avLst/>
            </a:prstGeom>
            <a:noFill/>
            <a:ln>
              <a:noFill/>
            </a:ln>
          </p:spPr>
          <p:txBody>
            <a:bodyPr wrap="none" lIns="0" tIns="0" rIns="0" bIns="0" anchor="t" anchorCtr="0">
              <a:spAutoFit/>
            </a:bodyPr>
            <a:lstStyle/>
            <a:p>
              <a:pPr algn="l"/>
              <a:r>
                <a:rPr lang="en-US" sz="1580" dirty="0">
                  <a:solidFill>
                    <a:schemeClr val="dk1"/>
                  </a:solidFill>
                  <a:latin typeface="+mn-lt"/>
                  <a:ea typeface="+mn-ea"/>
                  <a:cs typeface="+mn-cs"/>
                </a:rPr>
                <a:t>Q1 macro-F1</a:t>
              </a:r>
            </a:p>
          </p:txBody>
        </p:sp>
        <p:sp>
          <p:nvSpPr>
            <p:cNvPr id="12" name="Line 12"/>
            <p:cNvSpPr/>
            <p:nvPr/>
          </p:nvSpPr>
          <p:spPr>
            <a:xfrm>
              <a:off x="8763000" y="3028950"/>
              <a:ext cx="2819400" cy="9525"/>
            </a:xfrm>
            <a:custGeom>
              <a:avLst/>
              <a:gdLst/>
              <a:ahLst/>
              <a:cxnLst/>
              <a:rect l="l" t="t" r="r" b="b"/>
              <a:pathLst>
                <a:path w="2819400" h="9525">
                  <a:moveTo>
                    <a:pt x="0" y="0"/>
                  </a:moveTo>
                  <a:lnTo>
                    <a:pt x="2819400" y="0"/>
                  </a:lnTo>
                </a:path>
              </a:pathLst>
            </a:custGeom>
            <a:noFill/>
            <a:ln w="19050">
              <a:solidFill>
                <a:srgbClr val="C9BDA8"/>
              </a:solidFill>
            </a:ln>
          </p:spPr>
        </p:sp>
        <p:sp>
          <p:nvSpPr>
            <p:cNvPr id="13" name="TextBox 13"/>
            <p:cNvSpPr txBox="1"/>
            <p:nvPr/>
          </p:nvSpPr>
          <p:spPr>
            <a:xfrm>
              <a:off x="8746998" y="3108008"/>
              <a:ext cx="1501348" cy="616077"/>
            </a:xfrm>
            <a:prstGeom prst="rect">
              <a:avLst/>
            </a:prstGeom>
            <a:noFill/>
            <a:ln>
              <a:noFill/>
            </a:ln>
          </p:spPr>
          <p:txBody>
            <a:bodyPr wrap="none" lIns="0" tIns="0" rIns="0" bIns="0" anchor="t" anchorCtr="0">
              <a:spAutoFit/>
            </a:bodyPr>
            <a:lstStyle/>
            <a:p>
              <a:pPr algn="l"/>
              <a:r>
                <a:rPr lang="en-US" sz="3150" b="1" dirty="0">
                  <a:solidFill>
                    <a:schemeClr val="accent3"/>
                  </a:solidFill>
                  <a:latin typeface="Consolas"/>
                  <a:ea typeface="Consolas"/>
                  <a:cs typeface="Consolas"/>
                </a:rPr>
                <a:t>0.9852</a:t>
              </a:r>
            </a:p>
          </p:txBody>
        </p:sp>
        <p:sp>
          <p:nvSpPr>
            <p:cNvPr id="14" name="TextBox 14"/>
            <p:cNvSpPr txBox="1"/>
            <p:nvPr/>
          </p:nvSpPr>
          <p:spPr>
            <a:xfrm>
              <a:off x="8754999" y="3573304"/>
              <a:ext cx="1878054" cy="308039"/>
            </a:xfrm>
            <a:prstGeom prst="rect">
              <a:avLst/>
            </a:prstGeom>
            <a:noFill/>
            <a:ln>
              <a:noFill/>
            </a:ln>
          </p:spPr>
          <p:txBody>
            <a:bodyPr wrap="none" lIns="0" tIns="0" rIns="0" bIns="0" anchor="t" anchorCtr="0">
              <a:spAutoFit/>
            </a:bodyPr>
            <a:lstStyle/>
            <a:p>
              <a:pPr algn="l"/>
              <a:r>
                <a:rPr lang="en-US" sz="1580" dirty="0">
                  <a:solidFill>
                    <a:schemeClr val="dk1"/>
                  </a:solidFill>
                  <a:latin typeface="+mn-lt"/>
                  <a:ea typeface="+mn-ea"/>
                  <a:cs typeface="+mn-cs"/>
                </a:rPr>
                <a:t>B1 · full CLIP + LR</a:t>
              </a:r>
            </a:p>
          </p:txBody>
        </p:sp>
        <p:sp>
          <p:nvSpPr>
            <p:cNvPr id="15" name="Rectangle 15"/>
            <p:cNvSpPr/>
            <p:nvPr/>
          </p:nvSpPr>
          <p:spPr>
            <a:xfrm>
              <a:off x="8763000" y="4171950"/>
              <a:ext cx="2819400" cy="914400"/>
            </a:xfrm>
            <a:prstGeom prst="rect">
              <a:avLst/>
            </a:prstGeom>
            <a:solidFill>
              <a:schemeClr val="accent1"/>
            </a:solidFill>
            <a:ln>
              <a:noFill/>
            </a:ln>
          </p:spPr>
        </p:sp>
        <p:sp>
          <p:nvSpPr>
            <p:cNvPr id="16" name="TextBox 16"/>
            <p:cNvSpPr txBox="1"/>
            <p:nvPr/>
          </p:nvSpPr>
          <p:spPr>
            <a:xfrm>
              <a:off x="8984742" y="4359592"/>
              <a:ext cx="1394849" cy="264033"/>
            </a:xfrm>
            <a:prstGeom prst="rect">
              <a:avLst/>
            </a:prstGeom>
            <a:noFill/>
            <a:ln>
              <a:noFill/>
            </a:ln>
          </p:spPr>
          <p:txBody>
            <a:bodyPr wrap="none" lIns="0" tIns="0" rIns="0" bIns="0" anchor="t" anchorCtr="0">
              <a:spAutoFit/>
            </a:bodyPr>
            <a:lstStyle/>
            <a:p>
              <a:pPr algn="l"/>
              <a:r>
                <a:rPr lang="en-US" sz="1350" b="1" dirty="0">
                  <a:solidFill>
                    <a:srgbClr val="FBF7EE"/>
                  </a:solidFill>
                  <a:latin typeface="+mn-lt"/>
                  <a:ea typeface="+mn-ea"/>
                  <a:cs typeface="+mn-cs"/>
                </a:rPr>
                <a:t>WHAT SURVIVES</a:t>
              </a:r>
            </a:p>
          </p:txBody>
        </p:sp>
        <p:sp>
          <p:nvSpPr>
            <p:cNvPr id="17" name="TextBox 17"/>
            <p:cNvSpPr txBox="1"/>
            <p:nvPr/>
          </p:nvSpPr>
          <p:spPr>
            <a:xfrm>
              <a:off x="8983980" y="4686300"/>
              <a:ext cx="2828687" cy="293370"/>
            </a:xfrm>
            <a:prstGeom prst="rect">
              <a:avLst/>
            </a:prstGeom>
            <a:noFill/>
            <a:ln>
              <a:noFill/>
            </a:ln>
          </p:spPr>
          <p:txBody>
            <a:bodyPr wrap="none" lIns="0" tIns="0" rIns="0" bIns="0" anchor="t" anchorCtr="0">
              <a:spAutoFit/>
            </a:bodyPr>
            <a:lstStyle/>
            <a:p>
              <a:pPr algn="l"/>
              <a:r>
                <a:rPr lang="en-US" sz="1500" dirty="0">
                  <a:solidFill>
                    <a:srgbClr val="FBF7EE"/>
                  </a:solidFill>
                  <a:latin typeface="+mn-lt"/>
                  <a:ea typeface="+mn-ea"/>
                  <a:cs typeface="+mn-cs"/>
                </a:rPr>
                <a:t>Useful structure is learned.</a:t>
              </a:r>
            </a:p>
          </p:txBody>
        </p:sp>
        <p:sp>
          <p:nvSpPr>
            <p:cNvPr id="18" name="TextBox 18"/>
            <p:cNvSpPr txBox="1"/>
            <p:nvPr/>
          </p:nvSpPr>
          <p:spPr>
            <a:xfrm>
              <a:off x="8755380" y="5305425"/>
              <a:ext cx="2082165" cy="569595"/>
            </a:xfrm>
            <a:prstGeom prst="rect">
              <a:avLst/>
            </a:prstGeom>
            <a:noFill/>
            <a:ln>
              <a:noFill/>
            </a:ln>
          </p:spPr>
          <p:txBody>
            <a:bodyPr wrap="none" lIns="0" tIns="0" rIns="0" bIns="0" anchor="t" anchorCtr="0">
              <a:spAutoFit/>
            </a:bodyPr>
            <a:lstStyle/>
            <a:p>
              <a:pPr algn="l">
                <a:lnSpc>
                  <a:spcPts val="2175"/>
                </a:lnSpc>
              </a:pPr>
              <a:r>
                <a:rPr lang="en-US" sz="1500" dirty="0">
                  <a:solidFill>
                    <a:schemeClr val="dk1"/>
                  </a:solidFill>
                  <a:latin typeface="+mn-lt"/>
                  <a:ea typeface="+mn-ea"/>
                  <a:cs typeface="+mn-cs"/>
                </a:rPr>
                <a:t>No case for discarding</a:t>
              </a:r>
              <a:br/>
              <a:r>
                <a:rPr lang="en-US" sz="1500" dirty="0">
                  <a:solidFill>
                    <a:schemeClr val="dk1"/>
                  </a:solidFill>
                  <a:latin typeface="+mn-lt"/>
                  <a:ea typeface="+mn-ea"/>
                  <a:cs typeface="+mn-cs"/>
                </a:rPr>
                <a:t>the full embedding.</a:t>
              </a:r>
            </a:p>
          </p:txBody>
        </p:sp>
      </p:grpSp>
      <p:grpSp>
        <p:nvGrpSpPr>
          <p:cNvPr id="21" name="Group 21"/>
          <p:cNvGrpSpPr/>
          <p:nvPr/>
        </p:nvGrpSpPr>
        <p:grpSpPr>
          <a:xfrm>
            <a:off x="602742" y="6131242"/>
            <a:ext cx="6449206" cy="264033"/>
            <a:chOff x="602742" y="6131242"/>
            <a:chExt cx="6449206" cy="264033"/>
          </a:xfrm>
        </p:grpSpPr>
        <p:sp>
          <p:nvSpPr>
            <p:cNvPr id="20" name="TextBox 20"/>
            <p:cNvSpPr txBox="1"/>
            <p:nvPr/>
          </p:nvSpPr>
          <p:spPr>
            <a:xfrm>
              <a:off x="602742" y="6131242"/>
              <a:ext cx="6449206" cy="264033"/>
            </a:xfrm>
            <a:prstGeom prst="rect">
              <a:avLst/>
            </a:prstGeom>
            <a:noFill/>
            <a:ln>
              <a:noFill/>
            </a:ln>
          </p:spPr>
          <p:txBody>
            <a:bodyPr wrap="none" lIns="0" tIns="0" rIns="0" bIns="0" anchor="t" anchorCtr="0">
              <a:spAutoFit/>
            </a:bodyPr>
            <a:lstStyle/>
            <a:p>
              <a:pPr algn="l"/>
              <a:r>
                <a:rPr lang="en-US" sz="1350" dirty="0">
                  <a:solidFill>
                    <a:srgbClr val="766E62"/>
                  </a:solidFill>
                  <a:latin typeface="+mn-lt"/>
                  <a:ea typeface="+mn-ea"/>
                  <a:cs typeface="+mn-cs"/>
                </a:rPr>
                <a:t>Mean ± sample SD across three subset seeds · source: main_results.csv</a:t>
              </a:r>
            </a:p>
          </p:txBody>
        </p:sp>
      </p:grpSp>
      <p:grpSp>
        <p:nvGrpSpPr>
          <p:cNvPr id="23" name="Group 23"/>
          <p:cNvGrpSpPr/>
          <p:nvPr/>
        </p:nvGrpSpPr>
        <p:grpSpPr>
          <a:xfrm>
            <a:off x="10966723" y="6426518"/>
            <a:ext cx="622535" cy="264033"/>
            <a:chOff x="10966723" y="6426518"/>
            <a:chExt cx="622535" cy="264033"/>
          </a:xfrm>
        </p:grpSpPr>
        <p:sp>
          <p:nvSpPr>
            <p:cNvPr id="22" name="TextBox 22"/>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05 / 10</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4360" y="482918"/>
            <a:ext cx="9731693" cy="913447"/>
            <a:chOff x="594360" y="482918"/>
            <a:chExt cx="9731693" cy="913447"/>
          </a:xfrm>
        </p:grpSpPr>
        <p:sp>
          <p:nvSpPr>
            <p:cNvPr id="3" name="TextBox 3"/>
            <p:cNvSpPr txBox="1"/>
            <p:nvPr/>
          </p:nvSpPr>
          <p:spPr>
            <a:xfrm>
              <a:off x="602742" y="482918"/>
              <a:ext cx="5102139" cy="264033"/>
            </a:xfrm>
            <a:prstGeom prst="rect">
              <a:avLst/>
            </a:prstGeom>
            <a:noFill/>
            <a:ln>
              <a:noFill/>
            </a:ln>
          </p:spPr>
          <p:txBody>
            <a:bodyPr wrap="none" lIns="0" tIns="0" rIns="0" bIns="0" anchor="t" anchorCtr="0">
              <a:spAutoFit/>
            </a:bodyPr>
            <a:lstStyle/>
            <a:p>
              <a:pPr algn="l"/>
              <a:r>
                <a:rPr lang="en-US" sz="1350" b="1" spc="105" dirty="0">
                  <a:solidFill>
                    <a:schemeClr val="accent3"/>
                  </a:solidFill>
                  <a:latin typeface="+mn-lt"/>
                  <a:ea typeface="+mn-ea"/>
                  <a:cs typeface="+mn-cs"/>
                </a:rPr>
                <a:t>INTERPRETATION · REPRESENTATION BOTTLENECK</a:t>
              </a:r>
            </a:p>
          </p:txBody>
        </p:sp>
        <p:sp>
          <p:nvSpPr>
            <p:cNvPr id="4" name="TextBox 4"/>
            <p:cNvSpPr txBox="1"/>
            <p:nvPr/>
          </p:nvSpPr>
          <p:spPr>
            <a:xfrm>
              <a:off x="594360" y="809625"/>
              <a:ext cx="9731693"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PCA-5 compression explains much of the gap</a:t>
              </a:r>
            </a:p>
          </p:txBody>
        </p:sp>
      </p:grpSp>
      <p:grpSp>
        <p:nvGrpSpPr>
          <p:cNvPr id="8" name="Group 8"/>
          <p:cNvGrpSpPr/>
          <p:nvPr/>
        </p:nvGrpSpPr>
        <p:grpSpPr>
          <a:xfrm>
            <a:off x="609600" y="1504950"/>
            <a:ext cx="7239000" cy="4381500"/>
            <a:chOff x="609600" y="1504950"/>
            <a:chExt cx="7239000" cy="4381500"/>
          </a:xfrm>
        </p:grpSpPr>
        <p:sp>
          <p:nvSpPr>
            <p:cNvPr id="6" name="Rectangle 6"/>
            <p:cNvSpPr/>
            <p:nvPr/>
          </p:nvSpPr>
          <p:spPr>
            <a:xfrm>
              <a:off x="609600" y="1504950"/>
              <a:ext cx="7239000" cy="4381500"/>
            </a:xfrm>
            <a:prstGeom prst="rect">
              <a:avLst/>
            </a:prstGeom>
            <a:solidFill>
              <a:srgbClr val="FFFFFF"/>
            </a:solidFill>
            <a:ln>
              <a:noFill/>
            </a:ln>
          </p:spPr>
        </p:sp>
        <p:pic>
          <p:nvPicPr>
            <p:cNvPr id="7" name="Image 7"/>
            <p:cNvPicPr>
              <a:picLocks noChangeAspect="1"/>
            </p:cNvPicPr>
            <p:nvPr/>
          </p:nvPicPr>
          <p:blipFill>
            <a:blip r:embed="rId2"/>
            <a:stretch>
              <a:fillRect/>
            </a:stretch>
          </p:blipFill>
          <p:spPr>
            <a:xfrm>
              <a:off x="762000" y="1792941"/>
              <a:ext cx="6934200" cy="3729318"/>
            </a:xfrm>
            <a:prstGeom prst="rect">
              <a:avLst/>
            </a:prstGeom>
          </p:spPr>
        </p:pic>
      </p:grpSp>
      <p:grpSp>
        <p:nvGrpSpPr>
          <p:cNvPr id="23" name="Group 23"/>
          <p:cNvGrpSpPr/>
          <p:nvPr/>
        </p:nvGrpSpPr>
        <p:grpSpPr>
          <a:xfrm>
            <a:off x="8143113" y="1644968"/>
            <a:ext cx="3439287" cy="4411027"/>
            <a:chOff x="8143113" y="1644968"/>
            <a:chExt cx="3439287" cy="4411027"/>
          </a:xfrm>
        </p:grpSpPr>
        <p:sp>
          <p:nvSpPr>
            <p:cNvPr id="9" name="TextBox 9"/>
            <p:cNvSpPr txBox="1"/>
            <p:nvPr/>
          </p:nvSpPr>
          <p:spPr>
            <a:xfrm>
              <a:off x="8146542" y="1644968"/>
              <a:ext cx="2080374"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FULL → PCA-5 PENALTY</a:t>
              </a:r>
            </a:p>
          </p:txBody>
        </p:sp>
        <p:sp>
          <p:nvSpPr>
            <p:cNvPr id="10" name="TextBox 10"/>
            <p:cNvSpPr txBox="1"/>
            <p:nvPr/>
          </p:nvSpPr>
          <p:spPr>
            <a:xfrm>
              <a:off x="8145399" y="2077879"/>
              <a:ext cx="1669547" cy="308039"/>
            </a:xfrm>
            <a:prstGeom prst="rect">
              <a:avLst/>
            </a:prstGeom>
            <a:noFill/>
            <a:ln>
              <a:noFill/>
            </a:ln>
          </p:spPr>
          <p:txBody>
            <a:bodyPr wrap="none" lIns="0" tIns="0" rIns="0" bIns="0" anchor="t" anchorCtr="0">
              <a:spAutoFit/>
            </a:bodyPr>
            <a:lstStyle/>
            <a:p>
              <a:pPr algn="l"/>
              <a:r>
                <a:rPr lang="en-US" sz="1580" b="1" dirty="0">
                  <a:solidFill>
                    <a:schemeClr val="accent1"/>
                  </a:solidFill>
                  <a:latin typeface="+mn-lt"/>
                  <a:ea typeface="+mn-ea"/>
                  <a:cs typeface="+mn-cs"/>
                </a:rPr>
                <a:t>Linear: B1 − B3</a:t>
              </a:r>
            </a:p>
          </p:txBody>
        </p:sp>
        <p:sp>
          <p:nvSpPr>
            <p:cNvPr id="11" name="TextBox 11"/>
            <p:cNvSpPr txBox="1"/>
            <p:nvPr/>
          </p:nvSpPr>
          <p:spPr>
            <a:xfrm>
              <a:off x="8143113" y="2410301"/>
              <a:ext cx="2875864" cy="396050"/>
            </a:xfrm>
            <a:prstGeom prst="rect">
              <a:avLst/>
            </a:prstGeom>
            <a:noFill/>
            <a:ln>
              <a:noFill/>
            </a:ln>
          </p:spPr>
          <p:txBody>
            <a:bodyPr wrap="none" lIns="0" tIns="0" rIns="0" bIns="0" anchor="t" anchorCtr="0">
              <a:spAutoFit/>
            </a:bodyPr>
            <a:lstStyle/>
            <a:p>
              <a:pPr algn="l"/>
              <a:r>
                <a:rPr lang="en-US" sz="2020" dirty="0">
                  <a:solidFill>
                    <a:schemeClr val="accent2"/>
                  </a:solidFill>
                  <a:latin typeface="Consolas"/>
                  <a:ea typeface="Consolas"/>
                  <a:cs typeface="Consolas"/>
                </a:rPr>
                <a:t>+.1018 +.0993 +.0713</a:t>
              </a:r>
            </a:p>
          </p:txBody>
        </p:sp>
        <p:sp>
          <p:nvSpPr>
            <p:cNvPr id="12" name="TextBox 12"/>
            <p:cNvSpPr txBox="1"/>
            <p:nvPr/>
          </p:nvSpPr>
          <p:spPr>
            <a:xfrm>
              <a:off x="8146542" y="2768918"/>
              <a:ext cx="1285875" cy="264033"/>
            </a:xfrm>
            <a:prstGeom prst="rect">
              <a:avLst/>
            </a:prstGeom>
            <a:noFill/>
            <a:ln>
              <a:noFill/>
            </a:ln>
          </p:spPr>
          <p:txBody>
            <a:bodyPr wrap="none" lIns="0" tIns="0" rIns="0" bIns="0" anchor="t" anchorCtr="0">
              <a:spAutoFit/>
            </a:bodyPr>
            <a:lstStyle/>
            <a:p>
              <a:pPr algn="l"/>
              <a:r>
                <a:rPr lang="en-US" sz="1350" dirty="0">
                  <a:solidFill>
                    <a:srgbClr val="766E62"/>
                  </a:solidFill>
                  <a:latin typeface="+mn-lt"/>
                  <a:ea typeface="+mn-ea"/>
                  <a:cs typeface="+mn-cs"/>
                </a:rPr>
                <a:t>12 24 48 labels</a:t>
              </a:r>
            </a:p>
          </p:txBody>
        </p:sp>
        <p:sp>
          <p:nvSpPr>
            <p:cNvPr id="13" name="TextBox 13"/>
            <p:cNvSpPr txBox="1"/>
            <p:nvPr/>
          </p:nvSpPr>
          <p:spPr>
            <a:xfrm>
              <a:off x="8145399" y="3201829"/>
              <a:ext cx="1396463" cy="308039"/>
            </a:xfrm>
            <a:prstGeom prst="rect">
              <a:avLst/>
            </a:prstGeom>
            <a:noFill/>
            <a:ln>
              <a:noFill/>
            </a:ln>
          </p:spPr>
          <p:txBody>
            <a:bodyPr wrap="none" lIns="0" tIns="0" rIns="0" bIns="0" anchor="t" anchorCtr="0">
              <a:spAutoFit/>
            </a:bodyPr>
            <a:lstStyle/>
            <a:p>
              <a:pPr algn="l"/>
              <a:r>
                <a:rPr lang="en-US" sz="1580" b="1" dirty="0">
                  <a:solidFill>
                    <a:schemeClr val="accent1"/>
                  </a:solidFill>
                  <a:latin typeface="+mn-lt"/>
                  <a:ea typeface="+mn-ea"/>
                  <a:cs typeface="+mn-cs"/>
                </a:rPr>
                <a:t>RBF: B2 − B4</a:t>
              </a:r>
            </a:p>
          </p:txBody>
        </p:sp>
        <p:sp>
          <p:nvSpPr>
            <p:cNvPr id="14" name="TextBox 14"/>
            <p:cNvSpPr txBox="1"/>
            <p:nvPr/>
          </p:nvSpPr>
          <p:spPr>
            <a:xfrm>
              <a:off x="8143113" y="3534251"/>
              <a:ext cx="2875864" cy="396050"/>
            </a:xfrm>
            <a:prstGeom prst="rect">
              <a:avLst/>
            </a:prstGeom>
            <a:noFill/>
            <a:ln>
              <a:noFill/>
            </a:ln>
          </p:spPr>
          <p:txBody>
            <a:bodyPr wrap="none" lIns="0" tIns="0" rIns="0" bIns="0" anchor="t" anchorCtr="0">
              <a:spAutoFit/>
            </a:bodyPr>
            <a:lstStyle/>
            <a:p>
              <a:pPr algn="l"/>
              <a:r>
                <a:rPr lang="en-US" sz="2020" dirty="0">
                  <a:solidFill>
                    <a:schemeClr val="accent2"/>
                  </a:solidFill>
                  <a:latin typeface="Consolas"/>
                  <a:ea typeface="Consolas"/>
                  <a:cs typeface="Consolas"/>
                </a:rPr>
                <a:t>+.0657 +.0872 +.0263</a:t>
              </a:r>
            </a:p>
          </p:txBody>
        </p:sp>
        <p:sp>
          <p:nvSpPr>
            <p:cNvPr id="15" name="Line 15"/>
            <p:cNvSpPr/>
            <p:nvPr/>
          </p:nvSpPr>
          <p:spPr>
            <a:xfrm>
              <a:off x="8153400" y="4114800"/>
              <a:ext cx="3429000" cy="9525"/>
            </a:xfrm>
            <a:custGeom>
              <a:avLst/>
              <a:gdLst/>
              <a:ahLst/>
              <a:cxnLst/>
              <a:rect l="l" t="t" r="r" b="b"/>
              <a:pathLst>
                <a:path w="3429000" h="9525">
                  <a:moveTo>
                    <a:pt x="0" y="0"/>
                  </a:moveTo>
                  <a:lnTo>
                    <a:pt x="3429000" y="0"/>
                  </a:lnTo>
                </a:path>
              </a:pathLst>
            </a:custGeom>
            <a:noFill/>
            <a:ln w="19050">
              <a:solidFill>
                <a:srgbClr val="C9BDA8"/>
              </a:solidFill>
            </a:ln>
          </p:spPr>
        </p:sp>
        <p:sp>
          <p:nvSpPr>
            <p:cNvPr id="16" name="TextBox 16"/>
            <p:cNvSpPr txBox="1"/>
            <p:nvPr/>
          </p:nvSpPr>
          <p:spPr>
            <a:xfrm>
              <a:off x="8146542" y="4340542"/>
              <a:ext cx="2029968"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AT 24 LABELS / CLASS</a:t>
              </a:r>
            </a:p>
          </p:txBody>
        </p:sp>
        <p:sp>
          <p:nvSpPr>
            <p:cNvPr id="17" name="TextBox 17"/>
            <p:cNvSpPr txBox="1"/>
            <p:nvPr/>
          </p:nvSpPr>
          <p:spPr>
            <a:xfrm>
              <a:off x="8145399" y="4678204"/>
              <a:ext cx="1072276" cy="308039"/>
            </a:xfrm>
            <a:prstGeom prst="rect">
              <a:avLst/>
            </a:prstGeom>
            <a:noFill/>
            <a:ln>
              <a:noFill/>
            </a:ln>
          </p:spPr>
          <p:txBody>
            <a:bodyPr wrap="none" lIns="0" tIns="0" rIns="0" bIns="0" anchor="t" anchorCtr="0">
              <a:spAutoFit/>
            </a:bodyPr>
            <a:lstStyle/>
            <a:p>
              <a:pPr algn="l"/>
              <a:r>
                <a:rPr lang="en-US" sz="1580" dirty="0">
                  <a:solidFill>
                    <a:schemeClr val="dk1"/>
                  </a:solidFill>
                  <a:latin typeface="+mn-lt"/>
                  <a:ea typeface="+mn-ea"/>
                  <a:cs typeface="+mn-cs"/>
                </a:rPr>
                <a:t>B3 0.8646</a:t>
              </a:r>
            </a:p>
          </p:txBody>
        </p:sp>
        <p:sp>
          <p:nvSpPr>
            <p:cNvPr id="18" name="TextBox 18"/>
            <p:cNvSpPr txBox="1"/>
            <p:nvPr/>
          </p:nvSpPr>
          <p:spPr>
            <a:xfrm>
              <a:off x="9802749" y="4678204"/>
              <a:ext cx="1072276" cy="308039"/>
            </a:xfrm>
            <a:prstGeom prst="rect">
              <a:avLst/>
            </a:prstGeom>
            <a:noFill/>
            <a:ln>
              <a:noFill/>
            </a:ln>
          </p:spPr>
          <p:txBody>
            <a:bodyPr wrap="none" lIns="0" tIns="0" rIns="0" bIns="0" anchor="t" anchorCtr="0">
              <a:spAutoFit/>
            </a:bodyPr>
            <a:lstStyle/>
            <a:p>
              <a:pPr algn="l"/>
              <a:r>
                <a:rPr lang="en-US" sz="1580" dirty="0">
                  <a:solidFill>
                    <a:schemeClr val="dk1"/>
                  </a:solidFill>
                  <a:latin typeface="+mn-lt"/>
                  <a:ea typeface="+mn-ea"/>
                  <a:cs typeface="+mn-cs"/>
                </a:rPr>
                <a:t>B4 0.8444</a:t>
              </a:r>
            </a:p>
          </p:txBody>
        </p:sp>
        <p:sp>
          <p:nvSpPr>
            <p:cNvPr id="19" name="TextBox 19"/>
            <p:cNvSpPr txBox="1"/>
            <p:nvPr/>
          </p:nvSpPr>
          <p:spPr>
            <a:xfrm>
              <a:off x="8145399" y="5002054"/>
              <a:ext cx="1072276" cy="308039"/>
            </a:xfrm>
            <a:prstGeom prst="rect">
              <a:avLst/>
            </a:prstGeom>
            <a:noFill/>
            <a:ln>
              <a:noFill/>
            </a:ln>
          </p:spPr>
          <p:txBody>
            <a:bodyPr wrap="none" lIns="0" tIns="0" rIns="0" bIns="0" anchor="t" anchorCtr="0">
              <a:spAutoFit/>
            </a:bodyPr>
            <a:lstStyle/>
            <a:p>
              <a:pPr algn="l"/>
              <a:r>
                <a:rPr lang="en-US" sz="1580" dirty="0">
                  <a:solidFill>
                    <a:schemeClr val="dk1"/>
                  </a:solidFill>
                  <a:latin typeface="+mn-lt"/>
                  <a:ea typeface="+mn-ea"/>
                  <a:cs typeface="+mn-cs"/>
                </a:rPr>
                <a:t>B6 0.8318</a:t>
              </a:r>
            </a:p>
          </p:txBody>
        </p:sp>
        <p:sp>
          <p:nvSpPr>
            <p:cNvPr id="20" name="TextBox 20"/>
            <p:cNvSpPr txBox="1"/>
            <p:nvPr/>
          </p:nvSpPr>
          <p:spPr>
            <a:xfrm>
              <a:off x="9802749" y="5002054"/>
              <a:ext cx="1172285" cy="308039"/>
            </a:xfrm>
            <a:prstGeom prst="rect">
              <a:avLst/>
            </a:prstGeom>
            <a:noFill/>
            <a:ln>
              <a:noFill/>
            </a:ln>
          </p:spPr>
          <p:txBody>
            <a:bodyPr wrap="none" lIns="0" tIns="0" rIns="0" bIns="0" anchor="t" anchorCtr="0">
              <a:spAutoFit/>
            </a:bodyPr>
            <a:lstStyle/>
            <a:p>
              <a:pPr algn="l"/>
              <a:r>
                <a:rPr lang="en-US" sz="1580" b="1" dirty="0">
                  <a:solidFill>
                    <a:schemeClr val="accent2"/>
                  </a:solidFill>
                  <a:latin typeface="+mn-lt"/>
                  <a:ea typeface="+mn-ea"/>
                  <a:cs typeface="+mn-cs"/>
                </a:rPr>
                <a:t>Q1 0.7886</a:t>
              </a:r>
            </a:p>
          </p:txBody>
        </p:sp>
        <p:sp>
          <p:nvSpPr>
            <p:cNvPr id="21" name="TextBox 21"/>
            <p:cNvSpPr txBox="1"/>
            <p:nvPr/>
          </p:nvSpPr>
          <p:spPr>
            <a:xfrm>
              <a:off x="8145780" y="5514975"/>
              <a:ext cx="2394313"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Signal is lost before the</a:t>
              </a:r>
            </a:p>
          </p:txBody>
        </p:sp>
        <p:sp>
          <p:nvSpPr>
            <p:cNvPr id="22" name="TextBox 22"/>
            <p:cNvSpPr txBox="1"/>
            <p:nvPr/>
          </p:nvSpPr>
          <p:spPr>
            <a:xfrm>
              <a:off x="8145780" y="5762625"/>
              <a:ext cx="2700909"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nonlinear map is evaluated.</a:t>
              </a:r>
            </a:p>
          </p:txBody>
        </p:sp>
      </p:grpSp>
      <p:grpSp>
        <p:nvGrpSpPr>
          <p:cNvPr id="25" name="Group 25"/>
          <p:cNvGrpSpPr/>
          <p:nvPr/>
        </p:nvGrpSpPr>
        <p:grpSpPr>
          <a:xfrm>
            <a:off x="602742" y="6131242"/>
            <a:ext cx="4018586" cy="264033"/>
            <a:chOff x="602742" y="6131242"/>
            <a:chExt cx="4018586" cy="264033"/>
          </a:xfrm>
        </p:grpSpPr>
        <p:sp>
          <p:nvSpPr>
            <p:cNvPr id="24" name="TextBox 24"/>
            <p:cNvSpPr txBox="1"/>
            <p:nvPr/>
          </p:nvSpPr>
          <p:spPr>
            <a:xfrm>
              <a:off x="602742" y="6131242"/>
              <a:ext cx="4018586" cy="264033"/>
            </a:xfrm>
            <a:prstGeom prst="rect">
              <a:avLst/>
            </a:prstGeom>
            <a:noFill/>
            <a:ln>
              <a:noFill/>
            </a:ln>
          </p:spPr>
          <p:txBody>
            <a:bodyPr wrap="none" lIns="0" tIns="0" rIns="0" bIns="0" anchor="t" anchorCtr="0">
              <a:spAutoFit/>
            </a:bodyPr>
            <a:lstStyle/>
            <a:p>
              <a:pPr algn="l"/>
              <a:r>
                <a:rPr lang="en-US" sz="1350" dirty="0">
                  <a:solidFill>
                    <a:srgbClr val="766E62"/>
                  </a:solidFill>
                  <a:latin typeface="+mn-lt"/>
                  <a:ea typeface="+mn-ea"/>
                  <a:cs typeface="+mn-cs"/>
                </a:rPr>
                <a:t>Source: compression.csv · main_results.csv</a:t>
              </a:r>
            </a:p>
          </p:txBody>
        </p:sp>
      </p:grpSp>
      <p:grpSp>
        <p:nvGrpSpPr>
          <p:cNvPr id="27" name="Group 27"/>
          <p:cNvGrpSpPr/>
          <p:nvPr/>
        </p:nvGrpSpPr>
        <p:grpSpPr>
          <a:xfrm>
            <a:off x="10966723" y="6426518"/>
            <a:ext cx="622535" cy="264033"/>
            <a:chOff x="10966723" y="6426518"/>
            <a:chExt cx="622535" cy="264033"/>
          </a:xfrm>
        </p:grpSpPr>
        <p:sp>
          <p:nvSpPr>
            <p:cNvPr id="26" name="TextBox 26"/>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06 / 10</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4360" y="482918"/>
            <a:ext cx="10682759" cy="913447"/>
            <a:chOff x="594360" y="482918"/>
            <a:chExt cx="10682759" cy="913447"/>
          </a:xfrm>
        </p:grpSpPr>
        <p:sp>
          <p:nvSpPr>
            <p:cNvPr id="3" name="TextBox 3"/>
            <p:cNvSpPr txBox="1"/>
            <p:nvPr/>
          </p:nvSpPr>
          <p:spPr>
            <a:xfrm>
              <a:off x="602742" y="482918"/>
              <a:ext cx="4090279" cy="264033"/>
            </a:xfrm>
            <a:prstGeom prst="rect">
              <a:avLst/>
            </a:prstGeom>
            <a:noFill/>
            <a:ln>
              <a:noFill/>
            </a:ln>
          </p:spPr>
          <p:txBody>
            <a:bodyPr wrap="none" lIns="0" tIns="0" rIns="0" bIns="0" anchor="t" anchorCtr="0">
              <a:spAutoFit/>
            </a:bodyPr>
            <a:lstStyle/>
            <a:p>
              <a:pPr algn="l"/>
              <a:r>
                <a:rPr lang="en-US" sz="1350" b="1" spc="105" dirty="0">
                  <a:solidFill>
                    <a:schemeClr val="accent3"/>
                  </a:solidFill>
                  <a:latin typeface="+mn-lt"/>
                  <a:ea typeface="+mn-ea"/>
                  <a:cs typeface="+mn-cs"/>
                </a:rPr>
                <a:t>INTERPRETATION · PAIRED DIFFERENCES</a:t>
              </a:r>
            </a:p>
          </p:txBody>
        </p:sp>
        <p:sp>
          <p:nvSpPr>
            <p:cNvPr id="4" name="TextBox 4"/>
            <p:cNvSpPr txBox="1"/>
            <p:nvPr/>
          </p:nvSpPr>
          <p:spPr>
            <a:xfrm>
              <a:off x="594360" y="809625"/>
              <a:ext cx="10682759"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Q1 beats RFF—not the strong nonlinear controls</a:t>
              </a:r>
            </a:p>
          </p:txBody>
        </p:sp>
      </p:grpSp>
      <p:grpSp>
        <p:nvGrpSpPr>
          <p:cNvPr id="8" name="Group 8"/>
          <p:cNvGrpSpPr/>
          <p:nvPr/>
        </p:nvGrpSpPr>
        <p:grpSpPr>
          <a:xfrm>
            <a:off x="609600" y="1428750"/>
            <a:ext cx="10972800" cy="3752850"/>
            <a:chOff x="609600" y="1428750"/>
            <a:chExt cx="10972800" cy="3752850"/>
          </a:xfrm>
        </p:grpSpPr>
        <p:sp>
          <p:nvSpPr>
            <p:cNvPr id="6" name="Rectangle 6"/>
            <p:cNvSpPr/>
            <p:nvPr/>
          </p:nvSpPr>
          <p:spPr>
            <a:xfrm>
              <a:off x="609600" y="1428750"/>
              <a:ext cx="10972800" cy="3752850"/>
            </a:xfrm>
            <a:prstGeom prst="rect">
              <a:avLst/>
            </a:prstGeom>
            <a:solidFill>
              <a:srgbClr val="FFFFFF"/>
            </a:solidFill>
            <a:ln>
              <a:noFill/>
            </a:ln>
          </p:spPr>
        </p:sp>
        <p:pic>
          <p:nvPicPr>
            <p:cNvPr id="7" name="Image 7"/>
            <p:cNvPicPr>
              <a:picLocks noChangeAspect="1"/>
            </p:cNvPicPr>
            <p:nvPr/>
          </p:nvPicPr>
          <p:blipFill>
            <a:blip r:embed="rId2"/>
            <a:stretch>
              <a:fillRect/>
            </a:stretch>
          </p:blipFill>
          <p:spPr>
            <a:xfrm>
              <a:off x="2940211" y="1581150"/>
              <a:ext cx="6311578" cy="3390900"/>
            </a:xfrm>
            <a:prstGeom prst="rect">
              <a:avLst/>
            </a:prstGeom>
          </p:spPr>
        </p:pic>
      </p:grpSp>
      <p:grpSp>
        <p:nvGrpSpPr>
          <p:cNvPr id="18" name="Group 18"/>
          <p:cNvGrpSpPr/>
          <p:nvPr/>
        </p:nvGrpSpPr>
        <p:grpSpPr>
          <a:xfrm>
            <a:off x="609600" y="5391150"/>
            <a:ext cx="10972800" cy="713137"/>
            <a:chOff x="609600" y="5391150"/>
            <a:chExt cx="10972800" cy="713137"/>
          </a:xfrm>
        </p:grpSpPr>
        <p:sp>
          <p:nvSpPr>
            <p:cNvPr id="9" name="Rectangle 9"/>
            <p:cNvSpPr/>
            <p:nvPr/>
          </p:nvSpPr>
          <p:spPr>
            <a:xfrm>
              <a:off x="609600" y="5391150"/>
              <a:ext cx="3352800" cy="704850"/>
            </a:xfrm>
            <a:prstGeom prst="rect">
              <a:avLst/>
            </a:prstGeom>
            <a:solidFill>
              <a:schemeClr val="accent3"/>
            </a:solidFill>
            <a:ln>
              <a:noFill/>
            </a:ln>
          </p:spPr>
        </p:sp>
        <p:sp>
          <p:nvSpPr>
            <p:cNvPr id="10" name="TextBox 10"/>
            <p:cNvSpPr txBox="1"/>
            <p:nvPr/>
          </p:nvSpPr>
          <p:spPr>
            <a:xfrm>
              <a:off x="793242" y="5521642"/>
              <a:ext cx="840379" cy="264033"/>
            </a:xfrm>
            <a:prstGeom prst="rect">
              <a:avLst/>
            </a:prstGeom>
            <a:noFill/>
            <a:ln>
              <a:noFill/>
            </a:ln>
          </p:spPr>
          <p:txBody>
            <a:bodyPr wrap="none" lIns="0" tIns="0" rIns="0" bIns="0" anchor="t" anchorCtr="0">
              <a:spAutoFit/>
            </a:bodyPr>
            <a:lstStyle/>
            <a:p>
              <a:pPr algn="l"/>
              <a:r>
                <a:rPr lang="en-US" sz="1350" b="1" dirty="0">
                  <a:solidFill>
                    <a:srgbClr val="FBF7EE"/>
                  </a:solidFill>
                  <a:latin typeface="+mn-lt"/>
                  <a:ea typeface="+mn-ea"/>
                  <a:cs typeface="+mn-cs"/>
                </a:rPr>
                <a:t>Q1 − RFF</a:t>
              </a:r>
            </a:p>
          </p:txBody>
        </p:sp>
        <p:sp>
          <p:nvSpPr>
            <p:cNvPr id="11" name="TextBox 11"/>
            <p:cNvSpPr txBox="1"/>
            <p:nvPr/>
          </p:nvSpPr>
          <p:spPr>
            <a:xfrm>
              <a:off x="791337" y="5766911"/>
              <a:ext cx="2842392" cy="337376"/>
            </a:xfrm>
            <a:prstGeom prst="rect">
              <a:avLst/>
            </a:prstGeom>
            <a:noFill/>
            <a:ln>
              <a:noFill/>
            </a:ln>
          </p:spPr>
          <p:txBody>
            <a:bodyPr wrap="none" lIns="0" tIns="0" rIns="0" bIns="0" anchor="t" anchorCtr="0">
              <a:spAutoFit/>
            </a:bodyPr>
            <a:lstStyle/>
            <a:p>
              <a:pPr algn="l"/>
              <a:r>
                <a:rPr lang="en-US" sz="1720" dirty="0">
                  <a:solidFill>
                    <a:srgbClr val="FBF7EE"/>
                  </a:solidFill>
                  <a:latin typeface="Consolas"/>
                  <a:ea typeface="Consolas"/>
                  <a:cs typeface="Consolas"/>
                </a:rPr>
                <a:t>+.3133 · +.2238 · +.2307</a:t>
              </a:r>
            </a:p>
          </p:txBody>
        </p:sp>
        <p:sp>
          <p:nvSpPr>
            <p:cNvPr id="12" name="Rectangle 12"/>
            <p:cNvSpPr/>
            <p:nvPr/>
          </p:nvSpPr>
          <p:spPr>
            <a:xfrm>
              <a:off x="4229100" y="5391150"/>
              <a:ext cx="3352800" cy="704850"/>
            </a:xfrm>
            <a:prstGeom prst="rect">
              <a:avLst/>
            </a:prstGeom>
            <a:solidFill>
              <a:schemeClr val="accent2"/>
            </a:solidFill>
            <a:ln>
              <a:noFill/>
            </a:ln>
          </p:spPr>
        </p:sp>
        <p:sp>
          <p:nvSpPr>
            <p:cNvPr id="13" name="TextBox 13"/>
            <p:cNvSpPr txBox="1"/>
            <p:nvPr/>
          </p:nvSpPr>
          <p:spPr>
            <a:xfrm>
              <a:off x="4412742" y="5521642"/>
              <a:ext cx="880704" cy="264033"/>
            </a:xfrm>
            <a:prstGeom prst="rect">
              <a:avLst/>
            </a:prstGeom>
            <a:noFill/>
            <a:ln>
              <a:noFill/>
            </a:ln>
          </p:spPr>
          <p:txBody>
            <a:bodyPr wrap="none" lIns="0" tIns="0" rIns="0" bIns="0" anchor="t" anchorCtr="0">
              <a:spAutoFit/>
            </a:bodyPr>
            <a:lstStyle/>
            <a:p>
              <a:pPr algn="l"/>
              <a:r>
                <a:rPr lang="en-US" sz="1350" b="1" dirty="0">
                  <a:solidFill>
                    <a:srgbClr val="FBF7EE"/>
                  </a:solidFill>
                  <a:latin typeface="+mn-lt"/>
                  <a:ea typeface="+mn-ea"/>
                  <a:cs typeface="+mn-cs"/>
                </a:rPr>
                <a:t>Q1 − ELM</a:t>
              </a:r>
            </a:p>
          </p:txBody>
        </p:sp>
        <p:sp>
          <p:nvSpPr>
            <p:cNvPr id="14" name="TextBox 14"/>
            <p:cNvSpPr txBox="1"/>
            <p:nvPr/>
          </p:nvSpPr>
          <p:spPr>
            <a:xfrm>
              <a:off x="4410837" y="5766911"/>
              <a:ext cx="2842392" cy="337376"/>
            </a:xfrm>
            <a:prstGeom prst="rect">
              <a:avLst/>
            </a:prstGeom>
            <a:noFill/>
            <a:ln>
              <a:noFill/>
            </a:ln>
          </p:spPr>
          <p:txBody>
            <a:bodyPr wrap="none" lIns="0" tIns="0" rIns="0" bIns="0" anchor="t" anchorCtr="0">
              <a:spAutoFit/>
            </a:bodyPr>
            <a:lstStyle/>
            <a:p>
              <a:pPr algn="l"/>
              <a:r>
                <a:rPr lang="en-US" sz="1720" dirty="0">
                  <a:solidFill>
                    <a:srgbClr val="FBF7EE"/>
                  </a:solidFill>
                  <a:latin typeface="Consolas"/>
                  <a:ea typeface="Consolas"/>
                  <a:cs typeface="Consolas"/>
                </a:rPr>
                <a:t>−.0166 · −.0432 · −.0215</a:t>
              </a:r>
            </a:p>
          </p:txBody>
        </p:sp>
        <p:sp>
          <p:nvSpPr>
            <p:cNvPr id="15" name="Rectangle 15"/>
            <p:cNvSpPr/>
            <p:nvPr/>
          </p:nvSpPr>
          <p:spPr>
            <a:xfrm>
              <a:off x="7848600" y="5391150"/>
              <a:ext cx="3733800" cy="704850"/>
            </a:xfrm>
            <a:prstGeom prst="rect">
              <a:avLst/>
            </a:prstGeom>
            <a:solidFill>
              <a:schemeClr val="accent1"/>
            </a:solidFill>
            <a:ln>
              <a:noFill/>
            </a:ln>
          </p:spPr>
        </p:sp>
        <p:sp>
          <p:nvSpPr>
            <p:cNvPr id="16" name="TextBox 16"/>
            <p:cNvSpPr txBox="1"/>
            <p:nvPr/>
          </p:nvSpPr>
          <p:spPr>
            <a:xfrm>
              <a:off x="8032242" y="5521642"/>
              <a:ext cx="1455336" cy="264033"/>
            </a:xfrm>
            <a:prstGeom prst="rect">
              <a:avLst/>
            </a:prstGeom>
            <a:noFill/>
            <a:ln>
              <a:noFill/>
            </a:ln>
          </p:spPr>
          <p:txBody>
            <a:bodyPr wrap="none" lIns="0" tIns="0" rIns="0" bIns="0" anchor="t" anchorCtr="0">
              <a:spAutoFit/>
            </a:bodyPr>
            <a:lstStyle/>
            <a:p>
              <a:pPr algn="l"/>
              <a:r>
                <a:rPr lang="en-US" sz="1350" b="1" dirty="0">
                  <a:solidFill>
                    <a:srgbClr val="FBF7EE"/>
                  </a:solidFill>
                  <a:latin typeface="+mn-lt"/>
                  <a:ea typeface="+mn-ea"/>
                  <a:cs typeface="+mn-cs"/>
                </a:rPr>
                <a:t>Q1 − PCA-5 RBF</a:t>
              </a:r>
            </a:p>
          </p:txBody>
        </p:sp>
        <p:sp>
          <p:nvSpPr>
            <p:cNvPr id="17" name="TextBox 17"/>
            <p:cNvSpPr txBox="1"/>
            <p:nvPr/>
          </p:nvSpPr>
          <p:spPr>
            <a:xfrm>
              <a:off x="8030337" y="5766911"/>
              <a:ext cx="2842392" cy="337376"/>
            </a:xfrm>
            <a:prstGeom prst="rect">
              <a:avLst/>
            </a:prstGeom>
            <a:noFill/>
            <a:ln>
              <a:noFill/>
            </a:ln>
          </p:spPr>
          <p:txBody>
            <a:bodyPr wrap="none" lIns="0" tIns="0" rIns="0" bIns="0" anchor="t" anchorCtr="0">
              <a:spAutoFit/>
            </a:bodyPr>
            <a:lstStyle/>
            <a:p>
              <a:pPr algn="l"/>
              <a:r>
                <a:rPr lang="en-US" sz="1720" dirty="0">
                  <a:solidFill>
                    <a:srgbClr val="FBF7EE"/>
                  </a:solidFill>
                  <a:latin typeface="Consolas"/>
                  <a:ea typeface="Consolas"/>
                  <a:cs typeface="Consolas"/>
                </a:rPr>
                <a:t>−.0507 · −.0558 · −.0534</a:t>
              </a:r>
            </a:p>
          </p:txBody>
        </p:sp>
      </p:grpSp>
      <p:grpSp>
        <p:nvGrpSpPr>
          <p:cNvPr id="20" name="Group 20"/>
          <p:cNvGrpSpPr/>
          <p:nvPr/>
        </p:nvGrpSpPr>
        <p:grpSpPr>
          <a:xfrm>
            <a:off x="602742" y="6207442"/>
            <a:ext cx="8498910" cy="264033"/>
            <a:chOff x="602742" y="6207442"/>
            <a:chExt cx="8498910" cy="264033"/>
          </a:xfrm>
        </p:grpSpPr>
        <p:sp>
          <p:nvSpPr>
            <p:cNvPr id="19" name="TextBox 19"/>
            <p:cNvSpPr txBox="1"/>
            <p:nvPr/>
          </p:nvSpPr>
          <p:spPr>
            <a:xfrm>
              <a:off x="602742" y="6207442"/>
              <a:ext cx="8498910" cy="264033"/>
            </a:xfrm>
            <a:prstGeom prst="rect">
              <a:avLst/>
            </a:prstGeom>
            <a:noFill/>
            <a:ln>
              <a:noFill/>
            </a:ln>
          </p:spPr>
          <p:txBody>
            <a:bodyPr wrap="none" lIns="0" tIns="0" rIns="0" bIns="0" anchor="t" anchorCtr="0">
              <a:spAutoFit/>
            </a:bodyPr>
            <a:lstStyle/>
            <a:p>
              <a:pPr algn="l"/>
              <a:r>
                <a:rPr lang="en-US" sz="1350" dirty="0">
                  <a:solidFill>
                    <a:srgbClr val="766E62"/>
                  </a:solidFill>
                  <a:latin typeface="+mn-lt"/>
                  <a:ea typeface="+mn-ea"/>
                  <a:cs typeface="+mn-cs"/>
                </a:rPr>
                <a:t>Subset-paired descriptive differences · budgets 12 / 24 / 48 · source: paired_differences.csv</a:t>
              </a:r>
            </a:p>
          </p:txBody>
        </p:sp>
      </p:grpSp>
      <p:grpSp>
        <p:nvGrpSpPr>
          <p:cNvPr id="22" name="Group 22"/>
          <p:cNvGrpSpPr/>
          <p:nvPr/>
        </p:nvGrpSpPr>
        <p:grpSpPr>
          <a:xfrm>
            <a:off x="10966723" y="6426518"/>
            <a:ext cx="622535" cy="264033"/>
            <a:chOff x="10966723" y="6426518"/>
            <a:chExt cx="622535" cy="264033"/>
          </a:xfrm>
        </p:grpSpPr>
        <p:sp>
          <p:nvSpPr>
            <p:cNvPr id="21" name="TextBox 21"/>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07 / 10</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4360" y="482918"/>
            <a:ext cx="10863954" cy="913447"/>
            <a:chOff x="594360" y="482918"/>
            <a:chExt cx="10863954" cy="913447"/>
          </a:xfrm>
        </p:grpSpPr>
        <p:sp>
          <p:nvSpPr>
            <p:cNvPr id="3" name="TextBox 3"/>
            <p:cNvSpPr txBox="1"/>
            <p:nvPr/>
          </p:nvSpPr>
          <p:spPr>
            <a:xfrm>
              <a:off x="602742" y="482918"/>
              <a:ext cx="4447604" cy="264033"/>
            </a:xfrm>
            <a:prstGeom prst="rect">
              <a:avLst/>
            </a:prstGeom>
            <a:noFill/>
            <a:ln>
              <a:noFill/>
            </a:ln>
          </p:spPr>
          <p:txBody>
            <a:bodyPr wrap="none" lIns="0" tIns="0" rIns="0" bIns="0" anchor="t" anchorCtr="0">
              <a:spAutoFit/>
            </a:bodyPr>
            <a:lstStyle/>
            <a:p>
              <a:pPr algn="l"/>
              <a:r>
                <a:rPr lang="en-US" sz="1350" b="1" spc="105" dirty="0">
                  <a:solidFill>
                    <a:schemeClr val="accent3"/>
                  </a:solidFill>
                  <a:latin typeface="+mn-lt"/>
                  <a:ea typeface="+mn-ea"/>
                  <a:cs typeface="+mn-cs"/>
                </a:rPr>
                <a:t>OBSERVATIONS · FINITE-SHOT SENSITIVITY</a:t>
              </a:r>
            </a:p>
          </p:txBody>
        </p:sp>
        <p:sp>
          <p:nvSpPr>
            <p:cNvPr id="4" name="TextBox 4"/>
            <p:cNvSpPr txBox="1"/>
            <p:nvPr/>
          </p:nvSpPr>
          <p:spPr>
            <a:xfrm>
              <a:off x="594360" y="809625"/>
              <a:ext cx="10863954"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More launched shots do not resolve the model gap</a:t>
              </a:r>
            </a:p>
          </p:txBody>
        </p:sp>
      </p:grpSp>
      <p:grpSp>
        <p:nvGrpSpPr>
          <p:cNvPr id="8" name="Group 8"/>
          <p:cNvGrpSpPr/>
          <p:nvPr/>
        </p:nvGrpSpPr>
        <p:grpSpPr>
          <a:xfrm>
            <a:off x="609600" y="1562100"/>
            <a:ext cx="7010400" cy="4248150"/>
            <a:chOff x="609600" y="1562100"/>
            <a:chExt cx="7010400" cy="4248150"/>
          </a:xfrm>
        </p:grpSpPr>
        <p:sp>
          <p:nvSpPr>
            <p:cNvPr id="6" name="Rectangle 6"/>
            <p:cNvSpPr/>
            <p:nvPr/>
          </p:nvSpPr>
          <p:spPr>
            <a:xfrm>
              <a:off x="609600" y="1562100"/>
              <a:ext cx="7010400" cy="4248150"/>
            </a:xfrm>
            <a:prstGeom prst="rect">
              <a:avLst/>
            </a:prstGeom>
            <a:solidFill>
              <a:srgbClr val="FFFFFF"/>
            </a:solidFill>
            <a:ln>
              <a:noFill/>
            </a:ln>
          </p:spPr>
        </p:sp>
        <p:pic>
          <p:nvPicPr>
            <p:cNvPr id="7" name="Image 7"/>
            <p:cNvPicPr>
              <a:picLocks noChangeAspect="1"/>
            </p:cNvPicPr>
            <p:nvPr/>
          </p:nvPicPr>
          <p:blipFill>
            <a:blip r:embed="rId2"/>
            <a:stretch>
              <a:fillRect/>
            </a:stretch>
          </p:blipFill>
          <p:spPr>
            <a:xfrm>
              <a:off x="808575" y="1714500"/>
              <a:ext cx="6612449" cy="3848100"/>
            </a:xfrm>
            <a:prstGeom prst="rect">
              <a:avLst/>
            </a:prstGeom>
          </p:spPr>
        </p:pic>
      </p:grpSp>
      <p:grpSp>
        <p:nvGrpSpPr>
          <p:cNvPr id="22" name="Group 22"/>
          <p:cNvGrpSpPr/>
          <p:nvPr/>
        </p:nvGrpSpPr>
        <p:grpSpPr>
          <a:xfrm>
            <a:off x="7932420" y="1692592"/>
            <a:ext cx="3649980" cy="4001453"/>
            <a:chOff x="7932420" y="1692592"/>
            <a:chExt cx="3649980" cy="4001453"/>
          </a:xfrm>
        </p:grpSpPr>
        <p:sp>
          <p:nvSpPr>
            <p:cNvPr id="9" name="TextBox 9"/>
            <p:cNvSpPr txBox="1"/>
            <p:nvPr/>
          </p:nvSpPr>
          <p:spPr>
            <a:xfrm>
              <a:off x="7936992" y="1692592"/>
              <a:ext cx="3209475"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MACRO-F1 · 15 EVALUATIONS EACH</a:t>
              </a:r>
            </a:p>
          </p:txBody>
        </p:sp>
        <p:sp>
          <p:nvSpPr>
            <p:cNvPr id="10" name="TextBox 10"/>
            <p:cNvSpPr txBox="1"/>
            <p:nvPr/>
          </p:nvSpPr>
          <p:spPr>
            <a:xfrm>
              <a:off x="7932420" y="2109788"/>
              <a:ext cx="547626"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Consolas"/>
                  <a:ea typeface="Consolas"/>
                  <a:cs typeface="Consolas"/>
                </a:rPr>
                <a:t>500</a:t>
              </a:r>
            </a:p>
          </p:txBody>
        </p:sp>
        <p:sp>
          <p:nvSpPr>
            <p:cNvPr id="11" name="TextBox 11"/>
            <p:cNvSpPr txBox="1"/>
            <p:nvPr/>
          </p:nvSpPr>
          <p:spPr>
            <a:xfrm>
              <a:off x="9037320" y="2109788"/>
              <a:ext cx="2203704" cy="440055"/>
            </a:xfrm>
            <a:prstGeom prst="rect">
              <a:avLst/>
            </a:prstGeom>
            <a:noFill/>
            <a:ln>
              <a:noFill/>
            </a:ln>
          </p:spPr>
          <p:txBody>
            <a:bodyPr wrap="none" lIns="0" tIns="0" rIns="0" bIns="0" anchor="t" anchorCtr="0">
              <a:spAutoFit/>
            </a:bodyPr>
            <a:lstStyle/>
            <a:p>
              <a:pPr algn="l"/>
              <a:r>
                <a:rPr lang="en-US" sz="2250" dirty="0">
                  <a:solidFill>
                    <a:schemeClr val="dk1"/>
                  </a:solidFill>
                  <a:latin typeface="Consolas"/>
                  <a:ea typeface="Consolas"/>
                  <a:cs typeface="Consolas"/>
                </a:rPr>
                <a:t>0.7662 ± .0322</a:t>
              </a:r>
            </a:p>
          </p:txBody>
        </p:sp>
        <p:sp>
          <p:nvSpPr>
            <p:cNvPr id="12" name="TextBox 12"/>
            <p:cNvSpPr txBox="1"/>
            <p:nvPr/>
          </p:nvSpPr>
          <p:spPr>
            <a:xfrm>
              <a:off x="7932420" y="2605088"/>
              <a:ext cx="897469"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Consolas"/>
                  <a:ea typeface="Consolas"/>
                  <a:cs typeface="Consolas"/>
                </a:rPr>
                <a:t>2,000</a:t>
              </a:r>
            </a:p>
          </p:txBody>
        </p:sp>
        <p:sp>
          <p:nvSpPr>
            <p:cNvPr id="13" name="TextBox 13"/>
            <p:cNvSpPr txBox="1"/>
            <p:nvPr/>
          </p:nvSpPr>
          <p:spPr>
            <a:xfrm>
              <a:off x="9037320" y="2605088"/>
              <a:ext cx="2203704" cy="440055"/>
            </a:xfrm>
            <a:prstGeom prst="rect">
              <a:avLst/>
            </a:prstGeom>
            <a:noFill/>
            <a:ln>
              <a:noFill/>
            </a:ln>
          </p:spPr>
          <p:txBody>
            <a:bodyPr wrap="none" lIns="0" tIns="0" rIns="0" bIns="0" anchor="t" anchorCtr="0">
              <a:spAutoFit/>
            </a:bodyPr>
            <a:lstStyle/>
            <a:p>
              <a:pPr algn="l"/>
              <a:r>
                <a:rPr lang="en-US" sz="2250" dirty="0">
                  <a:solidFill>
                    <a:schemeClr val="dk1"/>
                  </a:solidFill>
                  <a:latin typeface="Consolas"/>
                  <a:ea typeface="Consolas"/>
                  <a:cs typeface="Consolas"/>
                </a:rPr>
                <a:t>0.7739 ± .0308</a:t>
              </a:r>
            </a:p>
          </p:txBody>
        </p:sp>
        <p:sp>
          <p:nvSpPr>
            <p:cNvPr id="14" name="TextBox 14"/>
            <p:cNvSpPr txBox="1"/>
            <p:nvPr/>
          </p:nvSpPr>
          <p:spPr>
            <a:xfrm>
              <a:off x="7932420" y="3100388"/>
              <a:ext cx="897469"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Consolas"/>
                  <a:ea typeface="Consolas"/>
                  <a:cs typeface="Consolas"/>
                </a:rPr>
                <a:t>8,000</a:t>
              </a:r>
            </a:p>
          </p:txBody>
        </p:sp>
        <p:sp>
          <p:nvSpPr>
            <p:cNvPr id="15" name="TextBox 15"/>
            <p:cNvSpPr txBox="1"/>
            <p:nvPr/>
          </p:nvSpPr>
          <p:spPr>
            <a:xfrm>
              <a:off x="9037320" y="3100388"/>
              <a:ext cx="2203704" cy="440055"/>
            </a:xfrm>
            <a:prstGeom prst="rect">
              <a:avLst/>
            </a:prstGeom>
            <a:noFill/>
            <a:ln>
              <a:noFill/>
            </a:ln>
          </p:spPr>
          <p:txBody>
            <a:bodyPr wrap="none" lIns="0" tIns="0" rIns="0" bIns="0" anchor="t" anchorCtr="0">
              <a:spAutoFit/>
            </a:bodyPr>
            <a:lstStyle/>
            <a:p>
              <a:pPr algn="l"/>
              <a:r>
                <a:rPr lang="en-US" sz="2250" dirty="0">
                  <a:solidFill>
                    <a:schemeClr val="dk1"/>
                  </a:solidFill>
                  <a:latin typeface="Consolas"/>
                  <a:ea typeface="Consolas"/>
                  <a:cs typeface="Consolas"/>
                </a:rPr>
                <a:t>0.7725 ± .0363</a:t>
              </a:r>
            </a:p>
          </p:txBody>
        </p:sp>
        <p:sp>
          <p:nvSpPr>
            <p:cNvPr id="16" name="Rectangle 16"/>
            <p:cNvSpPr/>
            <p:nvPr/>
          </p:nvSpPr>
          <p:spPr>
            <a:xfrm>
              <a:off x="7943850" y="3733800"/>
              <a:ext cx="3638550" cy="857250"/>
            </a:xfrm>
            <a:prstGeom prst="rect">
              <a:avLst/>
            </a:prstGeom>
            <a:solidFill>
              <a:schemeClr val="accent3"/>
            </a:solidFill>
            <a:ln>
              <a:noFill/>
            </a:ln>
          </p:spPr>
        </p:sp>
        <p:sp>
          <p:nvSpPr>
            <p:cNvPr id="17" name="TextBox 17"/>
            <p:cNvSpPr txBox="1"/>
            <p:nvPr/>
          </p:nvSpPr>
          <p:spPr>
            <a:xfrm>
              <a:off x="8161020" y="3833812"/>
              <a:ext cx="3012434" cy="440055"/>
            </a:xfrm>
            <a:prstGeom prst="rect">
              <a:avLst/>
            </a:prstGeom>
            <a:noFill/>
            <a:ln>
              <a:noFill/>
            </a:ln>
          </p:spPr>
          <p:txBody>
            <a:bodyPr wrap="none" lIns="0" tIns="0" rIns="0" bIns="0" anchor="t" anchorCtr="0">
              <a:spAutoFit/>
            </a:bodyPr>
            <a:lstStyle/>
            <a:p>
              <a:pPr algn="l"/>
              <a:r>
                <a:rPr lang="en-US" sz="2250" b="1" dirty="0">
                  <a:solidFill>
                    <a:srgbClr val="FBF7EE"/>
                  </a:solidFill>
                  <a:latin typeface="Consolas"/>
                  <a:ea typeface="Consolas"/>
                  <a:cs typeface="Consolas"/>
                </a:rPr>
                <a:t>acceptance ≈ 0.754</a:t>
              </a:r>
            </a:p>
          </p:txBody>
        </p:sp>
        <p:sp>
          <p:nvSpPr>
            <p:cNvPr id="18" name="TextBox 18"/>
            <p:cNvSpPr txBox="1"/>
            <p:nvPr/>
          </p:nvSpPr>
          <p:spPr>
            <a:xfrm>
              <a:off x="8164449" y="4201954"/>
              <a:ext cx="2844907" cy="308039"/>
            </a:xfrm>
            <a:prstGeom prst="rect">
              <a:avLst/>
            </a:prstGeom>
            <a:noFill/>
            <a:ln>
              <a:noFill/>
            </a:ln>
          </p:spPr>
          <p:txBody>
            <a:bodyPr wrap="none" lIns="0" tIns="0" rIns="0" bIns="0" anchor="t" anchorCtr="0">
              <a:spAutoFit/>
            </a:bodyPr>
            <a:lstStyle/>
            <a:p>
              <a:pPr algn="l"/>
              <a:r>
                <a:rPr lang="en-US" sz="1580" dirty="0">
                  <a:solidFill>
                    <a:srgbClr val="FBF7EE"/>
                  </a:solidFill>
                  <a:latin typeface="+mn-lt"/>
                  <a:ea typeface="+mn-ea"/>
                  <a:cs typeface="+mn-cs"/>
                </a:rPr>
                <a:t>0 zero-acceptance failures</a:t>
              </a:r>
            </a:p>
          </p:txBody>
        </p:sp>
        <p:sp>
          <p:nvSpPr>
            <p:cNvPr id="19" name="TextBox 19"/>
            <p:cNvSpPr txBox="1"/>
            <p:nvPr/>
          </p:nvSpPr>
          <p:spPr>
            <a:xfrm>
              <a:off x="7936230" y="4838700"/>
              <a:ext cx="754532" cy="293370"/>
            </a:xfrm>
            <a:prstGeom prst="rect">
              <a:avLst/>
            </a:prstGeom>
            <a:noFill/>
            <a:ln>
              <a:noFill/>
            </a:ln>
          </p:spPr>
          <p:txBody>
            <a:bodyPr wrap="none" lIns="0" tIns="0" rIns="0" bIns="0" anchor="t" anchorCtr="0">
              <a:spAutoFit/>
            </a:bodyPr>
            <a:lstStyle/>
            <a:p>
              <a:pPr algn="l"/>
              <a:r>
                <a:rPr lang="en-US" sz="1500" b="1" dirty="0">
                  <a:solidFill>
                    <a:schemeClr val="accent2"/>
                  </a:solidFill>
                  <a:latin typeface="+mn-lt"/>
                  <a:ea typeface="+mn-ea"/>
                  <a:cs typeface="+mn-cs"/>
                </a:rPr>
                <a:t>CAVEAT</a:t>
              </a:r>
            </a:p>
          </p:txBody>
        </p:sp>
        <p:sp>
          <p:nvSpPr>
            <p:cNvPr id="20" name="TextBox 20"/>
            <p:cNvSpPr txBox="1"/>
            <p:nvPr/>
          </p:nvSpPr>
          <p:spPr>
            <a:xfrm>
              <a:off x="7936230" y="5143500"/>
              <a:ext cx="2263341"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Ideal-trained readout;</a:t>
              </a:r>
            </a:p>
          </p:txBody>
        </p:sp>
        <p:sp>
          <p:nvSpPr>
            <p:cNvPr id="21" name="TextBox 21"/>
            <p:cNvSpPr txBox="1"/>
            <p:nvPr/>
          </p:nvSpPr>
          <p:spPr>
            <a:xfrm>
              <a:off x="7936230" y="5400675"/>
              <a:ext cx="2579751"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not noise-aware training.</a:t>
              </a:r>
            </a:p>
          </p:txBody>
        </p:sp>
      </p:grpSp>
      <p:grpSp>
        <p:nvGrpSpPr>
          <p:cNvPr id="24" name="Group 24"/>
          <p:cNvGrpSpPr/>
          <p:nvPr/>
        </p:nvGrpSpPr>
        <p:grpSpPr>
          <a:xfrm>
            <a:off x="602742" y="6093142"/>
            <a:ext cx="5347697" cy="264033"/>
            <a:chOff x="602742" y="6093142"/>
            <a:chExt cx="5347697" cy="264033"/>
          </a:xfrm>
        </p:grpSpPr>
        <p:sp>
          <p:nvSpPr>
            <p:cNvPr id="23" name="TextBox 23"/>
            <p:cNvSpPr txBox="1"/>
            <p:nvPr/>
          </p:nvSpPr>
          <p:spPr>
            <a:xfrm>
              <a:off x="602742" y="6093142"/>
              <a:ext cx="5347697" cy="264033"/>
            </a:xfrm>
            <a:prstGeom prst="rect">
              <a:avLst/>
            </a:prstGeom>
            <a:noFill/>
            <a:ln>
              <a:noFill/>
            </a:ln>
          </p:spPr>
          <p:txBody>
            <a:bodyPr wrap="none" lIns="0" tIns="0" rIns="0" bIns="0" anchor="t" anchorCtr="0">
              <a:spAutoFit/>
            </a:bodyPr>
            <a:lstStyle/>
            <a:p>
              <a:pPr algn="l"/>
              <a:r>
                <a:rPr lang="en-US" sz="1350" dirty="0">
                  <a:solidFill>
                    <a:srgbClr val="766E62"/>
                  </a:solidFill>
                  <a:latin typeface="+mn-lt"/>
                  <a:ea typeface="+mn-ea"/>
                  <a:cs typeface="+mn-cs"/>
                </a:rPr>
                <a:t>45 sampled-inference evaluations · source: finite_shot.csv</a:t>
              </a:r>
            </a:p>
          </p:txBody>
        </p:sp>
      </p:grpSp>
      <p:grpSp>
        <p:nvGrpSpPr>
          <p:cNvPr id="26" name="Group 26"/>
          <p:cNvGrpSpPr/>
          <p:nvPr/>
        </p:nvGrpSpPr>
        <p:grpSpPr>
          <a:xfrm>
            <a:off x="10966723" y="6426518"/>
            <a:ext cx="622535" cy="264033"/>
            <a:chOff x="10966723" y="6426518"/>
            <a:chExt cx="622535" cy="264033"/>
          </a:xfrm>
        </p:grpSpPr>
        <p:sp>
          <p:nvSpPr>
            <p:cNvPr id="25" name="TextBox 25"/>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08 / 10</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4360" y="482918"/>
            <a:ext cx="10792383" cy="913447"/>
            <a:chOff x="594360" y="482918"/>
            <a:chExt cx="10792383" cy="913447"/>
          </a:xfrm>
        </p:grpSpPr>
        <p:sp>
          <p:nvSpPr>
            <p:cNvPr id="3" name="TextBox 3"/>
            <p:cNvSpPr txBox="1"/>
            <p:nvPr/>
          </p:nvSpPr>
          <p:spPr>
            <a:xfrm>
              <a:off x="602742" y="482918"/>
              <a:ext cx="3677321" cy="264033"/>
            </a:xfrm>
            <a:prstGeom prst="rect">
              <a:avLst/>
            </a:prstGeom>
            <a:noFill/>
            <a:ln>
              <a:noFill/>
            </a:ln>
          </p:spPr>
          <p:txBody>
            <a:bodyPr wrap="none" lIns="0" tIns="0" rIns="0" bIns="0" anchor="t" anchorCtr="0">
              <a:spAutoFit/>
            </a:bodyPr>
            <a:lstStyle/>
            <a:p>
              <a:pPr algn="l"/>
              <a:r>
                <a:rPr lang="en-US" sz="1350" b="1" spc="105" dirty="0">
                  <a:solidFill>
                    <a:schemeClr val="accent3"/>
                  </a:solidFill>
                  <a:latin typeface="+mn-lt"/>
                  <a:ea typeface="+mn-ea"/>
                  <a:cs typeface="+mn-cs"/>
                </a:rPr>
                <a:t>DECISION · FEASIBILITY AND LIMITS</a:t>
              </a:r>
            </a:p>
          </p:txBody>
        </p:sp>
        <p:sp>
          <p:nvSpPr>
            <p:cNvPr id="4" name="TextBox 4"/>
            <p:cNvSpPr txBox="1"/>
            <p:nvPr/>
          </p:nvSpPr>
          <p:spPr>
            <a:xfrm>
              <a:off x="594360" y="809625"/>
              <a:ext cx="10792383"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Scientific validity—not runtime—is the bottleneck</a:t>
              </a:r>
            </a:p>
          </p:txBody>
        </p:sp>
      </p:grpSp>
      <p:grpSp>
        <p:nvGrpSpPr>
          <p:cNvPr id="8" name="Group 8"/>
          <p:cNvGrpSpPr/>
          <p:nvPr/>
        </p:nvGrpSpPr>
        <p:grpSpPr>
          <a:xfrm>
            <a:off x="609600" y="1562100"/>
            <a:ext cx="5372100" cy="2933700"/>
            <a:chOff x="609600" y="1562100"/>
            <a:chExt cx="5372100" cy="2933700"/>
          </a:xfrm>
        </p:grpSpPr>
        <p:sp>
          <p:nvSpPr>
            <p:cNvPr id="6" name="Rectangle 6"/>
            <p:cNvSpPr/>
            <p:nvPr/>
          </p:nvSpPr>
          <p:spPr>
            <a:xfrm>
              <a:off x="609600" y="1562100"/>
              <a:ext cx="5372100" cy="2933700"/>
            </a:xfrm>
            <a:prstGeom prst="rect">
              <a:avLst/>
            </a:prstGeom>
            <a:solidFill>
              <a:srgbClr val="FFFFFF"/>
            </a:solidFill>
            <a:ln>
              <a:noFill/>
            </a:ln>
          </p:spPr>
        </p:sp>
        <p:pic>
          <p:nvPicPr>
            <p:cNvPr id="7" name="Image 7"/>
            <p:cNvPicPr>
              <a:picLocks noChangeAspect="1"/>
            </p:cNvPicPr>
            <p:nvPr/>
          </p:nvPicPr>
          <p:blipFill>
            <a:blip r:embed="rId2"/>
            <a:stretch>
              <a:fillRect/>
            </a:stretch>
          </p:blipFill>
          <p:spPr>
            <a:xfrm>
              <a:off x="908493" y="1714500"/>
              <a:ext cx="4774313" cy="2571750"/>
            </a:xfrm>
            <a:prstGeom prst="rect">
              <a:avLst/>
            </a:prstGeom>
          </p:spPr>
        </p:pic>
      </p:grpSp>
      <p:grpSp>
        <p:nvGrpSpPr>
          <p:cNvPr id="14" name="Group 14"/>
          <p:cNvGrpSpPr/>
          <p:nvPr/>
        </p:nvGrpSpPr>
        <p:grpSpPr>
          <a:xfrm>
            <a:off x="601599" y="4845368"/>
            <a:ext cx="4206709" cy="982694"/>
            <a:chOff x="601599" y="4845368"/>
            <a:chExt cx="4206709" cy="982694"/>
          </a:xfrm>
        </p:grpSpPr>
        <p:sp>
          <p:nvSpPr>
            <p:cNvPr id="9" name="TextBox 9"/>
            <p:cNvSpPr txBox="1"/>
            <p:nvPr/>
          </p:nvSpPr>
          <p:spPr>
            <a:xfrm>
              <a:off x="602742" y="4845368"/>
              <a:ext cx="1656961"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MEASURED ON CPU</a:t>
              </a:r>
            </a:p>
          </p:txBody>
        </p:sp>
        <p:sp>
          <p:nvSpPr>
            <p:cNvPr id="10" name="TextBox 10"/>
            <p:cNvSpPr txBox="1"/>
            <p:nvPr/>
          </p:nvSpPr>
          <p:spPr>
            <a:xfrm>
              <a:off x="601599" y="5192554"/>
              <a:ext cx="2154837" cy="308039"/>
            </a:xfrm>
            <a:prstGeom prst="rect">
              <a:avLst/>
            </a:prstGeom>
            <a:noFill/>
            <a:ln>
              <a:noFill/>
            </a:ln>
          </p:spPr>
          <p:txBody>
            <a:bodyPr wrap="none" lIns="0" tIns="0" rIns="0" bIns="0" anchor="t" anchorCtr="0">
              <a:spAutoFit/>
            </a:bodyPr>
            <a:lstStyle/>
            <a:p>
              <a:pPr algn="l"/>
              <a:r>
                <a:rPr lang="en-US" sz="1580" dirty="0">
                  <a:solidFill>
                    <a:schemeClr val="dk1"/>
                  </a:solidFill>
                  <a:latin typeface="+mn-lt"/>
                  <a:ea typeface="+mn-ea"/>
                  <a:cs typeface="+mn-cs"/>
                </a:rPr>
                <a:t>OpenCLIP extraction</a:t>
              </a:r>
            </a:p>
          </p:txBody>
        </p:sp>
        <p:sp>
          <p:nvSpPr>
            <p:cNvPr id="11" name="TextBox 11"/>
            <p:cNvSpPr txBox="1"/>
            <p:nvPr/>
          </p:nvSpPr>
          <p:spPr>
            <a:xfrm>
              <a:off x="3915537" y="5176361"/>
              <a:ext cx="892771" cy="337376"/>
            </a:xfrm>
            <a:prstGeom prst="rect">
              <a:avLst/>
            </a:prstGeom>
            <a:noFill/>
            <a:ln>
              <a:noFill/>
            </a:ln>
          </p:spPr>
          <p:txBody>
            <a:bodyPr wrap="none" lIns="0" tIns="0" rIns="0" bIns="0" anchor="t" anchorCtr="0">
              <a:spAutoFit/>
            </a:bodyPr>
            <a:lstStyle/>
            <a:p>
              <a:pPr algn="l"/>
              <a:r>
                <a:rPr lang="en-US" sz="1720" b="1" dirty="0">
                  <a:solidFill>
                    <a:schemeClr val="accent1"/>
                  </a:solidFill>
                  <a:latin typeface="Consolas"/>
                  <a:ea typeface="Consolas"/>
                  <a:cs typeface="Consolas"/>
                </a:rPr>
                <a:t>96.57 s</a:t>
              </a:r>
            </a:p>
          </p:txBody>
        </p:sp>
        <p:sp>
          <p:nvSpPr>
            <p:cNvPr id="12" name="TextBox 12"/>
            <p:cNvSpPr txBox="1"/>
            <p:nvPr/>
          </p:nvSpPr>
          <p:spPr>
            <a:xfrm>
              <a:off x="601599" y="5506879"/>
              <a:ext cx="2129178" cy="308039"/>
            </a:xfrm>
            <a:prstGeom prst="rect">
              <a:avLst/>
            </a:prstGeom>
            <a:noFill/>
            <a:ln>
              <a:noFill/>
            </a:ln>
          </p:spPr>
          <p:txBody>
            <a:bodyPr wrap="none" lIns="0" tIns="0" rIns="0" bIns="0" anchor="t" anchorCtr="0">
              <a:spAutoFit/>
            </a:bodyPr>
            <a:lstStyle/>
            <a:p>
              <a:pPr algn="l"/>
              <a:r>
                <a:rPr lang="en-US" sz="1580" dirty="0">
                  <a:solidFill>
                    <a:schemeClr val="dk1"/>
                  </a:solidFill>
                  <a:latin typeface="+mn-lt"/>
                  <a:ea typeface="+mn-ea"/>
                  <a:cs typeface="+mn-cs"/>
                </a:rPr>
                <a:t>R1 after embeddings</a:t>
              </a:r>
            </a:p>
          </p:txBody>
        </p:sp>
        <p:sp>
          <p:nvSpPr>
            <p:cNvPr id="13" name="TextBox 13"/>
            <p:cNvSpPr txBox="1"/>
            <p:nvPr/>
          </p:nvSpPr>
          <p:spPr>
            <a:xfrm>
              <a:off x="3915537" y="5490686"/>
              <a:ext cx="892771" cy="337376"/>
            </a:xfrm>
            <a:prstGeom prst="rect">
              <a:avLst/>
            </a:prstGeom>
            <a:noFill/>
            <a:ln>
              <a:noFill/>
            </a:ln>
          </p:spPr>
          <p:txBody>
            <a:bodyPr wrap="none" lIns="0" tIns="0" rIns="0" bIns="0" anchor="t" anchorCtr="0">
              <a:spAutoFit/>
            </a:bodyPr>
            <a:lstStyle/>
            <a:p>
              <a:pPr algn="l"/>
              <a:r>
                <a:rPr lang="en-US" sz="1720" b="1" dirty="0">
                  <a:solidFill>
                    <a:schemeClr val="accent1"/>
                  </a:solidFill>
                  <a:latin typeface="Consolas"/>
                  <a:ea typeface="Consolas"/>
                  <a:cs typeface="Consolas"/>
                </a:rPr>
                <a:t>≈59.9 s</a:t>
              </a:r>
            </a:p>
          </p:txBody>
        </p:sp>
      </p:grpSp>
      <p:grpSp>
        <p:nvGrpSpPr>
          <p:cNvPr id="27" name="Group 27"/>
          <p:cNvGrpSpPr/>
          <p:nvPr/>
        </p:nvGrpSpPr>
        <p:grpSpPr>
          <a:xfrm>
            <a:off x="6374130" y="1692592"/>
            <a:ext cx="5380153" cy="4191953"/>
            <a:chOff x="6374130" y="1692592"/>
            <a:chExt cx="5380153" cy="4191953"/>
          </a:xfrm>
        </p:grpSpPr>
        <p:sp>
          <p:nvSpPr>
            <p:cNvPr id="15" name="TextBox 15"/>
            <p:cNvSpPr txBox="1"/>
            <p:nvPr/>
          </p:nvSpPr>
          <p:spPr>
            <a:xfrm>
              <a:off x="6374892" y="1692592"/>
              <a:ext cx="1576311"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EVIDENCE LADDER</a:t>
              </a:r>
            </a:p>
          </p:txBody>
        </p:sp>
        <p:sp>
          <p:nvSpPr>
            <p:cNvPr id="16" name="Rectangle 16"/>
            <p:cNvSpPr/>
            <p:nvPr/>
          </p:nvSpPr>
          <p:spPr>
            <a:xfrm>
              <a:off x="6381750" y="2095500"/>
              <a:ext cx="5200650" cy="552450"/>
            </a:xfrm>
            <a:prstGeom prst="rect">
              <a:avLst/>
            </a:prstGeom>
            <a:solidFill>
              <a:schemeClr val="accent3"/>
            </a:solidFill>
            <a:ln>
              <a:noFill/>
            </a:ln>
          </p:spPr>
        </p:sp>
        <p:sp>
          <p:nvSpPr>
            <p:cNvPr id="17" name="TextBox 17"/>
            <p:cNvSpPr txBox="1"/>
            <p:nvPr/>
          </p:nvSpPr>
          <p:spPr>
            <a:xfrm>
              <a:off x="6602349" y="2268379"/>
              <a:ext cx="3663987" cy="308039"/>
            </a:xfrm>
            <a:prstGeom prst="rect">
              <a:avLst/>
            </a:prstGeom>
            <a:noFill/>
            <a:ln>
              <a:noFill/>
            </a:ln>
          </p:spPr>
          <p:txBody>
            <a:bodyPr wrap="none" lIns="0" tIns="0" rIns="0" bIns="0" anchor="t" anchorCtr="0">
              <a:spAutoFit/>
            </a:bodyPr>
            <a:lstStyle/>
            <a:p>
              <a:pPr algn="l"/>
              <a:r>
                <a:rPr lang="en-US" sz="1580" b="1" dirty="0">
                  <a:solidFill>
                    <a:srgbClr val="FBF7EE"/>
                  </a:solidFill>
                  <a:latin typeface="+mn-lt"/>
                  <a:ea typeface="+mn-ea"/>
                  <a:cs typeface="+mn-cs"/>
                </a:rPr>
                <a:t>1 · Simulator semantics validated</a:t>
              </a:r>
            </a:p>
          </p:txBody>
        </p:sp>
        <p:sp>
          <p:nvSpPr>
            <p:cNvPr id="18" name="Rectangle 18"/>
            <p:cNvSpPr/>
            <p:nvPr/>
          </p:nvSpPr>
          <p:spPr>
            <a:xfrm>
              <a:off x="6705600" y="2771775"/>
              <a:ext cx="4876800" cy="552450"/>
            </a:xfrm>
            <a:prstGeom prst="rect">
              <a:avLst/>
            </a:prstGeom>
            <a:solidFill>
              <a:srgbClr val="7BA39A"/>
            </a:solidFill>
            <a:ln>
              <a:noFill/>
            </a:ln>
          </p:spPr>
        </p:sp>
        <p:sp>
          <p:nvSpPr>
            <p:cNvPr id="19" name="TextBox 19"/>
            <p:cNvSpPr txBox="1"/>
            <p:nvPr/>
          </p:nvSpPr>
          <p:spPr>
            <a:xfrm>
              <a:off x="6926199" y="2944654"/>
              <a:ext cx="3496718" cy="308039"/>
            </a:xfrm>
            <a:prstGeom prst="rect">
              <a:avLst/>
            </a:prstGeom>
            <a:noFill/>
            <a:ln>
              <a:noFill/>
            </a:ln>
          </p:spPr>
          <p:txBody>
            <a:bodyPr wrap="none" lIns="0" tIns="0" rIns="0" bIns="0" anchor="t" anchorCtr="0">
              <a:spAutoFit/>
            </a:bodyPr>
            <a:lstStyle/>
            <a:p>
              <a:pPr algn="l"/>
              <a:r>
                <a:rPr lang="en-US" sz="1580" b="1" dirty="0">
                  <a:solidFill>
                    <a:srgbClr val="FBF7EE"/>
                  </a:solidFill>
                  <a:latin typeface="+mn-lt"/>
                  <a:ea typeface="+mn-ea"/>
                  <a:cs typeface="+mn-cs"/>
                </a:rPr>
                <a:t>2 · Repeated subset evaluations</a:t>
              </a:r>
            </a:p>
          </p:txBody>
        </p:sp>
        <p:sp>
          <p:nvSpPr>
            <p:cNvPr id="20" name="Rectangle 20"/>
            <p:cNvSpPr/>
            <p:nvPr/>
          </p:nvSpPr>
          <p:spPr>
            <a:xfrm>
              <a:off x="7029450" y="3448050"/>
              <a:ext cx="4552950" cy="552450"/>
            </a:xfrm>
            <a:prstGeom prst="rect">
              <a:avLst/>
            </a:prstGeom>
            <a:solidFill>
              <a:srgbClr val="D6C9B2"/>
            </a:solidFill>
            <a:ln>
              <a:noFill/>
            </a:ln>
          </p:spPr>
        </p:sp>
        <p:sp>
          <p:nvSpPr>
            <p:cNvPr id="21" name="TextBox 21"/>
            <p:cNvSpPr txBox="1"/>
            <p:nvPr/>
          </p:nvSpPr>
          <p:spPr>
            <a:xfrm>
              <a:off x="7250049" y="3620929"/>
              <a:ext cx="3086414" cy="308039"/>
            </a:xfrm>
            <a:prstGeom prst="rect">
              <a:avLst/>
            </a:prstGeom>
            <a:noFill/>
            <a:ln>
              <a:noFill/>
            </a:ln>
          </p:spPr>
          <p:txBody>
            <a:bodyPr wrap="none" lIns="0" tIns="0" rIns="0" bIns="0" anchor="t" anchorCtr="0">
              <a:spAutoFit/>
            </a:bodyPr>
            <a:lstStyle/>
            <a:p>
              <a:pPr algn="l"/>
              <a:r>
                <a:rPr lang="en-US" sz="1580" dirty="0">
                  <a:solidFill>
                    <a:schemeClr val="dk1"/>
                  </a:solidFill>
                  <a:latin typeface="+mn-lt"/>
                  <a:ea typeface="+mn-ea"/>
                  <a:cs typeface="+mn-cs"/>
                </a:rPr>
                <a:t>3 · Outer-fold generalization</a:t>
              </a:r>
            </a:p>
          </p:txBody>
        </p:sp>
        <p:sp>
          <p:nvSpPr>
            <p:cNvPr id="22" name="Rectangle 22"/>
            <p:cNvSpPr/>
            <p:nvPr/>
          </p:nvSpPr>
          <p:spPr>
            <a:xfrm>
              <a:off x="7353300" y="4124325"/>
              <a:ext cx="4229100" cy="552450"/>
            </a:xfrm>
            <a:prstGeom prst="rect">
              <a:avLst/>
            </a:prstGeom>
            <a:solidFill>
              <a:srgbClr val="E8C2B4"/>
            </a:solidFill>
            <a:ln>
              <a:noFill/>
            </a:ln>
          </p:spPr>
        </p:sp>
        <p:sp>
          <p:nvSpPr>
            <p:cNvPr id="23" name="TextBox 23"/>
            <p:cNvSpPr txBox="1"/>
            <p:nvPr/>
          </p:nvSpPr>
          <p:spPr>
            <a:xfrm>
              <a:off x="7573899" y="4297204"/>
              <a:ext cx="2820198" cy="308039"/>
            </a:xfrm>
            <a:prstGeom prst="rect">
              <a:avLst/>
            </a:prstGeom>
            <a:noFill/>
            <a:ln>
              <a:noFill/>
            </a:ln>
          </p:spPr>
          <p:txBody>
            <a:bodyPr wrap="none" lIns="0" tIns="0" rIns="0" bIns="0" anchor="t" anchorCtr="0">
              <a:spAutoFit/>
            </a:bodyPr>
            <a:lstStyle/>
            <a:p>
              <a:pPr algn="l"/>
              <a:r>
                <a:rPr lang="en-US" sz="1580" dirty="0">
                  <a:solidFill>
                    <a:schemeClr val="dk1"/>
                  </a:solidFill>
                  <a:latin typeface="+mn-lt"/>
                  <a:ea typeface="+mn-ea"/>
                  <a:cs typeface="+mn-cs"/>
                </a:rPr>
                <a:t>4 · Realistic photonic noise</a:t>
              </a:r>
            </a:p>
          </p:txBody>
        </p:sp>
        <p:sp>
          <p:nvSpPr>
            <p:cNvPr id="24" name="Rectangle 24"/>
            <p:cNvSpPr/>
            <p:nvPr/>
          </p:nvSpPr>
          <p:spPr>
            <a:xfrm>
              <a:off x="7677150" y="4800600"/>
              <a:ext cx="3905250" cy="552450"/>
            </a:xfrm>
            <a:prstGeom prst="rect">
              <a:avLst/>
            </a:prstGeom>
            <a:solidFill>
              <a:schemeClr val="accent2"/>
            </a:solidFill>
            <a:ln>
              <a:noFill/>
            </a:ln>
          </p:spPr>
        </p:sp>
        <p:sp>
          <p:nvSpPr>
            <p:cNvPr id="25" name="TextBox 25"/>
            <p:cNvSpPr txBox="1"/>
            <p:nvPr/>
          </p:nvSpPr>
          <p:spPr>
            <a:xfrm>
              <a:off x="7897749" y="4973479"/>
              <a:ext cx="2548086" cy="308039"/>
            </a:xfrm>
            <a:prstGeom prst="rect">
              <a:avLst/>
            </a:prstGeom>
            <a:noFill/>
            <a:ln>
              <a:noFill/>
            </a:ln>
          </p:spPr>
          <p:txBody>
            <a:bodyPr wrap="none" lIns="0" tIns="0" rIns="0" bIns="0" anchor="t" anchorCtr="0">
              <a:spAutoFit/>
            </a:bodyPr>
            <a:lstStyle/>
            <a:p>
              <a:pPr algn="l"/>
              <a:r>
                <a:rPr lang="en-US" sz="1580" b="1" dirty="0">
                  <a:solidFill>
                    <a:srgbClr val="FBF7EE"/>
                  </a:solidFill>
                  <a:latin typeface="+mn-lt"/>
                  <a:ea typeface="+mn-ea"/>
                  <a:cs typeface="+mn-cs"/>
                </a:rPr>
                <a:t>5 · Hardware execution</a:t>
              </a:r>
            </a:p>
          </p:txBody>
        </p:sp>
        <p:sp>
          <p:nvSpPr>
            <p:cNvPr id="26" name="TextBox 26"/>
            <p:cNvSpPr txBox="1"/>
            <p:nvPr/>
          </p:nvSpPr>
          <p:spPr>
            <a:xfrm>
              <a:off x="6374130" y="5591175"/>
              <a:ext cx="5380153"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One outer fold · small validation cells · B1 near ceiling</a:t>
              </a:r>
            </a:p>
          </p:txBody>
        </p:sp>
      </p:grpSp>
      <p:grpSp>
        <p:nvGrpSpPr>
          <p:cNvPr id="29" name="Group 29"/>
          <p:cNvGrpSpPr/>
          <p:nvPr/>
        </p:nvGrpSpPr>
        <p:grpSpPr>
          <a:xfrm>
            <a:off x="602742" y="6093142"/>
            <a:ext cx="6837272" cy="264033"/>
            <a:chOff x="602742" y="6093142"/>
            <a:chExt cx="6837272" cy="264033"/>
          </a:xfrm>
        </p:grpSpPr>
        <p:sp>
          <p:nvSpPr>
            <p:cNvPr id="28" name="TextBox 28"/>
            <p:cNvSpPr txBox="1"/>
            <p:nvPr/>
          </p:nvSpPr>
          <p:spPr>
            <a:xfrm>
              <a:off x="602742" y="6093142"/>
              <a:ext cx="6837272" cy="264033"/>
            </a:xfrm>
            <a:prstGeom prst="rect">
              <a:avLst/>
            </a:prstGeom>
            <a:noFill/>
            <a:ln>
              <a:noFill/>
            </a:ln>
          </p:spPr>
          <p:txBody>
            <a:bodyPr wrap="none" lIns="0" tIns="0" rIns="0" bIns="0" anchor="t" anchorCtr="0">
              <a:spAutoFit/>
            </a:bodyPr>
            <a:lstStyle/>
            <a:p>
              <a:pPr algn="l"/>
              <a:r>
                <a:rPr lang="en-US" sz="1350" dirty="0">
                  <a:solidFill>
                    <a:srgbClr val="766E62"/>
                  </a:solidFill>
                  <a:latin typeface="+mn-lt"/>
                  <a:ea typeface="+mn-ea"/>
                  <a:cs typeface="+mn-cs"/>
                </a:rPr>
                <a:t>Local CPU profiling only · no loss, phase drift, detector noise, or QPU queue</a:t>
              </a:r>
            </a:p>
          </p:txBody>
        </p:sp>
      </p:grpSp>
      <p:grpSp>
        <p:nvGrpSpPr>
          <p:cNvPr id="31" name="Group 31"/>
          <p:cNvGrpSpPr/>
          <p:nvPr/>
        </p:nvGrpSpPr>
        <p:grpSpPr>
          <a:xfrm>
            <a:off x="10966723" y="6426518"/>
            <a:ext cx="622535" cy="264033"/>
            <a:chOff x="10966723" y="6426518"/>
            <a:chExt cx="622535" cy="264033"/>
          </a:xfrm>
        </p:grpSpPr>
        <p:sp>
          <p:nvSpPr>
            <p:cNvPr id="30" name="TextBox 30"/>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09 / 10</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5122" y="521018"/>
            <a:ext cx="11976950" cy="919353"/>
            <a:chOff x="595122" y="521018"/>
            <a:chExt cx="11976950" cy="919353"/>
          </a:xfrm>
        </p:grpSpPr>
        <p:sp>
          <p:nvSpPr>
            <p:cNvPr id="3" name="TextBox 3"/>
            <p:cNvSpPr txBox="1"/>
            <p:nvPr/>
          </p:nvSpPr>
          <p:spPr>
            <a:xfrm>
              <a:off x="602742" y="521018"/>
              <a:ext cx="4487929" cy="264033"/>
            </a:xfrm>
            <a:prstGeom prst="rect">
              <a:avLst/>
            </a:prstGeom>
            <a:noFill/>
            <a:ln>
              <a:noFill/>
            </a:ln>
          </p:spPr>
          <p:txBody>
            <a:bodyPr wrap="none" lIns="0" tIns="0" rIns="0" bIns="0" anchor="t" anchorCtr="0">
              <a:spAutoFit/>
            </a:bodyPr>
            <a:lstStyle/>
            <a:p>
              <a:pPr algn="l"/>
              <a:r>
                <a:rPr lang="en-US" sz="1350" b="1" spc="105" dirty="0">
                  <a:solidFill>
                    <a:schemeClr val="accent3"/>
                  </a:solidFill>
                  <a:latin typeface="+mn-lt"/>
                  <a:ea typeface="+mn-ea"/>
                  <a:cs typeface="+mn-cs"/>
                </a:rPr>
                <a:t>NEXT EXPERIMENT · CONDITIONAL DECISION</a:t>
              </a:r>
            </a:p>
          </p:txBody>
        </p:sp>
        <p:sp>
          <p:nvSpPr>
            <p:cNvPr id="4" name="TextBox 4"/>
            <p:cNvSpPr txBox="1"/>
            <p:nvPr/>
          </p:nvSpPr>
          <p:spPr>
            <a:xfrm>
              <a:off x="595122" y="882968"/>
              <a:ext cx="11976950" cy="557403"/>
            </a:xfrm>
            <a:prstGeom prst="rect">
              <a:avLst/>
            </a:prstGeom>
            <a:noFill/>
            <a:ln>
              <a:noFill/>
            </a:ln>
          </p:spPr>
          <p:txBody>
            <a:bodyPr wrap="none" lIns="0" tIns="0" rIns="0" bIns="0" anchor="t" anchorCtr="0">
              <a:spAutoFit/>
            </a:bodyPr>
            <a:lstStyle/>
            <a:p>
              <a:pPr algn="l"/>
              <a:r>
                <a:rPr lang="en-US" sz="2850" b="1" dirty="0">
                  <a:solidFill>
                    <a:schemeClr val="accent1"/>
                  </a:solidFill>
                  <a:latin typeface="+mj-lt"/>
                  <a:ea typeface="+mj-ea"/>
                  <a:cs typeface="+mj-cs"/>
                </a:rPr>
                <a:t>Continue only if a falsifiable gate can change the decision</a:t>
              </a:r>
            </a:p>
          </p:txBody>
        </p:sp>
      </p:grpSp>
      <p:grpSp>
        <p:nvGrpSpPr>
          <p:cNvPr id="27" name="Group 27"/>
          <p:cNvGrpSpPr/>
          <p:nvPr/>
        </p:nvGrpSpPr>
        <p:grpSpPr>
          <a:xfrm>
            <a:off x="581435" y="2247900"/>
            <a:ext cx="11008519" cy="1270825"/>
            <a:chOff x="581435" y="2247900"/>
            <a:chExt cx="11008519" cy="1270825"/>
          </a:xfrm>
        </p:grpSpPr>
        <p:sp>
          <p:nvSpPr>
            <p:cNvPr id="6" name="Line 6"/>
            <p:cNvSpPr/>
            <p:nvPr/>
          </p:nvSpPr>
          <p:spPr>
            <a:xfrm>
              <a:off x="1095375" y="2571750"/>
              <a:ext cx="9810750" cy="9525"/>
            </a:xfrm>
            <a:custGeom>
              <a:avLst/>
              <a:gdLst/>
              <a:ahLst/>
              <a:cxnLst/>
              <a:rect l="l" t="t" r="r" b="b"/>
              <a:pathLst>
                <a:path w="9810750" h="9525">
                  <a:moveTo>
                    <a:pt x="0" y="0"/>
                  </a:moveTo>
                  <a:lnTo>
                    <a:pt x="9810750" y="0"/>
                  </a:lnTo>
                </a:path>
              </a:pathLst>
            </a:custGeom>
            <a:noFill/>
            <a:ln w="57150">
              <a:solidFill>
                <a:srgbClr val="C9BDA8"/>
              </a:solidFill>
            </a:ln>
          </p:spPr>
        </p:sp>
        <p:sp>
          <p:nvSpPr>
            <p:cNvPr id="7" name="Ellipse 7"/>
            <p:cNvSpPr/>
            <p:nvPr/>
          </p:nvSpPr>
          <p:spPr>
            <a:xfrm>
              <a:off x="771525" y="2247900"/>
              <a:ext cx="647700" cy="647700"/>
            </a:xfrm>
            <a:prstGeom prst="ellipse">
              <a:avLst/>
            </a:prstGeom>
            <a:solidFill>
              <a:schemeClr val="accent3"/>
            </a:solidFill>
            <a:ln>
              <a:noFill/>
            </a:ln>
          </p:spPr>
        </p:sp>
        <p:sp>
          <p:nvSpPr>
            <p:cNvPr id="8" name="TextBox 8"/>
            <p:cNvSpPr txBox="1"/>
            <p:nvPr/>
          </p:nvSpPr>
          <p:spPr>
            <a:xfrm>
              <a:off x="903123" y="2477929"/>
              <a:ext cx="384504" cy="308039"/>
            </a:xfrm>
            <a:prstGeom prst="rect">
              <a:avLst/>
            </a:prstGeom>
            <a:noFill/>
            <a:ln>
              <a:noFill/>
            </a:ln>
          </p:spPr>
          <p:txBody>
            <a:bodyPr wrap="none" lIns="0" tIns="0" rIns="0" bIns="0" anchor="t" anchorCtr="0">
              <a:spAutoFit/>
            </a:bodyPr>
            <a:lstStyle/>
            <a:p>
              <a:pPr algn="ctr"/>
              <a:r>
                <a:rPr lang="en-US" sz="1580" b="1" dirty="0">
                  <a:solidFill>
                    <a:srgbClr val="FBF7EE"/>
                  </a:solidFill>
                  <a:latin typeface="Consolas"/>
                  <a:ea typeface="Consolas"/>
                  <a:cs typeface="Consolas"/>
                </a:rPr>
                <a:t>1–2</a:t>
              </a:r>
            </a:p>
          </p:txBody>
        </p:sp>
        <p:sp>
          <p:nvSpPr>
            <p:cNvPr id="9" name="TextBox 9"/>
            <p:cNvSpPr txBox="1"/>
            <p:nvPr/>
          </p:nvSpPr>
          <p:spPr>
            <a:xfrm>
              <a:off x="581435" y="2981325"/>
              <a:ext cx="1027881" cy="293370"/>
            </a:xfrm>
            <a:prstGeom prst="rect">
              <a:avLst/>
            </a:prstGeom>
            <a:noFill/>
            <a:ln>
              <a:noFill/>
            </a:ln>
          </p:spPr>
          <p:txBody>
            <a:bodyPr wrap="none" lIns="0" tIns="0" rIns="0" bIns="0" anchor="t" anchorCtr="0">
              <a:spAutoFit/>
            </a:bodyPr>
            <a:lstStyle/>
            <a:p>
              <a:pPr algn="ctr"/>
              <a:r>
                <a:rPr lang="en-US" sz="1500" b="1" dirty="0">
                  <a:solidFill>
                    <a:schemeClr val="accent1"/>
                  </a:solidFill>
                  <a:latin typeface="+mn-lt"/>
                  <a:ea typeface="+mn-ea"/>
                  <a:cs typeface="+mn-cs"/>
                </a:rPr>
                <a:t>Frozen R4</a:t>
              </a:r>
            </a:p>
          </p:txBody>
        </p:sp>
        <p:sp>
          <p:nvSpPr>
            <p:cNvPr id="10" name="TextBox 10"/>
            <p:cNvSpPr txBox="1"/>
            <p:nvPr/>
          </p:nvSpPr>
          <p:spPr>
            <a:xfrm>
              <a:off x="656892" y="3254692"/>
              <a:ext cx="876967"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mn-lt"/>
                  <a:ea typeface="+mn-ea"/>
                  <a:cs typeface="+mn-cs"/>
                </a:rPr>
                <a:t>five folds</a:t>
              </a:r>
            </a:p>
          </p:txBody>
        </p:sp>
        <p:sp>
          <p:nvSpPr>
            <p:cNvPr id="11" name="Ellipse 11"/>
            <p:cNvSpPr/>
            <p:nvPr/>
          </p:nvSpPr>
          <p:spPr>
            <a:xfrm>
              <a:off x="3105150" y="2247900"/>
              <a:ext cx="647700" cy="647700"/>
            </a:xfrm>
            <a:prstGeom prst="ellipse">
              <a:avLst/>
            </a:prstGeom>
            <a:solidFill>
              <a:schemeClr val="accent3"/>
            </a:solidFill>
            <a:ln>
              <a:noFill/>
            </a:ln>
          </p:spPr>
        </p:sp>
        <p:sp>
          <p:nvSpPr>
            <p:cNvPr id="12" name="TextBox 12"/>
            <p:cNvSpPr txBox="1"/>
            <p:nvPr/>
          </p:nvSpPr>
          <p:spPr>
            <a:xfrm>
              <a:off x="3236748" y="2477929"/>
              <a:ext cx="384504" cy="308039"/>
            </a:xfrm>
            <a:prstGeom prst="rect">
              <a:avLst/>
            </a:prstGeom>
            <a:noFill/>
            <a:ln>
              <a:noFill/>
            </a:ln>
          </p:spPr>
          <p:txBody>
            <a:bodyPr wrap="none" lIns="0" tIns="0" rIns="0" bIns="0" anchor="t" anchorCtr="0">
              <a:spAutoFit/>
            </a:bodyPr>
            <a:lstStyle/>
            <a:p>
              <a:pPr algn="ctr"/>
              <a:r>
                <a:rPr lang="en-US" sz="1580" b="1" dirty="0">
                  <a:solidFill>
                    <a:srgbClr val="FBF7EE"/>
                  </a:solidFill>
                  <a:latin typeface="Consolas"/>
                  <a:ea typeface="Consolas"/>
                  <a:cs typeface="Consolas"/>
                </a:rPr>
                <a:t>3–4</a:t>
              </a:r>
            </a:p>
          </p:txBody>
        </p:sp>
        <p:sp>
          <p:nvSpPr>
            <p:cNvPr id="13" name="TextBox 13"/>
            <p:cNvSpPr txBox="1"/>
            <p:nvPr/>
          </p:nvSpPr>
          <p:spPr>
            <a:xfrm>
              <a:off x="2758327" y="2981325"/>
              <a:ext cx="1341346" cy="293370"/>
            </a:xfrm>
            <a:prstGeom prst="rect">
              <a:avLst/>
            </a:prstGeom>
            <a:noFill/>
            <a:ln>
              <a:noFill/>
            </a:ln>
          </p:spPr>
          <p:txBody>
            <a:bodyPr wrap="none" lIns="0" tIns="0" rIns="0" bIns="0" anchor="t" anchorCtr="0">
              <a:spAutoFit/>
            </a:bodyPr>
            <a:lstStyle/>
            <a:p>
              <a:pPr algn="ctr"/>
              <a:r>
                <a:rPr lang="en-US" sz="1500" b="1" dirty="0">
                  <a:solidFill>
                    <a:schemeClr val="accent1"/>
                  </a:solidFill>
                  <a:latin typeface="+mn-lt"/>
                  <a:ea typeface="+mn-ea"/>
                  <a:cs typeface="+mn-cs"/>
                </a:rPr>
                <a:t>PCA + circuit</a:t>
              </a:r>
            </a:p>
          </p:txBody>
        </p:sp>
        <p:sp>
          <p:nvSpPr>
            <p:cNvPr id="14" name="TextBox 14"/>
            <p:cNvSpPr txBox="1"/>
            <p:nvPr/>
          </p:nvSpPr>
          <p:spPr>
            <a:xfrm>
              <a:off x="2463479" y="3254692"/>
              <a:ext cx="1931041"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mn-lt"/>
                  <a:ea typeface="+mn-ea"/>
                  <a:cs typeface="+mn-cs"/>
                </a:rPr>
                <a:t>preregister ablations</a:t>
              </a:r>
            </a:p>
          </p:txBody>
        </p:sp>
        <p:sp>
          <p:nvSpPr>
            <p:cNvPr id="15" name="Ellipse 15"/>
            <p:cNvSpPr/>
            <p:nvPr/>
          </p:nvSpPr>
          <p:spPr>
            <a:xfrm>
              <a:off x="5581650" y="2247900"/>
              <a:ext cx="647700" cy="647700"/>
            </a:xfrm>
            <a:prstGeom prst="ellipse">
              <a:avLst/>
            </a:prstGeom>
            <a:solidFill>
              <a:schemeClr val="accent3"/>
            </a:solidFill>
            <a:ln>
              <a:noFill/>
            </a:ln>
          </p:spPr>
        </p:sp>
        <p:sp>
          <p:nvSpPr>
            <p:cNvPr id="16" name="TextBox 16"/>
            <p:cNvSpPr txBox="1"/>
            <p:nvPr/>
          </p:nvSpPr>
          <p:spPr>
            <a:xfrm>
              <a:off x="5713248" y="2477929"/>
              <a:ext cx="384504" cy="308039"/>
            </a:xfrm>
            <a:prstGeom prst="rect">
              <a:avLst/>
            </a:prstGeom>
            <a:noFill/>
            <a:ln>
              <a:noFill/>
            </a:ln>
          </p:spPr>
          <p:txBody>
            <a:bodyPr wrap="none" lIns="0" tIns="0" rIns="0" bIns="0" anchor="t" anchorCtr="0">
              <a:spAutoFit/>
            </a:bodyPr>
            <a:lstStyle/>
            <a:p>
              <a:pPr algn="ctr"/>
              <a:r>
                <a:rPr lang="en-US" sz="1580" b="1" dirty="0">
                  <a:solidFill>
                    <a:srgbClr val="FBF7EE"/>
                  </a:solidFill>
                  <a:latin typeface="Consolas"/>
                  <a:ea typeface="Consolas"/>
                  <a:cs typeface="Consolas"/>
                </a:rPr>
                <a:t>5–6</a:t>
              </a:r>
            </a:p>
          </p:txBody>
        </p:sp>
        <p:sp>
          <p:nvSpPr>
            <p:cNvPr id="17" name="TextBox 17"/>
            <p:cNvSpPr txBox="1"/>
            <p:nvPr/>
          </p:nvSpPr>
          <p:spPr>
            <a:xfrm>
              <a:off x="5311507" y="2981325"/>
              <a:ext cx="1187987" cy="293370"/>
            </a:xfrm>
            <a:prstGeom prst="rect">
              <a:avLst/>
            </a:prstGeom>
            <a:noFill/>
            <a:ln>
              <a:noFill/>
            </a:ln>
          </p:spPr>
          <p:txBody>
            <a:bodyPr wrap="none" lIns="0" tIns="0" rIns="0" bIns="0" anchor="t" anchorCtr="0">
              <a:spAutoFit/>
            </a:bodyPr>
            <a:lstStyle/>
            <a:p>
              <a:pPr algn="ctr"/>
              <a:r>
                <a:rPr lang="en-US" sz="1500" b="1" dirty="0">
                  <a:solidFill>
                    <a:schemeClr val="accent1"/>
                  </a:solidFill>
                  <a:latin typeface="+mn-lt"/>
                  <a:ea typeface="+mn-ea"/>
                  <a:cs typeface="+mn-cs"/>
                </a:rPr>
                <a:t>Noise model</a:t>
              </a:r>
            </a:p>
          </p:txBody>
        </p:sp>
        <p:sp>
          <p:nvSpPr>
            <p:cNvPr id="18" name="TextBox 18"/>
            <p:cNvSpPr txBox="1"/>
            <p:nvPr/>
          </p:nvSpPr>
          <p:spPr>
            <a:xfrm>
              <a:off x="4835481" y="3254692"/>
              <a:ext cx="2140039"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mn-lt"/>
                  <a:ea typeface="+mn-ea"/>
                  <a:cs typeface="+mn-cs"/>
                </a:rPr>
                <a:t>loss · drift · detectors</a:t>
              </a:r>
            </a:p>
          </p:txBody>
        </p:sp>
        <p:sp>
          <p:nvSpPr>
            <p:cNvPr id="19" name="Ellipse 19"/>
            <p:cNvSpPr/>
            <p:nvPr/>
          </p:nvSpPr>
          <p:spPr>
            <a:xfrm>
              <a:off x="8058150" y="2247900"/>
              <a:ext cx="647700" cy="647700"/>
            </a:xfrm>
            <a:prstGeom prst="ellipse">
              <a:avLst/>
            </a:prstGeom>
            <a:solidFill>
              <a:schemeClr val="accent3"/>
            </a:solidFill>
            <a:ln>
              <a:noFill/>
            </a:ln>
          </p:spPr>
        </p:sp>
        <p:sp>
          <p:nvSpPr>
            <p:cNvPr id="20" name="TextBox 20"/>
            <p:cNvSpPr txBox="1"/>
            <p:nvPr/>
          </p:nvSpPr>
          <p:spPr>
            <a:xfrm>
              <a:off x="8189748" y="2477929"/>
              <a:ext cx="384504" cy="308039"/>
            </a:xfrm>
            <a:prstGeom prst="rect">
              <a:avLst/>
            </a:prstGeom>
            <a:noFill/>
            <a:ln>
              <a:noFill/>
            </a:ln>
          </p:spPr>
          <p:txBody>
            <a:bodyPr wrap="none" lIns="0" tIns="0" rIns="0" bIns="0" anchor="t" anchorCtr="0">
              <a:spAutoFit/>
            </a:bodyPr>
            <a:lstStyle/>
            <a:p>
              <a:pPr algn="ctr"/>
              <a:r>
                <a:rPr lang="en-US" sz="1580" b="1" dirty="0">
                  <a:solidFill>
                    <a:srgbClr val="FBF7EE"/>
                  </a:solidFill>
                  <a:latin typeface="Consolas"/>
                  <a:ea typeface="Consolas"/>
                  <a:cs typeface="Consolas"/>
                </a:rPr>
                <a:t>7–8</a:t>
              </a:r>
            </a:p>
          </p:txBody>
        </p:sp>
        <p:sp>
          <p:nvSpPr>
            <p:cNvPr id="21" name="TextBox 21"/>
            <p:cNvSpPr txBox="1"/>
            <p:nvPr/>
          </p:nvSpPr>
          <p:spPr>
            <a:xfrm>
              <a:off x="7618135" y="2981325"/>
              <a:ext cx="1527729" cy="293370"/>
            </a:xfrm>
            <a:prstGeom prst="rect">
              <a:avLst/>
            </a:prstGeom>
            <a:noFill/>
            <a:ln>
              <a:noFill/>
            </a:ln>
          </p:spPr>
          <p:txBody>
            <a:bodyPr wrap="none" lIns="0" tIns="0" rIns="0" bIns="0" anchor="t" anchorCtr="0">
              <a:spAutoFit/>
            </a:bodyPr>
            <a:lstStyle/>
            <a:p>
              <a:pPr algn="ctr"/>
              <a:r>
                <a:rPr lang="en-US" sz="1500" b="1" dirty="0">
                  <a:solidFill>
                    <a:schemeClr val="accent1"/>
                  </a:solidFill>
                  <a:latin typeface="+mn-lt"/>
                  <a:ea typeface="+mn-ea"/>
                  <a:cs typeface="+mn-cs"/>
                </a:rPr>
                <a:t>Remote subset</a:t>
              </a:r>
            </a:p>
          </p:txBody>
        </p:sp>
        <p:sp>
          <p:nvSpPr>
            <p:cNvPr id="22" name="TextBox 22"/>
            <p:cNvSpPr txBox="1"/>
            <p:nvPr/>
          </p:nvSpPr>
          <p:spPr>
            <a:xfrm>
              <a:off x="7293807" y="3254692"/>
              <a:ext cx="2176386"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mn-lt"/>
                  <a:ea typeface="+mn-ea"/>
                  <a:cs typeface="+mn-cs"/>
                </a:rPr>
                <a:t>raw counts + calibration</a:t>
              </a:r>
            </a:p>
          </p:txBody>
        </p:sp>
        <p:sp>
          <p:nvSpPr>
            <p:cNvPr id="23" name="Ellipse 23"/>
            <p:cNvSpPr/>
            <p:nvPr/>
          </p:nvSpPr>
          <p:spPr>
            <a:xfrm>
              <a:off x="10582275" y="2247900"/>
              <a:ext cx="647700" cy="647700"/>
            </a:xfrm>
            <a:prstGeom prst="ellipse">
              <a:avLst/>
            </a:prstGeom>
            <a:solidFill>
              <a:schemeClr val="accent1"/>
            </a:solidFill>
            <a:ln>
              <a:noFill/>
            </a:ln>
          </p:spPr>
        </p:sp>
        <p:sp>
          <p:nvSpPr>
            <p:cNvPr id="24" name="TextBox 24"/>
            <p:cNvSpPr txBox="1"/>
            <p:nvPr/>
          </p:nvSpPr>
          <p:spPr>
            <a:xfrm>
              <a:off x="10689361" y="2502218"/>
              <a:ext cx="433528" cy="264033"/>
            </a:xfrm>
            <a:prstGeom prst="rect">
              <a:avLst/>
            </a:prstGeom>
            <a:noFill/>
            <a:ln>
              <a:noFill/>
            </a:ln>
          </p:spPr>
          <p:txBody>
            <a:bodyPr wrap="none" lIns="0" tIns="0" rIns="0" bIns="0" anchor="t" anchorCtr="0">
              <a:spAutoFit/>
            </a:bodyPr>
            <a:lstStyle/>
            <a:p>
              <a:pPr algn="ctr"/>
              <a:r>
                <a:rPr lang="en-US" sz="1350" b="1" dirty="0">
                  <a:solidFill>
                    <a:srgbClr val="FBF7EE"/>
                  </a:solidFill>
                  <a:latin typeface="Consolas"/>
                  <a:ea typeface="Consolas"/>
                  <a:cs typeface="Consolas"/>
                </a:rPr>
                <a:t>9–12</a:t>
              </a:r>
            </a:p>
          </p:txBody>
        </p:sp>
        <p:sp>
          <p:nvSpPr>
            <p:cNvPr id="25" name="TextBox 25"/>
            <p:cNvSpPr txBox="1"/>
            <p:nvPr/>
          </p:nvSpPr>
          <p:spPr>
            <a:xfrm>
              <a:off x="10423779" y="2981325"/>
              <a:ext cx="964692" cy="293370"/>
            </a:xfrm>
            <a:prstGeom prst="rect">
              <a:avLst/>
            </a:prstGeom>
            <a:noFill/>
            <a:ln>
              <a:noFill/>
            </a:ln>
          </p:spPr>
          <p:txBody>
            <a:bodyPr wrap="none" lIns="0" tIns="0" rIns="0" bIns="0" anchor="t" anchorCtr="0">
              <a:spAutoFit/>
            </a:bodyPr>
            <a:lstStyle/>
            <a:p>
              <a:pPr algn="ctr"/>
              <a:r>
                <a:rPr lang="en-US" sz="1500" b="1" dirty="0">
                  <a:solidFill>
                    <a:schemeClr val="accent1"/>
                  </a:solidFill>
                  <a:latin typeface="+mn-lt"/>
                  <a:ea typeface="+mn-ea"/>
                  <a:cs typeface="+mn-cs"/>
                </a:rPr>
                <a:t>Replicate</a:t>
              </a:r>
            </a:p>
          </p:txBody>
        </p:sp>
        <p:sp>
          <p:nvSpPr>
            <p:cNvPr id="26" name="TextBox 26"/>
            <p:cNvSpPr txBox="1"/>
            <p:nvPr/>
          </p:nvSpPr>
          <p:spPr>
            <a:xfrm>
              <a:off x="10222297" y="3254692"/>
              <a:ext cx="1367657"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mn-lt"/>
                  <a:ea typeface="+mn-ea"/>
                  <a:cs typeface="+mn-cs"/>
                </a:rPr>
                <a:t>harder dataset</a:t>
              </a:r>
            </a:p>
          </p:txBody>
        </p:sp>
      </p:grpSp>
      <p:grpSp>
        <p:nvGrpSpPr>
          <p:cNvPr id="36" name="Group 36"/>
          <p:cNvGrpSpPr/>
          <p:nvPr/>
        </p:nvGrpSpPr>
        <p:grpSpPr>
          <a:xfrm>
            <a:off x="609600" y="4057650"/>
            <a:ext cx="10972800" cy="1352550"/>
            <a:chOff x="609600" y="4057650"/>
            <a:chExt cx="10972800" cy="1352550"/>
          </a:xfrm>
        </p:grpSpPr>
        <p:sp>
          <p:nvSpPr>
            <p:cNvPr id="28" name="Rectangle 28"/>
            <p:cNvSpPr/>
            <p:nvPr/>
          </p:nvSpPr>
          <p:spPr>
            <a:xfrm>
              <a:off x="609600" y="4057650"/>
              <a:ext cx="10972800" cy="1352550"/>
            </a:xfrm>
            <a:prstGeom prst="rect">
              <a:avLst/>
            </a:prstGeom>
            <a:solidFill>
              <a:schemeClr val="accent1"/>
            </a:solidFill>
            <a:ln>
              <a:noFill/>
            </a:ln>
          </p:spPr>
        </p:sp>
        <p:sp>
          <p:nvSpPr>
            <p:cNvPr id="29" name="TextBox 29"/>
            <p:cNvSpPr txBox="1"/>
            <p:nvPr/>
          </p:nvSpPr>
          <p:spPr>
            <a:xfrm>
              <a:off x="907542" y="4273868"/>
              <a:ext cx="1667043" cy="264033"/>
            </a:xfrm>
            <a:prstGeom prst="rect">
              <a:avLst/>
            </a:prstGeom>
            <a:noFill/>
            <a:ln>
              <a:noFill/>
            </a:ln>
          </p:spPr>
          <p:txBody>
            <a:bodyPr wrap="none" lIns="0" tIns="0" rIns="0" bIns="0" anchor="t" anchorCtr="0">
              <a:spAutoFit/>
            </a:bodyPr>
            <a:lstStyle/>
            <a:p>
              <a:pPr algn="l"/>
              <a:r>
                <a:rPr lang="en-US" sz="1350" b="1" dirty="0">
                  <a:solidFill>
                    <a:srgbClr val="FBF7EE"/>
                  </a:solidFill>
                  <a:latin typeface="+mn-lt"/>
                  <a:ea typeface="+mn-ea"/>
                  <a:cs typeface="+mn-cs"/>
                </a:rPr>
                <a:t>CONTINUE ONLY IF</a:t>
              </a:r>
            </a:p>
          </p:txBody>
        </p:sp>
        <p:sp>
          <p:nvSpPr>
            <p:cNvPr id="30" name="TextBox 30"/>
            <p:cNvSpPr txBox="1"/>
            <p:nvPr/>
          </p:nvSpPr>
          <p:spPr>
            <a:xfrm>
              <a:off x="902970" y="4586288"/>
              <a:ext cx="8065545" cy="440055"/>
            </a:xfrm>
            <a:prstGeom prst="rect">
              <a:avLst/>
            </a:prstGeom>
            <a:noFill/>
            <a:ln>
              <a:noFill/>
            </a:ln>
          </p:spPr>
          <p:txBody>
            <a:bodyPr wrap="none" lIns="0" tIns="0" rIns="0" bIns="0" anchor="t" anchorCtr="0">
              <a:spAutoFit/>
            </a:bodyPr>
            <a:lstStyle/>
            <a:p>
              <a:pPr algn="l"/>
              <a:r>
                <a:rPr lang="en-US" sz="2250" b="1" dirty="0">
                  <a:solidFill>
                    <a:srgbClr val="FBF7EE"/>
                  </a:solidFill>
                  <a:latin typeface="+mj-lt"/>
                  <a:ea typeface="+mj-ea"/>
                  <a:cs typeface="+mj-cs"/>
                </a:rPr>
                <a:t>Q1 closes the ELM / RBF gap across outer folds</a:t>
              </a:r>
            </a:p>
          </p:txBody>
        </p:sp>
        <p:sp>
          <p:nvSpPr>
            <p:cNvPr id="31" name="TextBox 31"/>
            <p:cNvSpPr txBox="1"/>
            <p:nvPr/>
          </p:nvSpPr>
          <p:spPr>
            <a:xfrm>
              <a:off x="906399" y="5002054"/>
              <a:ext cx="6184290" cy="308039"/>
            </a:xfrm>
            <a:prstGeom prst="rect">
              <a:avLst/>
            </a:prstGeom>
            <a:noFill/>
            <a:ln>
              <a:noFill/>
            </a:ln>
          </p:spPr>
          <p:txBody>
            <a:bodyPr wrap="none" lIns="0" tIns="0" rIns="0" bIns="0" anchor="t" anchorCtr="0">
              <a:spAutoFit/>
            </a:bodyPr>
            <a:lstStyle/>
            <a:p>
              <a:pPr algn="l"/>
              <a:r>
                <a:rPr lang="en-US" sz="1580" dirty="0">
                  <a:solidFill>
                    <a:srgbClr val="FBF7EE"/>
                  </a:solidFill>
                  <a:latin typeface="+mn-lt"/>
                  <a:ea typeface="+mn-ea"/>
                  <a:cs typeface="+mn-cs"/>
                </a:rPr>
                <a:t>or demonstrates a resource tradeoff with practical value.</a:t>
              </a:r>
            </a:p>
          </p:txBody>
        </p:sp>
        <p:sp>
          <p:nvSpPr>
            <p:cNvPr id="32" name="Line 32"/>
            <p:cNvSpPr/>
            <p:nvPr/>
          </p:nvSpPr>
          <p:spPr>
            <a:xfrm>
              <a:off x="8077200" y="4267200"/>
              <a:ext cx="9525" cy="933450"/>
            </a:xfrm>
            <a:custGeom>
              <a:avLst/>
              <a:gdLst/>
              <a:ahLst/>
              <a:cxnLst/>
              <a:rect l="l" t="t" r="r" b="b"/>
              <a:pathLst>
                <a:path w="9525" h="933450">
                  <a:moveTo>
                    <a:pt x="0" y="0"/>
                  </a:moveTo>
                  <a:lnTo>
                    <a:pt x="0" y="933450"/>
                  </a:lnTo>
                </a:path>
              </a:pathLst>
            </a:custGeom>
            <a:noFill/>
            <a:ln w="19050">
              <a:solidFill>
                <a:srgbClr val="766E62"/>
              </a:solidFill>
            </a:ln>
          </p:spPr>
        </p:sp>
        <p:sp>
          <p:nvSpPr>
            <p:cNvPr id="33" name="TextBox 33"/>
            <p:cNvSpPr txBox="1"/>
            <p:nvPr/>
          </p:nvSpPr>
          <p:spPr>
            <a:xfrm>
              <a:off x="8394192" y="4378642"/>
              <a:ext cx="1535986" cy="264033"/>
            </a:xfrm>
            <a:prstGeom prst="rect">
              <a:avLst/>
            </a:prstGeom>
            <a:noFill/>
            <a:ln>
              <a:noFill/>
            </a:ln>
          </p:spPr>
          <p:txBody>
            <a:bodyPr wrap="none" lIns="0" tIns="0" rIns="0" bIns="0" anchor="t" anchorCtr="0">
              <a:spAutoFit/>
            </a:bodyPr>
            <a:lstStyle/>
            <a:p>
              <a:pPr algn="l"/>
              <a:r>
                <a:rPr lang="en-US" sz="1350" b="1" dirty="0">
                  <a:solidFill>
                    <a:srgbClr val="FBF7EE"/>
                  </a:solidFill>
                  <a:latin typeface="+mn-lt"/>
                  <a:ea typeface="+mn-ea"/>
                  <a:cs typeface="+mn-cs"/>
                </a:rPr>
                <a:t>STOP CONDITION</a:t>
              </a:r>
            </a:p>
          </p:txBody>
        </p:sp>
        <p:sp>
          <p:nvSpPr>
            <p:cNvPr id="34" name="TextBox 34"/>
            <p:cNvSpPr txBox="1"/>
            <p:nvPr/>
          </p:nvSpPr>
          <p:spPr>
            <a:xfrm>
              <a:off x="8393430" y="4667250"/>
              <a:ext cx="2124075" cy="293370"/>
            </a:xfrm>
            <a:prstGeom prst="rect">
              <a:avLst/>
            </a:prstGeom>
            <a:noFill/>
            <a:ln>
              <a:noFill/>
            </a:ln>
          </p:spPr>
          <p:txBody>
            <a:bodyPr wrap="none" lIns="0" tIns="0" rIns="0" bIns="0" anchor="t" anchorCtr="0">
              <a:spAutoFit/>
            </a:bodyPr>
            <a:lstStyle/>
            <a:p>
              <a:pPr algn="l"/>
              <a:r>
                <a:rPr lang="en-US" sz="1500" dirty="0">
                  <a:solidFill>
                    <a:srgbClr val="FBF7EE"/>
                  </a:solidFill>
                  <a:latin typeface="+mn-lt"/>
                  <a:ea typeface="+mn-ea"/>
                  <a:cs typeface="+mn-cs"/>
                </a:rPr>
                <a:t>If Q1 only beats RFF:</a:t>
              </a:r>
            </a:p>
          </p:txBody>
        </p:sp>
        <p:sp>
          <p:nvSpPr>
            <p:cNvPr id="35" name="TextBox 35"/>
            <p:cNvSpPr txBox="1"/>
            <p:nvPr/>
          </p:nvSpPr>
          <p:spPr>
            <a:xfrm>
              <a:off x="8393430" y="4962525"/>
              <a:ext cx="2711006" cy="293370"/>
            </a:xfrm>
            <a:prstGeom prst="rect">
              <a:avLst/>
            </a:prstGeom>
            <a:noFill/>
            <a:ln>
              <a:noFill/>
            </a:ln>
          </p:spPr>
          <p:txBody>
            <a:bodyPr wrap="none" lIns="0" tIns="0" rIns="0" bIns="0" anchor="t" anchorCtr="0">
              <a:spAutoFit/>
            </a:bodyPr>
            <a:lstStyle/>
            <a:p>
              <a:pPr algn="l"/>
              <a:r>
                <a:rPr lang="en-US" sz="1500" dirty="0">
                  <a:solidFill>
                    <a:srgbClr val="FBF7EE"/>
                  </a:solidFill>
                  <a:latin typeface="+mn-lt"/>
                  <a:ea typeface="+mn-ea"/>
                  <a:cs typeface="+mn-cs"/>
                </a:rPr>
                <a:t>feasibility—without utility.</a:t>
              </a:r>
            </a:p>
          </p:txBody>
        </p:sp>
      </p:grpSp>
      <p:grpSp>
        <p:nvGrpSpPr>
          <p:cNvPr id="40" name="Group 40"/>
          <p:cNvGrpSpPr/>
          <p:nvPr/>
        </p:nvGrpSpPr>
        <p:grpSpPr>
          <a:xfrm>
            <a:off x="609600" y="5734050"/>
            <a:ext cx="9144000" cy="514350"/>
            <a:chOff x="609600" y="5734050"/>
            <a:chExt cx="9144000" cy="514350"/>
          </a:xfrm>
        </p:grpSpPr>
        <p:grpSp>
          <p:nvGrpSpPr>
            <p:cNvPr id="39" name="Group 39"/>
            <p:cNvGrpSpPr/>
            <p:nvPr/>
          </p:nvGrpSpPr>
          <p:grpSpPr>
            <a:xfrm>
              <a:off x="609600" y="5734050"/>
              <a:ext cx="9144000" cy="514350"/>
              <a:chOff x="609600" y="5734050"/>
              <a:chExt cx="9144000" cy="514350"/>
            </a:xfrm>
          </p:grpSpPr>
          <p:sp>
            <p:nvSpPr>
              <p:cNvPr id="37" name="Rectangle 37">
                <a:hlinkClick r:id="rId2"/>
              </p:cNvPr>
              <p:cNvSpPr/>
              <p:nvPr/>
            </p:nvSpPr>
            <p:spPr>
              <a:xfrm>
                <a:off x="609600" y="5734050"/>
                <a:ext cx="9144000" cy="514350"/>
              </a:xfrm>
              <a:prstGeom prst="rect">
                <a:avLst/>
              </a:prstGeom>
              <a:solidFill>
                <a:schemeClr val="accent3"/>
              </a:solidFill>
              <a:ln>
                <a:noFill/>
              </a:ln>
            </p:spPr>
          </p:sp>
          <p:sp>
            <p:nvSpPr>
              <p:cNvPr id="38" name="TextBox 38">
                <a:hlinkClick r:id="rId2"/>
              </p:cNvPr>
              <p:cNvSpPr txBox="1"/>
              <p:nvPr/>
            </p:nvSpPr>
            <p:spPr>
              <a:xfrm>
                <a:off x="868680" y="5905500"/>
                <a:ext cx="7367059" cy="293370"/>
              </a:xfrm>
              <a:prstGeom prst="rect">
                <a:avLst/>
              </a:prstGeom>
              <a:noFill/>
              <a:ln>
                <a:noFill/>
              </a:ln>
            </p:spPr>
            <p:txBody>
              <a:bodyPr wrap="none" lIns="0" tIns="0" rIns="0" bIns="0" anchor="t" anchorCtr="0">
                <a:spAutoFit/>
              </a:bodyPr>
              <a:lstStyle/>
              <a:p>
                <a:pPr algn="l"/>
                <a:r>
                  <a:rPr lang="en-US" sz="1500" b="1" dirty="0">
                    <a:solidFill>
                      <a:srgbClr val="FBF7EE"/>
                    </a:solidFill>
                    <a:latin typeface="+mn-lt"/>
                    <a:ea typeface="+mn-ea"/>
                    <a:cs typeface="+mn-cs"/>
                  </a:rPr>
                  <a:t>Repository · github.com/MonsieurNam/Quanova_Photonic_Defect_QML</a:t>
                </a:r>
              </a:p>
            </p:txBody>
          </p:sp>
        </p:grpSp>
      </p:grpSp>
      <p:grpSp>
        <p:nvGrpSpPr>
          <p:cNvPr id="42" name="Group 42"/>
          <p:cNvGrpSpPr/>
          <p:nvPr/>
        </p:nvGrpSpPr>
        <p:grpSpPr>
          <a:xfrm>
            <a:off x="10966723" y="6426518"/>
            <a:ext cx="622535" cy="264033"/>
            <a:chOff x="10966723" y="6426518"/>
            <a:chExt cx="622535" cy="264033"/>
          </a:xfrm>
        </p:grpSpPr>
        <p:sp>
          <p:nvSpPr>
            <p:cNvPr id="41" name="TextBox 41"/>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10 / 10</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quanova_interview_case_study">
  <a:themeElements>
    <a:clrScheme name="quanova_interview_case_study">
      <a:dk1>
        <a:srgbClr val="222222"/>
      </a:dk1>
      <a:lt1>
        <a:srgbClr val="FBF7EE"/>
      </a:lt1>
      <a:dk2>
        <a:srgbClr val="1F497D"/>
      </a:dk2>
      <a:lt2>
        <a:srgbClr val="EFE6D5"/>
      </a:lt2>
      <a:accent1>
        <a:srgbClr val="1C2D38"/>
      </a:accent1>
      <a:accent2>
        <a:srgbClr val="D84924"/>
      </a:accent2>
      <a:accent3>
        <a:srgbClr val="2D7A78"/>
      </a:accent3>
      <a:accent4>
        <a:srgbClr val="1C2D38"/>
      </a:accent4>
      <a:accent5>
        <a:srgbClr val="4BACC6"/>
      </a:accent5>
      <a:accent6>
        <a:srgbClr val="F79646"/>
      </a:accent6>
      <a:hlink>
        <a:srgbClr val="D84924"/>
      </a:hlink>
      <a:folHlink>
        <a:srgbClr val="2D7A78"/>
      </a:folHlink>
    </a:clrScheme>
    <a:fontScheme name="quanova_interview_case_study">
      <a:majorFont>
        <a:latin typeface="Georgia"/>
        <a:ea typeface="SimSun"/>
        <a:cs typeface="Georgia"/>
        <a:font script="Jpan" typeface="SimSun"/>
        <a:font script="Hang" typeface="SimSun"/>
        <a:font script="Hans" typeface="SimSun"/>
        <a:font script="Hant" typeface="SimSun"/>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quanova_interview_case_stud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quanova_interview_case_study">
  <a:themeElements>
    <a:clrScheme name="quanova_interview_case_study">
      <a:dk1>
        <a:srgbClr val="222222"/>
      </a:dk1>
      <a:lt1>
        <a:srgbClr val="FBF7EE"/>
      </a:lt1>
      <a:dk2>
        <a:srgbClr val="1F497D"/>
      </a:dk2>
      <a:lt2>
        <a:srgbClr val="EFE6D5"/>
      </a:lt2>
      <a:accent1>
        <a:srgbClr val="1C2D38"/>
      </a:accent1>
      <a:accent2>
        <a:srgbClr val="D84924"/>
      </a:accent2>
      <a:accent3>
        <a:srgbClr val="2D7A78"/>
      </a:accent3>
      <a:accent4>
        <a:srgbClr val="1C2D38"/>
      </a:accent4>
      <a:accent5>
        <a:srgbClr val="4BACC6"/>
      </a:accent5>
      <a:accent6>
        <a:srgbClr val="F79646"/>
      </a:accent6>
      <a:hlink>
        <a:srgbClr val="D84924"/>
      </a:hlink>
      <a:folHlink>
        <a:srgbClr val="2D7A78"/>
      </a:folHlink>
    </a:clrScheme>
    <a:fontScheme name="quanova_interview_case_study">
      <a:majorFont>
        <a:latin typeface="Georgia"/>
        <a:ea typeface="SimSun"/>
        <a:cs typeface="Georgia"/>
        <a:font script="Jpan" typeface="SimSun"/>
        <a:font script="Hang" typeface="SimSun"/>
        <a:font script="Hans" typeface="SimSun"/>
        <a:font script="Hant" typeface="SimSun"/>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quanova_interview_case_stud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en-US</dc:language>
  <cp:lastModifiedBy/>
  <cp:revision>1</cp:revision>
  <dcterms:created xsi:type="dcterms:W3CDTF">2026-09-11T17:01:04Z</dcterms:created>
  <dcterms:modified xsi:type="dcterms:W3CDTF">2026-09-11T17:01:04Z</dcterms:modified>
  <cp:category/>
  <cp:contentStatus/>
</cp:coreProperties>
</file>