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I would investigate few-label industrial defect inspection using a fixed photonic reservoir. I chose it because expert defect labels are costly, photonic interference provides a compact nonlinear feature map, and the idea can be evaluated rigorously within twelve weeks using public data, matched classical controls, and a staged path from simulation to hardware. I have already completed a de-risking pilot: Q1 reached a macro-F1 of 0.8708 at forty-eight labels per class. That result shows useful signal, but it does not yet show a practical or quantum advantage.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application begins with a real operational constraint: industrial inspection images can be plentiful, while reliable defect labels require scarce expert time. That makes performance at twelve, twenty-four, and forty-eight labels per class a meaningful and measurable target. NEU-CLS provides 1,800 audited images across six balanced surface-defect classes, so the first feasibility study can run without waiting for proprietary data collection. The evaluation also has a clear failure mode. One exact duplicate pair, Pa_101 and Pa_105, stays in the same group, and the pilot test fold holds sixty images per class with no sample or duplicate-group overlap. This gives the project three properties I want in a short research assignment: a real need, accessible evidence, and a quantitative decision metric.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architecture is deliberately hybrid and small. A frozen OpenCLIP encoder produces image embeddings; PCA is fitted on training data only and reduces each embedding to five values scaled into the phase range from minus pi to pi. Those phases enter a fixed six-mode, two-photon circuit, and postselection converts twenty-one possible outcomes into fifteen conditional probabilities for a linear readout. The trainable part remains classical, so the experiment isolates the contribution of the photonic map without requiring a costly variational loop. Perceval provides the primary Quandela simulation layer, and a second implementation path in MerLin reproduces its probabilities to machine precision. Here, independent means a separate code path, not an independent organization or external replication. Both simulator checks are complete. A remote QPU subset is the proposed final validation gate and has not yet been executed, so the current evidence must not be described as a hardware result.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feasibility question is narrower than asking whether quantum machine learning is generally better. At the same five-dimensional compressed input and fifteen-dimensional output, can Q1 beat a matched random Fourier feature map and close the gap to stronger nonlinear controls such as ELM and RBF-SVM? Alternatively, can it demonstrate an accuracy, sampling, or resource trade-off with practical value? The benchmark uses paired label budgets of twelve, twenty-four, and forty-eight examples per class, three nested subset seeds, and the same locked outer test fold. Seven model families separate the effects of full embeddings, PCA compression, nonlinear mapping, and output dimension. Hyperparameters are selected using validation macro-F1 only, while map seeds are averaged rather than selected. Each selected train-fitted pipeline is evaluated on test once, which produces multiple R1 test evaluations across families, budgets, subsets, and map seeds; those repetitions still share one outer test fold. The continue gate is evidence against strong controls across outer folds or a useful resource trade-off. If Q1 only beats RFF, the stop conclusion is feasibility without utility.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pilot is pre-study evidence and does not consume the proposed twelve-week project. The dataset audit, frozen protocol, Perceval and MerLin code-path verification, finite-shot check, and fold-zero result are already complete. Weeks one and two therefore begin with replication across all five outer folds. Weeks three and four ablate PCA dimension, circuit design, and measurement choices to select a credible candidate. Weeks five and six test photon loss, phase drift, partial distinguishability, detector effects, and noise-aware training. Weeks seven and eight select and freeze the hardware candidate, preprocessing, shot definition, calibration fields, and evaluation subset. Weeks nine and ten run the remote QPU subset with raw counts and calibration metadata, but only if the prior gates pass. Weeks eleven and twelve replicate on harder data or through an independent evaluation, account for resources, and issue the go-or-stop decision memo. The completed pilot shows that I can execute the workflow; the proposed clock is reserved for evidence that can change the application decision.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completed pilot provides early evidence rather than the final answer. Q1 macro-F1 rises from 0.7812 at twelve labels per class to 0.7886 at twenty-four and 0.8708 at forty-eight. The upward trend means the photonic feature map contains useful class information. However, the full CLIP linear baseline starts at 0.9242 and reaches 0.9852 at the largest budget. Each point is the mean across three subset seeds, with sample-standard-deviation error bars, but all points reuse one outer test fold. The disciplined interpretation is therefore that Q1 learns useful structure on this pilot, while the current configuration does not justify replacing the full embedding or claiming competitive advantage.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diagnostic result changes what the next experiment should test. Moving from the full embedding to PCA-five costs the linear baseline 0.1018, 0.0993, and 0.0713 macro-F1 across the three budgets, so important information is lost before the nonlinear map is evaluated. Within the compressed comparison, Q1 beats matched RFF by 0.3133, 0.2238, and 0.2307. It still trails ELM by between roughly 0.02 and 0.04, and trails PCA-five RBF by about 0.05 to 0.06 at every budget. The surviving claim is specific: the photonic map is better than one weak matched random map, but not the stronger nonlinear controls. The next study must therefore vary representation size and circuit design separately rather than attributing the entire gap to photonics.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finite-shot test asks whether sampled output probabilities behave stably enough to support a later hardware comparison. Mean macro-F1 is 0.7662 with five hundred launched shots, 0.7739 with two thousand, and 0.7725 with eight thousand, based on fifteen evaluations at each level. Acceptance remains close to 0.754, and none of the forty-five evaluations suffers a zero-acceptance failure. Increasing shots does not produce a monotonic accuracy recovery, so shot count alone does not close the model gap. This experiment tests sampling and postselection around an ideal-trained readout. It does not yet include photon loss, phase drift, partial distinguishability, detector noise, or noise-aware training, which are explicit tasks in the proposed twelve-week plan.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current evidence supports a calibrated three-level verdict. Technical feasibility is proven: the pipeline executes, simulator semantics agree independently, and the artifacts are reproducible. Application signal is partially answered: Q1 improves with labels, the paired one-fold ranking is known, and finite-shot sampling is stable in the tested range. Practical utility remains unanswered because we do not yet have five-fold generalization, realistic photonic noise, or remote hardware execution. Runtime does not block that work. On the measured local CPU run, OpenCLIP extraction took 96.57 seconds and the first benchmark after embeddings took about 59.9 seconds. The real bottleneck is scientific validity under more folds, harder data, realistic noise, and calibrated hardware—not local computation time.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My application choice is few-label industrial defect inspection with a fixed photonic reservoir. I chose it because label scarcity is real, the compact phase-encoded feature map fits Quandela’s simulator-to-hardware workflow, and the evidence can be produced within twelve weeks. The completed pilot says the idea is technically feasible and scientifically interesting, but it has not demonstrated practical advantage. I would continue only through the predefined next gates: Q1 must close the ELM or RBF gap across outer folds, or demonstrate a resource trade-off that matters in practice. If it continues to beat only RFF while the strong controls remain better, I would report feasibility without utility and stop. The repository linked here contains the protocol, implementation, results, and presentation artifacts needed to reproduce that decision.</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quanova_interview_case_stu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quanova_interview_case_stud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7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6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5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50" kern="1200">
          <a:solidFill>
            <a:schemeClr val="tx1"/>
          </a:solidFill>
          <a:latin typeface="+mn-lt"/>
          <a:ea typeface="+mn-ea"/>
          <a:cs typeface="+mn-cs"/>
        </a:defRPr>
      </a:lvl9pPr>
    </p:bodyStyle>
    <p:otherStyle>
      <a:defPPr>
        <a:defRPr lang="en-US"/>
      </a:defPPr>
      <a:lvl1pPr marL="0" algn="l" defTabSz="457200" rtl="0" eaLnBrk="1" latinLnBrk="0" hangingPunct="1">
        <a:defRPr sz="1700" kern="1200">
          <a:solidFill>
            <a:schemeClr val="tx1"/>
          </a:solidFill>
          <a:latin typeface="+mn-lt"/>
          <a:ea typeface="+mn-ea"/>
          <a:cs typeface="+mn-cs"/>
        </a:defRPr>
      </a:lvl1pPr>
      <a:lvl2pPr marL="457200" algn="l" defTabSz="457200" rtl="0" eaLnBrk="1" latinLnBrk="0" hangingPunct="1">
        <a:defRPr sz="1600" kern="1200">
          <a:solidFill>
            <a:schemeClr val="tx1"/>
          </a:solidFill>
          <a:latin typeface="+mn-lt"/>
          <a:ea typeface="+mn-ea"/>
          <a:cs typeface="+mn-cs"/>
        </a:defRPr>
      </a:lvl2pPr>
      <a:lvl3pPr marL="914400" algn="l" defTabSz="457200" rtl="0" eaLnBrk="1" latinLnBrk="0" hangingPunct="1">
        <a:defRPr sz="1500" kern="1200">
          <a:solidFill>
            <a:schemeClr val="tx1"/>
          </a:solidFill>
          <a:latin typeface="+mn-lt"/>
          <a:ea typeface="+mn-ea"/>
          <a:cs typeface="+mn-cs"/>
        </a:defRPr>
      </a:lvl3pPr>
      <a:lvl4pPr marL="1371600" algn="l" defTabSz="457200" rtl="0" eaLnBrk="1" latinLnBrk="0" hangingPunct="1">
        <a:defRPr sz="1400" kern="1200">
          <a:solidFill>
            <a:schemeClr val="tx1"/>
          </a:solidFill>
          <a:latin typeface="+mn-lt"/>
          <a:ea typeface="+mn-ea"/>
          <a:cs typeface="+mn-cs"/>
        </a:defRPr>
      </a:lvl4pPr>
      <a:lvl5pPr marL="1828800" algn="l" defTabSz="457200" rtl="0" eaLnBrk="1" latinLnBrk="0" hangingPunct="1">
        <a:defRPr sz="13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950" kern="1200">
          <a:solidFill>
            <a:schemeClr val="tx1"/>
          </a:solidFill>
          <a:latin typeface="+mn-lt"/>
          <a:ea typeface="+mn-ea"/>
          <a:cs typeface="+mn-cs"/>
        </a:defRPr>
      </a:lvl8pPr>
      <a:lvl9pPr marL="3657600" algn="l" defTabSz="457200" rtl="0" eaLnBrk="1" latinLnBrk="0" hangingPunct="1">
        <a:defRPr sz="8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284d2cc43e5ab5.png"/>
  <Relationship Id="rId3" Type="http://schemas.openxmlformats.org/officeDocument/2006/relationships/image" Target="../media/image_e293769c30b47a18.png"/>
  <Relationship Id="rId4" Type="http://schemas.openxmlformats.org/officeDocument/2006/relationships/image" Target="../media/image_dcc98b48f2678b03.png"/>
  <Relationship Id="rId5" Type="http://schemas.openxmlformats.org/officeDocument/2006/relationships/image" Target="../media/image_7a56227ed108e195.png"/>
  <Relationship Id="rId6" Type="http://schemas.openxmlformats.org/officeDocument/2006/relationships/image" Target="../media/image_a33fe4ec7588815e.png"/>
  <Relationship Id="rId7" Type="http://schemas.openxmlformats.org/officeDocument/2006/relationships/image" Target="../media/image_490aee84795026a0.png"/>
  <Relationship Id="rId8"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284333faf7751ba.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e0d82f4d160f3f1.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df4d430b28f2d6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55d58644f85c14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github.com/MonsieurNam/Quanova_Photonic_Defect_QML" TargetMode="External"/>
  <Relationship Id="rId3"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6" name="Group 6"/>
          <p:cNvGrpSpPr/>
          <p:nvPr/>
        </p:nvGrpSpPr>
        <p:grpSpPr>
          <a:xfrm>
            <a:off x="593598" y="501968"/>
            <a:ext cx="9000125" cy="1801844"/>
            <a:chOff x="593598" y="501968"/>
            <a:chExt cx="9000125" cy="1801844"/>
          </a:xfrm>
        </p:grpSpPr>
        <p:sp>
          <p:nvSpPr>
            <p:cNvPr id="3" name="TextBox 3"/>
            <p:cNvSpPr txBox="1"/>
            <p:nvPr/>
          </p:nvSpPr>
          <p:spPr>
            <a:xfrm>
              <a:off x="602742" y="501968"/>
              <a:ext cx="3929352"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QUANDELA · APPLICATION CASE STUDY</a:t>
              </a:r>
            </a:p>
          </p:txBody>
        </p:sp>
        <p:sp>
          <p:nvSpPr>
            <p:cNvPr id="4" name="TextBox 4"/>
            <p:cNvSpPr txBox="1"/>
            <p:nvPr/>
          </p:nvSpPr>
          <p:spPr>
            <a:xfrm>
              <a:off x="593598" y="860108"/>
              <a:ext cx="9000125" cy="1130427"/>
            </a:xfrm>
            <a:prstGeom prst="rect">
              <a:avLst/>
            </a:prstGeom>
            <a:noFill/>
            <a:ln>
              <a:noFill/>
            </a:ln>
          </p:spPr>
          <p:txBody>
            <a:bodyPr wrap="none" lIns="0" tIns="0" rIns="0" bIns="0" anchor="t" anchorCtr="0">
              <a:spAutoFit/>
            </a:bodyPr>
            <a:lstStyle/>
            <a:p>
              <a:pPr algn="l">
                <a:lnSpc>
                  <a:spcPts val="4050"/>
                </a:lnSpc>
              </a:pPr>
              <a:r>
                <a:rPr lang="en-US" sz="3150" b="1" dirty="0">
                  <a:solidFill>
                    <a:schemeClr val="accent1"/>
                  </a:solidFill>
                  <a:latin typeface="+mj-lt"/>
                  <a:ea typeface="+mj-ea"/>
                  <a:cs typeface="+mj-cs"/>
                </a:rPr>
                <a:t>I would investigate few-label industrial</a:t>
              </a:r>
              <a:br/>
              <a:r>
                <a:rPr lang="en-US" sz="3150" b="1" dirty="0">
                  <a:solidFill>
                    <a:schemeClr val="accent1"/>
                  </a:solidFill>
                  <a:latin typeface="+mj-lt"/>
                  <a:ea typeface="+mj-ea"/>
                  <a:cs typeface="+mj-cs"/>
                </a:rPr>
                <a:t>defect inspection with a photonic reservoir</a:t>
              </a:r>
            </a:p>
          </p:txBody>
        </p:sp>
        <p:sp>
          <p:nvSpPr>
            <p:cNvPr id="5" name="TextBox 5"/>
            <p:cNvSpPr txBox="1"/>
            <p:nvPr/>
          </p:nvSpPr>
          <p:spPr>
            <a:xfrm>
              <a:off x="600837" y="1966436"/>
              <a:ext cx="8523432"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A measurable 12-week path from public data to a conditional hardware test</a:t>
              </a:r>
            </a:p>
          </p:txBody>
        </p:sp>
      </p:grpSp>
      <p:grpSp>
        <p:nvGrpSpPr>
          <p:cNvPr id="19" name="Group 19"/>
          <p:cNvGrpSpPr/>
          <p:nvPr/>
        </p:nvGrpSpPr>
        <p:grpSpPr>
          <a:xfrm>
            <a:off x="609600" y="2724150"/>
            <a:ext cx="11140457" cy="1695450"/>
            <a:chOff x="609600" y="2724150"/>
            <a:chExt cx="11140457" cy="1695450"/>
          </a:xfrm>
        </p:grpSpPr>
        <p:sp>
          <p:nvSpPr>
            <p:cNvPr id="7" name="Rectangle 7"/>
            <p:cNvSpPr/>
            <p:nvPr/>
          </p:nvSpPr>
          <p:spPr>
            <a:xfrm>
              <a:off x="609600" y="2724150"/>
              <a:ext cx="3429000" cy="1695450"/>
            </a:xfrm>
            <a:prstGeom prst="rect">
              <a:avLst/>
            </a:prstGeom>
            <a:solidFill>
              <a:schemeClr val="lt2"/>
            </a:solidFill>
            <a:ln>
              <a:noFill/>
            </a:ln>
          </p:spPr>
        </p:sp>
        <p:sp>
          <p:nvSpPr>
            <p:cNvPr id="8" name="TextBox 8"/>
            <p:cNvSpPr txBox="1"/>
            <p:nvPr/>
          </p:nvSpPr>
          <p:spPr>
            <a:xfrm>
              <a:off x="831342" y="2911792"/>
              <a:ext cx="202996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REAL INDUSTRIAL NEED</a:t>
              </a:r>
            </a:p>
          </p:txBody>
        </p:sp>
        <p:sp>
          <p:nvSpPr>
            <p:cNvPr id="9" name="TextBox 9"/>
            <p:cNvSpPr txBox="1"/>
            <p:nvPr/>
          </p:nvSpPr>
          <p:spPr>
            <a:xfrm>
              <a:off x="826770" y="31765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Scarce expert labels</a:t>
              </a:r>
            </a:p>
          </p:txBody>
        </p:sp>
        <p:sp>
          <p:nvSpPr>
            <p:cNvPr id="10" name="TextBox 10"/>
            <p:cNvSpPr txBox="1"/>
            <p:nvPr/>
          </p:nvSpPr>
          <p:spPr>
            <a:xfrm>
              <a:off x="830580" y="3609975"/>
              <a:ext cx="3225165"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Quality inspection needs useful</a:t>
              </a:r>
              <a:br/>
              <a:r>
                <a:rPr lang="en-US" sz="1500" dirty="0">
                  <a:solidFill>
                    <a:schemeClr val="dk1"/>
                  </a:solidFill>
                  <a:latin typeface="+mn-lt"/>
                  <a:ea typeface="+mn-ea"/>
                  <a:cs typeface="+mn-cs"/>
                </a:rPr>
                <a:t>accuracy from small labelled sets.</a:t>
              </a:r>
            </a:p>
          </p:txBody>
        </p:sp>
        <p:sp>
          <p:nvSpPr>
            <p:cNvPr id="11" name="Rectangle 11"/>
            <p:cNvSpPr/>
            <p:nvPr/>
          </p:nvSpPr>
          <p:spPr>
            <a:xfrm>
              <a:off x="4267200" y="2724150"/>
              <a:ext cx="3429000" cy="1695450"/>
            </a:xfrm>
            <a:prstGeom prst="rect">
              <a:avLst/>
            </a:prstGeom>
            <a:solidFill>
              <a:schemeClr val="accent1"/>
            </a:solidFill>
            <a:ln>
              <a:noFill/>
            </a:ln>
          </p:spPr>
        </p:sp>
        <p:sp>
          <p:nvSpPr>
            <p:cNvPr id="12" name="TextBox 12"/>
            <p:cNvSpPr txBox="1"/>
            <p:nvPr/>
          </p:nvSpPr>
          <p:spPr>
            <a:xfrm>
              <a:off x="4488942" y="2911792"/>
              <a:ext cx="1273874"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PHOTONIC FIT</a:t>
              </a:r>
            </a:p>
          </p:txBody>
        </p:sp>
        <p:sp>
          <p:nvSpPr>
            <p:cNvPr id="13" name="TextBox 13"/>
            <p:cNvSpPr txBox="1"/>
            <p:nvPr/>
          </p:nvSpPr>
          <p:spPr>
            <a:xfrm>
              <a:off x="4484370" y="3176588"/>
              <a:ext cx="3221472" cy="440055"/>
            </a:xfrm>
            <a:prstGeom prst="rect">
              <a:avLst/>
            </a:prstGeom>
            <a:noFill/>
            <a:ln>
              <a:noFill/>
            </a:ln>
          </p:spPr>
          <p:txBody>
            <a:bodyPr wrap="none" lIns="0" tIns="0" rIns="0" bIns="0" anchor="t" anchorCtr="0">
              <a:spAutoFit/>
            </a:bodyPr>
            <a:lstStyle/>
            <a:p>
              <a:pPr algn="l"/>
              <a:r>
                <a:rPr lang="en-US" sz="2250" b="1" dirty="0">
                  <a:solidFill>
                    <a:srgbClr val="FBF7EE"/>
                  </a:solidFill>
                  <a:latin typeface="+mj-lt"/>
                  <a:ea typeface="+mj-ea"/>
                  <a:cs typeface="+mj-cs"/>
                </a:rPr>
                <a:t>Fixed nonlinear map</a:t>
              </a:r>
            </a:p>
          </p:txBody>
        </p:sp>
        <p:sp>
          <p:nvSpPr>
            <p:cNvPr id="14" name="TextBox 14"/>
            <p:cNvSpPr txBox="1"/>
            <p:nvPr/>
          </p:nvSpPr>
          <p:spPr>
            <a:xfrm>
              <a:off x="4488180" y="3609975"/>
              <a:ext cx="3196590"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FBF7EE"/>
                  </a:solidFill>
                  <a:latin typeface="+mn-lt"/>
                  <a:ea typeface="+mn-ea"/>
                  <a:cs typeface="+mn-cs"/>
                </a:rPr>
                <a:t>Interference transforms compact</a:t>
              </a:r>
              <a:br/>
              <a:r>
                <a:rPr lang="en-US" sz="1500" dirty="0">
                  <a:solidFill>
                    <a:srgbClr val="FBF7EE"/>
                  </a:solidFill>
                  <a:latin typeface="+mn-lt"/>
                  <a:ea typeface="+mn-ea"/>
                  <a:cs typeface="+mn-cs"/>
                </a:rPr>
                <a:t>phase-encoded image features.</a:t>
              </a:r>
            </a:p>
          </p:txBody>
        </p:sp>
        <p:sp>
          <p:nvSpPr>
            <p:cNvPr id="15" name="Rectangle 15"/>
            <p:cNvSpPr/>
            <p:nvPr/>
          </p:nvSpPr>
          <p:spPr>
            <a:xfrm>
              <a:off x="7924800" y="2724150"/>
              <a:ext cx="3657600" cy="1695450"/>
            </a:xfrm>
            <a:prstGeom prst="rect">
              <a:avLst/>
            </a:prstGeom>
            <a:solidFill>
              <a:schemeClr val="lt2"/>
            </a:solidFill>
            <a:ln>
              <a:noFill/>
            </a:ln>
          </p:spPr>
        </p:sp>
        <p:sp>
          <p:nvSpPr>
            <p:cNvPr id="16" name="TextBox 16"/>
            <p:cNvSpPr txBox="1"/>
            <p:nvPr/>
          </p:nvSpPr>
          <p:spPr>
            <a:xfrm>
              <a:off x="8146542" y="2911792"/>
              <a:ext cx="133436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12-WEEK TEST</a:t>
              </a:r>
            </a:p>
          </p:txBody>
        </p:sp>
        <p:sp>
          <p:nvSpPr>
            <p:cNvPr id="17" name="TextBox 17"/>
            <p:cNvSpPr txBox="1"/>
            <p:nvPr/>
          </p:nvSpPr>
          <p:spPr>
            <a:xfrm>
              <a:off x="8141970" y="3176588"/>
              <a:ext cx="3608087"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Decision-ready result</a:t>
              </a:r>
            </a:p>
          </p:txBody>
        </p:sp>
        <p:sp>
          <p:nvSpPr>
            <p:cNvPr id="18" name="TextBox 18"/>
            <p:cNvSpPr txBox="1"/>
            <p:nvPr/>
          </p:nvSpPr>
          <p:spPr>
            <a:xfrm>
              <a:off x="8145780" y="3609975"/>
              <a:ext cx="2910840"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Public data · matched controls</a:t>
              </a:r>
              <a:br/>
              <a:r>
                <a:rPr lang="en-US" sz="1500" dirty="0">
                  <a:solidFill>
                    <a:schemeClr val="dk1"/>
                  </a:solidFill>
                  <a:latin typeface="+mn-lt"/>
                  <a:ea typeface="+mn-ea"/>
                  <a:cs typeface="+mn-cs"/>
                </a:rPr>
                <a:t>simulator → conditional QPU run</a:t>
              </a:r>
            </a:p>
          </p:txBody>
        </p:sp>
      </p:grpSp>
      <p:grpSp>
        <p:nvGrpSpPr>
          <p:cNvPr id="27" name="Group 27"/>
          <p:cNvGrpSpPr/>
          <p:nvPr/>
        </p:nvGrpSpPr>
        <p:grpSpPr>
          <a:xfrm>
            <a:off x="609600" y="4762500"/>
            <a:ext cx="10972800" cy="1352550"/>
            <a:chOff x="609600" y="4762500"/>
            <a:chExt cx="10972800" cy="1352550"/>
          </a:xfrm>
        </p:grpSpPr>
        <p:sp>
          <p:nvSpPr>
            <p:cNvPr id="20" name="Rectangle 20"/>
            <p:cNvSpPr/>
            <p:nvPr/>
          </p:nvSpPr>
          <p:spPr>
            <a:xfrm>
              <a:off x="609600" y="4762500"/>
              <a:ext cx="10972800" cy="1352550"/>
            </a:xfrm>
            <a:prstGeom prst="rect">
              <a:avLst/>
            </a:prstGeom>
            <a:solidFill>
              <a:schemeClr val="accent3"/>
            </a:solidFill>
            <a:ln>
              <a:noFill/>
            </a:ln>
          </p:spPr>
        </p:sp>
        <p:sp>
          <p:nvSpPr>
            <p:cNvPr id="21" name="TextBox 21"/>
            <p:cNvSpPr txBox="1"/>
            <p:nvPr/>
          </p:nvSpPr>
          <p:spPr>
            <a:xfrm>
              <a:off x="831342" y="4950142"/>
              <a:ext cx="2765900"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COMPLETED DE-RISKING PILOT</a:t>
              </a:r>
            </a:p>
          </p:txBody>
        </p:sp>
        <p:sp>
          <p:nvSpPr>
            <p:cNvPr id="22" name="TextBox 22"/>
            <p:cNvSpPr txBox="1"/>
            <p:nvPr/>
          </p:nvSpPr>
          <p:spPr>
            <a:xfrm>
              <a:off x="819912" y="5288280"/>
              <a:ext cx="2671145"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Consolas"/>
                  <a:ea typeface="Consolas"/>
                  <a:cs typeface="Consolas"/>
                </a:rPr>
                <a:t>Q1 0.8708</a:t>
              </a:r>
            </a:p>
          </p:txBody>
        </p:sp>
        <p:sp>
          <p:nvSpPr>
            <p:cNvPr id="23" name="TextBox 23"/>
            <p:cNvSpPr txBox="1"/>
            <p:nvPr/>
          </p:nvSpPr>
          <p:spPr>
            <a:xfrm>
              <a:off x="3440430" y="5429250"/>
              <a:ext cx="2992012"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macro-F1 · 48 labels per class</a:t>
              </a:r>
            </a:p>
          </p:txBody>
        </p:sp>
        <p:sp>
          <p:nvSpPr>
            <p:cNvPr id="24" name="Line 24"/>
            <p:cNvSpPr/>
            <p:nvPr/>
          </p:nvSpPr>
          <p:spPr>
            <a:xfrm>
              <a:off x="6572250" y="4972050"/>
              <a:ext cx="9525" cy="933450"/>
            </a:xfrm>
            <a:custGeom>
              <a:avLst/>
              <a:gdLst/>
              <a:ahLst/>
              <a:cxnLst/>
              <a:rect l="l" t="t" r="r" b="b"/>
              <a:pathLst>
                <a:path w="9525" h="933450">
                  <a:moveTo>
                    <a:pt x="0" y="0"/>
                  </a:moveTo>
                  <a:lnTo>
                    <a:pt x="0" y="933450"/>
                  </a:lnTo>
                </a:path>
              </a:pathLst>
            </a:custGeom>
            <a:noFill/>
            <a:ln w="19050">
              <a:solidFill>
                <a:srgbClr val="B9D0C7"/>
              </a:solidFill>
            </a:ln>
          </p:spPr>
        </p:sp>
        <p:sp>
          <p:nvSpPr>
            <p:cNvPr id="25" name="TextBox 25"/>
            <p:cNvSpPr txBox="1"/>
            <p:nvPr/>
          </p:nvSpPr>
          <p:spPr>
            <a:xfrm>
              <a:off x="6867906" y="5044440"/>
              <a:ext cx="416534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Useful signal; no advantage yet</a:t>
              </a:r>
            </a:p>
          </p:txBody>
        </p:sp>
        <p:sp>
          <p:nvSpPr>
            <p:cNvPr id="26" name="TextBox 26"/>
            <p:cNvSpPr txBox="1"/>
            <p:nvPr/>
          </p:nvSpPr>
          <p:spPr>
            <a:xfrm>
              <a:off x="6870192" y="5454968"/>
              <a:ext cx="4385691" cy="502158"/>
            </a:xfrm>
            <a:prstGeom prst="rect">
              <a:avLst/>
            </a:prstGeom>
            <a:noFill/>
            <a:ln>
              <a:noFill/>
            </a:ln>
          </p:spPr>
          <p:txBody>
            <a:bodyPr wrap="none" lIns="0" tIns="0" rIns="0" bIns="0" anchor="t" anchorCtr="0">
              <a:spAutoFit/>
            </a:bodyPr>
            <a:lstStyle/>
            <a:p>
              <a:pPr algn="l">
                <a:lnSpc>
                  <a:spcPts val="1875"/>
                </a:lnSpc>
              </a:pPr>
              <a:r>
                <a:rPr lang="en-US" sz="1350" dirty="0">
                  <a:solidFill>
                    <a:srgbClr val="FBF7EE"/>
                  </a:solidFill>
                  <a:latin typeface="+mn-lt"/>
                  <a:ea typeface="+mn-ea"/>
                  <a:cs typeface="+mn-cs"/>
                </a:rPr>
                <a:t>Evidence informs the next test; it does not support</a:t>
              </a:r>
              <a:br/>
              <a:r>
                <a:rPr lang="en-US" sz="1350" dirty="0">
                  <a:solidFill>
                    <a:srgbClr val="FBF7EE"/>
                  </a:solidFill>
                  <a:latin typeface="+mn-lt"/>
                  <a:ea typeface="+mn-ea"/>
                  <a:cs typeface="+mn-cs"/>
                </a:rPr>
                <a:t>a quantum-advantage claim.</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01 /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9656765" cy="913447"/>
            <a:chOff x="594360" y="482918"/>
            <a:chExt cx="9656765" cy="913447"/>
          </a:xfrm>
        </p:grpSpPr>
        <p:sp>
          <p:nvSpPr>
            <p:cNvPr id="3" name="TextBox 3"/>
            <p:cNvSpPr txBox="1"/>
            <p:nvPr/>
          </p:nvSpPr>
          <p:spPr>
            <a:xfrm>
              <a:off x="602742" y="482918"/>
              <a:ext cx="5781317"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WHY THIS APPLICATION · REAL NEED, MEASURABLE TEST</a:t>
              </a:r>
            </a:p>
          </p:txBody>
        </p:sp>
        <p:sp>
          <p:nvSpPr>
            <p:cNvPr id="4" name="TextBox 4"/>
            <p:cNvSpPr txBox="1"/>
            <p:nvPr/>
          </p:nvSpPr>
          <p:spPr>
            <a:xfrm>
              <a:off x="594360" y="809625"/>
              <a:ext cx="9656765"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Why this is a good 12-week feasibility study</a:t>
              </a:r>
            </a:p>
          </p:txBody>
        </p:sp>
      </p:grpSp>
      <p:grpSp>
        <p:nvGrpSpPr>
          <p:cNvPr id="18" name="Group 18"/>
          <p:cNvGrpSpPr/>
          <p:nvPr/>
        </p:nvGrpSpPr>
        <p:grpSpPr>
          <a:xfrm>
            <a:off x="685800" y="1466850"/>
            <a:ext cx="10067925" cy="1419606"/>
            <a:chOff x="685800" y="1466850"/>
            <a:chExt cx="10067925" cy="1419606"/>
          </a:xfrm>
        </p:grpSpPr>
        <p:pic>
          <p:nvPicPr>
            <p:cNvPr id="6" name="Image 6"/>
            <p:cNvPicPr>
              <a:picLocks noChangeAspect="1"/>
            </p:cNvPicPr>
            <p:nvPr/>
          </p:nvPicPr>
          <p:blipFill>
            <a:blip r:embed="rId2"/>
            <a:stretch>
              <a:fillRect/>
            </a:stretch>
          </p:blipFill>
          <p:spPr>
            <a:xfrm>
              <a:off x="685800" y="1466850"/>
              <a:ext cx="1066800" cy="1066800"/>
            </a:xfrm>
            <a:prstGeom prst="rect">
              <a:avLst/>
            </a:prstGeom>
          </p:spPr>
        </p:pic>
        <p:sp>
          <p:nvSpPr>
            <p:cNvPr id="7" name="TextBox 7"/>
            <p:cNvSpPr txBox="1"/>
            <p:nvPr/>
          </p:nvSpPr>
          <p:spPr>
            <a:xfrm>
              <a:off x="919973" y="2651760"/>
              <a:ext cx="59845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Crazing</a:t>
              </a:r>
            </a:p>
          </p:txBody>
        </p:sp>
        <p:pic>
          <p:nvPicPr>
            <p:cNvPr id="8" name="Image 8"/>
            <p:cNvPicPr>
              <a:picLocks noChangeAspect="1"/>
            </p:cNvPicPr>
            <p:nvPr/>
          </p:nvPicPr>
          <p:blipFill>
            <a:blip r:embed="rId3"/>
            <a:stretch>
              <a:fillRect/>
            </a:stretch>
          </p:blipFill>
          <p:spPr>
            <a:xfrm>
              <a:off x="2486025" y="1466850"/>
              <a:ext cx="1066800" cy="1066800"/>
            </a:xfrm>
            <a:prstGeom prst="rect">
              <a:avLst/>
            </a:prstGeom>
          </p:spPr>
        </p:pic>
        <p:sp>
          <p:nvSpPr>
            <p:cNvPr id="9" name="TextBox 9"/>
            <p:cNvSpPr txBox="1"/>
            <p:nvPr/>
          </p:nvSpPr>
          <p:spPr>
            <a:xfrm>
              <a:off x="2671953" y="2651760"/>
              <a:ext cx="69494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Inclusion</a:t>
              </a:r>
            </a:p>
          </p:txBody>
        </p:sp>
        <p:pic>
          <p:nvPicPr>
            <p:cNvPr id="10" name="Image 10"/>
            <p:cNvPicPr>
              <a:picLocks noChangeAspect="1"/>
            </p:cNvPicPr>
            <p:nvPr/>
          </p:nvPicPr>
          <p:blipFill>
            <a:blip r:embed="rId4"/>
            <a:stretch>
              <a:fillRect/>
            </a:stretch>
          </p:blipFill>
          <p:spPr>
            <a:xfrm>
              <a:off x="4286250" y="1466850"/>
              <a:ext cx="1066800" cy="1066800"/>
            </a:xfrm>
            <a:prstGeom prst="rect">
              <a:avLst/>
            </a:prstGeom>
          </p:spPr>
        </p:pic>
        <p:sp>
          <p:nvSpPr>
            <p:cNvPr id="11" name="TextBox 11"/>
            <p:cNvSpPr txBox="1"/>
            <p:nvPr/>
          </p:nvSpPr>
          <p:spPr>
            <a:xfrm>
              <a:off x="4500067" y="2651760"/>
              <a:ext cx="639166"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Patches</a:t>
              </a:r>
            </a:p>
          </p:txBody>
        </p:sp>
        <p:pic>
          <p:nvPicPr>
            <p:cNvPr id="12" name="Image 12"/>
            <p:cNvPicPr>
              <a:picLocks noChangeAspect="1"/>
            </p:cNvPicPr>
            <p:nvPr/>
          </p:nvPicPr>
          <p:blipFill>
            <a:blip r:embed="rId5"/>
            <a:stretch>
              <a:fillRect/>
            </a:stretch>
          </p:blipFill>
          <p:spPr>
            <a:xfrm>
              <a:off x="6086475" y="1466850"/>
              <a:ext cx="1066800" cy="1066800"/>
            </a:xfrm>
            <a:prstGeom prst="rect">
              <a:avLst/>
            </a:prstGeom>
          </p:spPr>
        </p:pic>
        <p:sp>
          <p:nvSpPr>
            <p:cNvPr id="13" name="TextBox 13"/>
            <p:cNvSpPr txBox="1"/>
            <p:nvPr/>
          </p:nvSpPr>
          <p:spPr>
            <a:xfrm>
              <a:off x="6029688" y="2651760"/>
              <a:ext cx="118037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Pitted surface</a:t>
              </a:r>
            </a:p>
          </p:txBody>
        </p:sp>
        <p:pic>
          <p:nvPicPr>
            <p:cNvPr id="14" name="Image 14"/>
            <p:cNvPicPr>
              <a:picLocks noChangeAspect="1"/>
            </p:cNvPicPr>
            <p:nvPr/>
          </p:nvPicPr>
          <p:blipFill>
            <a:blip r:embed="rId6"/>
            <a:stretch>
              <a:fillRect/>
            </a:stretch>
          </p:blipFill>
          <p:spPr>
            <a:xfrm>
              <a:off x="7886700" y="1466850"/>
              <a:ext cx="1066800" cy="1066800"/>
            </a:xfrm>
            <a:prstGeom prst="rect">
              <a:avLst/>
            </a:prstGeom>
          </p:spPr>
        </p:pic>
        <p:sp>
          <p:nvSpPr>
            <p:cNvPr id="15" name="TextBox 15"/>
            <p:cNvSpPr txBox="1"/>
            <p:nvPr/>
          </p:nvSpPr>
          <p:spPr>
            <a:xfrm>
              <a:off x="7846138" y="2651760"/>
              <a:ext cx="114792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Rolled-in scale</a:t>
              </a:r>
            </a:p>
          </p:txBody>
        </p:sp>
        <p:pic>
          <p:nvPicPr>
            <p:cNvPr id="16" name="Image 16"/>
            <p:cNvPicPr>
              <a:picLocks noChangeAspect="1"/>
            </p:cNvPicPr>
            <p:nvPr/>
          </p:nvPicPr>
          <p:blipFill>
            <a:blip r:embed="rId7"/>
            <a:stretch>
              <a:fillRect/>
            </a:stretch>
          </p:blipFill>
          <p:spPr>
            <a:xfrm>
              <a:off x="9686925" y="1466850"/>
              <a:ext cx="1066800" cy="1066800"/>
            </a:xfrm>
            <a:prstGeom prst="rect">
              <a:avLst/>
            </a:prstGeom>
          </p:spPr>
        </p:pic>
        <p:sp>
          <p:nvSpPr>
            <p:cNvPr id="17" name="TextBox 17"/>
            <p:cNvSpPr txBox="1"/>
            <p:nvPr/>
          </p:nvSpPr>
          <p:spPr>
            <a:xfrm>
              <a:off x="9811893" y="2651760"/>
              <a:ext cx="81686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Scratches</a:t>
              </a:r>
            </a:p>
          </p:txBody>
        </p:sp>
      </p:grpSp>
      <p:grpSp>
        <p:nvGrpSpPr>
          <p:cNvPr id="31" name="Group 31"/>
          <p:cNvGrpSpPr/>
          <p:nvPr/>
        </p:nvGrpSpPr>
        <p:grpSpPr>
          <a:xfrm>
            <a:off x="609600" y="3219450"/>
            <a:ext cx="10972800" cy="2381250"/>
            <a:chOff x="609600" y="3219450"/>
            <a:chExt cx="10972800" cy="2381250"/>
          </a:xfrm>
        </p:grpSpPr>
        <p:sp>
          <p:nvSpPr>
            <p:cNvPr id="19" name="Rectangle 19"/>
            <p:cNvSpPr/>
            <p:nvPr/>
          </p:nvSpPr>
          <p:spPr>
            <a:xfrm>
              <a:off x="609600" y="3219450"/>
              <a:ext cx="3352800" cy="2381250"/>
            </a:xfrm>
            <a:prstGeom prst="rect">
              <a:avLst/>
            </a:prstGeom>
            <a:solidFill>
              <a:schemeClr val="lt2"/>
            </a:solidFill>
            <a:ln>
              <a:noFill/>
            </a:ln>
          </p:spPr>
        </p:sp>
        <p:sp>
          <p:nvSpPr>
            <p:cNvPr id="20" name="TextBox 20"/>
            <p:cNvSpPr txBox="1"/>
            <p:nvPr/>
          </p:nvSpPr>
          <p:spPr>
            <a:xfrm>
              <a:off x="831342" y="3416618"/>
              <a:ext cx="961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REAL NEED</a:t>
              </a:r>
            </a:p>
          </p:txBody>
        </p:sp>
        <p:sp>
          <p:nvSpPr>
            <p:cNvPr id="21" name="TextBox 21"/>
            <p:cNvSpPr txBox="1"/>
            <p:nvPr/>
          </p:nvSpPr>
          <p:spPr>
            <a:xfrm>
              <a:off x="826770" y="37099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Labels are expensive</a:t>
              </a:r>
            </a:p>
          </p:txBody>
        </p:sp>
        <p:sp>
          <p:nvSpPr>
            <p:cNvPr id="22" name="TextBox 22"/>
            <p:cNvSpPr txBox="1"/>
            <p:nvPr/>
          </p:nvSpPr>
          <p:spPr>
            <a:xfrm>
              <a:off x="830580" y="4181475"/>
              <a:ext cx="3282315"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The target is useful accuracy from</a:t>
              </a:r>
              <a:br/>
              <a:r>
                <a:rPr lang="en-US" sz="1500" dirty="0">
                  <a:solidFill>
                    <a:schemeClr val="dk1"/>
                  </a:solidFill>
                  <a:latin typeface="+mn-lt"/>
                  <a:ea typeface="+mn-ea"/>
                  <a:cs typeface="+mn-cs"/>
                </a:rPr>
                <a:t>12 · 24 · 48 labels per class.</a:t>
              </a:r>
            </a:p>
            <a:p>
              <a:pPr algn="l">
                <a:lnSpc>
                  <a:spcPts val="2175"/>
                </a:lnSpc>
                <a:spcBef>
                  <a:spcPts val="525"/>
                </a:spcBef>
              </a:pPr>
              <a:r>
                <a:rPr lang="en-US" sz="1500" b="1" dirty="0">
                  <a:solidFill>
                    <a:schemeClr val="accent3"/>
                  </a:solidFill>
                  <a:latin typeface="+mn-lt"/>
                  <a:ea typeface="+mn-ea"/>
                  <a:cs typeface="+mn-cs"/>
                </a:rPr>
                <a:t>Sample efficiency is measurable.</a:t>
              </a:r>
            </a:p>
          </p:txBody>
        </p:sp>
        <p:sp>
          <p:nvSpPr>
            <p:cNvPr id="23" name="Rectangle 23"/>
            <p:cNvSpPr/>
            <p:nvPr/>
          </p:nvSpPr>
          <p:spPr>
            <a:xfrm>
              <a:off x="4191000" y="3219450"/>
              <a:ext cx="3352800" cy="2381250"/>
            </a:xfrm>
            <a:prstGeom prst="rect">
              <a:avLst/>
            </a:prstGeom>
            <a:solidFill>
              <a:schemeClr val="accent1"/>
            </a:solidFill>
            <a:ln>
              <a:noFill/>
            </a:ln>
          </p:spPr>
        </p:sp>
        <p:sp>
          <p:nvSpPr>
            <p:cNvPr id="24" name="TextBox 24"/>
            <p:cNvSpPr txBox="1"/>
            <p:nvPr/>
          </p:nvSpPr>
          <p:spPr>
            <a:xfrm>
              <a:off x="4412742" y="3416618"/>
              <a:ext cx="2110618"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TRACTABLE BENCHMARK</a:t>
              </a:r>
            </a:p>
          </p:txBody>
        </p:sp>
        <p:sp>
          <p:nvSpPr>
            <p:cNvPr id="25" name="TextBox 25"/>
            <p:cNvSpPr txBox="1"/>
            <p:nvPr/>
          </p:nvSpPr>
          <p:spPr>
            <a:xfrm>
              <a:off x="4408170" y="3709988"/>
              <a:ext cx="2026510"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Consolas"/>
                  <a:ea typeface="Consolas"/>
                  <a:cs typeface="Consolas"/>
                </a:rPr>
                <a:t>1,800 images</a:t>
              </a:r>
            </a:p>
          </p:txBody>
        </p:sp>
        <p:sp>
          <p:nvSpPr>
            <p:cNvPr id="26" name="TextBox 26"/>
            <p:cNvSpPr txBox="1"/>
            <p:nvPr/>
          </p:nvSpPr>
          <p:spPr>
            <a:xfrm>
              <a:off x="4411980" y="4181475"/>
              <a:ext cx="2945606" cy="912495"/>
            </a:xfrm>
            <a:prstGeom prst="rect">
              <a:avLst/>
            </a:prstGeom>
            <a:noFill/>
            <a:ln>
              <a:noFill/>
            </a:ln>
          </p:spPr>
          <p:txBody>
            <a:bodyPr wrap="none" lIns="0" tIns="0" rIns="0" bIns="0" anchor="t" anchorCtr="0">
              <a:spAutoFit/>
            </a:bodyPr>
            <a:lstStyle/>
            <a:p>
              <a:pPr algn="l">
                <a:lnSpc>
                  <a:spcPts val="2175"/>
                </a:lnSpc>
              </a:pPr>
              <a:r>
                <a:rPr lang="en-US" sz="1500" dirty="0">
                  <a:solidFill>
                    <a:srgbClr val="FBF7EE"/>
                  </a:solidFill>
                  <a:latin typeface="+mn-lt"/>
                  <a:ea typeface="+mn-ea"/>
                  <a:cs typeface="+mn-cs"/>
                </a:rPr>
                <a:t>Six balanced defect classes</a:t>
              </a:r>
              <a:br/>
              <a:r>
                <a:rPr lang="en-US" sz="1500" dirty="0">
                  <a:solidFill>
                    <a:srgbClr val="FBF7EE"/>
                  </a:solidFill>
                  <a:latin typeface="+mn-lt"/>
                  <a:ea typeface="+mn-ea"/>
                  <a:cs typeface="+mn-cs"/>
                </a:rPr>
                <a:t>300 images per class</a:t>
              </a:r>
            </a:p>
            <a:p>
              <a:pPr algn="l">
                <a:lnSpc>
                  <a:spcPts val="2175"/>
                </a:lnSpc>
                <a:spcBef>
                  <a:spcPts val="525"/>
                </a:spcBef>
              </a:pPr>
              <a:r>
                <a:rPr lang="en-US" sz="1500" b="1" dirty="0">
                  <a:solidFill>
                    <a:srgbClr val="FBF7EE"/>
                  </a:solidFill>
                  <a:latin typeface="+mn-lt"/>
                  <a:ea typeface="+mn-ea"/>
                  <a:cs typeface="+mn-cs"/>
                </a:rPr>
                <a:t>Public data · macro-F1 target</a:t>
              </a:r>
            </a:p>
          </p:txBody>
        </p:sp>
        <p:sp>
          <p:nvSpPr>
            <p:cNvPr id="27" name="Rectangle 27"/>
            <p:cNvSpPr/>
            <p:nvPr/>
          </p:nvSpPr>
          <p:spPr>
            <a:xfrm>
              <a:off x="7772400" y="3219450"/>
              <a:ext cx="3810000" cy="2381250"/>
            </a:xfrm>
            <a:prstGeom prst="rect">
              <a:avLst/>
            </a:prstGeom>
            <a:solidFill>
              <a:schemeClr val="lt2"/>
            </a:solidFill>
            <a:ln>
              <a:noFill/>
            </a:ln>
          </p:spPr>
        </p:sp>
        <p:sp>
          <p:nvSpPr>
            <p:cNvPr id="28" name="TextBox 28"/>
            <p:cNvSpPr txBox="1"/>
            <p:nvPr/>
          </p:nvSpPr>
          <p:spPr>
            <a:xfrm>
              <a:off x="7994142" y="3416618"/>
              <a:ext cx="22416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LEAKAGE-SAFE EVIDENCE</a:t>
              </a:r>
            </a:p>
          </p:txBody>
        </p:sp>
        <p:sp>
          <p:nvSpPr>
            <p:cNvPr id="29" name="TextBox 29"/>
            <p:cNvSpPr txBox="1"/>
            <p:nvPr/>
          </p:nvSpPr>
          <p:spPr>
            <a:xfrm>
              <a:off x="7989570" y="3709988"/>
              <a:ext cx="3306541"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One duplicate group</a:t>
              </a:r>
            </a:p>
          </p:txBody>
        </p:sp>
        <p:sp>
          <p:nvSpPr>
            <p:cNvPr id="30" name="TextBox 30"/>
            <p:cNvSpPr txBox="1"/>
            <p:nvPr/>
          </p:nvSpPr>
          <p:spPr>
            <a:xfrm>
              <a:off x="7993380" y="4181475"/>
              <a:ext cx="3348990"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Pa_101 · Pa_105 never cross splits.</a:t>
              </a:r>
              <a:br/>
              <a:r>
                <a:rPr lang="en-US" sz="1500" dirty="0">
                  <a:solidFill>
                    <a:schemeClr val="dk1"/>
                  </a:solidFill>
                  <a:latin typeface="+mn-lt"/>
                  <a:ea typeface="+mn-ea"/>
                  <a:cs typeface="+mn-cs"/>
                </a:rPr>
                <a:t>Fold 0: 60 test images per class.</a:t>
              </a:r>
            </a:p>
            <a:p>
              <a:pPr algn="l">
                <a:lnSpc>
                  <a:spcPts val="2175"/>
                </a:lnSpc>
                <a:spcBef>
                  <a:spcPts val="525"/>
                </a:spcBef>
              </a:pPr>
              <a:r>
                <a:rPr lang="en-US" sz="1500" b="1" dirty="0">
                  <a:solidFill>
                    <a:schemeClr val="accent3"/>
                  </a:solidFill>
                  <a:latin typeface="+mn-lt"/>
                  <a:ea typeface="+mn-ea"/>
                  <a:cs typeface="+mn-cs"/>
                </a:rPr>
                <a:t>Real need · data · decision metric</a:t>
              </a:r>
            </a:p>
          </p:txBody>
        </p:sp>
      </p:grpSp>
      <p:grpSp>
        <p:nvGrpSpPr>
          <p:cNvPr id="33" name="Group 33"/>
          <p:cNvGrpSpPr/>
          <p:nvPr/>
        </p:nvGrpSpPr>
        <p:grpSpPr>
          <a:xfrm>
            <a:off x="602742" y="6045518"/>
            <a:ext cx="5090556" cy="264033"/>
            <a:chOff x="602742" y="6045518"/>
            <a:chExt cx="5090556" cy="264033"/>
          </a:xfrm>
        </p:grpSpPr>
        <p:sp>
          <p:nvSpPr>
            <p:cNvPr id="32" name="TextBox 32"/>
            <p:cNvSpPr txBox="1"/>
            <p:nvPr/>
          </p:nvSpPr>
          <p:spPr>
            <a:xfrm>
              <a:off x="602742" y="6045518"/>
              <a:ext cx="509055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dataset_audit.csv · frozen experiment protocol</a:t>
              </a:r>
            </a:p>
          </p:txBody>
        </p:sp>
      </p:grpSp>
      <p:grpSp>
        <p:nvGrpSpPr>
          <p:cNvPr id="35" name="Group 35"/>
          <p:cNvGrpSpPr/>
          <p:nvPr/>
        </p:nvGrpSpPr>
        <p:grpSpPr>
          <a:xfrm>
            <a:off x="10966723" y="6426518"/>
            <a:ext cx="622535" cy="264033"/>
            <a:chOff x="10966723" y="6426518"/>
            <a:chExt cx="622535" cy="264033"/>
          </a:xfrm>
        </p:grpSpPr>
        <p:sp>
          <p:nvSpPr>
            <p:cNvPr id="34" name="TextBox 3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0821871" cy="890777"/>
            <a:chOff x="595122" y="482918"/>
            <a:chExt cx="10821871" cy="890777"/>
          </a:xfrm>
        </p:grpSpPr>
        <p:sp>
          <p:nvSpPr>
            <p:cNvPr id="3" name="TextBox 3"/>
            <p:cNvSpPr txBox="1"/>
            <p:nvPr/>
          </p:nvSpPr>
          <p:spPr>
            <a:xfrm>
              <a:off x="602742" y="482918"/>
              <a:ext cx="514769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WHY QUANDELA · SIMULATOR-TO-HARDWARE PATH</a:t>
              </a:r>
            </a:p>
          </p:txBody>
        </p:sp>
        <p:sp>
          <p:nvSpPr>
            <p:cNvPr id="4" name="TextBox 4"/>
            <p:cNvSpPr txBox="1"/>
            <p:nvPr/>
          </p:nvSpPr>
          <p:spPr>
            <a:xfrm>
              <a:off x="595122" y="816292"/>
              <a:ext cx="10821871"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A small reservoir fits Quandela’s path to hardware</a:t>
              </a:r>
            </a:p>
          </p:txBody>
        </p:sp>
      </p:grpSp>
      <p:grpSp>
        <p:nvGrpSpPr>
          <p:cNvPr id="31" name="Group 31"/>
          <p:cNvGrpSpPr/>
          <p:nvPr/>
        </p:nvGrpSpPr>
        <p:grpSpPr>
          <a:xfrm>
            <a:off x="609600" y="1466850"/>
            <a:ext cx="10972800" cy="1562100"/>
            <a:chOff x="609600" y="1466850"/>
            <a:chExt cx="10972800" cy="1562100"/>
          </a:xfrm>
        </p:grpSpPr>
        <p:sp>
          <p:nvSpPr>
            <p:cNvPr id="6" name="Rectangle 6"/>
            <p:cNvSpPr/>
            <p:nvPr/>
          </p:nvSpPr>
          <p:spPr>
            <a:xfrm>
              <a:off x="609600" y="1657350"/>
              <a:ext cx="1581150" cy="1162050"/>
            </a:xfrm>
            <a:prstGeom prst="rect">
              <a:avLst/>
            </a:prstGeom>
            <a:solidFill>
              <a:schemeClr val="lt2"/>
            </a:solidFill>
            <a:ln>
              <a:noFill/>
            </a:ln>
          </p:spPr>
        </p:sp>
        <p:sp>
          <p:nvSpPr>
            <p:cNvPr id="7" name="TextBox 7"/>
            <p:cNvSpPr txBox="1"/>
            <p:nvPr/>
          </p:nvSpPr>
          <p:spPr>
            <a:xfrm>
              <a:off x="1040473" y="1835468"/>
              <a:ext cx="719404"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FROZEN</a:t>
              </a:r>
            </a:p>
          </p:txBody>
        </p:sp>
        <p:sp>
          <p:nvSpPr>
            <p:cNvPr id="8" name="TextBox 8"/>
            <p:cNvSpPr txBox="1"/>
            <p:nvPr/>
          </p:nvSpPr>
          <p:spPr>
            <a:xfrm>
              <a:off x="843911" y="2156936"/>
              <a:ext cx="1112529"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OpenCLIP</a:t>
              </a:r>
            </a:p>
          </p:txBody>
        </p:sp>
        <p:sp>
          <p:nvSpPr>
            <p:cNvPr id="9" name="TextBox 9"/>
            <p:cNvSpPr txBox="1"/>
            <p:nvPr/>
          </p:nvSpPr>
          <p:spPr>
            <a:xfrm>
              <a:off x="785424" y="2483168"/>
              <a:ext cx="122950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ViT-B/32 · L2</a:t>
              </a:r>
            </a:p>
          </p:txBody>
        </p:sp>
        <p:sp>
          <p:nvSpPr>
            <p:cNvPr id="10" name="Freeform 10"/>
            <p:cNvSpPr/>
            <p:nvPr/>
          </p:nvSpPr>
          <p:spPr>
            <a:xfrm>
              <a:off x="21907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1" name="Rectangle 11"/>
            <p:cNvSpPr/>
            <p:nvPr/>
          </p:nvSpPr>
          <p:spPr>
            <a:xfrm>
              <a:off x="2571750" y="1657350"/>
              <a:ext cx="1581150" cy="1162050"/>
            </a:xfrm>
            <a:prstGeom prst="rect">
              <a:avLst/>
            </a:prstGeom>
            <a:solidFill>
              <a:schemeClr val="lt1"/>
            </a:solidFill>
            <a:ln w="19050">
              <a:solidFill>
                <a:schemeClr val="accent1"/>
              </a:solidFill>
            </a:ln>
          </p:spPr>
        </p:sp>
        <p:sp>
          <p:nvSpPr>
            <p:cNvPr id="12" name="TextBox 12"/>
            <p:cNvSpPr txBox="1"/>
            <p:nvPr/>
          </p:nvSpPr>
          <p:spPr>
            <a:xfrm>
              <a:off x="2831241" y="1835468"/>
              <a:ext cx="1062167" cy="264033"/>
            </a:xfrm>
            <a:prstGeom prst="rect">
              <a:avLst/>
            </a:prstGeom>
            <a:noFill/>
            <a:ln>
              <a:noFill/>
            </a:ln>
          </p:spPr>
          <p:txBody>
            <a:bodyPr wrap="none" lIns="0" tIns="0" rIns="0" bIns="0" anchor="t" anchorCtr="0">
              <a:spAutoFit/>
            </a:bodyPr>
            <a:lstStyle/>
            <a:p>
              <a:pPr algn="ctr"/>
              <a:r>
                <a:rPr lang="en-US" sz="1350" b="1" dirty="0">
                  <a:solidFill>
                    <a:schemeClr val="accent2"/>
                  </a:solidFill>
                  <a:latin typeface="+mn-lt"/>
                  <a:ea typeface="+mn-ea"/>
                  <a:cs typeface="+mn-cs"/>
                </a:rPr>
                <a:t>TRAIN ONLY</a:t>
              </a:r>
            </a:p>
          </p:txBody>
        </p:sp>
        <p:sp>
          <p:nvSpPr>
            <p:cNvPr id="13" name="TextBox 13"/>
            <p:cNvSpPr txBox="1"/>
            <p:nvPr/>
          </p:nvSpPr>
          <p:spPr>
            <a:xfrm>
              <a:off x="3000345" y="2156936"/>
              <a:ext cx="723961"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PCA-5</a:t>
              </a:r>
            </a:p>
          </p:txBody>
        </p:sp>
        <p:sp>
          <p:nvSpPr>
            <p:cNvPr id="14" name="TextBox 14"/>
            <p:cNvSpPr txBox="1"/>
            <p:nvPr/>
          </p:nvSpPr>
          <p:spPr>
            <a:xfrm>
              <a:off x="2701214" y="2483168"/>
              <a:ext cx="1322222" cy="264033"/>
            </a:xfrm>
            <a:prstGeom prst="rect">
              <a:avLst/>
            </a:prstGeom>
            <a:noFill/>
            <a:ln>
              <a:noFill/>
            </a:ln>
          </p:spPr>
          <p:txBody>
            <a:bodyPr wrap="none" lIns="0" tIns="0" rIns="0" bIns="0" anchor="t" anchorCtr="0">
              <a:spAutoFit/>
            </a:bodyPr>
            <a:lstStyle/>
            <a:p>
              <a:pPr algn="ctr"/>
              <a:r>
                <a:rPr lang="el-GR" sz="1350" dirty="0">
                  <a:solidFill>
                    <a:schemeClr val="dk1"/>
                  </a:solidFill>
                  <a:latin typeface="+mn-lt"/>
                  <a:ea typeface="+mn-ea"/>
                  <a:cs typeface="+mn-cs"/>
                </a:rPr>
                <a:t>phases [−π, π]</a:t>
              </a:r>
            </a:p>
          </p:txBody>
        </p:sp>
        <p:sp>
          <p:nvSpPr>
            <p:cNvPr id="15" name="Freeform 15"/>
            <p:cNvSpPr/>
            <p:nvPr/>
          </p:nvSpPr>
          <p:spPr>
            <a:xfrm>
              <a:off x="41529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6" name="Rectangle 16"/>
            <p:cNvSpPr/>
            <p:nvPr/>
          </p:nvSpPr>
          <p:spPr>
            <a:xfrm>
              <a:off x="4533900" y="1466850"/>
              <a:ext cx="2628900" cy="1562100"/>
            </a:xfrm>
            <a:prstGeom prst="rect">
              <a:avLst/>
            </a:prstGeom>
            <a:solidFill>
              <a:schemeClr val="accent1"/>
            </a:solidFill>
            <a:ln>
              <a:noFill/>
            </a:ln>
          </p:spPr>
        </p:sp>
        <p:sp>
          <p:nvSpPr>
            <p:cNvPr id="17" name="TextBox 17"/>
            <p:cNvSpPr txBox="1"/>
            <p:nvPr/>
          </p:nvSpPr>
          <p:spPr>
            <a:xfrm>
              <a:off x="4808163" y="1664018"/>
              <a:ext cx="2080374" cy="264033"/>
            </a:xfrm>
            <a:prstGeom prst="rect">
              <a:avLst/>
            </a:prstGeom>
            <a:noFill/>
            <a:ln>
              <a:noFill/>
            </a:ln>
          </p:spPr>
          <p:txBody>
            <a:bodyPr wrap="none" lIns="0" tIns="0" rIns="0" bIns="0" anchor="t" anchorCtr="0">
              <a:spAutoFit/>
            </a:bodyPr>
            <a:lstStyle/>
            <a:p>
              <a:pPr algn="ctr"/>
              <a:r>
                <a:rPr lang="en-US" sz="1350" b="1" dirty="0">
                  <a:solidFill>
                    <a:srgbClr val="B9D0C7"/>
                  </a:solidFill>
                  <a:latin typeface="+mn-lt"/>
                  <a:ea typeface="+mn-ea"/>
                  <a:cs typeface="+mn-cs"/>
                </a:rPr>
                <a:t>6 MODES · 2 PHOTONS</a:t>
              </a:r>
            </a:p>
          </p:txBody>
        </p:sp>
        <p:sp>
          <p:nvSpPr>
            <p:cNvPr id="18" name="TextBox 18"/>
            <p:cNvSpPr txBox="1"/>
            <p:nvPr/>
          </p:nvSpPr>
          <p:spPr>
            <a:xfrm>
              <a:off x="4671212" y="2017395"/>
              <a:ext cx="2354275" cy="469392"/>
            </a:xfrm>
            <a:prstGeom prst="rect">
              <a:avLst/>
            </a:prstGeom>
            <a:noFill/>
            <a:ln>
              <a:noFill/>
            </a:ln>
          </p:spPr>
          <p:txBody>
            <a:bodyPr wrap="none" lIns="0" tIns="0" rIns="0" bIns="0" anchor="t" anchorCtr="0">
              <a:spAutoFit/>
            </a:bodyPr>
            <a:lstStyle/>
            <a:p>
              <a:pPr algn="ctr"/>
              <a:r>
                <a:rPr lang="en-US" sz="2400" b="1" dirty="0">
                  <a:solidFill>
                    <a:srgbClr val="FFFFFF"/>
                  </a:solidFill>
                  <a:latin typeface="+mj-lt"/>
                  <a:ea typeface="+mj-ea"/>
                  <a:cs typeface="+mj-cs"/>
                </a:rPr>
                <a:t>U · D(x) · U</a:t>
              </a:r>
            </a:p>
          </p:txBody>
        </p:sp>
        <p:sp>
          <p:nvSpPr>
            <p:cNvPr id="19" name="TextBox 19"/>
            <p:cNvSpPr txBox="1"/>
            <p:nvPr/>
          </p:nvSpPr>
          <p:spPr>
            <a:xfrm>
              <a:off x="4687462" y="2454592"/>
              <a:ext cx="2321776"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occupation [1,0,1,0,0,0]</a:t>
              </a:r>
            </a:p>
          </p:txBody>
        </p:sp>
        <p:sp>
          <p:nvSpPr>
            <p:cNvPr id="20" name="TextBox 20"/>
            <p:cNvSpPr txBox="1"/>
            <p:nvPr/>
          </p:nvSpPr>
          <p:spPr>
            <a:xfrm>
              <a:off x="4522804" y="2718435"/>
              <a:ext cx="2651092" cy="234696"/>
            </a:xfrm>
            <a:prstGeom prst="rect">
              <a:avLst/>
            </a:prstGeom>
            <a:noFill/>
            <a:ln>
              <a:noFill/>
            </a:ln>
          </p:spPr>
          <p:txBody>
            <a:bodyPr wrap="none" lIns="0" tIns="0" rIns="0" bIns="0" anchor="t" anchorCtr="0">
              <a:spAutoFit/>
            </a:bodyPr>
            <a:lstStyle/>
            <a:p>
              <a:pPr algn="ctr"/>
              <a:r>
                <a:rPr lang="en-US" sz="1200" dirty="0">
                  <a:solidFill>
                    <a:srgbClr val="B9D0C7"/>
                  </a:solidFill>
                  <a:latin typeface="+mn-lt"/>
                  <a:ea typeface="+mn-ea"/>
                  <a:cs typeface="+mn-cs"/>
                </a:rPr>
                <a:t>fixed U · image-dependent phases</a:t>
              </a:r>
            </a:p>
          </p:txBody>
        </p:sp>
        <p:sp>
          <p:nvSpPr>
            <p:cNvPr id="21" name="Freeform 21"/>
            <p:cNvSpPr/>
            <p:nvPr/>
          </p:nvSpPr>
          <p:spPr>
            <a:xfrm>
              <a:off x="71628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2" name="Rectangle 22"/>
            <p:cNvSpPr/>
            <p:nvPr/>
          </p:nvSpPr>
          <p:spPr>
            <a:xfrm>
              <a:off x="7543800" y="1657350"/>
              <a:ext cx="1695450" cy="1162050"/>
            </a:xfrm>
            <a:prstGeom prst="rect">
              <a:avLst/>
            </a:prstGeom>
            <a:solidFill>
              <a:schemeClr val="lt2"/>
            </a:solidFill>
            <a:ln>
              <a:noFill/>
            </a:ln>
          </p:spPr>
        </p:sp>
        <p:sp>
          <p:nvSpPr>
            <p:cNvPr id="23" name="TextBox 23"/>
            <p:cNvSpPr txBox="1"/>
            <p:nvPr/>
          </p:nvSpPr>
          <p:spPr>
            <a:xfrm>
              <a:off x="7810035" y="1835468"/>
              <a:ext cx="1162980"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POSTSELECT</a:t>
              </a:r>
            </a:p>
          </p:txBody>
        </p:sp>
        <p:sp>
          <p:nvSpPr>
            <p:cNvPr id="24" name="TextBox 24"/>
            <p:cNvSpPr txBox="1"/>
            <p:nvPr/>
          </p:nvSpPr>
          <p:spPr>
            <a:xfrm>
              <a:off x="7847378" y="2100262"/>
              <a:ext cx="1088293"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Consolas"/>
                  <a:ea typeface="Consolas"/>
                  <a:cs typeface="Consolas"/>
                </a:rPr>
                <a:t>21 → 15</a:t>
              </a:r>
            </a:p>
          </p:txBody>
        </p:sp>
        <p:sp>
          <p:nvSpPr>
            <p:cNvPr id="25" name="TextBox 25"/>
            <p:cNvSpPr txBox="1"/>
            <p:nvPr/>
          </p:nvSpPr>
          <p:spPr>
            <a:xfrm>
              <a:off x="7595477" y="2483168"/>
              <a:ext cx="159209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conditional P(n|x)</a:t>
              </a:r>
            </a:p>
          </p:txBody>
        </p:sp>
        <p:sp>
          <p:nvSpPr>
            <p:cNvPr id="26" name="Freeform 26"/>
            <p:cNvSpPr/>
            <p:nvPr/>
          </p:nvSpPr>
          <p:spPr>
            <a:xfrm>
              <a:off x="92392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7" name="Rectangle 27"/>
            <p:cNvSpPr/>
            <p:nvPr/>
          </p:nvSpPr>
          <p:spPr>
            <a:xfrm>
              <a:off x="9620250" y="1657350"/>
              <a:ext cx="1962150" cy="1162050"/>
            </a:xfrm>
            <a:prstGeom prst="rect">
              <a:avLst/>
            </a:prstGeom>
            <a:solidFill>
              <a:schemeClr val="accent3"/>
            </a:solidFill>
            <a:ln>
              <a:noFill/>
            </a:ln>
          </p:spPr>
        </p:sp>
        <p:sp>
          <p:nvSpPr>
            <p:cNvPr id="28" name="TextBox 28"/>
            <p:cNvSpPr txBox="1"/>
            <p:nvPr/>
          </p:nvSpPr>
          <p:spPr>
            <a:xfrm>
              <a:off x="9682113" y="1911668"/>
              <a:ext cx="1838424"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CLASSICAL READOUT</a:t>
              </a:r>
            </a:p>
          </p:txBody>
        </p:sp>
        <p:sp>
          <p:nvSpPr>
            <p:cNvPr id="29" name="TextBox 29"/>
            <p:cNvSpPr txBox="1"/>
            <p:nvPr/>
          </p:nvSpPr>
          <p:spPr>
            <a:xfrm>
              <a:off x="9853328" y="2233136"/>
              <a:ext cx="1495993" cy="337376"/>
            </a:xfrm>
            <a:prstGeom prst="rect">
              <a:avLst/>
            </a:prstGeom>
            <a:noFill/>
            <a:ln>
              <a:noFill/>
            </a:ln>
          </p:spPr>
          <p:txBody>
            <a:bodyPr wrap="none" lIns="0" tIns="0" rIns="0" bIns="0" anchor="t" anchorCtr="0">
              <a:spAutoFit/>
            </a:bodyPr>
            <a:lstStyle/>
            <a:p>
              <a:pPr algn="ctr"/>
              <a:r>
                <a:rPr lang="en-US" sz="1720" b="1" dirty="0">
                  <a:solidFill>
                    <a:srgbClr val="FFFFFF"/>
                  </a:solidFill>
                  <a:latin typeface="+mn-lt"/>
                  <a:ea typeface="+mn-ea"/>
                  <a:cs typeface="+mn-cs"/>
                </a:rPr>
                <a:t>Linear model</a:t>
              </a:r>
            </a:p>
          </p:txBody>
        </p:sp>
        <p:sp>
          <p:nvSpPr>
            <p:cNvPr id="30" name="TextBox 30"/>
            <p:cNvSpPr txBox="1"/>
            <p:nvPr/>
          </p:nvSpPr>
          <p:spPr>
            <a:xfrm>
              <a:off x="10172529" y="2540318"/>
              <a:ext cx="857593"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macro-F1</a:t>
              </a:r>
            </a:p>
          </p:txBody>
        </p:sp>
      </p:grpSp>
      <mc:AlternateContent xmlns:mc="http://schemas.openxmlformats.org/markup-compatibility/2006">
        <mc:Choice xmlns:a14="http://schemas.microsoft.com/office/drawing/2010/main" Requires="a14">
          <p:sp>
            <p:nvSpPr>
              <p:cNvPr id="32" name="formula"/>
              <p:cNvSpPr txBox="1">
                <a:spLocks noGrp="1"/>
              </p:cNvSpPr>
              <p:nvPr/>
            </p:nvSpPr>
            <p:spPr>
              <a:xfrm>
                <a:off x="609600" y="3333750"/>
                <a:ext cx="10972800" cy="7810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en-US" sz="2250" dirty="0">
                          <a:solidFill>
                            <a:srgbClr val="1C2D38"/>
                          </a:solidFill>
                          <a:latin typeface="Cambria Math"/>
                          <a:ea typeface="Cambria Math"/>
                          <a:cs typeface="Cambria Math"/>
                        </a:rPr>
                        <m:t>U</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UD</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a:rPr lang="en-US" sz="2250" dirty="0">
                          <a:solidFill>
                            <a:srgbClr val="1C2D38"/>
                          </a:solidFill>
                          <a:latin typeface="Cambria Math"/>
                          <a:ea typeface="Cambria Math"/>
                          <a:cs typeface="Cambria Math"/>
                        </a:rPr>
                        <m:t>U</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 xml:space="preserve"> </m:t>
                      </m:r>
                      <m:sSub>
                        <m:e>
                          <m:r>
                            <a:rPr lang="en-US" sz="2250" dirty="0">
                              <a:solidFill>
                                <a:srgbClr val="1C2D38"/>
                              </a:solidFill>
                              <a:latin typeface="Cambria Math"/>
                              <a:ea typeface="Cambria Math"/>
                              <a:cs typeface="Cambria Math"/>
                            </a:rPr>
                            <m:t>ϕ</m:t>
                          </m:r>
                        </m:e>
                        <m:sub>
                          <m:r>
                            <a:rPr lang="en-US" sz="2250" dirty="0">
                              <a:solidFill>
                                <a:srgbClr val="1C2D38"/>
                              </a:solidFill>
                              <a:latin typeface="Cambria Math"/>
                              <a:ea typeface="Cambria Math"/>
                              <a:cs typeface="Cambria Math"/>
                            </a:rPr>
                            <m:t>Q</m:t>
                          </m:r>
                        </m:sub>
                      </m:sSub>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func>
                        <m:funcPr/>
                        <m:fName>
                          <m:r>
                            <m:rPr>
                              <m:sty m:val="p"/>
                            </m:rPr>
                            <a:rPr lang="en-US" sz="2250" dirty="0">
                              <a:solidFill>
                                <a:srgbClr val="1C2D38"/>
                              </a:solidFill>
                              <a:latin typeface="Cambria Math"/>
                              <a:ea typeface="Cambria Math"/>
                              <a:cs typeface="Cambria Math"/>
                            </a:rPr>
                            <m:t>Normalize</m:t>
                          </m:r>
                        </m:fName>
                        <m:e>
                          <m:d>
                            <m:dPr>
                              <m:begChr m:val="("/>
                              <m:sepChr m:val=""/>
                              <m:endChr m:val=")"/>
                              <m:grow m:val="on"/>
                              <m:ctrlPr>
                                <a:rPr lang="en-US" sz="2250" dirty="0">
                                  <a:solidFill>
                                    <a:srgbClr val="1C2D38"/>
                                  </a:solidFill>
                                  <a:latin typeface="Cambria Math"/>
                                  <a:ea typeface="Cambria Math"/>
                                  <a:cs typeface="Cambria Math"/>
                                </a:rPr>
                              </m:ctrlPr>
                            </m:dPr>
                            <m:e>
                              <m:sSub>
                                <m:e>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P</m:t>
                                      </m:r>
                                      <m:d>
                                        <m:dPr>
                                          <m:begChr m:val="("/>
                                          <m:sepChr m:val=""/>
                                          <m:endChr m:val=")"/>
                                          <m:grow m:val="on"/>
                                          <m:ctrlPr>
                                            <a:rPr lang="en-US" sz="2250" dirty="0">
                                              <a:solidFill>
                                                <a:srgbClr val="1C2D38"/>
                                              </a:solidFill>
                                              <a:latin typeface="Cambria Math"/>
                                              <a:ea typeface="Cambria Math"/>
                                              <a:cs typeface="Cambria Math"/>
                                            </a:rPr>
                                          </m:ctrlPr>
                                        </m:dPr>
                                        <m:e>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x</m:t>
                                          </m:r>
                                        </m:e>
                                      </m:d>
                                    </m:e>
                                  </m:d>
                                </m:e>
                                <m:sub>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m:rPr>
                                      <m:scr m:val="script"/>
                                      <m:sty m:val="p"/>
                                    </m:rPr>
                                    <a:rPr lang="en-US" sz="2250" dirty="0">
                                      <a:solidFill>
                                        <a:srgbClr val="1C2D38"/>
                                      </a:solidFill>
                                      <a:latin typeface="Cambria Math"/>
                                      <a:ea typeface="Cambria Math"/>
                                      <a:cs typeface="Cambria Math"/>
                                    </a:rPr>
                                    <m:t>C</m:t>
                                  </m:r>
                                </m:sub>
                              </m:sSub>
                            </m:e>
                          </m:d>
                        </m:e>
                      </m:func>
                    </m:oMath>
                  </m:oMathPara>
                </a14:m>
              </a:p>
            </p:txBody>
          </p:sp>
        </mc:Choice>
      </mc:AlternateContent>
      <p:grpSp>
        <p:nvGrpSpPr>
          <p:cNvPr id="45" name="Group 45"/>
          <p:cNvGrpSpPr/>
          <p:nvPr/>
        </p:nvGrpSpPr>
        <p:grpSpPr>
          <a:xfrm>
            <a:off x="609600" y="4438650"/>
            <a:ext cx="10972800" cy="1428750"/>
            <a:chOff x="609600" y="4438650"/>
            <a:chExt cx="10972800" cy="1428750"/>
          </a:xfrm>
        </p:grpSpPr>
        <p:sp>
          <p:nvSpPr>
            <p:cNvPr id="33" name="Rectangle 33"/>
            <p:cNvSpPr/>
            <p:nvPr/>
          </p:nvSpPr>
          <p:spPr>
            <a:xfrm>
              <a:off x="609600" y="4438650"/>
              <a:ext cx="3352800" cy="1428750"/>
            </a:xfrm>
            <a:prstGeom prst="rect">
              <a:avLst/>
            </a:prstGeom>
            <a:solidFill>
              <a:schemeClr val="accent3"/>
            </a:solidFill>
            <a:ln>
              <a:noFill/>
            </a:ln>
          </p:spPr>
        </p:sp>
        <p:sp>
          <p:nvSpPr>
            <p:cNvPr id="34" name="TextBox 34"/>
            <p:cNvSpPr txBox="1"/>
            <p:nvPr/>
          </p:nvSpPr>
          <p:spPr>
            <a:xfrm>
              <a:off x="831342" y="4607242"/>
              <a:ext cx="2402975"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1 · PERCEVAL · QUANDELA</a:t>
              </a:r>
            </a:p>
          </p:txBody>
        </p:sp>
        <p:sp>
          <p:nvSpPr>
            <p:cNvPr id="35" name="TextBox 35"/>
            <p:cNvSpPr txBox="1"/>
            <p:nvPr/>
          </p:nvSpPr>
          <p:spPr>
            <a:xfrm>
              <a:off x="826770" y="4891088"/>
              <a:ext cx="3287268"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Simulation complete</a:t>
              </a:r>
            </a:p>
          </p:txBody>
        </p:sp>
        <p:sp>
          <p:nvSpPr>
            <p:cNvPr id="36" name="TextBox 36"/>
            <p:cNvSpPr txBox="1"/>
            <p:nvPr/>
          </p:nvSpPr>
          <p:spPr>
            <a:xfrm>
              <a:off x="831342" y="5321618"/>
              <a:ext cx="2067344"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Consolas"/>
                  <a:ea typeface="Consolas"/>
                  <a:cs typeface="Consolas"/>
                </a:rPr>
                <a:t>max error 4.16 × 10⁻¹⁷</a:t>
              </a:r>
            </a:p>
          </p:txBody>
        </p:sp>
        <p:sp>
          <p:nvSpPr>
            <p:cNvPr id="37" name="Rectangle 37"/>
            <p:cNvSpPr/>
            <p:nvPr/>
          </p:nvSpPr>
          <p:spPr>
            <a:xfrm>
              <a:off x="4191000" y="4438650"/>
              <a:ext cx="3352800" cy="1428750"/>
            </a:xfrm>
            <a:prstGeom prst="rect">
              <a:avLst/>
            </a:prstGeom>
            <a:solidFill>
              <a:srgbClr val="7BA39A"/>
            </a:solidFill>
            <a:ln>
              <a:noFill/>
            </a:ln>
          </p:spPr>
        </p:sp>
        <p:sp>
          <p:nvSpPr>
            <p:cNvPr id="38" name="TextBox 38"/>
            <p:cNvSpPr txBox="1"/>
            <p:nvPr/>
          </p:nvSpPr>
          <p:spPr>
            <a:xfrm>
              <a:off x="4412742" y="4607242"/>
              <a:ext cx="2695331"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2 · SECOND IMPLEMENTATION</a:t>
              </a:r>
            </a:p>
          </p:txBody>
        </p:sp>
        <p:sp>
          <p:nvSpPr>
            <p:cNvPr id="39" name="TextBox 39"/>
            <p:cNvSpPr txBox="1"/>
            <p:nvPr/>
          </p:nvSpPr>
          <p:spPr>
            <a:xfrm>
              <a:off x="4408170" y="4891088"/>
              <a:ext cx="3335274"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MerLin cross-check</a:t>
              </a:r>
            </a:p>
          </p:txBody>
        </p:sp>
        <p:sp>
          <p:nvSpPr>
            <p:cNvPr id="40" name="TextBox 40"/>
            <p:cNvSpPr txBox="1"/>
            <p:nvPr/>
          </p:nvSpPr>
          <p:spPr>
            <a:xfrm>
              <a:off x="4412742" y="5321618"/>
              <a:ext cx="2067344" cy="264033"/>
            </a:xfrm>
            <a:prstGeom prst="rect">
              <a:avLst/>
            </a:prstGeom>
            <a:noFill/>
            <a:ln>
              <a:noFill/>
            </a:ln>
          </p:spPr>
          <p:txBody>
            <a:bodyPr wrap="none" lIns="0" tIns="0" rIns="0" bIns="0" anchor="t" anchorCtr="0">
              <a:spAutoFit/>
            </a:bodyPr>
            <a:lstStyle/>
            <a:p>
              <a:pPr algn="l"/>
              <a:r>
                <a:rPr lang="en-US" sz="1350" dirty="0">
                  <a:solidFill>
                    <a:schemeClr val="accent1"/>
                  </a:solidFill>
                  <a:latin typeface="Consolas"/>
                  <a:ea typeface="Consolas"/>
                  <a:cs typeface="Consolas"/>
                </a:rPr>
                <a:t>max error 8.33 × 10⁻¹⁷</a:t>
              </a:r>
            </a:p>
          </p:txBody>
        </p:sp>
        <p:sp>
          <p:nvSpPr>
            <p:cNvPr id="41" name="Rectangle 41"/>
            <p:cNvSpPr/>
            <p:nvPr/>
          </p:nvSpPr>
          <p:spPr>
            <a:xfrm>
              <a:off x="7772400" y="4438650"/>
              <a:ext cx="3810000" cy="1428750"/>
            </a:xfrm>
            <a:prstGeom prst="rect">
              <a:avLst/>
            </a:prstGeom>
            <a:solidFill>
              <a:schemeClr val="lt2"/>
            </a:solidFill>
            <a:ln w="28575">
              <a:solidFill>
                <a:schemeClr val="accent2"/>
              </a:solidFill>
              <a:custDash>
                <a:ds d="333333" sp="233333"/>
              </a:custDash>
            </a:ln>
          </p:spPr>
        </p:sp>
        <p:sp>
          <p:nvSpPr>
            <p:cNvPr id="42" name="TextBox 42"/>
            <p:cNvSpPr txBox="1"/>
            <p:nvPr/>
          </p:nvSpPr>
          <p:spPr>
            <a:xfrm>
              <a:off x="7994142" y="4607242"/>
              <a:ext cx="2261837"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3 · REMOTE QPU SUBSET</a:t>
              </a:r>
            </a:p>
          </p:txBody>
        </p:sp>
        <p:sp>
          <p:nvSpPr>
            <p:cNvPr id="43" name="TextBox 43"/>
            <p:cNvSpPr txBox="1"/>
            <p:nvPr/>
          </p:nvSpPr>
          <p:spPr>
            <a:xfrm>
              <a:off x="7989570" y="4891088"/>
              <a:ext cx="3223960"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Proposed next gate</a:t>
              </a:r>
            </a:p>
          </p:txBody>
        </p:sp>
        <p:sp>
          <p:nvSpPr>
            <p:cNvPr id="44" name="TextBox 44"/>
            <p:cNvSpPr txBox="1"/>
            <p:nvPr/>
          </p:nvSpPr>
          <p:spPr>
            <a:xfrm>
              <a:off x="7994142" y="5321618"/>
              <a:ext cx="17275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NOT YET EXECUTED</a:t>
              </a:r>
            </a:p>
          </p:txBody>
        </p:sp>
      </p:grpSp>
      <p:grpSp>
        <p:nvGrpSpPr>
          <p:cNvPr id="47" name="Group 47"/>
          <p:cNvGrpSpPr/>
          <p:nvPr/>
        </p:nvGrpSpPr>
        <p:grpSpPr>
          <a:xfrm>
            <a:off x="602742" y="6045518"/>
            <a:ext cx="4681552" cy="264033"/>
            <a:chOff x="602742" y="6045518"/>
            <a:chExt cx="4681552" cy="264033"/>
          </a:xfrm>
        </p:grpSpPr>
        <p:sp>
          <p:nvSpPr>
            <p:cNvPr id="46" name="TextBox 46"/>
            <p:cNvSpPr txBox="1"/>
            <p:nvPr/>
          </p:nvSpPr>
          <p:spPr>
            <a:xfrm>
              <a:off x="602742" y="6045518"/>
              <a:ext cx="4681552"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experiment_protocol.md · verification.json</a:t>
              </a:r>
            </a:p>
          </p:txBody>
        </p:sp>
      </p:grpSp>
      <p:grpSp>
        <p:nvGrpSpPr>
          <p:cNvPr id="49" name="Group 49"/>
          <p:cNvGrpSpPr/>
          <p:nvPr/>
        </p:nvGrpSpPr>
        <p:grpSpPr>
          <a:xfrm>
            <a:off x="10966723" y="6426518"/>
            <a:ext cx="622535" cy="264033"/>
            <a:chOff x="10966723" y="6426518"/>
            <a:chExt cx="622535" cy="264033"/>
          </a:xfrm>
        </p:grpSpPr>
        <p:sp>
          <p:nvSpPr>
            <p:cNvPr id="48" name="TextBox 4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877861" cy="913447"/>
            <a:chOff x="594360" y="482918"/>
            <a:chExt cx="10877861" cy="913447"/>
          </a:xfrm>
        </p:grpSpPr>
        <p:sp>
          <p:nvSpPr>
            <p:cNvPr id="3" name="TextBox 3"/>
            <p:cNvSpPr txBox="1"/>
            <p:nvPr/>
          </p:nvSpPr>
          <p:spPr>
            <a:xfrm>
              <a:off x="602742" y="482918"/>
              <a:ext cx="4850107"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FEASIBILITY QUESTION · PREDEFINED DECISION</a:t>
              </a:r>
            </a:p>
          </p:txBody>
        </p:sp>
        <p:sp>
          <p:nvSpPr>
            <p:cNvPr id="4" name="TextBox 4"/>
            <p:cNvSpPr txBox="1"/>
            <p:nvPr/>
          </p:nvSpPr>
          <p:spPr>
            <a:xfrm>
              <a:off x="594360" y="809625"/>
              <a:ext cx="1087786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feasibility question is deliberately falsifiable</a:t>
              </a:r>
            </a:p>
          </p:txBody>
        </p:sp>
      </p:grpSp>
      <p:grpSp>
        <p:nvGrpSpPr>
          <p:cNvPr id="9" name="Group 9"/>
          <p:cNvGrpSpPr/>
          <p:nvPr/>
        </p:nvGrpSpPr>
        <p:grpSpPr>
          <a:xfrm>
            <a:off x="609600" y="1466850"/>
            <a:ext cx="10972800" cy="1117473"/>
            <a:chOff x="609600" y="1466850"/>
            <a:chExt cx="10972800" cy="1117473"/>
          </a:xfrm>
        </p:grpSpPr>
        <p:sp>
          <p:nvSpPr>
            <p:cNvPr id="6" name="Rectangle 6"/>
            <p:cNvSpPr/>
            <p:nvPr/>
          </p:nvSpPr>
          <p:spPr>
            <a:xfrm>
              <a:off x="609600" y="1466850"/>
              <a:ext cx="10972800" cy="1028700"/>
            </a:xfrm>
            <a:prstGeom prst="rect">
              <a:avLst/>
            </a:prstGeom>
            <a:solidFill>
              <a:schemeClr val="accent1"/>
            </a:solidFill>
            <a:ln>
              <a:noFill/>
            </a:ln>
          </p:spPr>
        </p:sp>
        <p:sp>
          <p:nvSpPr>
            <p:cNvPr id="7" name="TextBox 7"/>
            <p:cNvSpPr txBox="1"/>
            <p:nvPr/>
          </p:nvSpPr>
          <p:spPr>
            <a:xfrm>
              <a:off x="831342" y="1625918"/>
              <a:ext cx="4651096"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AT THE SAME COMPRESSED INPUT AND 15-D OUTPUT</a:t>
              </a:r>
            </a:p>
          </p:txBody>
        </p:sp>
        <p:sp>
          <p:nvSpPr>
            <p:cNvPr id="8" name="TextBox 8"/>
            <p:cNvSpPr txBox="1"/>
            <p:nvPr/>
          </p:nvSpPr>
          <p:spPr>
            <a:xfrm>
              <a:off x="827532" y="1868805"/>
              <a:ext cx="6966204" cy="715518"/>
            </a:xfrm>
            <a:prstGeom prst="rect">
              <a:avLst/>
            </a:prstGeom>
            <a:noFill/>
            <a:ln>
              <a:noFill/>
            </a:ln>
          </p:spPr>
          <p:txBody>
            <a:bodyPr wrap="none" lIns="0" tIns="0" rIns="0" bIns="0" anchor="t" anchorCtr="0">
              <a:spAutoFit/>
            </a:bodyPr>
            <a:lstStyle/>
            <a:p>
              <a:pPr algn="l">
                <a:lnSpc>
                  <a:spcPts val="2400"/>
                </a:lnSpc>
              </a:pPr>
              <a:r>
                <a:rPr lang="en-US" sz="2100" b="1" dirty="0">
                  <a:solidFill>
                    <a:srgbClr val="FFFFFF"/>
                  </a:solidFill>
                  <a:latin typeface="+mj-lt"/>
                  <a:ea typeface="+mj-ea"/>
                  <a:cs typeface="+mj-cs"/>
                </a:rPr>
                <a:t>Can Q1 beat matched RFF, close the ELM / RBF gap,</a:t>
              </a:r>
              <a:br/>
              <a:r>
                <a:rPr lang="en-US" sz="2100" b="1" dirty="0">
                  <a:solidFill>
                    <a:srgbClr val="FFFFFF"/>
                  </a:solidFill>
                  <a:latin typeface="+mj-lt"/>
                  <a:ea typeface="+mj-ea"/>
                  <a:cs typeface="+mj-cs"/>
                </a:rPr>
                <a:t>or show practical resource value?</a:t>
              </a:r>
            </a:p>
          </p:txBody>
        </p:sp>
      </p:grpSp>
      <p:grpSp>
        <p:nvGrpSpPr>
          <p:cNvPr id="17" name="Group 17"/>
          <p:cNvGrpSpPr/>
          <p:nvPr/>
        </p:nvGrpSpPr>
        <p:grpSpPr>
          <a:xfrm>
            <a:off x="609600" y="2647950"/>
            <a:ext cx="3352800" cy="2981706"/>
            <a:chOff x="609600" y="2647950"/>
            <a:chExt cx="3352800" cy="2981706"/>
          </a:xfrm>
        </p:grpSpPr>
        <p:sp>
          <p:nvSpPr>
            <p:cNvPr id="10" name="Rectangle 10"/>
            <p:cNvSpPr/>
            <p:nvPr/>
          </p:nvSpPr>
          <p:spPr>
            <a:xfrm>
              <a:off x="609600" y="2647950"/>
              <a:ext cx="3352800" cy="2971800"/>
            </a:xfrm>
            <a:prstGeom prst="rect">
              <a:avLst/>
            </a:prstGeom>
            <a:solidFill>
              <a:schemeClr val="lt2"/>
            </a:solidFill>
            <a:ln>
              <a:noFill/>
            </a:ln>
          </p:spPr>
        </p:sp>
        <p:sp>
          <p:nvSpPr>
            <p:cNvPr id="11" name="TextBox 11"/>
            <p:cNvSpPr txBox="1"/>
            <p:nvPr/>
          </p:nvSpPr>
          <p:spPr>
            <a:xfrm>
              <a:off x="831342" y="2845118"/>
              <a:ext cx="169728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PAIRED PROTOCOL</a:t>
              </a:r>
            </a:p>
          </p:txBody>
        </p:sp>
        <p:sp>
          <p:nvSpPr>
            <p:cNvPr id="12" name="TextBox 12"/>
            <p:cNvSpPr txBox="1"/>
            <p:nvPr/>
          </p:nvSpPr>
          <p:spPr>
            <a:xfrm>
              <a:off x="826770" y="3148012"/>
              <a:ext cx="180388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12 · 24 · 48</a:t>
              </a:r>
            </a:p>
          </p:txBody>
        </p:sp>
        <p:sp>
          <p:nvSpPr>
            <p:cNvPr id="13" name="TextBox 13"/>
            <p:cNvSpPr txBox="1"/>
            <p:nvPr/>
          </p:nvSpPr>
          <p:spPr>
            <a:xfrm>
              <a:off x="831342" y="3521392"/>
              <a:ext cx="1894694"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total labels per class</a:t>
              </a:r>
            </a:p>
          </p:txBody>
        </p:sp>
        <p:sp>
          <p:nvSpPr>
            <p:cNvPr id="14" name="Line 14"/>
            <p:cNvSpPr/>
            <p:nvPr/>
          </p:nvSpPr>
          <p:spPr>
            <a:xfrm>
              <a:off x="838200" y="3886200"/>
              <a:ext cx="2895600" cy="9525"/>
            </a:xfrm>
            <a:custGeom>
              <a:avLst/>
              <a:gdLst/>
              <a:ahLst/>
              <a:cxnLst/>
              <a:rect l="l" t="t" r="r" b="b"/>
              <a:pathLst>
                <a:path w="2895600" h="9525">
                  <a:moveTo>
                    <a:pt x="0" y="0"/>
                  </a:moveTo>
                  <a:lnTo>
                    <a:pt x="2895600" y="0"/>
                  </a:lnTo>
                </a:path>
              </a:pathLst>
            </a:custGeom>
            <a:noFill/>
            <a:ln w="19050">
              <a:solidFill>
                <a:srgbClr val="C9BDA8"/>
              </a:solidFill>
            </a:ln>
          </p:spPr>
        </p:sp>
        <p:sp>
          <p:nvSpPr>
            <p:cNvPr id="15" name="TextBox 15"/>
            <p:cNvSpPr txBox="1"/>
            <p:nvPr/>
          </p:nvSpPr>
          <p:spPr>
            <a:xfrm>
              <a:off x="831342" y="4026218"/>
              <a:ext cx="2148268" cy="1368933"/>
            </a:xfrm>
            <a:prstGeom prst="rect">
              <a:avLst/>
            </a:prstGeom>
            <a:noFill/>
            <a:ln>
              <a:noFill/>
            </a:ln>
          </p:spPr>
          <p:txBody>
            <a:bodyPr wrap="none" lIns="0" tIns="0" rIns="0" bIns="0" anchor="t" anchorCtr="0">
              <a:spAutoFit/>
            </a:bodyPr>
            <a:lstStyle/>
            <a:p>
              <a:pPr algn="l">
                <a:lnSpc>
                  <a:spcPts val="2175"/>
                </a:lnSpc>
              </a:pPr>
              <a:r>
                <a:rPr lang="en-US" sz="1350" dirty="0">
                  <a:solidFill>
                    <a:schemeClr val="dk1"/>
                  </a:solidFill>
                  <a:latin typeface="+mn-lt"/>
                  <a:ea typeface="+mn-ea"/>
                  <a:cs typeface="+mn-cs"/>
                </a:rPr>
                <a:t>Subset seeds 11 · 22 · 33</a:t>
              </a:r>
              <a:br/>
              <a:r>
                <a:rPr lang="en-US" sz="1350" dirty="0">
                  <a:solidFill>
                    <a:schemeClr val="dk1"/>
                  </a:solidFill>
                  <a:latin typeface="+mn-lt"/>
                  <a:ea typeface="+mn-ea"/>
                  <a:cs typeface="+mn-cs"/>
                </a:rPr>
                <a:t>Map seeds 101 · 202 · 303</a:t>
              </a:r>
              <a:br/>
              <a:r>
                <a:rPr lang="en-US" sz="1350" dirty="0">
                  <a:solidFill>
                    <a:schemeClr val="dk1"/>
                  </a:solidFill>
                  <a:latin typeface="+mn-lt"/>
                  <a:ea typeface="+mn-ea"/>
                  <a:cs typeface="+mn-cs"/>
                </a:rPr>
                <a:t>Validation macro-F1 only</a:t>
              </a:r>
              <a:br/>
              <a:r>
                <a:rPr lang="en-US" sz="1350" dirty="0">
                  <a:solidFill>
                    <a:schemeClr val="dk1"/>
                  </a:solidFill>
                  <a:latin typeface="+mn-lt"/>
                  <a:ea typeface="+mn-ea"/>
                  <a:cs typeface="+mn-cs"/>
                </a:rPr>
                <a:t>One test evaluation</a:t>
              </a:r>
              <a:br/>
              <a:r>
                <a:rPr lang="en-US" sz="1350" dirty="0">
                  <a:solidFill>
                    <a:schemeClr val="dk1"/>
                  </a:solidFill>
                  <a:latin typeface="+mn-lt"/>
                  <a:ea typeface="+mn-ea"/>
                  <a:cs typeface="+mn-cs"/>
                </a:rPr>
                <a:t>per selected pipeline</a:t>
              </a:r>
            </a:p>
          </p:txBody>
        </p:sp>
        <p:sp>
          <p:nvSpPr>
            <p:cNvPr id="16" name="TextBox 16"/>
            <p:cNvSpPr txBox="1"/>
            <p:nvPr/>
          </p:nvSpPr>
          <p:spPr>
            <a:xfrm>
              <a:off x="832104" y="5394960"/>
              <a:ext cx="2924556"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MAP SEEDS AVERAGED—NEVER PICKED</a:t>
              </a:r>
            </a:p>
          </p:txBody>
        </p:sp>
      </p:grpSp>
      <p:grpSp>
        <p:nvGrpSpPr>
          <p:cNvPr id="33" name="Group 33"/>
          <p:cNvGrpSpPr/>
          <p:nvPr/>
        </p:nvGrpSpPr>
        <p:grpSpPr>
          <a:xfrm>
            <a:off x="4184142" y="2845118"/>
            <a:ext cx="3740658" cy="2588133"/>
            <a:chOff x="4184142" y="2845118"/>
            <a:chExt cx="3740658" cy="2588133"/>
          </a:xfrm>
        </p:grpSpPr>
        <p:sp>
          <p:nvSpPr>
            <p:cNvPr id="18" name="TextBox 18"/>
            <p:cNvSpPr txBox="1"/>
            <p:nvPr/>
          </p:nvSpPr>
          <p:spPr>
            <a:xfrm>
              <a:off x="4184142" y="2845118"/>
              <a:ext cx="317923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SEVEN FAMILIES · SAME TEST GATE</a:t>
              </a:r>
            </a:p>
          </p:txBody>
        </p:sp>
        <p:sp>
          <p:nvSpPr>
            <p:cNvPr id="19" name="Rectangle 19"/>
            <p:cNvSpPr/>
            <p:nvPr/>
          </p:nvSpPr>
          <p:spPr>
            <a:xfrm>
              <a:off x="4191000" y="3181350"/>
              <a:ext cx="3733800" cy="323850"/>
            </a:xfrm>
            <a:prstGeom prst="rect">
              <a:avLst/>
            </a:prstGeom>
            <a:solidFill>
              <a:schemeClr val="accent1"/>
            </a:solidFill>
            <a:ln>
              <a:noFill/>
            </a:ln>
          </p:spPr>
        </p:sp>
        <p:sp>
          <p:nvSpPr>
            <p:cNvPr id="20" name="TextBox 20"/>
            <p:cNvSpPr txBox="1"/>
            <p:nvPr/>
          </p:nvSpPr>
          <p:spPr>
            <a:xfrm>
              <a:off x="4336542" y="3264218"/>
              <a:ext cx="1828559"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B1 Full CLIP + linear</a:t>
              </a:r>
            </a:p>
          </p:txBody>
        </p:sp>
        <p:sp>
          <p:nvSpPr>
            <p:cNvPr id="21" name="Rectangle 21"/>
            <p:cNvSpPr/>
            <p:nvPr/>
          </p:nvSpPr>
          <p:spPr>
            <a:xfrm>
              <a:off x="4191000" y="3562350"/>
              <a:ext cx="3524250" cy="323850"/>
            </a:xfrm>
            <a:prstGeom prst="rect">
              <a:avLst/>
            </a:prstGeom>
            <a:solidFill>
              <a:srgbClr val="314552"/>
            </a:solidFill>
            <a:ln>
              <a:noFill/>
            </a:ln>
          </p:spPr>
        </p:sp>
        <p:sp>
          <p:nvSpPr>
            <p:cNvPr id="22" name="TextBox 22"/>
            <p:cNvSpPr txBox="1"/>
            <p:nvPr/>
          </p:nvSpPr>
          <p:spPr>
            <a:xfrm>
              <a:off x="4336542" y="3645218"/>
              <a:ext cx="1557752" cy="264033"/>
            </a:xfrm>
            <a:prstGeom prst="rect">
              <a:avLst/>
            </a:prstGeom>
            <a:noFill/>
            <a:ln>
              <a:noFill/>
            </a:ln>
          </p:spPr>
          <p:txBody>
            <a:bodyPr wrap="none" lIns="0" tIns="0" rIns="0" bIns="0" anchor="t" anchorCtr="0">
              <a:spAutoFit/>
            </a:bodyPr>
            <a:lstStyle/>
            <a:p>
              <a:pPr algn="l"/>
              <a:r>
                <a:rPr lang="en-US" sz="1350" dirty="0">
                  <a:solidFill>
                    <a:srgbClr val="FFFFFF"/>
                  </a:solidFill>
                  <a:latin typeface="+mn-lt"/>
                  <a:ea typeface="+mn-ea"/>
                  <a:cs typeface="+mn-cs"/>
                </a:rPr>
                <a:t>B2 Full CLIP + RBF</a:t>
              </a:r>
            </a:p>
          </p:txBody>
        </p:sp>
        <p:sp>
          <p:nvSpPr>
            <p:cNvPr id="23" name="Rectangle 23"/>
            <p:cNvSpPr/>
            <p:nvPr/>
          </p:nvSpPr>
          <p:spPr>
            <a:xfrm>
              <a:off x="4191000" y="3943350"/>
              <a:ext cx="3276600" cy="323850"/>
            </a:xfrm>
            <a:prstGeom prst="rect">
              <a:avLst/>
            </a:prstGeom>
            <a:solidFill>
              <a:schemeClr val="lt2"/>
            </a:solidFill>
            <a:ln>
              <a:noFill/>
            </a:ln>
          </p:spPr>
        </p:sp>
        <p:sp>
          <p:nvSpPr>
            <p:cNvPr id="24" name="TextBox 24"/>
            <p:cNvSpPr txBox="1"/>
            <p:nvPr/>
          </p:nvSpPr>
          <p:spPr>
            <a:xfrm>
              <a:off x="4336542" y="4026218"/>
              <a:ext cx="151911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B3 PCA-5 + linear</a:t>
              </a:r>
            </a:p>
          </p:txBody>
        </p:sp>
        <p:sp>
          <p:nvSpPr>
            <p:cNvPr id="25" name="Rectangle 25"/>
            <p:cNvSpPr/>
            <p:nvPr/>
          </p:nvSpPr>
          <p:spPr>
            <a:xfrm>
              <a:off x="4191000" y="4324350"/>
              <a:ext cx="3067050" cy="323850"/>
            </a:xfrm>
            <a:prstGeom prst="rect">
              <a:avLst/>
            </a:prstGeom>
            <a:solidFill>
              <a:srgbClr val="E2D7C4"/>
            </a:solidFill>
            <a:ln>
              <a:noFill/>
            </a:ln>
          </p:spPr>
        </p:sp>
        <p:sp>
          <p:nvSpPr>
            <p:cNvPr id="26" name="TextBox 26"/>
            <p:cNvSpPr txBox="1"/>
            <p:nvPr/>
          </p:nvSpPr>
          <p:spPr>
            <a:xfrm>
              <a:off x="4336542" y="4407218"/>
              <a:ext cx="134828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B4 PCA-5 + RBF</a:t>
              </a:r>
            </a:p>
          </p:txBody>
        </p:sp>
        <p:sp>
          <p:nvSpPr>
            <p:cNvPr id="27" name="Rectangle 27"/>
            <p:cNvSpPr/>
            <p:nvPr/>
          </p:nvSpPr>
          <p:spPr>
            <a:xfrm>
              <a:off x="4191000" y="4705350"/>
              <a:ext cx="2819400" cy="323850"/>
            </a:xfrm>
            <a:prstGeom prst="rect">
              <a:avLst/>
            </a:prstGeom>
            <a:solidFill>
              <a:srgbClr val="D6C9B2"/>
            </a:solidFill>
            <a:ln>
              <a:noFill/>
            </a:ln>
          </p:spPr>
        </p:sp>
        <p:sp>
          <p:nvSpPr>
            <p:cNvPr id="28" name="TextBox 28"/>
            <p:cNvSpPr txBox="1"/>
            <p:nvPr/>
          </p:nvSpPr>
          <p:spPr>
            <a:xfrm>
              <a:off x="4336542" y="4788218"/>
              <a:ext cx="91622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B5 RFF-15</a:t>
              </a:r>
            </a:p>
          </p:txBody>
        </p:sp>
        <p:sp>
          <p:nvSpPr>
            <p:cNvPr id="29" name="Rectangle 29"/>
            <p:cNvSpPr/>
            <p:nvPr/>
          </p:nvSpPr>
          <p:spPr>
            <a:xfrm>
              <a:off x="4191000" y="5086350"/>
              <a:ext cx="2571750" cy="323850"/>
            </a:xfrm>
            <a:prstGeom prst="rect">
              <a:avLst/>
            </a:prstGeom>
            <a:solidFill>
              <a:srgbClr val="B9D0C7"/>
            </a:solidFill>
            <a:ln>
              <a:noFill/>
            </a:ln>
          </p:spPr>
        </p:sp>
        <p:sp>
          <p:nvSpPr>
            <p:cNvPr id="30" name="TextBox 30"/>
            <p:cNvSpPr txBox="1"/>
            <p:nvPr/>
          </p:nvSpPr>
          <p:spPr>
            <a:xfrm>
              <a:off x="4336542" y="5169218"/>
              <a:ext cx="954634" cy="264033"/>
            </a:xfrm>
            <a:prstGeom prst="rect">
              <a:avLst/>
            </a:prstGeom>
            <a:noFill/>
            <a:ln>
              <a:noFill/>
            </a:ln>
          </p:spPr>
          <p:txBody>
            <a:bodyPr wrap="none" lIns="0" tIns="0" rIns="0" bIns="0" anchor="t" anchorCtr="0">
              <a:spAutoFit/>
            </a:bodyPr>
            <a:lstStyle/>
            <a:p>
              <a:pPr algn="l"/>
              <a:r>
                <a:rPr lang="en-US" sz="1350" dirty="0">
                  <a:solidFill>
                    <a:schemeClr val="accent1"/>
                  </a:solidFill>
                  <a:latin typeface="+mn-lt"/>
                  <a:ea typeface="+mn-ea"/>
                  <a:cs typeface="+mn-cs"/>
                </a:rPr>
                <a:t>B6 ELM-15</a:t>
              </a:r>
            </a:p>
          </p:txBody>
        </p:sp>
        <p:sp>
          <p:nvSpPr>
            <p:cNvPr id="31" name="Rectangle 31"/>
            <p:cNvSpPr/>
            <p:nvPr/>
          </p:nvSpPr>
          <p:spPr>
            <a:xfrm>
              <a:off x="6819900" y="5086350"/>
              <a:ext cx="1104900" cy="323850"/>
            </a:xfrm>
            <a:prstGeom prst="rect">
              <a:avLst/>
            </a:prstGeom>
            <a:solidFill>
              <a:schemeClr val="accent2"/>
            </a:solidFill>
            <a:ln>
              <a:noFill/>
            </a:ln>
          </p:spPr>
        </p:sp>
        <p:sp>
          <p:nvSpPr>
            <p:cNvPr id="32" name="TextBox 32"/>
            <p:cNvSpPr txBox="1"/>
            <p:nvPr/>
          </p:nvSpPr>
          <p:spPr>
            <a:xfrm>
              <a:off x="7068095" y="5169218"/>
              <a:ext cx="608510"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Q1-15</a:t>
              </a:r>
            </a:p>
          </p:txBody>
        </p:sp>
      </p:grpSp>
      <p:grpSp>
        <p:nvGrpSpPr>
          <p:cNvPr id="42" name="Group 42"/>
          <p:cNvGrpSpPr/>
          <p:nvPr/>
        </p:nvGrpSpPr>
        <p:grpSpPr>
          <a:xfrm>
            <a:off x="8153400" y="2647950"/>
            <a:ext cx="3429000" cy="2971800"/>
            <a:chOff x="8153400" y="2647950"/>
            <a:chExt cx="3429000" cy="2971800"/>
          </a:xfrm>
        </p:grpSpPr>
        <p:sp>
          <p:nvSpPr>
            <p:cNvPr id="34" name="Rectangle 34"/>
            <p:cNvSpPr/>
            <p:nvPr/>
          </p:nvSpPr>
          <p:spPr>
            <a:xfrm>
              <a:off x="8153400" y="2647950"/>
              <a:ext cx="3429000" cy="1352550"/>
            </a:xfrm>
            <a:prstGeom prst="rect">
              <a:avLst/>
            </a:prstGeom>
            <a:solidFill>
              <a:schemeClr val="accent3"/>
            </a:solidFill>
            <a:ln>
              <a:noFill/>
            </a:ln>
          </p:spPr>
        </p:sp>
        <p:sp>
          <p:nvSpPr>
            <p:cNvPr id="35" name="TextBox 35"/>
            <p:cNvSpPr txBox="1"/>
            <p:nvPr/>
          </p:nvSpPr>
          <p:spPr>
            <a:xfrm>
              <a:off x="8375142" y="2826068"/>
              <a:ext cx="139484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CONTINUE GATE</a:t>
              </a:r>
            </a:p>
          </p:txBody>
        </p:sp>
        <p:sp>
          <p:nvSpPr>
            <p:cNvPr id="36" name="TextBox 36"/>
            <p:cNvSpPr txBox="1"/>
            <p:nvPr/>
          </p:nvSpPr>
          <p:spPr>
            <a:xfrm>
              <a:off x="8372856" y="3139440"/>
              <a:ext cx="2274570" cy="656844"/>
            </a:xfrm>
            <a:prstGeom prst="rect">
              <a:avLst/>
            </a:prstGeom>
            <a:noFill/>
            <a:ln>
              <a:noFill/>
            </a:ln>
          </p:spPr>
          <p:txBody>
            <a:bodyPr wrap="none" lIns="0" tIns="0" rIns="0" bIns="0" anchor="t" anchorCtr="0">
              <a:spAutoFit/>
            </a:bodyPr>
            <a:lstStyle/>
            <a:p>
              <a:pPr algn="l">
                <a:lnSpc>
                  <a:spcPts val="2400"/>
                </a:lnSpc>
              </a:pPr>
              <a:r>
                <a:rPr lang="en-US" sz="1800" b="1" dirty="0">
                  <a:solidFill>
                    <a:srgbClr val="FFFFFF"/>
                  </a:solidFill>
                  <a:latin typeface="+mj-lt"/>
                  <a:ea typeface="+mj-ea"/>
                  <a:cs typeface="+mj-cs"/>
                </a:rPr>
                <a:t>Close ELM / RBF gap</a:t>
              </a:r>
              <a:br/>
              <a:r>
                <a:rPr lang="en-US" sz="1800" b="1" dirty="0">
                  <a:solidFill>
                    <a:srgbClr val="FFFFFF"/>
                  </a:solidFill>
                  <a:latin typeface="+mj-lt"/>
                  <a:ea typeface="+mj-ea"/>
                  <a:cs typeface="+mj-cs"/>
                </a:rPr>
                <a:t>across outer folds</a:t>
              </a:r>
            </a:p>
          </p:txBody>
        </p:sp>
        <p:sp>
          <p:nvSpPr>
            <p:cNvPr id="37" name="TextBox 37"/>
            <p:cNvSpPr txBox="1"/>
            <p:nvPr/>
          </p:nvSpPr>
          <p:spPr>
            <a:xfrm>
              <a:off x="8375142" y="3711892"/>
              <a:ext cx="2930595"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or show practical resource value</a:t>
              </a:r>
            </a:p>
          </p:txBody>
        </p:sp>
        <p:sp>
          <p:nvSpPr>
            <p:cNvPr id="38" name="Rectangle 38"/>
            <p:cNvSpPr/>
            <p:nvPr/>
          </p:nvSpPr>
          <p:spPr>
            <a:xfrm>
              <a:off x="8153400" y="4171950"/>
              <a:ext cx="3429000" cy="1447800"/>
            </a:xfrm>
            <a:prstGeom prst="rect">
              <a:avLst/>
            </a:prstGeom>
            <a:solidFill>
              <a:schemeClr val="accent2"/>
            </a:solidFill>
            <a:ln>
              <a:noFill/>
            </a:ln>
          </p:spPr>
        </p:sp>
        <p:sp>
          <p:nvSpPr>
            <p:cNvPr id="39" name="TextBox 39"/>
            <p:cNvSpPr txBox="1"/>
            <p:nvPr/>
          </p:nvSpPr>
          <p:spPr>
            <a:xfrm>
              <a:off x="8375142" y="4350068"/>
              <a:ext cx="1001679"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STOP GATE</a:t>
              </a:r>
            </a:p>
          </p:txBody>
        </p:sp>
        <p:sp>
          <p:nvSpPr>
            <p:cNvPr id="40" name="TextBox 40"/>
            <p:cNvSpPr txBox="1"/>
            <p:nvPr/>
          </p:nvSpPr>
          <p:spPr>
            <a:xfrm>
              <a:off x="8372856" y="4663440"/>
              <a:ext cx="2994660" cy="656844"/>
            </a:xfrm>
            <a:prstGeom prst="rect">
              <a:avLst/>
            </a:prstGeom>
            <a:noFill/>
            <a:ln>
              <a:noFill/>
            </a:ln>
          </p:spPr>
          <p:txBody>
            <a:bodyPr wrap="none" lIns="0" tIns="0" rIns="0" bIns="0" anchor="t" anchorCtr="0">
              <a:spAutoFit/>
            </a:bodyPr>
            <a:lstStyle/>
            <a:p>
              <a:pPr algn="l">
                <a:lnSpc>
                  <a:spcPts val="2400"/>
                </a:lnSpc>
              </a:pPr>
              <a:r>
                <a:rPr lang="en-US" sz="1800" b="1" dirty="0">
                  <a:solidFill>
                    <a:srgbClr val="FFFFFF"/>
                  </a:solidFill>
                  <a:latin typeface="+mj-lt"/>
                  <a:ea typeface="+mj-ea"/>
                  <a:cs typeface="+mj-cs"/>
                </a:rPr>
                <a:t>If Q1 only beats RFF</a:t>
              </a:r>
              <a:br/>
              <a:r>
                <a:rPr lang="en-US" sz="1800" b="1" dirty="0">
                  <a:solidFill>
                    <a:srgbClr val="FFFFFF"/>
                  </a:solidFill>
                  <a:latin typeface="+mj-lt"/>
                  <a:ea typeface="+mj-ea"/>
                  <a:cs typeface="+mj-cs"/>
                </a:rPr>
                <a:t>while strong controls win</a:t>
              </a:r>
            </a:p>
          </p:txBody>
        </p:sp>
        <p:sp>
          <p:nvSpPr>
            <p:cNvPr id="41" name="TextBox 41"/>
            <p:cNvSpPr txBox="1"/>
            <p:nvPr/>
          </p:nvSpPr>
          <p:spPr>
            <a:xfrm>
              <a:off x="8375142" y="5245418"/>
              <a:ext cx="2685250"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FEASIBILITY WITHOUT UTILITY</a:t>
              </a:r>
            </a:p>
          </p:txBody>
        </p:sp>
      </p:grpSp>
      <p:grpSp>
        <p:nvGrpSpPr>
          <p:cNvPr id="44" name="Group 44"/>
          <p:cNvGrpSpPr/>
          <p:nvPr/>
        </p:nvGrpSpPr>
        <p:grpSpPr>
          <a:xfrm>
            <a:off x="602742" y="6045518"/>
            <a:ext cx="7625560" cy="264033"/>
            <a:chOff x="602742" y="6045518"/>
            <a:chExt cx="7625560" cy="264033"/>
          </a:xfrm>
        </p:grpSpPr>
        <p:sp>
          <p:nvSpPr>
            <p:cNvPr id="43" name="TextBox 43"/>
            <p:cNvSpPr txBox="1"/>
            <p:nvPr/>
          </p:nvSpPr>
          <p:spPr>
            <a:xfrm>
              <a:off x="602742" y="6045518"/>
              <a:ext cx="7625560"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frozen experiment protocol · repeated evaluations share one outer test fold</a:t>
              </a:r>
            </a:p>
          </p:txBody>
        </p:sp>
      </p:grpSp>
      <p:grpSp>
        <p:nvGrpSpPr>
          <p:cNvPr id="46" name="Group 46"/>
          <p:cNvGrpSpPr/>
          <p:nvPr/>
        </p:nvGrpSpPr>
        <p:grpSpPr>
          <a:xfrm>
            <a:off x="10966723" y="6426518"/>
            <a:ext cx="622535" cy="264033"/>
            <a:chOff x="10966723" y="6426518"/>
            <a:chExt cx="622535" cy="264033"/>
          </a:xfrm>
        </p:grpSpPr>
        <p:sp>
          <p:nvSpPr>
            <p:cNvPr id="45" name="TextBox 45"/>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851958" cy="913447"/>
            <a:chOff x="594360" y="482918"/>
            <a:chExt cx="11851958" cy="913447"/>
          </a:xfrm>
        </p:grpSpPr>
        <p:sp>
          <p:nvSpPr>
            <p:cNvPr id="3" name="TextBox 3"/>
            <p:cNvSpPr txBox="1"/>
            <p:nvPr/>
          </p:nvSpPr>
          <p:spPr>
            <a:xfrm>
              <a:off x="602742" y="482918"/>
              <a:ext cx="5590520"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APPROACH · COMPLETED PILOT → PROPOSED PROJECT</a:t>
              </a:r>
            </a:p>
          </p:txBody>
        </p:sp>
        <p:sp>
          <p:nvSpPr>
            <p:cNvPr id="4" name="TextBox 4"/>
            <p:cNvSpPr txBox="1"/>
            <p:nvPr/>
          </p:nvSpPr>
          <p:spPr>
            <a:xfrm>
              <a:off x="594360" y="809625"/>
              <a:ext cx="11851958"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12-week project starts after the completed pilot</a:t>
              </a:r>
            </a:p>
          </p:txBody>
        </p:sp>
      </p:grpSp>
      <p:grpSp>
        <p:nvGrpSpPr>
          <p:cNvPr id="9" name="Group 9"/>
          <p:cNvGrpSpPr/>
          <p:nvPr/>
        </p:nvGrpSpPr>
        <p:grpSpPr>
          <a:xfrm>
            <a:off x="609600" y="1390650"/>
            <a:ext cx="10972800" cy="495300"/>
            <a:chOff x="609600" y="1390650"/>
            <a:chExt cx="10972800" cy="495300"/>
          </a:xfrm>
        </p:grpSpPr>
        <p:sp>
          <p:nvSpPr>
            <p:cNvPr id="6" name="Rectangle 6"/>
            <p:cNvSpPr/>
            <p:nvPr/>
          </p:nvSpPr>
          <p:spPr>
            <a:xfrm>
              <a:off x="609600" y="1390650"/>
              <a:ext cx="10972800" cy="495300"/>
            </a:xfrm>
            <a:prstGeom prst="rect">
              <a:avLst/>
            </a:prstGeom>
            <a:solidFill>
              <a:schemeClr val="accent3"/>
            </a:solidFill>
            <a:ln>
              <a:noFill/>
            </a:ln>
          </p:spPr>
        </p:sp>
        <p:sp>
          <p:nvSpPr>
            <p:cNvPr id="7" name="TextBox 7"/>
            <p:cNvSpPr txBox="1"/>
            <p:nvPr/>
          </p:nvSpPr>
          <p:spPr>
            <a:xfrm>
              <a:off x="831342" y="1559242"/>
              <a:ext cx="2927200"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PRE-STUDY · COMPLETED PILOT</a:t>
              </a:r>
            </a:p>
          </p:txBody>
        </p:sp>
        <p:sp>
          <p:nvSpPr>
            <p:cNvPr id="8" name="TextBox 8"/>
            <p:cNvSpPr txBox="1"/>
            <p:nvPr/>
          </p:nvSpPr>
          <p:spPr>
            <a:xfrm>
              <a:off x="3726942" y="1559242"/>
              <a:ext cx="6090095"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Data audit · frozen protocol · simulator verification · fold-0 result</a:t>
              </a:r>
            </a:p>
          </p:txBody>
        </p:sp>
      </p:grpSp>
      <p:grpSp>
        <p:nvGrpSpPr>
          <p:cNvPr id="66" name="Group 66"/>
          <p:cNvGrpSpPr/>
          <p:nvPr/>
        </p:nvGrpSpPr>
        <p:grpSpPr>
          <a:xfrm>
            <a:off x="609600" y="1924050"/>
            <a:ext cx="10972800" cy="3467100"/>
            <a:chOff x="609600" y="1924050"/>
            <a:chExt cx="10972800" cy="3467100"/>
          </a:xfrm>
        </p:grpSpPr>
        <p:sp>
          <p:nvSpPr>
            <p:cNvPr id="10" name="Line 10"/>
            <p:cNvSpPr/>
            <p:nvPr/>
          </p:nvSpPr>
          <p:spPr>
            <a:xfrm>
              <a:off x="1447800" y="2143125"/>
              <a:ext cx="9296400" cy="9525"/>
            </a:xfrm>
            <a:custGeom>
              <a:avLst/>
              <a:gdLst/>
              <a:ahLst/>
              <a:cxnLst/>
              <a:rect l="l" t="t" r="r" b="b"/>
              <a:pathLst>
                <a:path w="9296400" h="9525">
                  <a:moveTo>
                    <a:pt x="0" y="0"/>
                  </a:moveTo>
                  <a:lnTo>
                    <a:pt x="9296400" y="0"/>
                  </a:lnTo>
                </a:path>
              </a:pathLst>
            </a:custGeom>
            <a:noFill/>
            <a:ln w="47625">
              <a:solidFill>
                <a:srgbClr val="C9BDA8"/>
              </a:solidFill>
            </a:ln>
          </p:spPr>
        </p:sp>
        <p:sp>
          <p:nvSpPr>
            <p:cNvPr id="11" name="Ellipse 11"/>
            <p:cNvSpPr/>
            <p:nvPr/>
          </p:nvSpPr>
          <p:spPr>
            <a:xfrm>
              <a:off x="1228725" y="1924050"/>
              <a:ext cx="438150" cy="438150"/>
            </a:xfrm>
            <a:prstGeom prst="ellipse">
              <a:avLst/>
            </a:prstGeom>
            <a:solidFill>
              <a:schemeClr val="accent3"/>
            </a:solidFill>
            <a:ln>
              <a:noFill/>
            </a:ln>
          </p:spPr>
        </p:sp>
        <p:sp>
          <p:nvSpPr>
            <p:cNvPr id="12" name="TextBox 12"/>
            <p:cNvSpPr txBox="1"/>
            <p:nvPr/>
          </p:nvSpPr>
          <p:spPr>
            <a:xfrm>
              <a:off x="12835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1–2</a:t>
              </a:r>
            </a:p>
          </p:txBody>
        </p:sp>
        <p:sp>
          <p:nvSpPr>
            <p:cNvPr id="13" name="Ellipse 13"/>
            <p:cNvSpPr/>
            <p:nvPr/>
          </p:nvSpPr>
          <p:spPr>
            <a:xfrm>
              <a:off x="3057525" y="1924050"/>
              <a:ext cx="438150" cy="438150"/>
            </a:xfrm>
            <a:prstGeom prst="ellipse">
              <a:avLst/>
            </a:prstGeom>
            <a:solidFill>
              <a:schemeClr val="accent3"/>
            </a:solidFill>
            <a:ln>
              <a:noFill/>
            </a:ln>
          </p:spPr>
        </p:sp>
        <p:sp>
          <p:nvSpPr>
            <p:cNvPr id="14" name="TextBox 14"/>
            <p:cNvSpPr txBox="1"/>
            <p:nvPr/>
          </p:nvSpPr>
          <p:spPr>
            <a:xfrm>
              <a:off x="31123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3–4</a:t>
              </a:r>
            </a:p>
          </p:txBody>
        </p:sp>
        <p:sp>
          <p:nvSpPr>
            <p:cNvPr id="15" name="Ellipse 15"/>
            <p:cNvSpPr/>
            <p:nvPr/>
          </p:nvSpPr>
          <p:spPr>
            <a:xfrm>
              <a:off x="4886325" y="1924050"/>
              <a:ext cx="438150" cy="438150"/>
            </a:xfrm>
            <a:prstGeom prst="ellipse">
              <a:avLst/>
            </a:prstGeom>
            <a:solidFill>
              <a:schemeClr val="accent3"/>
            </a:solidFill>
            <a:ln>
              <a:noFill/>
            </a:ln>
          </p:spPr>
        </p:sp>
        <p:sp>
          <p:nvSpPr>
            <p:cNvPr id="16" name="TextBox 16"/>
            <p:cNvSpPr txBox="1"/>
            <p:nvPr/>
          </p:nvSpPr>
          <p:spPr>
            <a:xfrm>
              <a:off x="49411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5–6</a:t>
              </a:r>
            </a:p>
          </p:txBody>
        </p:sp>
        <p:sp>
          <p:nvSpPr>
            <p:cNvPr id="17" name="Ellipse 17"/>
            <p:cNvSpPr/>
            <p:nvPr/>
          </p:nvSpPr>
          <p:spPr>
            <a:xfrm>
              <a:off x="6715125" y="1924050"/>
              <a:ext cx="438150" cy="438150"/>
            </a:xfrm>
            <a:prstGeom prst="ellipse">
              <a:avLst/>
            </a:prstGeom>
            <a:solidFill>
              <a:schemeClr val="accent3"/>
            </a:solidFill>
            <a:ln>
              <a:noFill/>
            </a:ln>
          </p:spPr>
        </p:sp>
        <p:sp>
          <p:nvSpPr>
            <p:cNvPr id="18" name="TextBox 18"/>
            <p:cNvSpPr txBox="1"/>
            <p:nvPr/>
          </p:nvSpPr>
          <p:spPr>
            <a:xfrm>
              <a:off x="6769912" y="20640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7–8</a:t>
              </a:r>
            </a:p>
          </p:txBody>
        </p:sp>
        <p:sp>
          <p:nvSpPr>
            <p:cNvPr id="19" name="Ellipse 19"/>
            <p:cNvSpPr/>
            <p:nvPr/>
          </p:nvSpPr>
          <p:spPr>
            <a:xfrm>
              <a:off x="8543925" y="1924050"/>
              <a:ext cx="438150" cy="438150"/>
            </a:xfrm>
            <a:prstGeom prst="ellipse">
              <a:avLst/>
            </a:prstGeom>
            <a:solidFill>
              <a:schemeClr val="accent3"/>
            </a:solidFill>
            <a:ln>
              <a:noFill/>
            </a:ln>
          </p:spPr>
        </p:sp>
        <p:sp>
          <p:nvSpPr>
            <p:cNvPr id="20" name="TextBox 20"/>
            <p:cNvSpPr txBox="1"/>
            <p:nvPr/>
          </p:nvSpPr>
          <p:spPr>
            <a:xfrm>
              <a:off x="8546236" y="2064068"/>
              <a:ext cx="433528"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9–10</a:t>
              </a:r>
            </a:p>
          </p:txBody>
        </p:sp>
        <p:sp>
          <p:nvSpPr>
            <p:cNvPr id="21" name="Ellipse 21"/>
            <p:cNvSpPr/>
            <p:nvPr/>
          </p:nvSpPr>
          <p:spPr>
            <a:xfrm>
              <a:off x="10372725" y="1924050"/>
              <a:ext cx="438150" cy="438150"/>
            </a:xfrm>
            <a:prstGeom prst="ellipse">
              <a:avLst/>
            </a:prstGeom>
            <a:solidFill>
              <a:schemeClr val="accent1"/>
            </a:solidFill>
            <a:ln>
              <a:noFill/>
            </a:ln>
          </p:spPr>
        </p:sp>
        <p:sp>
          <p:nvSpPr>
            <p:cNvPr id="22" name="TextBox 22"/>
            <p:cNvSpPr txBox="1"/>
            <p:nvPr/>
          </p:nvSpPr>
          <p:spPr>
            <a:xfrm>
              <a:off x="10352475" y="2080260"/>
              <a:ext cx="478650"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Consolas"/>
                  <a:ea typeface="Consolas"/>
                  <a:cs typeface="Consolas"/>
                </a:rPr>
                <a:t>11–12</a:t>
              </a:r>
            </a:p>
          </p:txBody>
        </p:sp>
        <p:sp>
          <p:nvSpPr>
            <p:cNvPr id="23" name="Rectangle 23"/>
            <p:cNvSpPr/>
            <p:nvPr/>
          </p:nvSpPr>
          <p:spPr>
            <a:xfrm>
              <a:off x="609600" y="2495550"/>
              <a:ext cx="1676400" cy="2895600"/>
            </a:xfrm>
            <a:prstGeom prst="rect">
              <a:avLst/>
            </a:prstGeom>
            <a:solidFill>
              <a:schemeClr val="lt2"/>
            </a:solidFill>
            <a:ln>
              <a:noFill/>
            </a:ln>
          </p:spPr>
        </p:sp>
        <p:sp>
          <p:nvSpPr>
            <p:cNvPr id="24" name="TextBox 24"/>
            <p:cNvSpPr txBox="1"/>
            <p:nvPr/>
          </p:nvSpPr>
          <p:spPr>
            <a:xfrm>
              <a:off x="755142" y="2664142"/>
              <a:ext cx="961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REPLICATE</a:t>
              </a:r>
            </a:p>
          </p:txBody>
        </p:sp>
        <p:sp>
          <p:nvSpPr>
            <p:cNvPr id="25" name="TextBox 25"/>
            <p:cNvSpPr txBox="1"/>
            <p:nvPr/>
          </p:nvSpPr>
          <p:spPr>
            <a:xfrm>
              <a:off x="753237" y="2976086"/>
              <a:ext cx="1233145"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Five-fold</a:t>
              </a:r>
              <a:br/>
              <a:r>
                <a:rPr lang="en-US" sz="1720" b="1" dirty="0">
                  <a:solidFill>
                    <a:schemeClr val="accent1"/>
                  </a:solidFill>
                  <a:latin typeface="+mj-lt"/>
                  <a:ea typeface="+mj-ea"/>
                  <a:cs typeface="+mj-cs"/>
                </a:rPr>
                <a:t>replication</a:t>
              </a:r>
            </a:p>
          </p:txBody>
        </p:sp>
        <p:sp>
          <p:nvSpPr>
            <p:cNvPr id="26" name="TextBox 26"/>
            <p:cNvSpPr txBox="1"/>
            <p:nvPr/>
          </p:nvSpPr>
          <p:spPr>
            <a:xfrm>
              <a:off x="7559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27" name="TextBox 27"/>
            <p:cNvSpPr txBox="1"/>
            <p:nvPr/>
          </p:nvSpPr>
          <p:spPr>
            <a:xfrm>
              <a:off x="755523" y="3996214"/>
              <a:ext cx="13191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Fold-level table</a:t>
              </a:r>
            </a:p>
          </p:txBody>
        </p:sp>
        <p:sp>
          <p:nvSpPr>
            <p:cNvPr id="28" name="TextBox 28"/>
            <p:cNvSpPr txBox="1"/>
            <p:nvPr/>
          </p:nvSpPr>
          <p:spPr>
            <a:xfrm>
              <a:off x="7559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29" name="TextBox 29"/>
            <p:cNvSpPr txBox="1"/>
            <p:nvPr/>
          </p:nvSpPr>
          <p:spPr>
            <a:xfrm>
              <a:off x="755523" y="4701064"/>
              <a:ext cx="1142746"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Ranking stable</a:t>
              </a:r>
              <a:br/>
              <a:r>
                <a:rPr lang="en-US" sz="1280" dirty="0">
                  <a:solidFill>
                    <a:schemeClr val="dk1"/>
                  </a:solidFill>
                  <a:latin typeface="+mn-lt"/>
                  <a:ea typeface="+mn-ea"/>
                  <a:cs typeface="+mn-cs"/>
                </a:rPr>
                <a:t>across folds</a:t>
              </a:r>
            </a:p>
          </p:txBody>
        </p:sp>
        <p:sp>
          <p:nvSpPr>
            <p:cNvPr id="30" name="Rectangle 30"/>
            <p:cNvSpPr/>
            <p:nvPr/>
          </p:nvSpPr>
          <p:spPr>
            <a:xfrm>
              <a:off x="2438400" y="2495550"/>
              <a:ext cx="1676400" cy="2895600"/>
            </a:xfrm>
            <a:prstGeom prst="rect">
              <a:avLst/>
            </a:prstGeom>
            <a:solidFill>
              <a:schemeClr val="accent1"/>
            </a:solidFill>
            <a:ln>
              <a:noFill/>
            </a:ln>
          </p:spPr>
        </p:sp>
        <p:sp>
          <p:nvSpPr>
            <p:cNvPr id="31" name="TextBox 31"/>
            <p:cNvSpPr txBox="1"/>
            <p:nvPr/>
          </p:nvSpPr>
          <p:spPr>
            <a:xfrm>
              <a:off x="2583942" y="2664142"/>
              <a:ext cx="679079"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ABLATE</a:t>
              </a:r>
            </a:p>
          </p:txBody>
        </p:sp>
        <p:sp>
          <p:nvSpPr>
            <p:cNvPr id="32" name="TextBox 32"/>
            <p:cNvSpPr txBox="1"/>
            <p:nvPr/>
          </p:nvSpPr>
          <p:spPr>
            <a:xfrm>
              <a:off x="2582418" y="2984182"/>
              <a:ext cx="162974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j-lt"/>
                  <a:ea typeface="+mj-ea"/>
                  <a:cs typeface="+mj-cs"/>
                </a:rPr>
                <a:t>PCA · circuit</a:t>
              </a:r>
            </a:p>
          </p:txBody>
        </p:sp>
        <p:sp>
          <p:nvSpPr>
            <p:cNvPr id="33" name="TextBox 33"/>
            <p:cNvSpPr txBox="1"/>
            <p:nvPr/>
          </p:nvSpPr>
          <p:spPr>
            <a:xfrm>
              <a:off x="2583180" y="3276600"/>
              <a:ext cx="1460221"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j-lt"/>
                  <a:ea typeface="+mj-ea"/>
                  <a:cs typeface="+mj-cs"/>
                </a:rPr>
                <a:t>measurement</a:t>
              </a:r>
            </a:p>
          </p:txBody>
        </p:sp>
        <p:sp>
          <p:nvSpPr>
            <p:cNvPr id="34" name="TextBox 34"/>
            <p:cNvSpPr txBox="1"/>
            <p:nvPr/>
          </p:nvSpPr>
          <p:spPr>
            <a:xfrm>
              <a:off x="2584704" y="37471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35" name="TextBox 35"/>
            <p:cNvSpPr txBox="1"/>
            <p:nvPr/>
          </p:nvSpPr>
          <p:spPr>
            <a:xfrm>
              <a:off x="2584323" y="3996214"/>
              <a:ext cx="1301881"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Ablation matrix</a:t>
              </a:r>
            </a:p>
          </p:txBody>
        </p:sp>
        <p:sp>
          <p:nvSpPr>
            <p:cNvPr id="36" name="TextBox 36"/>
            <p:cNvSpPr txBox="1"/>
            <p:nvPr/>
          </p:nvSpPr>
          <p:spPr>
            <a:xfrm>
              <a:off x="2584704" y="44519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37" name="TextBox 37"/>
            <p:cNvSpPr txBox="1"/>
            <p:nvPr/>
          </p:nvSpPr>
          <p:spPr>
            <a:xfrm>
              <a:off x="2584323" y="4701064"/>
              <a:ext cx="1394714"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BF7EE"/>
                  </a:solidFill>
                  <a:latin typeface="+mn-lt"/>
                  <a:ea typeface="+mn-ea"/>
                  <a:cs typeface="+mn-cs"/>
                </a:rPr>
                <a:t>Candidate beats</a:t>
              </a:r>
              <a:br/>
              <a:r>
                <a:rPr lang="en-US" sz="1280" dirty="0">
                  <a:solidFill>
                    <a:srgbClr val="FBF7EE"/>
                  </a:solidFill>
                  <a:latin typeface="+mn-lt"/>
                  <a:ea typeface="+mn-ea"/>
                  <a:cs typeface="+mn-cs"/>
                </a:rPr>
                <a:t>matched controls</a:t>
              </a:r>
            </a:p>
          </p:txBody>
        </p:sp>
        <p:sp>
          <p:nvSpPr>
            <p:cNvPr id="38" name="Rectangle 38"/>
            <p:cNvSpPr/>
            <p:nvPr/>
          </p:nvSpPr>
          <p:spPr>
            <a:xfrm>
              <a:off x="4267200" y="2495550"/>
              <a:ext cx="1676400" cy="2895600"/>
            </a:xfrm>
            <a:prstGeom prst="rect">
              <a:avLst/>
            </a:prstGeom>
            <a:solidFill>
              <a:schemeClr val="lt2"/>
            </a:solidFill>
            <a:ln>
              <a:noFill/>
            </a:ln>
          </p:spPr>
        </p:sp>
        <p:sp>
          <p:nvSpPr>
            <p:cNvPr id="39" name="TextBox 39"/>
            <p:cNvSpPr txBox="1"/>
            <p:nvPr/>
          </p:nvSpPr>
          <p:spPr>
            <a:xfrm>
              <a:off x="4412742" y="2664142"/>
              <a:ext cx="55810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NOISE</a:t>
              </a:r>
            </a:p>
          </p:txBody>
        </p:sp>
        <p:sp>
          <p:nvSpPr>
            <p:cNvPr id="40" name="TextBox 40"/>
            <p:cNvSpPr txBox="1"/>
            <p:nvPr/>
          </p:nvSpPr>
          <p:spPr>
            <a:xfrm>
              <a:off x="4410837" y="2976086"/>
              <a:ext cx="1359294"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Loss · drift</a:t>
              </a:r>
              <a:br/>
              <a:r>
                <a:rPr lang="en-US" sz="1720" b="1" dirty="0">
                  <a:solidFill>
                    <a:schemeClr val="accent1"/>
                  </a:solidFill>
                  <a:latin typeface="+mj-lt"/>
                  <a:ea typeface="+mj-ea"/>
                  <a:cs typeface="+mj-cs"/>
                </a:rPr>
                <a:t>detectors</a:t>
              </a:r>
            </a:p>
          </p:txBody>
        </p:sp>
        <p:sp>
          <p:nvSpPr>
            <p:cNvPr id="41" name="TextBox 41"/>
            <p:cNvSpPr txBox="1"/>
            <p:nvPr/>
          </p:nvSpPr>
          <p:spPr>
            <a:xfrm>
              <a:off x="44135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42" name="TextBox 42"/>
            <p:cNvSpPr txBox="1"/>
            <p:nvPr/>
          </p:nvSpPr>
          <p:spPr>
            <a:xfrm>
              <a:off x="4413123" y="3996214"/>
              <a:ext cx="1586555"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Robustness curves</a:t>
              </a:r>
            </a:p>
          </p:txBody>
        </p:sp>
        <p:sp>
          <p:nvSpPr>
            <p:cNvPr id="43" name="TextBox 43"/>
            <p:cNvSpPr txBox="1"/>
            <p:nvPr/>
          </p:nvSpPr>
          <p:spPr>
            <a:xfrm>
              <a:off x="44135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44" name="TextBox 44"/>
            <p:cNvSpPr txBox="1"/>
            <p:nvPr/>
          </p:nvSpPr>
          <p:spPr>
            <a:xfrm>
              <a:off x="4413123" y="4701064"/>
              <a:ext cx="1370330"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No collapse under</a:t>
              </a:r>
              <a:br/>
              <a:r>
                <a:rPr lang="en-US" sz="1280" dirty="0">
                  <a:solidFill>
                    <a:schemeClr val="dk1"/>
                  </a:solidFill>
                  <a:latin typeface="+mn-lt"/>
                  <a:ea typeface="+mn-ea"/>
                  <a:cs typeface="+mn-cs"/>
                </a:rPr>
                <a:t>credible noise</a:t>
              </a:r>
            </a:p>
          </p:txBody>
        </p:sp>
        <p:sp>
          <p:nvSpPr>
            <p:cNvPr id="45" name="Rectangle 45"/>
            <p:cNvSpPr/>
            <p:nvPr/>
          </p:nvSpPr>
          <p:spPr>
            <a:xfrm>
              <a:off x="6096000" y="2495550"/>
              <a:ext cx="1676400" cy="2895600"/>
            </a:xfrm>
            <a:prstGeom prst="rect">
              <a:avLst/>
            </a:prstGeom>
            <a:solidFill>
              <a:schemeClr val="accent1"/>
            </a:solidFill>
            <a:ln>
              <a:noFill/>
            </a:ln>
          </p:spPr>
        </p:sp>
        <p:sp>
          <p:nvSpPr>
            <p:cNvPr id="46" name="TextBox 46"/>
            <p:cNvSpPr txBox="1"/>
            <p:nvPr/>
          </p:nvSpPr>
          <p:spPr>
            <a:xfrm>
              <a:off x="6241542" y="2664142"/>
              <a:ext cx="679079"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FREEZE</a:t>
              </a:r>
            </a:p>
          </p:txBody>
        </p:sp>
        <p:sp>
          <p:nvSpPr>
            <p:cNvPr id="47" name="TextBox 47"/>
            <p:cNvSpPr txBox="1"/>
            <p:nvPr/>
          </p:nvSpPr>
          <p:spPr>
            <a:xfrm>
              <a:off x="6239637" y="2976086"/>
              <a:ext cx="1095527"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Hardware</a:t>
              </a:r>
              <a:br/>
              <a:r>
                <a:rPr lang="en-US" sz="1720" b="1" dirty="0">
                  <a:solidFill>
                    <a:srgbClr val="FFFFFF"/>
                  </a:solidFill>
                  <a:latin typeface="+mj-lt"/>
                  <a:ea typeface="+mj-ea"/>
                  <a:cs typeface="+mj-cs"/>
                </a:rPr>
                <a:t>candidate</a:t>
              </a:r>
            </a:p>
          </p:txBody>
        </p:sp>
        <p:sp>
          <p:nvSpPr>
            <p:cNvPr id="48" name="TextBox 48"/>
            <p:cNvSpPr txBox="1"/>
            <p:nvPr/>
          </p:nvSpPr>
          <p:spPr>
            <a:xfrm>
              <a:off x="6242304" y="37471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49" name="TextBox 49"/>
            <p:cNvSpPr txBox="1"/>
            <p:nvPr/>
          </p:nvSpPr>
          <p:spPr>
            <a:xfrm>
              <a:off x="6241923" y="3996214"/>
              <a:ext cx="1354199"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Frozen run spec</a:t>
              </a:r>
            </a:p>
          </p:txBody>
        </p:sp>
        <p:sp>
          <p:nvSpPr>
            <p:cNvPr id="50" name="TextBox 50"/>
            <p:cNvSpPr txBox="1"/>
            <p:nvPr/>
          </p:nvSpPr>
          <p:spPr>
            <a:xfrm>
              <a:off x="6242304" y="44519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51" name="TextBox 51"/>
            <p:cNvSpPr txBox="1"/>
            <p:nvPr/>
          </p:nvSpPr>
          <p:spPr>
            <a:xfrm>
              <a:off x="6242304" y="4709160"/>
              <a:ext cx="1414272" cy="472821"/>
            </a:xfrm>
            <a:prstGeom prst="rect">
              <a:avLst/>
            </a:prstGeom>
            <a:noFill/>
            <a:ln>
              <a:noFill/>
            </a:ln>
          </p:spPr>
          <p:txBody>
            <a:bodyPr wrap="none" lIns="0" tIns="0" rIns="0" bIns="0" anchor="t" anchorCtr="0">
              <a:spAutoFit/>
            </a:bodyPr>
            <a:lstStyle/>
            <a:p>
              <a:pPr algn="l">
                <a:lnSpc>
                  <a:spcPts val="1875"/>
                </a:lnSpc>
              </a:pPr>
              <a:r>
                <a:rPr lang="en-US" sz="1200" dirty="0">
                  <a:solidFill>
                    <a:srgbClr val="FBF7EE"/>
                  </a:solidFill>
                  <a:latin typeface="+mn-lt"/>
                  <a:ea typeface="+mn-ea"/>
                  <a:cs typeface="+mn-cs"/>
                </a:rPr>
                <a:t>Shots · calibration</a:t>
              </a:r>
              <a:br/>
              <a:r>
                <a:rPr lang="en-US" sz="1200" dirty="0">
                  <a:solidFill>
                    <a:srgbClr val="FBF7EE"/>
                  </a:solidFill>
                  <a:latin typeface="+mn-lt"/>
                  <a:ea typeface="+mn-ea"/>
                  <a:cs typeface="+mn-cs"/>
                </a:rPr>
                <a:t>metadata locked</a:t>
              </a:r>
            </a:p>
          </p:txBody>
        </p:sp>
        <p:sp>
          <p:nvSpPr>
            <p:cNvPr id="52" name="Rectangle 52"/>
            <p:cNvSpPr/>
            <p:nvPr/>
          </p:nvSpPr>
          <p:spPr>
            <a:xfrm>
              <a:off x="7924800" y="2495550"/>
              <a:ext cx="1676400" cy="2895600"/>
            </a:xfrm>
            <a:prstGeom prst="rect">
              <a:avLst/>
            </a:prstGeom>
            <a:solidFill>
              <a:schemeClr val="lt2"/>
            </a:solidFill>
            <a:ln w="28575">
              <a:solidFill>
                <a:schemeClr val="accent2"/>
              </a:solidFill>
              <a:custDash>
                <a:ds d="333333" sp="233333"/>
              </a:custDash>
            </a:ln>
          </p:spPr>
        </p:sp>
        <p:sp>
          <p:nvSpPr>
            <p:cNvPr id="53" name="TextBox 53"/>
            <p:cNvSpPr txBox="1"/>
            <p:nvPr/>
          </p:nvSpPr>
          <p:spPr>
            <a:xfrm>
              <a:off x="8070342" y="2664142"/>
              <a:ext cx="89078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QPU GATE</a:t>
              </a:r>
            </a:p>
          </p:txBody>
        </p:sp>
        <p:sp>
          <p:nvSpPr>
            <p:cNvPr id="54" name="TextBox 54"/>
            <p:cNvSpPr txBox="1"/>
            <p:nvPr/>
          </p:nvSpPr>
          <p:spPr>
            <a:xfrm>
              <a:off x="8068437" y="2976086"/>
              <a:ext cx="1645996"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Remote subset</a:t>
              </a:r>
              <a:br/>
              <a:r>
                <a:rPr lang="en-US" sz="1720" b="1" dirty="0">
                  <a:solidFill>
                    <a:schemeClr val="accent1"/>
                  </a:solidFill>
                  <a:latin typeface="+mj-lt"/>
                  <a:ea typeface="+mj-ea"/>
                  <a:cs typeface="+mj-cs"/>
                </a:rPr>
                <a:t>raw counts</a:t>
              </a:r>
            </a:p>
          </p:txBody>
        </p:sp>
        <p:sp>
          <p:nvSpPr>
            <p:cNvPr id="55" name="TextBox 55"/>
            <p:cNvSpPr txBox="1"/>
            <p:nvPr/>
          </p:nvSpPr>
          <p:spPr>
            <a:xfrm>
              <a:off x="8071104" y="37471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56" name="TextBox 56"/>
            <p:cNvSpPr txBox="1"/>
            <p:nvPr/>
          </p:nvSpPr>
          <p:spPr>
            <a:xfrm>
              <a:off x="8070723" y="3996214"/>
              <a:ext cx="145686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Calibrated result</a:t>
              </a:r>
            </a:p>
          </p:txBody>
        </p:sp>
        <p:sp>
          <p:nvSpPr>
            <p:cNvPr id="57" name="TextBox 57"/>
            <p:cNvSpPr txBox="1"/>
            <p:nvPr/>
          </p:nvSpPr>
          <p:spPr>
            <a:xfrm>
              <a:off x="8071104" y="44519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58" name="TextBox 58"/>
            <p:cNvSpPr txBox="1"/>
            <p:nvPr/>
          </p:nvSpPr>
          <p:spPr>
            <a:xfrm>
              <a:off x="8070723" y="4701064"/>
              <a:ext cx="1321562"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Run only after</a:t>
              </a:r>
              <a:br/>
              <a:r>
                <a:rPr lang="en-US" sz="1280" dirty="0">
                  <a:solidFill>
                    <a:schemeClr val="dk1"/>
                  </a:solidFill>
                  <a:latin typeface="+mn-lt"/>
                  <a:ea typeface="+mn-ea"/>
                  <a:cs typeface="+mn-cs"/>
                </a:rPr>
                <a:t>prior gates pass</a:t>
              </a:r>
            </a:p>
          </p:txBody>
        </p:sp>
        <p:sp>
          <p:nvSpPr>
            <p:cNvPr id="59" name="Rectangle 59"/>
            <p:cNvSpPr/>
            <p:nvPr/>
          </p:nvSpPr>
          <p:spPr>
            <a:xfrm>
              <a:off x="9753600" y="2495550"/>
              <a:ext cx="1828800" cy="2895600"/>
            </a:xfrm>
            <a:prstGeom prst="rect">
              <a:avLst/>
            </a:prstGeom>
            <a:solidFill>
              <a:schemeClr val="accent3"/>
            </a:solidFill>
            <a:ln>
              <a:noFill/>
            </a:ln>
          </p:spPr>
        </p:sp>
        <p:sp>
          <p:nvSpPr>
            <p:cNvPr id="60" name="TextBox 60"/>
            <p:cNvSpPr txBox="1"/>
            <p:nvPr/>
          </p:nvSpPr>
          <p:spPr>
            <a:xfrm>
              <a:off x="9899142" y="2664142"/>
              <a:ext cx="628673"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DECIDE</a:t>
              </a:r>
            </a:p>
          </p:txBody>
        </p:sp>
        <p:sp>
          <p:nvSpPr>
            <p:cNvPr id="61" name="TextBox 61"/>
            <p:cNvSpPr txBox="1"/>
            <p:nvPr/>
          </p:nvSpPr>
          <p:spPr>
            <a:xfrm>
              <a:off x="9897237" y="2976086"/>
              <a:ext cx="1347826"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Harder data</a:t>
              </a:r>
              <a:br/>
              <a:r>
                <a:rPr lang="en-US" sz="1720" b="1" dirty="0">
                  <a:solidFill>
                    <a:srgbClr val="FFFFFF"/>
                  </a:solidFill>
                  <a:latin typeface="+mj-lt"/>
                  <a:ea typeface="+mj-ea"/>
                  <a:cs typeface="+mj-cs"/>
                </a:rPr>
                <a:t>replication</a:t>
              </a:r>
            </a:p>
          </p:txBody>
        </p:sp>
        <p:sp>
          <p:nvSpPr>
            <p:cNvPr id="62" name="TextBox 62"/>
            <p:cNvSpPr txBox="1"/>
            <p:nvPr/>
          </p:nvSpPr>
          <p:spPr>
            <a:xfrm>
              <a:off x="9899904" y="3747135"/>
              <a:ext cx="1051682"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DELIVERABLE</a:t>
              </a:r>
            </a:p>
          </p:txBody>
        </p:sp>
        <p:sp>
          <p:nvSpPr>
            <p:cNvPr id="63" name="TextBox 63"/>
            <p:cNvSpPr txBox="1"/>
            <p:nvPr/>
          </p:nvSpPr>
          <p:spPr>
            <a:xfrm>
              <a:off x="9899523" y="3996214"/>
              <a:ext cx="1190214"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Decision memo</a:t>
              </a:r>
            </a:p>
          </p:txBody>
        </p:sp>
        <p:sp>
          <p:nvSpPr>
            <p:cNvPr id="64" name="TextBox 64"/>
            <p:cNvSpPr txBox="1"/>
            <p:nvPr/>
          </p:nvSpPr>
          <p:spPr>
            <a:xfrm>
              <a:off x="9899904" y="4451985"/>
              <a:ext cx="361676"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EXIT</a:t>
              </a:r>
            </a:p>
          </p:txBody>
        </p:sp>
        <p:sp>
          <p:nvSpPr>
            <p:cNvPr id="65" name="TextBox 65"/>
            <p:cNvSpPr txBox="1"/>
            <p:nvPr/>
          </p:nvSpPr>
          <p:spPr>
            <a:xfrm>
              <a:off x="9899523" y="4701064"/>
              <a:ext cx="1467866"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FFFFF"/>
                  </a:solidFill>
                  <a:latin typeface="+mn-lt"/>
                  <a:ea typeface="+mn-ea"/>
                  <a:cs typeface="+mn-cs"/>
                </a:rPr>
                <a:t>Utility evidence</a:t>
              </a:r>
              <a:br/>
              <a:r>
                <a:rPr lang="en-US" sz="1280" dirty="0">
                  <a:solidFill>
                    <a:srgbClr val="FFFFFF"/>
                  </a:solidFill>
                  <a:latin typeface="+mn-lt"/>
                  <a:ea typeface="+mn-ea"/>
                  <a:cs typeface="+mn-cs"/>
                </a:rPr>
                <a:t>or disciplined stop</a:t>
              </a:r>
            </a:p>
          </p:txBody>
        </p:sp>
      </p:grpSp>
      <p:grpSp>
        <p:nvGrpSpPr>
          <p:cNvPr id="69" name="Group 69"/>
          <p:cNvGrpSpPr/>
          <p:nvPr/>
        </p:nvGrpSpPr>
        <p:grpSpPr>
          <a:xfrm>
            <a:off x="609600" y="5562600"/>
            <a:ext cx="10972800" cy="495300"/>
            <a:chOff x="609600" y="5562600"/>
            <a:chExt cx="10972800" cy="495300"/>
          </a:xfrm>
        </p:grpSpPr>
        <p:sp>
          <p:nvSpPr>
            <p:cNvPr id="67" name="Rectangle 67"/>
            <p:cNvSpPr/>
            <p:nvPr/>
          </p:nvSpPr>
          <p:spPr>
            <a:xfrm>
              <a:off x="609600" y="5562600"/>
              <a:ext cx="10972800" cy="495300"/>
            </a:xfrm>
            <a:prstGeom prst="rect">
              <a:avLst/>
            </a:prstGeom>
            <a:solidFill>
              <a:schemeClr val="lt2"/>
            </a:solidFill>
            <a:ln>
              <a:noFill/>
            </a:ln>
          </p:spPr>
        </p:sp>
        <p:sp>
          <p:nvSpPr>
            <p:cNvPr id="68" name="TextBox 68"/>
            <p:cNvSpPr txBox="1"/>
            <p:nvPr/>
          </p:nvSpPr>
          <p:spPr>
            <a:xfrm>
              <a:off x="1897153" y="5715000"/>
              <a:ext cx="8397694"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The 12-week clock begins with five-fold replication—not work already completed.</a:t>
              </a:r>
            </a:p>
          </p:txBody>
        </p:sp>
      </p:grpSp>
      <p:grpSp>
        <p:nvGrpSpPr>
          <p:cNvPr id="71" name="Group 71"/>
          <p:cNvGrpSpPr/>
          <p:nvPr/>
        </p:nvGrpSpPr>
        <p:grpSpPr>
          <a:xfrm>
            <a:off x="10966723" y="6426518"/>
            <a:ext cx="622535" cy="264033"/>
            <a:chOff x="10966723" y="6426518"/>
            <a:chExt cx="622535" cy="264033"/>
          </a:xfrm>
        </p:grpSpPr>
        <p:sp>
          <p:nvSpPr>
            <p:cNvPr id="70" name="TextBox 70"/>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2362021" cy="913447"/>
            <a:chOff x="594360" y="482918"/>
            <a:chExt cx="12362021" cy="913447"/>
          </a:xfrm>
        </p:grpSpPr>
        <p:sp>
          <p:nvSpPr>
            <p:cNvPr id="3" name="TextBox 3"/>
            <p:cNvSpPr txBox="1"/>
            <p:nvPr/>
          </p:nvSpPr>
          <p:spPr>
            <a:xfrm>
              <a:off x="602742" y="482918"/>
              <a:ext cx="4085425"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COMPLETED PILOT · PRIMARY EVIDENCE</a:t>
              </a:r>
            </a:p>
          </p:txBody>
        </p:sp>
        <p:sp>
          <p:nvSpPr>
            <p:cNvPr id="4" name="TextBox 4"/>
            <p:cNvSpPr txBox="1"/>
            <p:nvPr/>
          </p:nvSpPr>
          <p:spPr>
            <a:xfrm>
              <a:off x="594360" y="809625"/>
              <a:ext cx="1236202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pilot shows useful signal—not competitive advantage</a:t>
              </a:r>
            </a:p>
          </p:txBody>
        </p:sp>
      </p:grpSp>
      <p:grpSp>
        <p:nvGrpSpPr>
          <p:cNvPr id="8" name="Group 8"/>
          <p:cNvGrpSpPr/>
          <p:nvPr/>
        </p:nvGrpSpPr>
        <p:grpSpPr>
          <a:xfrm>
            <a:off x="609600" y="1504950"/>
            <a:ext cx="7086600" cy="4286250"/>
            <a:chOff x="609600" y="1504950"/>
            <a:chExt cx="7086600" cy="4286250"/>
          </a:xfrm>
        </p:grpSpPr>
        <p:sp>
          <p:nvSpPr>
            <p:cNvPr id="6" name="Rectangle 6"/>
            <p:cNvSpPr/>
            <p:nvPr/>
          </p:nvSpPr>
          <p:spPr>
            <a:xfrm>
              <a:off x="609600" y="1504950"/>
              <a:ext cx="7086600" cy="42862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785577"/>
              <a:ext cx="6819900" cy="3667845"/>
            </a:xfrm>
            <a:prstGeom prst="rect">
              <a:avLst/>
            </a:prstGeom>
          </p:spPr>
        </p:pic>
      </p:grpSp>
      <p:grpSp>
        <p:nvGrpSpPr>
          <p:cNvPr id="21" name="Group 21"/>
          <p:cNvGrpSpPr/>
          <p:nvPr/>
        </p:nvGrpSpPr>
        <p:grpSpPr>
          <a:xfrm>
            <a:off x="7951470" y="1683068"/>
            <a:ext cx="3630930" cy="4128896"/>
            <a:chOff x="7951470" y="1683068"/>
            <a:chExt cx="3630930" cy="4128896"/>
          </a:xfrm>
        </p:grpSpPr>
        <p:sp>
          <p:nvSpPr>
            <p:cNvPr id="9" name="TextBox 9"/>
            <p:cNvSpPr txBox="1"/>
            <p:nvPr/>
          </p:nvSpPr>
          <p:spPr>
            <a:xfrm>
              <a:off x="7956042" y="1683068"/>
              <a:ext cx="17577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Q1 · PHOTONIC-15</a:t>
              </a:r>
            </a:p>
          </p:txBody>
        </p:sp>
        <p:sp>
          <p:nvSpPr>
            <p:cNvPr id="10" name="TextBox 10"/>
            <p:cNvSpPr txBox="1"/>
            <p:nvPr/>
          </p:nvSpPr>
          <p:spPr>
            <a:xfrm>
              <a:off x="7951470" y="203358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0.7812 → 0.7886</a:t>
              </a:r>
            </a:p>
          </p:txBody>
        </p:sp>
        <p:sp>
          <p:nvSpPr>
            <p:cNvPr id="11" name="TextBox 11"/>
            <p:cNvSpPr txBox="1"/>
            <p:nvPr/>
          </p:nvSpPr>
          <p:spPr>
            <a:xfrm>
              <a:off x="7951470" y="2414588"/>
              <a:ext cx="1342725"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Consolas"/>
                  <a:ea typeface="Consolas"/>
                  <a:cs typeface="Consolas"/>
                </a:rPr>
                <a:t>→ 0.8708</a:t>
              </a:r>
            </a:p>
          </p:txBody>
        </p:sp>
        <p:sp>
          <p:nvSpPr>
            <p:cNvPr id="12" name="TextBox 12"/>
            <p:cNvSpPr txBox="1"/>
            <p:nvPr/>
          </p:nvSpPr>
          <p:spPr>
            <a:xfrm>
              <a:off x="7956042" y="2787968"/>
              <a:ext cx="245807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12 · 24 · 48 labels per class</a:t>
              </a:r>
            </a:p>
          </p:txBody>
        </p:sp>
        <p:sp>
          <p:nvSpPr>
            <p:cNvPr id="13" name="Line 13"/>
            <p:cNvSpPr/>
            <p:nvPr/>
          </p:nvSpPr>
          <p:spPr>
            <a:xfrm>
              <a:off x="7962900" y="31623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4" name="TextBox 14"/>
            <p:cNvSpPr txBox="1"/>
            <p:nvPr/>
          </p:nvSpPr>
          <p:spPr>
            <a:xfrm>
              <a:off x="7956042" y="3378518"/>
              <a:ext cx="221143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B1 · FULL CLIP + LINEAR</a:t>
              </a:r>
            </a:p>
          </p:txBody>
        </p:sp>
        <p:sp>
          <p:nvSpPr>
            <p:cNvPr id="15" name="TextBox 15"/>
            <p:cNvSpPr txBox="1"/>
            <p:nvPr/>
          </p:nvSpPr>
          <p:spPr>
            <a:xfrm>
              <a:off x="7951470" y="372903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0.9242 → 0.9638</a:t>
              </a:r>
            </a:p>
          </p:txBody>
        </p:sp>
        <p:sp>
          <p:nvSpPr>
            <p:cNvPr id="16" name="TextBox 16"/>
            <p:cNvSpPr txBox="1"/>
            <p:nvPr/>
          </p:nvSpPr>
          <p:spPr>
            <a:xfrm>
              <a:off x="7951470" y="4110038"/>
              <a:ext cx="1342725"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Consolas"/>
                  <a:ea typeface="Consolas"/>
                  <a:cs typeface="Consolas"/>
                </a:rPr>
                <a:t>→ 0.9852</a:t>
              </a:r>
            </a:p>
          </p:txBody>
        </p:sp>
        <p:sp>
          <p:nvSpPr>
            <p:cNvPr id="17" name="Line 17"/>
            <p:cNvSpPr/>
            <p:nvPr/>
          </p:nvSpPr>
          <p:spPr>
            <a:xfrm>
              <a:off x="7962900" y="46101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8" name="Rectangle 18"/>
            <p:cNvSpPr/>
            <p:nvPr/>
          </p:nvSpPr>
          <p:spPr>
            <a:xfrm>
              <a:off x="7962900" y="4857750"/>
              <a:ext cx="3619500" cy="933450"/>
            </a:xfrm>
            <a:prstGeom prst="rect">
              <a:avLst/>
            </a:prstGeom>
            <a:solidFill>
              <a:schemeClr val="accent1"/>
            </a:solidFill>
            <a:ln>
              <a:noFill/>
            </a:ln>
          </p:spPr>
        </p:sp>
        <p:sp>
          <p:nvSpPr>
            <p:cNvPr id="19" name="TextBox 19"/>
            <p:cNvSpPr txBox="1"/>
            <p:nvPr/>
          </p:nvSpPr>
          <p:spPr>
            <a:xfrm>
              <a:off x="8184642" y="4997768"/>
              <a:ext cx="1344442"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PILOT VERDICT</a:t>
              </a:r>
            </a:p>
          </p:txBody>
        </p:sp>
        <p:sp>
          <p:nvSpPr>
            <p:cNvPr id="20" name="TextBox 20"/>
            <p:cNvSpPr txBox="1"/>
            <p:nvPr/>
          </p:nvSpPr>
          <p:spPr>
            <a:xfrm>
              <a:off x="8183118" y="5251132"/>
              <a:ext cx="2261044" cy="560832"/>
            </a:xfrm>
            <a:prstGeom prst="rect">
              <a:avLst/>
            </a:prstGeom>
            <a:noFill/>
            <a:ln>
              <a:noFill/>
            </a:ln>
          </p:spPr>
          <p:txBody>
            <a:bodyPr wrap="none" lIns="0" tIns="0" rIns="0" bIns="0" anchor="t" anchorCtr="0">
              <a:spAutoFit/>
            </a:bodyPr>
            <a:lstStyle/>
            <a:p>
              <a:pPr algn="l">
                <a:lnSpc>
                  <a:spcPts val="1875"/>
                </a:lnSpc>
              </a:pPr>
              <a:r>
                <a:rPr lang="en-US" sz="1650" b="1" dirty="0">
                  <a:solidFill>
                    <a:srgbClr val="FFFFFF"/>
                  </a:solidFill>
                  <a:latin typeface="+mj-lt"/>
                  <a:ea typeface="+mj-ea"/>
                  <a:cs typeface="+mj-cs"/>
                </a:rPr>
                <a:t>Learns signal;</a:t>
              </a:r>
              <a:br/>
              <a:r>
                <a:rPr lang="en-US" sz="1650" b="1" dirty="0">
                  <a:solidFill>
                    <a:srgbClr val="FFFFFF"/>
                  </a:solidFill>
                  <a:latin typeface="+mj-lt"/>
                  <a:ea typeface="+mj-ea"/>
                  <a:cs typeface="+mj-cs"/>
                </a:rPr>
                <a:t>not competitive yet.</a:t>
              </a:r>
            </a:p>
          </p:txBody>
        </p:sp>
      </p:grpSp>
      <p:grpSp>
        <p:nvGrpSpPr>
          <p:cNvPr id="23" name="Group 23"/>
          <p:cNvGrpSpPr/>
          <p:nvPr/>
        </p:nvGrpSpPr>
        <p:grpSpPr>
          <a:xfrm>
            <a:off x="602742" y="6045518"/>
            <a:ext cx="7921395" cy="264033"/>
            <a:chOff x="602742" y="6045518"/>
            <a:chExt cx="7921395" cy="264033"/>
          </a:xfrm>
        </p:grpSpPr>
        <p:sp>
          <p:nvSpPr>
            <p:cNvPr id="22" name="TextBox 22"/>
            <p:cNvSpPr txBox="1"/>
            <p:nvPr/>
          </p:nvSpPr>
          <p:spPr>
            <a:xfrm>
              <a:off x="602742" y="6045518"/>
              <a:ext cx="7921395"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Mean ± sample SD across three subset seeds · one outer fold · source: main_results.csv</a:t>
              </a:r>
            </a:p>
          </p:txBody>
        </p:sp>
      </p:grpSp>
      <p:grpSp>
        <p:nvGrpSpPr>
          <p:cNvPr id="25" name="Group 25"/>
          <p:cNvGrpSpPr/>
          <p:nvPr/>
        </p:nvGrpSpPr>
        <p:grpSpPr>
          <a:xfrm>
            <a:off x="10966723" y="6426518"/>
            <a:ext cx="622535" cy="264033"/>
            <a:chOff x="10966723" y="6426518"/>
            <a:chExt cx="622535" cy="264033"/>
          </a:xfrm>
        </p:grpSpPr>
        <p:sp>
          <p:nvSpPr>
            <p:cNvPr id="24" name="TextBox 2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1637032" cy="900303"/>
            <a:chOff x="595122" y="482918"/>
            <a:chExt cx="11637032" cy="900303"/>
          </a:xfrm>
        </p:grpSpPr>
        <p:sp>
          <p:nvSpPr>
            <p:cNvPr id="3" name="TextBox 3"/>
            <p:cNvSpPr txBox="1"/>
            <p:nvPr/>
          </p:nvSpPr>
          <p:spPr>
            <a:xfrm>
              <a:off x="602742" y="482918"/>
              <a:ext cx="4714570"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DIAGNOSIS · REPRESENTATION AND CONTROLS</a:t>
              </a:r>
            </a:p>
          </p:txBody>
        </p:sp>
        <p:sp>
          <p:nvSpPr>
            <p:cNvPr id="4" name="TextBox 4"/>
            <p:cNvSpPr txBox="1"/>
            <p:nvPr/>
          </p:nvSpPr>
          <p:spPr>
            <a:xfrm>
              <a:off x="595122" y="825818"/>
              <a:ext cx="11637032"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Compression—not photonics alone—explains the shortfall</a:t>
              </a:r>
            </a:p>
          </p:txBody>
        </p:sp>
      </p:grpSp>
      <p:grpSp>
        <p:nvGrpSpPr>
          <p:cNvPr id="8" name="Group 8"/>
          <p:cNvGrpSpPr/>
          <p:nvPr/>
        </p:nvGrpSpPr>
        <p:grpSpPr>
          <a:xfrm>
            <a:off x="609600" y="1504950"/>
            <a:ext cx="6896100" cy="3829050"/>
            <a:chOff x="609600" y="1504950"/>
            <a:chExt cx="6896100" cy="3829050"/>
          </a:xfrm>
        </p:grpSpPr>
        <p:sp>
          <p:nvSpPr>
            <p:cNvPr id="6" name="Rectangle 6"/>
            <p:cNvSpPr/>
            <p:nvPr/>
          </p:nvSpPr>
          <p:spPr>
            <a:xfrm>
              <a:off x="609600" y="1504950"/>
              <a:ext cx="6896100" cy="38290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627254"/>
              <a:ext cx="6629400" cy="3565392"/>
            </a:xfrm>
            <a:prstGeom prst="rect">
              <a:avLst/>
            </a:prstGeom>
          </p:spPr>
        </p:pic>
      </p:grpSp>
      <p:grpSp>
        <p:nvGrpSpPr>
          <p:cNvPr id="22" name="Group 22"/>
          <p:cNvGrpSpPr/>
          <p:nvPr/>
        </p:nvGrpSpPr>
        <p:grpSpPr>
          <a:xfrm>
            <a:off x="7761732" y="1664018"/>
            <a:ext cx="3820668" cy="3679888"/>
            <a:chOff x="7761732" y="1664018"/>
            <a:chExt cx="3820668" cy="3679888"/>
          </a:xfrm>
        </p:grpSpPr>
        <p:sp>
          <p:nvSpPr>
            <p:cNvPr id="9" name="TextBox 9"/>
            <p:cNvSpPr txBox="1"/>
            <p:nvPr/>
          </p:nvSpPr>
          <p:spPr>
            <a:xfrm>
              <a:off x="7765542" y="1664018"/>
              <a:ext cx="298768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FULL → PCA-5 PENALTY · B1 − B3</a:t>
              </a:r>
            </a:p>
          </p:txBody>
        </p:sp>
        <p:sp>
          <p:nvSpPr>
            <p:cNvPr id="10" name="TextBox 10"/>
            <p:cNvSpPr txBox="1"/>
            <p:nvPr/>
          </p:nvSpPr>
          <p:spPr>
            <a:xfrm>
              <a:off x="7761732" y="1983105"/>
              <a:ext cx="3642749"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+.1018 · +.0993 · +.0713</a:t>
              </a:r>
            </a:p>
          </p:txBody>
        </p:sp>
        <p:sp>
          <p:nvSpPr>
            <p:cNvPr id="11" name="TextBox 11"/>
            <p:cNvSpPr txBox="1"/>
            <p:nvPr/>
          </p:nvSpPr>
          <p:spPr>
            <a:xfrm>
              <a:off x="7766304" y="2346960"/>
              <a:ext cx="1587246"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budgets 12 · 24 · 48</a:t>
              </a:r>
            </a:p>
          </p:txBody>
        </p:sp>
        <p:sp>
          <p:nvSpPr>
            <p:cNvPr id="12" name="Rectangle 12"/>
            <p:cNvSpPr/>
            <p:nvPr/>
          </p:nvSpPr>
          <p:spPr>
            <a:xfrm>
              <a:off x="7772400" y="2724150"/>
              <a:ext cx="3810000" cy="704850"/>
            </a:xfrm>
            <a:prstGeom prst="rect">
              <a:avLst/>
            </a:prstGeom>
            <a:solidFill>
              <a:schemeClr val="accent3"/>
            </a:solidFill>
            <a:ln>
              <a:noFill/>
            </a:ln>
          </p:spPr>
        </p:sp>
        <p:sp>
          <p:nvSpPr>
            <p:cNvPr id="13" name="TextBox 13"/>
            <p:cNvSpPr txBox="1"/>
            <p:nvPr/>
          </p:nvSpPr>
          <p:spPr>
            <a:xfrm>
              <a:off x="7994142" y="2864168"/>
              <a:ext cx="84037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RFF</a:t>
              </a:r>
            </a:p>
          </p:txBody>
        </p:sp>
        <p:sp>
          <p:nvSpPr>
            <p:cNvPr id="14" name="TextBox 14"/>
            <p:cNvSpPr txBox="1"/>
            <p:nvPr/>
          </p:nvSpPr>
          <p:spPr>
            <a:xfrm>
              <a:off x="7992237" y="31189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+.3133 · +.2238 · +.2307</a:t>
              </a:r>
            </a:p>
          </p:txBody>
        </p:sp>
        <p:sp>
          <p:nvSpPr>
            <p:cNvPr id="15" name="Rectangle 15"/>
            <p:cNvSpPr/>
            <p:nvPr/>
          </p:nvSpPr>
          <p:spPr>
            <a:xfrm>
              <a:off x="7772400" y="3562350"/>
              <a:ext cx="3810000" cy="704850"/>
            </a:xfrm>
            <a:prstGeom prst="rect">
              <a:avLst/>
            </a:prstGeom>
            <a:solidFill>
              <a:schemeClr val="accent2"/>
            </a:solidFill>
            <a:ln>
              <a:noFill/>
            </a:ln>
          </p:spPr>
        </p:sp>
        <p:sp>
          <p:nvSpPr>
            <p:cNvPr id="16" name="TextBox 16"/>
            <p:cNvSpPr txBox="1"/>
            <p:nvPr/>
          </p:nvSpPr>
          <p:spPr>
            <a:xfrm>
              <a:off x="7994142" y="3702368"/>
              <a:ext cx="8807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ELM</a:t>
              </a:r>
            </a:p>
          </p:txBody>
        </p:sp>
        <p:sp>
          <p:nvSpPr>
            <p:cNvPr id="17" name="TextBox 17"/>
            <p:cNvSpPr txBox="1"/>
            <p:nvPr/>
          </p:nvSpPr>
          <p:spPr>
            <a:xfrm>
              <a:off x="7992237" y="39571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−.0166 · −.0432 · −.0215</a:t>
              </a:r>
            </a:p>
          </p:txBody>
        </p:sp>
        <p:sp>
          <p:nvSpPr>
            <p:cNvPr id="18" name="Rectangle 18"/>
            <p:cNvSpPr/>
            <p:nvPr/>
          </p:nvSpPr>
          <p:spPr>
            <a:xfrm>
              <a:off x="7772400" y="4400550"/>
              <a:ext cx="3810000" cy="933450"/>
            </a:xfrm>
            <a:prstGeom prst="rect">
              <a:avLst/>
            </a:prstGeom>
            <a:solidFill>
              <a:schemeClr val="accent1"/>
            </a:solidFill>
            <a:ln>
              <a:noFill/>
            </a:ln>
          </p:spPr>
        </p:sp>
        <p:sp>
          <p:nvSpPr>
            <p:cNvPr id="19" name="TextBox 19"/>
            <p:cNvSpPr txBox="1"/>
            <p:nvPr/>
          </p:nvSpPr>
          <p:spPr>
            <a:xfrm>
              <a:off x="7994142" y="4540568"/>
              <a:ext cx="145533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PCA-5 RBF</a:t>
              </a:r>
            </a:p>
          </p:txBody>
        </p:sp>
        <p:sp>
          <p:nvSpPr>
            <p:cNvPr id="20" name="TextBox 20"/>
            <p:cNvSpPr txBox="1"/>
            <p:nvPr/>
          </p:nvSpPr>
          <p:spPr>
            <a:xfrm>
              <a:off x="7992237" y="47953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−.0507 · −.0558 · −.0534</a:t>
              </a:r>
            </a:p>
          </p:txBody>
        </p:sp>
        <p:sp>
          <p:nvSpPr>
            <p:cNvPr id="21" name="TextBox 21"/>
            <p:cNvSpPr txBox="1"/>
            <p:nvPr/>
          </p:nvSpPr>
          <p:spPr>
            <a:xfrm>
              <a:off x="7994904" y="5109210"/>
              <a:ext cx="3507528" cy="234696"/>
            </a:xfrm>
            <a:prstGeom prst="rect">
              <a:avLst/>
            </a:prstGeom>
            <a:noFill/>
            <a:ln>
              <a:noFill/>
            </a:ln>
          </p:spPr>
          <p:txBody>
            <a:bodyPr wrap="none" lIns="0" tIns="0" rIns="0" bIns="0" anchor="t" anchorCtr="0">
              <a:spAutoFit/>
            </a:bodyPr>
            <a:lstStyle/>
            <a:p>
              <a:pPr algn="l"/>
              <a:r>
                <a:rPr lang="en-US" sz="1200" dirty="0">
                  <a:solidFill>
                    <a:srgbClr val="B9D0C7"/>
                  </a:solidFill>
                  <a:latin typeface="+mn-lt"/>
                  <a:ea typeface="+mn-ea"/>
                  <a:cs typeface="+mn-cs"/>
                </a:rPr>
                <a:t>Q1 only wins against the weak matched map.</a:t>
              </a:r>
            </a:p>
          </p:txBody>
        </p:sp>
      </p:grpSp>
      <p:grpSp>
        <p:nvGrpSpPr>
          <p:cNvPr id="25" name="Group 25"/>
          <p:cNvGrpSpPr/>
          <p:nvPr/>
        </p:nvGrpSpPr>
        <p:grpSpPr>
          <a:xfrm>
            <a:off x="609600" y="5524500"/>
            <a:ext cx="10972800" cy="590550"/>
            <a:chOff x="609600" y="5524500"/>
            <a:chExt cx="10972800" cy="590550"/>
          </a:xfrm>
        </p:grpSpPr>
        <p:sp>
          <p:nvSpPr>
            <p:cNvPr id="23" name="Rectangle 23"/>
            <p:cNvSpPr/>
            <p:nvPr/>
          </p:nvSpPr>
          <p:spPr>
            <a:xfrm>
              <a:off x="609600" y="5524500"/>
              <a:ext cx="10972800" cy="590550"/>
            </a:xfrm>
            <a:prstGeom prst="rect">
              <a:avLst/>
            </a:prstGeom>
            <a:solidFill>
              <a:schemeClr val="lt2"/>
            </a:solidFill>
            <a:ln>
              <a:noFill/>
            </a:ln>
          </p:spPr>
        </p:sp>
        <p:sp>
          <p:nvSpPr>
            <p:cNvPr id="24" name="TextBox 24"/>
            <p:cNvSpPr txBox="1"/>
            <p:nvPr/>
          </p:nvSpPr>
          <p:spPr>
            <a:xfrm>
              <a:off x="1896908" y="5734050"/>
              <a:ext cx="8398183"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Separate information lost in PCA-5 from the value added by the photonic circuit.</a:t>
              </a:r>
            </a:p>
          </p:txBody>
        </p:sp>
      </p:grpSp>
      <p:grpSp>
        <p:nvGrpSpPr>
          <p:cNvPr id="27" name="Group 27"/>
          <p:cNvGrpSpPr/>
          <p:nvPr/>
        </p:nvGrpSpPr>
        <p:grpSpPr>
          <a:xfrm>
            <a:off x="603504" y="6156960"/>
            <a:ext cx="7303399" cy="234696"/>
            <a:chOff x="603504" y="6156960"/>
            <a:chExt cx="7303399" cy="234696"/>
          </a:xfrm>
        </p:grpSpPr>
        <p:sp>
          <p:nvSpPr>
            <p:cNvPr id="26" name="TextBox 26"/>
            <p:cNvSpPr txBox="1"/>
            <p:nvPr/>
          </p:nvSpPr>
          <p:spPr>
            <a:xfrm>
              <a:off x="603504" y="6156960"/>
              <a:ext cx="7303399"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Source: compression.csv · paired_differences.csv · subset-paired descriptive differences</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2128718" cy="900303"/>
            <a:chOff x="595122" y="482918"/>
            <a:chExt cx="12128718" cy="900303"/>
          </a:xfrm>
        </p:grpSpPr>
        <p:sp>
          <p:nvSpPr>
            <p:cNvPr id="3" name="TextBox 3"/>
            <p:cNvSpPr txBox="1"/>
            <p:nvPr/>
          </p:nvSpPr>
          <p:spPr>
            <a:xfrm>
              <a:off x="602742" y="482918"/>
              <a:ext cx="4241124"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STRESS TEST · FINITE-SHOT FEASIBILITY</a:t>
              </a:r>
            </a:p>
          </p:txBody>
        </p:sp>
        <p:sp>
          <p:nvSpPr>
            <p:cNvPr id="4" name="TextBox 4"/>
            <p:cNvSpPr txBox="1"/>
            <p:nvPr/>
          </p:nvSpPr>
          <p:spPr>
            <a:xfrm>
              <a:off x="595122" y="825818"/>
              <a:ext cx="12128718"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Finite-shot sampling is stable; accuracy does not recover</a:t>
              </a:r>
            </a:p>
          </p:txBody>
        </p:sp>
      </p:grpSp>
      <p:grpSp>
        <p:nvGrpSpPr>
          <p:cNvPr id="8" name="Group 8"/>
          <p:cNvGrpSpPr/>
          <p:nvPr/>
        </p:nvGrpSpPr>
        <p:grpSpPr>
          <a:xfrm>
            <a:off x="609600" y="1504950"/>
            <a:ext cx="6667500" cy="4095750"/>
            <a:chOff x="609600" y="1504950"/>
            <a:chExt cx="6667500" cy="4095750"/>
          </a:xfrm>
        </p:grpSpPr>
        <p:sp>
          <p:nvSpPr>
            <p:cNvPr id="6" name="Rectangle 6"/>
            <p:cNvSpPr/>
            <p:nvPr/>
          </p:nvSpPr>
          <p:spPr>
            <a:xfrm>
              <a:off x="609600" y="1504950"/>
              <a:ext cx="6667500" cy="40957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62000" y="1701446"/>
              <a:ext cx="6362700" cy="3702759"/>
            </a:xfrm>
            <a:prstGeom prst="rect">
              <a:avLst/>
            </a:prstGeom>
          </p:spPr>
        </p:pic>
      </p:grpSp>
      <p:grpSp>
        <p:nvGrpSpPr>
          <p:cNvPr id="25" name="Group 25"/>
          <p:cNvGrpSpPr/>
          <p:nvPr/>
        </p:nvGrpSpPr>
        <p:grpSpPr>
          <a:xfrm>
            <a:off x="7533132" y="1673542"/>
            <a:ext cx="4498086" cy="3927158"/>
            <a:chOff x="7533132" y="1673542"/>
            <a:chExt cx="4498086" cy="3927158"/>
          </a:xfrm>
        </p:grpSpPr>
        <p:sp>
          <p:nvSpPr>
            <p:cNvPr id="9" name="TextBox 9"/>
            <p:cNvSpPr txBox="1"/>
            <p:nvPr/>
          </p:nvSpPr>
          <p:spPr>
            <a:xfrm>
              <a:off x="7536942" y="1673542"/>
              <a:ext cx="32094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MACRO-F1 · 15 EVALUATIONS EACH</a:t>
              </a:r>
            </a:p>
          </p:txBody>
        </p:sp>
        <p:sp>
          <p:nvSpPr>
            <p:cNvPr id="10" name="TextBox 10"/>
            <p:cNvSpPr txBox="1"/>
            <p:nvPr/>
          </p:nvSpPr>
          <p:spPr>
            <a:xfrm>
              <a:off x="7533132" y="2030730"/>
              <a:ext cx="51111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500</a:t>
              </a:r>
            </a:p>
          </p:txBody>
        </p:sp>
        <p:sp>
          <p:nvSpPr>
            <p:cNvPr id="11" name="TextBox 11"/>
            <p:cNvSpPr txBox="1"/>
            <p:nvPr/>
          </p:nvSpPr>
          <p:spPr>
            <a:xfrm>
              <a:off x="8771382" y="20307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0.7662 ± .0322</a:t>
              </a:r>
            </a:p>
          </p:txBody>
        </p:sp>
        <p:sp>
          <p:nvSpPr>
            <p:cNvPr id="12" name="TextBox 12"/>
            <p:cNvSpPr txBox="1"/>
            <p:nvPr/>
          </p:nvSpPr>
          <p:spPr>
            <a:xfrm>
              <a:off x="7533132" y="24498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2,000</a:t>
              </a:r>
            </a:p>
          </p:txBody>
        </p:sp>
        <p:sp>
          <p:nvSpPr>
            <p:cNvPr id="13" name="TextBox 13"/>
            <p:cNvSpPr txBox="1"/>
            <p:nvPr/>
          </p:nvSpPr>
          <p:spPr>
            <a:xfrm>
              <a:off x="8771382" y="24498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0.7739 ± .0308</a:t>
              </a:r>
            </a:p>
          </p:txBody>
        </p:sp>
        <p:sp>
          <p:nvSpPr>
            <p:cNvPr id="14" name="TextBox 14"/>
            <p:cNvSpPr txBox="1"/>
            <p:nvPr/>
          </p:nvSpPr>
          <p:spPr>
            <a:xfrm>
              <a:off x="7533132" y="28689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8,000</a:t>
              </a:r>
            </a:p>
          </p:txBody>
        </p:sp>
        <p:sp>
          <p:nvSpPr>
            <p:cNvPr id="15" name="TextBox 15"/>
            <p:cNvSpPr txBox="1"/>
            <p:nvPr/>
          </p:nvSpPr>
          <p:spPr>
            <a:xfrm>
              <a:off x="8771382" y="28689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0.7725 ± .0363</a:t>
              </a:r>
            </a:p>
          </p:txBody>
        </p:sp>
        <p:sp>
          <p:nvSpPr>
            <p:cNvPr id="16" name="Rectangle 16"/>
            <p:cNvSpPr/>
            <p:nvPr/>
          </p:nvSpPr>
          <p:spPr>
            <a:xfrm>
              <a:off x="7543800" y="3333750"/>
              <a:ext cx="4038600" cy="704850"/>
            </a:xfrm>
            <a:prstGeom prst="rect">
              <a:avLst/>
            </a:prstGeom>
            <a:solidFill>
              <a:schemeClr val="accent3"/>
            </a:solidFill>
            <a:ln>
              <a:noFill/>
            </a:ln>
          </p:spPr>
        </p:sp>
        <p:sp>
          <p:nvSpPr>
            <p:cNvPr id="17" name="TextBox 17"/>
            <p:cNvSpPr txBox="1"/>
            <p:nvPr/>
          </p:nvSpPr>
          <p:spPr>
            <a:xfrm>
              <a:off x="7762494" y="3418522"/>
              <a:ext cx="2610776" cy="381381"/>
            </a:xfrm>
            <a:prstGeom prst="rect">
              <a:avLst/>
            </a:prstGeom>
            <a:noFill/>
            <a:ln>
              <a:noFill/>
            </a:ln>
          </p:spPr>
          <p:txBody>
            <a:bodyPr wrap="none" lIns="0" tIns="0" rIns="0" bIns="0" anchor="t" anchorCtr="0">
              <a:spAutoFit/>
            </a:bodyPr>
            <a:lstStyle/>
            <a:p>
              <a:pPr algn="l"/>
              <a:r>
                <a:rPr lang="en-US" sz="1950" b="1" dirty="0">
                  <a:solidFill>
                    <a:srgbClr val="FFFFFF"/>
                  </a:solidFill>
                  <a:latin typeface="Consolas"/>
                  <a:ea typeface="Consolas"/>
                  <a:cs typeface="Consolas"/>
                </a:rPr>
                <a:t>acceptance ≈ 0.754</a:t>
              </a:r>
            </a:p>
          </p:txBody>
        </p:sp>
        <p:sp>
          <p:nvSpPr>
            <p:cNvPr id="18" name="TextBox 18"/>
            <p:cNvSpPr txBox="1"/>
            <p:nvPr/>
          </p:nvSpPr>
          <p:spPr>
            <a:xfrm>
              <a:off x="7765542" y="3759518"/>
              <a:ext cx="2430818"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0 zero-acceptance failures</a:t>
              </a:r>
            </a:p>
          </p:txBody>
        </p:sp>
        <p:sp>
          <p:nvSpPr>
            <p:cNvPr id="19" name="Rectangle 19"/>
            <p:cNvSpPr/>
            <p:nvPr/>
          </p:nvSpPr>
          <p:spPr>
            <a:xfrm>
              <a:off x="7543800" y="4210050"/>
              <a:ext cx="1905000" cy="1390650"/>
            </a:xfrm>
            <a:prstGeom prst="rect">
              <a:avLst/>
            </a:prstGeom>
            <a:solidFill>
              <a:schemeClr val="lt2"/>
            </a:solidFill>
            <a:ln>
              <a:noFill/>
            </a:ln>
          </p:spPr>
        </p:sp>
        <p:sp>
          <p:nvSpPr>
            <p:cNvPr id="20" name="TextBox 20"/>
            <p:cNvSpPr txBox="1"/>
            <p:nvPr/>
          </p:nvSpPr>
          <p:spPr>
            <a:xfrm>
              <a:off x="7765542" y="4369118"/>
              <a:ext cx="67907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TESTED</a:t>
              </a:r>
            </a:p>
          </p:txBody>
        </p:sp>
        <p:sp>
          <p:nvSpPr>
            <p:cNvPr id="21" name="TextBox 21"/>
            <p:cNvSpPr txBox="1"/>
            <p:nvPr/>
          </p:nvSpPr>
          <p:spPr>
            <a:xfrm>
              <a:off x="7765542" y="4712018"/>
              <a:ext cx="1822514"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Shot sampling</a:t>
              </a:r>
              <a:br/>
              <a:r>
                <a:rPr lang="en-US" sz="1350" dirty="0">
                  <a:solidFill>
                    <a:schemeClr val="dk1"/>
                  </a:solidFill>
                  <a:latin typeface="+mn-lt"/>
                  <a:ea typeface="+mn-ea"/>
                  <a:cs typeface="+mn-cs"/>
                </a:rPr>
                <a:t>Acceptance</a:t>
              </a:r>
              <a:br/>
              <a:r>
                <a:rPr lang="en-US" sz="1350" dirty="0">
                  <a:solidFill>
                    <a:schemeClr val="dk1"/>
                  </a:solidFill>
                  <a:latin typeface="+mn-lt"/>
                  <a:ea typeface="+mn-ea"/>
                  <a:cs typeface="+mn-cs"/>
                </a:rPr>
                <a:t>Ideal-trained readout</a:t>
              </a:r>
            </a:p>
          </p:txBody>
        </p:sp>
        <p:sp>
          <p:nvSpPr>
            <p:cNvPr id="22" name="Rectangle 22"/>
            <p:cNvSpPr/>
            <p:nvPr/>
          </p:nvSpPr>
          <p:spPr>
            <a:xfrm>
              <a:off x="9601200" y="4210050"/>
              <a:ext cx="1981200" cy="1390650"/>
            </a:xfrm>
            <a:prstGeom prst="rect">
              <a:avLst/>
            </a:prstGeom>
            <a:solidFill>
              <a:srgbClr val="E8C2B4"/>
            </a:solidFill>
            <a:ln>
              <a:noFill/>
            </a:ln>
          </p:spPr>
        </p:sp>
        <p:sp>
          <p:nvSpPr>
            <p:cNvPr id="23" name="TextBox 23"/>
            <p:cNvSpPr txBox="1"/>
            <p:nvPr/>
          </p:nvSpPr>
          <p:spPr>
            <a:xfrm>
              <a:off x="9822942" y="4369118"/>
              <a:ext cx="150574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NOT YET TESTED</a:t>
              </a:r>
            </a:p>
          </p:txBody>
        </p:sp>
        <p:sp>
          <p:nvSpPr>
            <p:cNvPr id="24" name="TextBox 24"/>
            <p:cNvSpPr txBox="1"/>
            <p:nvPr/>
          </p:nvSpPr>
          <p:spPr>
            <a:xfrm>
              <a:off x="9822942" y="4712018"/>
              <a:ext cx="2208276"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Loss · phase drift</a:t>
              </a:r>
              <a:br/>
              <a:r>
                <a:rPr lang="en-US" sz="1350" dirty="0">
                  <a:solidFill>
                    <a:schemeClr val="dk1"/>
                  </a:solidFill>
                  <a:latin typeface="+mn-lt"/>
                  <a:ea typeface="+mn-ea"/>
                  <a:cs typeface="+mn-cs"/>
                </a:rPr>
                <a:t>Distinguishability</a:t>
              </a:r>
              <a:br/>
              <a:r>
                <a:rPr lang="en-US" sz="1350" dirty="0">
                  <a:solidFill>
                    <a:schemeClr val="dk1"/>
                  </a:solidFill>
                  <a:latin typeface="+mn-lt"/>
                  <a:ea typeface="+mn-ea"/>
                  <a:cs typeface="+mn-cs"/>
                </a:rPr>
                <a:t>Detectors · noise training</a:t>
              </a:r>
            </a:p>
          </p:txBody>
        </p:sp>
      </p:grpSp>
      <p:grpSp>
        <p:nvGrpSpPr>
          <p:cNvPr id="27" name="Group 27"/>
          <p:cNvGrpSpPr/>
          <p:nvPr/>
        </p:nvGrpSpPr>
        <p:grpSpPr>
          <a:xfrm>
            <a:off x="602742" y="6045518"/>
            <a:ext cx="5347697" cy="264033"/>
            <a:chOff x="602742" y="6045518"/>
            <a:chExt cx="5347697" cy="264033"/>
          </a:xfrm>
        </p:grpSpPr>
        <p:sp>
          <p:nvSpPr>
            <p:cNvPr id="26" name="TextBox 26"/>
            <p:cNvSpPr txBox="1"/>
            <p:nvPr/>
          </p:nvSpPr>
          <p:spPr>
            <a:xfrm>
              <a:off x="602742" y="6045518"/>
              <a:ext cx="534769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45 sampled-inference evaluations · source: finite_shot.csv</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194032" cy="913447"/>
            <a:chOff x="594360" y="482918"/>
            <a:chExt cx="11194032" cy="913447"/>
          </a:xfrm>
        </p:grpSpPr>
        <p:sp>
          <p:nvSpPr>
            <p:cNvPr id="3" name="TextBox 3"/>
            <p:cNvSpPr txBox="1"/>
            <p:nvPr/>
          </p:nvSpPr>
          <p:spPr>
            <a:xfrm>
              <a:off x="602742" y="482918"/>
              <a:ext cx="4140685"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CURRENT VERDICT · EVIDENCE BOUNDARY</a:t>
              </a:r>
            </a:p>
          </p:txBody>
        </p:sp>
        <p:sp>
          <p:nvSpPr>
            <p:cNvPr id="4" name="TextBox 4"/>
            <p:cNvSpPr txBox="1"/>
            <p:nvPr/>
          </p:nvSpPr>
          <p:spPr>
            <a:xfrm>
              <a:off x="594360" y="809625"/>
              <a:ext cx="11194032"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Technically feasible; practical utility remains open</a:t>
              </a:r>
            </a:p>
          </p:txBody>
        </p:sp>
      </p:grpSp>
      <p:grpSp>
        <p:nvGrpSpPr>
          <p:cNvPr id="18" name="Group 18"/>
          <p:cNvGrpSpPr/>
          <p:nvPr/>
        </p:nvGrpSpPr>
        <p:grpSpPr>
          <a:xfrm>
            <a:off x="609600" y="1504950"/>
            <a:ext cx="10972800" cy="2266950"/>
            <a:chOff x="609600" y="1504950"/>
            <a:chExt cx="10972800" cy="2266950"/>
          </a:xfrm>
        </p:grpSpPr>
        <p:sp>
          <p:nvSpPr>
            <p:cNvPr id="6" name="Rectangle 6"/>
            <p:cNvSpPr/>
            <p:nvPr/>
          </p:nvSpPr>
          <p:spPr>
            <a:xfrm>
              <a:off x="609600" y="1504950"/>
              <a:ext cx="3352800" cy="2266950"/>
            </a:xfrm>
            <a:prstGeom prst="rect">
              <a:avLst/>
            </a:prstGeom>
            <a:solidFill>
              <a:schemeClr val="accent3"/>
            </a:solidFill>
            <a:ln>
              <a:noFill/>
            </a:ln>
          </p:spPr>
        </p:sp>
        <p:sp>
          <p:nvSpPr>
            <p:cNvPr id="7" name="TextBox 7"/>
            <p:cNvSpPr txBox="1"/>
            <p:nvPr/>
          </p:nvSpPr>
          <p:spPr>
            <a:xfrm>
              <a:off x="831342" y="1702118"/>
              <a:ext cx="719404"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PROVEN</a:t>
              </a:r>
            </a:p>
          </p:txBody>
        </p:sp>
        <p:sp>
          <p:nvSpPr>
            <p:cNvPr id="8" name="TextBox 8"/>
            <p:cNvSpPr txBox="1"/>
            <p:nvPr/>
          </p:nvSpPr>
          <p:spPr>
            <a:xfrm>
              <a:off x="826770" y="2005012"/>
              <a:ext cx="3351356"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Technical feasibility</a:t>
              </a:r>
            </a:p>
          </p:txBody>
        </p:sp>
        <p:sp>
          <p:nvSpPr>
            <p:cNvPr id="9" name="TextBox 9"/>
            <p:cNvSpPr txBox="1"/>
            <p:nvPr/>
          </p:nvSpPr>
          <p:spPr>
            <a:xfrm>
              <a:off x="830580" y="2495550"/>
              <a:ext cx="2129790" cy="883920"/>
            </a:xfrm>
            <a:prstGeom prst="rect">
              <a:avLst/>
            </a:prstGeom>
            <a:noFill/>
            <a:ln>
              <a:noFill/>
            </a:ln>
          </p:spPr>
          <p:txBody>
            <a:bodyPr wrap="none" lIns="0" tIns="0" rIns="0" bIns="0" anchor="t" anchorCtr="0">
              <a:spAutoFit/>
            </a:bodyPr>
            <a:lstStyle/>
            <a:p>
              <a:pPr algn="l">
                <a:lnSpc>
                  <a:spcPts val="2325"/>
                </a:lnSpc>
              </a:pPr>
              <a:r>
                <a:rPr lang="en-US" sz="1500" dirty="0">
                  <a:solidFill>
                    <a:srgbClr val="FBF7EE"/>
                  </a:solidFill>
                  <a:latin typeface="+mn-lt"/>
                  <a:ea typeface="+mn-ea"/>
                  <a:cs typeface="+mn-cs"/>
                </a:rPr>
                <a:t>Executable pipeline</a:t>
              </a:r>
              <a:br/>
              <a:r>
                <a:rPr lang="en-US" sz="1500" dirty="0">
                  <a:solidFill>
                    <a:srgbClr val="FBF7EE"/>
                  </a:solidFill>
                  <a:latin typeface="+mn-lt"/>
                  <a:ea typeface="+mn-ea"/>
                  <a:cs typeface="+mn-cs"/>
                </a:rPr>
                <a:t>Simulator semantics</a:t>
              </a:r>
              <a:br/>
              <a:r>
                <a:rPr lang="en-US" sz="1500" dirty="0">
                  <a:solidFill>
                    <a:srgbClr val="FBF7EE"/>
                  </a:solidFill>
                  <a:latin typeface="+mn-lt"/>
                  <a:ea typeface="+mn-ea"/>
                  <a:cs typeface="+mn-cs"/>
                </a:rPr>
                <a:t>Reproducible artifacts</a:t>
              </a:r>
            </a:p>
          </p:txBody>
        </p:sp>
        <p:sp>
          <p:nvSpPr>
            <p:cNvPr id="10" name="Rectangle 10"/>
            <p:cNvSpPr/>
            <p:nvPr/>
          </p:nvSpPr>
          <p:spPr>
            <a:xfrm>
              <a:off x="4191000" y="1504950"/>
              <a:ext cx="3352800" cy="2266950"/>
            </a:xfrm>
            <a:prstGeom prst="rect">
              <a:avLst/>
            </a:prstGeom>
            <a:solidFill>
              <a:srgbClr val="7BA39A"/>
            </a:solidFill>
            <a:ln>
              <a:noFill/>
            </a:ln>
          </p:spPr>
        </p:sp>
        <p:sp>
          <p:nvSpPr>
            <p:cNvPr id="11" name="TextBox 11"/>
            <p:cNvSpPr txBox="1"/>
            <p:nvPr/>
          </p:nvSpPr>
          <p:spPr>
            <a:xfrm>
              <a:off x="4412742" y="1702118"/>
              <a:ext cx="1949318"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PARTIALLY ANSWERED</a:t>
              </a:r>
            </a:p>
          </p:txBody>
        </p:sp>
        <p:sp>
          <p:nvSpPr>
            <p:cNvPr id="12" name="TextBox 12"/>
            <p:cNvSpPr txBox="1"/>
            <p:nvPr/>
          </p:nvSpPr>
          <p:spPr>
            <a:xfrm>
              <a:off x="4408170" y="2005012"/>
              <a:ext cx="2881194"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Application signal</a:t>
              </a:r>
            </a:p>
          </p:txBody>
        </p:sp>
        <p:sp>
          <p:nvSpPr>
            <p:cNvPr id="13" name="TextBox 13"/>
            <p:cNvSpPr txBox="1"/>
            <p:nvPr/>
          </p:nvSpPr>
          <p:spPr>
            <a:xfrm>
              <a:off x="4411980" y="2495550"/>
              <a:ext cx="2186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accent1"/>
                  </a:solidFill>
                  <a:latin typeface="+mn-lt"/>
                  <a:ea typeface="+mn-ea"/>
                  <a:cs typeface="+mn-cs"/>
                </a:rPr>
                <a:t>Learning with labels</a:t>
              </a:r>
              <a:br/>
              <a:r>
                <a:rPr lang="en-US" sz="1500" dirty="0">
                  <a:solidFill>
                    <a:schemeClr val="accent1"/>
                  </a:solidFill>
                  <a:latin typeface="+mn-lt"/>
                  <a:ea typeface="+mn-ea"/>
                  <a:cs typeface="+mn-cs"/>
                </a:rPr>
                <a:t>Paired one-fold ranking</a:t>
              </a:r>
              <a:br/>
              <a:r>
                <a:rPr lang="en-US" sz="1500" dirty="0">
                  <a:solidFill>
                    <a:schemeClr val="accent1"/>
                  </a:solidFill>
                  <a:latin typeface="+mn-lt"/>
                  <a:ea typeface="+mn-ea"/>
                  <a:cs typeface="+mn-cs"/>
                </a:rPr>
                <a:t>Finite-shot sampling</a:t>
              </a:r>
            </a:p>
          </p:txBody>
        </p:sp>
        <p:sp>
          <p:nvSpPr>
            <p:cNvPr id="14" name="Rectangle 14"/>
            <p:cNvSpPr/>
            <p:nvPr/>
          </p:nvSpPr>
          <p:spPr>
            <a:xfrm>
              <a:off x="7772400" y="1504950"/>
              <a:ext cx="3810000" cy="2266950"/>
            </a:xfrm>
            <a:prstGeom prst="rect">
              <a:avLst/>
            </a:prstGeom>
            <a:solidFill>
              <a:srgbClr val="E8C2B4"/>
            </a:solidFill>
            <a:ln>
              <a:noFill/>
            </a:ln>
          </p:spPr>
        </p:sp>
        <p:sp>
          <p:nvSpPr>
            <p:cNvPr id="15" name="TextBox 15"/>
            <p:cNvSpPr txBox="1"/>
            <p:nvPr/>
          </p:nvSpPr>
          <p:spPr>
            <a:xfrm>
              <a:off x="7994142" y="1702118"/>
              <a:ext cx="116298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UNANSWERED</a:t>
              </a:r>
            </a:p>
          </p:txBody>
        </p:sp>
        <p:sp>
          <p:nvSpPr>
            <p:cNvPr id="16" name="TextBox 16"/>
            <p:cNvSpPr txBox="1"/>
            <p:nvPr/>
          </p:nvSpPr>
          <p:spPr>
            <a:xfrm>
              <a:off x="7989570" y="2005012"/>
              <a:ext cx="269611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Practical utility</a:t>
              </a:r>
            </a:p>
          </p:txBody>
        </p:sp>
        <p:sp>
          <p:nvSpPr>
            <p:cNvPr id="17" name="TextBox 17"/>
            <p:cNvSpPr txBox="1"/>
            <p:nvPr/>
          </p:nvSpPr>
          <p:spPr>
            <a:xfrm>
              <a:off x="7993380" y="2495550"/>
              <a:ext cx="2567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dk1"/>
                  </a:solidFill>
                  <a:latin typeface="+mn-lt"/>
                  <a:ea typeface="+mn-ea"/>
                  <a:cs typeface="+mn-cs"/>
                </a:rPr>
                <a:t>Five-fold generalization</a:t>
              </a:r>
              <a:br/>
              <a:r>
                <a:rPr lang="en-US" sz="1500" dirty="0">
                  <a:solidFill>
                    <a:schemeClr val="dk1"/>
                  </a:solidFill>
                  <a:latin typeface="+mn-lt"/>
                  <a:ea typeface="+mn-ea"/>
                  <a:cs typeface="+mn-cs"/>
                </a:rPr>
                <a:t>Realistic photonic noise</a:t>
              </a:r>
              <a:br/>
              <a:r>
                <a:rPr lang="en-US" sz="1500" dirty="0">
                  <a:solidFill>
                    <a:schemeClr val="dk1"/>
                  </a:solidFill>
                  <a:latin typeface="+mn-lt"/>
                  <a:ea typeface="+mn-ea"/>
                  <a:cs typeface="+mn-cs"/>
                </a:rPr>
                <a:t>Remote hardware execution</a:t>
              </a:r>
            </a:p>
          </p:txBody>
        </p:sp>
      </p:grpSp>
      <p:grpSp>
        <p:nvGrpSpPr>
          <p:cNvPr id="33" name="Group 33"/>
          <p:cNvGrpSpPr/>
          <p:nvPr/>
        </p:nvGrpSpPr>
        <p:grpSpPr>
          <a:xfrm>
            <a:off x="609600" y="4057650"/>
            <a:ext cx="10972800" cy="1733550"/>
            <a:chOff x="609600" y="4057650"/>
            <a:chExt cx="10972800" cy="1733550"/>
          </a:xfrm>
        </p:grpSpPr>
        <p:sp>
          <p:nvSpPr>
            <p:cNvPr id="19" name="Rectangle 19"/>
            <p:cNvSpPr/>
            <p:nvPr/>
          </p:nvSpPr>
          <p:spPr>
            <a:xfrm>
              <a:off x="609600" y="4057650"/>
              <a:ext cx="3657600" cy="1733550"/>
            </a:xfrm>
            <a:prstGeom prst="rect">
              <a:avLst/>
            </a:prstGeom>
            <a:solidFill>
              <a:srgbClr val="FFFFFF"/>
            </a:solidFill>
            <a:ln>
              <a:noFill/>
            </a:ln>
          </p:spPr>
        </p:sp>
        <p:pic>
          <p:nvPicPr>
            <p:cNvPr id="20" name="Image 20"/>
            <p:cNvPicPr>
              <a:picLocks noChangeAspect="1"/>
            </p:cNvPicPr>
            <p:nvPr/>
          </p:nvPicPr>
          <p:blipFill>
            <a:blip r:embed="rId2"/>
            <a:stretch>
              <a:fillRect/>
            </a:stretch>
          </p:blipFill>
          <p:spPr>
            <a:xfrm>
              <a:off x="1041471" y="4171950"/>
              <a:ext cx="2793857" cy="1504950"/>
            </a:xfrm>
            <a:prstGeom prst="rect">
              <a:avLst/>
            </a:prstGeom>
          </p:spPr>
        </p:pic>
        <p:sp>
          <p:nvSpPr>
            <p:cNvPr id="21" name="Rectangle 21"/>
            <p:cNvSpPr/>
            <p:nvPr/>
          </p:nvSpPr>
          <p:spPr>
            <a:xfrm>
              <a:off x="4495800" y="4057650"/>
              <a:ext cx="2895600" cy="1733550"/>
            </a:xfrm>
            <a:prstGeom prst="rect">
              <a:avLst/>
            </a:prstGeom>
            <a:solidFill>
              <a:schemeClr val="lt2"/>
            </a:solidFill>
            <a:ln>
              <a:noFill/>
            </a:ln>
          </p:spPr>
        </p:sp>
        <p:sp>
          <p:nvSpPr>
            <p:cNvPr id="22" name="TextBox 22"/>
            <p:cNvSpPr txBox="1"/>
            <p:nvPr/>
          </p:nvSpPr>
          <p:spPr>
            <a:xfrm>
              <a:off x="4717542" y="4245292"/>
              <a:ext cx="16569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MEASURED ON CPU</a:t>
              </a:r>
            </a:p>
          </p:txBody>
        </p:sp>
        <p:sp>
          <p:nvSpPr>
            <p:cNvPr id="23" name="TextBox 23"/>
            <p:cNvSpPr txBox="1"/>
            <p:nvPr/>
          </p:nvSpPr>
          <p:spPr>
            <a:xfrm>
              <a:off x="4716780" y="4695825"/>
              <a:ext cx="169679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OpenCLIP embed.</a:t>
              </a:r>
            </a:p>
          </p:txBody>
        </p:sp>
        <p:sp>
          <p:nvSpPr>
            <p:cNvPr id="24" name="TextBox 24"/>
            <p:cNvSpPr txBox="1"/>
            <p:nvPr/>
          </p:nvSpPr>
          <p:spPr>
            <a:xfrm>
              <a:off x="6278792" y="4671536"/>
              <a:ext cx="892771" cy="337376"/>
            </a:xfrm>
            <a:prstGeom prst="rect">
              <a:avLst/>
            </a:prstGeom>
            <a:noFill/>
            <a:ln>
              <a:noFill/>
            </a:ln>
          </p:spPr>
          <p:txBody>
            <a:bodyPr wrap="none" lIns="0" tIns="0" rIns="0" bIns="0" anchor="t" anchorCtr="0">
              <a:spAutoFit/>
            </a:bodyPr>
            <a:lstStyle/>
            <a:p>
              <a:pPr algn="r"/>
              <a:r>
                <a:rPr lang="en-US" sz="1720" b="1" dirty="0">
                  <a:solidFill>
                    <a:schemeClr val="accent1"/>
                  </a:solidFill>
                  <a:latin typeface="Consolas"/>
                  <a:ea typeface="Consolas"/>
                  <a:cs typeface="Consolas"/>
                </a:rPr>
                <a:t>96.57 s</a:t>
              </a:r>
            </a:p>
          </p:txBody>
        </p:sp>
        <p:sp>
          <p:nvSpPr>
            <p:cNvPr id="25" name="TextBox 25"/>
            <p:cNvSpPr txBox="1"/>
            <p:nvPr/>
          </p:nvSpPr>
          <p:spPr>
            <a:xfrm>
              <a:off x="4716780" y="5086350"/>
              <a:ext cx="961807"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R1 models</a:t>
              </a:r>
            </a:p>
          </p:txBody>
        </p:sp>
        <p:sp>
          <p:nvSpPr>
            <p:cNvPr id="26" name="TextBox 26"/>
            <p:cNvSpPr txBox="1"/>
            <p:nvPr/>
          </p:nvSpPr>
          <p:spPr>
            <a:xfrm>
              <a:off x="6278792" y="5062061"/>
              <a:ext cx="892771" cy="337376"/>
            </a:xfrm>
            <a:prstGeom prst="rect">
              <a:avLst/>
            </a:prstGeom>
            <a:noFill/>
            <a:ln>
              <a:noFill/>
            </a:ln>
          </p:spPr>
          <p:txBody>
            <a:bodyPr wrap="none" lIns="0" tIns="0" rIns="0" bIns="0" anchor="t" anchorCtr="0">
              <a:spAutoFit/>
            </a:bodyPr>
            <a:lstStyle/>
            <a:p>
              <a:pPr algn="r"/>
              <a:r>
                <a:rPr lang="en-US" sz="1720" b="1" dirty="0">
                  <a:solidFill>
                    <a:schemeClr val="accent1"/>
                  </a:solidFill>
                  <a:latin typeface="Consolas"/>
                  <a:ea typeface="Consolas"/>
                  <a:cs typeface="Consolas"/>
                </a:rPr>
                <a:t>≈59.9 s</a:t>
              </a:r>
            </a:p>
          </p:txBody>
        </p:sp>
        <p:sp>
          <p:nvSpPr>
            <p:cNvPr id="27" name="TextBox 27"/>
            <p:cNvSpPr txBox="1"/>
            <p:nvPr/>
          </p:nvSpPr>
          <p:spPr>
            <a:xfrm>
              <a:off x="4718304" y="5433060"/>
              <a:ext cx="2868650"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Runtime permits broader validation.</a:t>
              </a:r>
            </a:p>
          </p:txBody>
        </p:sp>
        <p:sp>
          <p:nvSpPr>
            <p:cNvPr id="28" name="Rectangle 28"/>
            <p:cNvSpPr/>
            <p:nvPr/>
          </p:nvSpPr>
          <p:spPr>
            <a:xfrm>
              <a:off x="7620000" y="4057650"/>
              <a:ext cx="3962400" cy="1733550"/>
            </a:xfrm>
            <a:prstGeom prst="rect">
              <a:avLst/>
            </a:prstGeom>
            <a:solidFill>
              <a:schemeClr val="accent1"/>
            </a:solidFill>
            <a:ln>
              <a:noFill/>
            </a:ln>
          </p:spPr>
        </p:sp>
        <p:sp>
          <p:nvSpPr>
            <p:cNvPr id="29" name="TextBox 29"/>
            <p:cNvSpPr txBox="1"/>
            <p:nvPr/>
          </p:nvSpPr>
          <p:spPr>
            <a:xfrm>
              <a:off x="7841742" y="4245292"/>
              <a:ext cx="1999724"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DECISION CONSTRAINT</a:t>
              </a:r>
            </a:p>
          </p:txBody>
        </p:sp>
        <p:sp>
          <p:nvSpPr>
            <p:cNvPr id="30" name="TextBox 30"/>
            <p:cNvSpPr txBox="1"/>
            <p:nvPr/>
          </p:nvSpPr>
          <p:spPr>
            <a:xfrm>
              <a:off x="7837932" y="4583430"/>
              <a:ext cx="2782481" cy="410718"/>
            </a:xfrm>
            <a:prstGeom prst="rect">
              <a:avLst/>
            </a:prstGeom>
            <a:noFill/>
            <a:ln>
              <a:noFill/>
            </a:ln>
          </p:spPr>
          <p:txBody>
            <a:bodyPr wrap="none" lIns="0" tIns="0" rIns="0" bIns="0" anchor="t" anchorCtr="0">
              <a:spAutoFit/>
            </a:bodyPr>
            <a:lstStyle/>
            <a:p>
              <a:pPr algn="l"/>
              <a:r>
                <a:rPr lang="en-US" sz="2100" b="1" dirty="0">
                  <a:solidFill>
                    <a:srgbClr val="FFFFFF"/>
                  </a:solidFill>
                  <a:latin typeface="+mj-lt"/>
                  <a:ea typeface="+mj-ea"/>
                  <a:cs typeface="+mj-cs"/>
                </a:rPr>
                <a:t>Scientific validity</a:t>
              </a:r>
            </a:p>
          </p:txBody>
        </p:sp>
        <p:sp>
          <p:nvSpPr>
            <p:cNvPr id="31" name="TextBox 31"/>
            <p:cNvSpPr txBox="1"/>
            <p:nvPr/>
          </p:nvSpPr>
          <p:spPr>
            <a:xfrm>
              <a:off x="7840980" y="4991100"/>
              <a:ext cx="3510915" cy="569595"/>
            </a:xfrm>
            <a:prstGeom prst="rect">
              <a:avLst/>
            </a:prstGeom>
            <a:noFill/>
            <a:ln>
              <a:noFill/>
            </a:ln>
          </p:spPr>
          <p:txBody>
            <a:bodyPr wrap="none" lIns="0" tIns="0" rIns="0" bIns="0" anchor="t" anchorCtr="0">
              <a:spAutoFit/>
            </a:bodyPr>
            <a:lstStyle/>
            <a:p>
              <a:pPr algn="l">
                <a:lnSpc>
                  <a:spcPts val="2175"/>
                </a:lnSpc>
              </a:pPr>
              <a:r>
                <a:rPr lang="en-US" sz="1500" dirty="0">
                  <a:solidFill>
                    <a:srgbClr val="FBF7EE"/>
                  </a:solidFill>
                  <a:latin typeface="+mn-lt"/>
                  <a:ea typeface="+mn-ea"/>
                  <a:cs typeface="+mn-cs"/>
                </a:rPr>
                <a:t>One outer fold · small validation cells</a:t>
              </a:r>
              <a:br/>
              <a:r>
                <a:rPr lang="en-US" sz="1500" dirty="0">
                  <a:solidFill>
                    <a:srgbClr val="FBF7EE"/>
                  </a:solidFill>
                  <a:latin typeface="+mn-lt"/>
                  <a:ea typeface="+mn-ea"/>
                  <a:cs typeface="+mn-cs"/>
                </a:rPr>
                <a:t>ideal optics · B1 near ceiling</a:t>
              </a:r>
            </a:p>
          </p:txBody>
        </p:sp>
        <p:sp>
          <p:nvSpPr>
            <p:cNvPr id="32" name="TextBox 32"/>
            <p:cNvSpPr txBox="1"/>
            <p:nvPr/>
          </p:nvSpPr>
          <p:spPr>
            <a:xfrm>
              <a:off x="7841742" y="5493068"/>
              <a:ext cx="30481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RUNTIME IS NOT THE BOTTLENECK</a:t>
              </a:r>
            </a:p>
          </p:txBody>
        </p:sp>
      </p:grpSp>
      <p:grpSp>
        <p:nvGrpSpPr>
          <p:cNvPr id="35" name="Group 35"/>
          <p:cNvGrpSpPr/>
          <p:nvPr/>
        </p:nvGrpSpPr>
        <p:grpSpPr>
          <a:xfrm>
            <a:off x="602742" y="6045518"/>
            <a:ext cx="6274727" cy="264033"/>
            <a:chOff x="602742" y="6045518"/>
            <a:chExt cx="6274727" cy="264033"/>
          </a:xfrm>
        </p:grpSpPr>
        <p:sp>
          <p:nvSpPr>
            <p:cNvPr id="34" name="TextBox 34"/>
            <p:cNvSpPr txBox="1"/>
            <p:nvPr/>
          </p:nvSpPr>
          <p:spPr>
            <a:xfrm>
              <a:off x="602742" y="6045518"/>
              <a:ext cx="627472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Local CPU profile · no loss, phase drift, detector noise, or QPU queue</a:t>
              </a:r>
            </a:p>
          </p:txBody>
        </p:sp>
      </p:grpSp>
      <p:grpSp>
        <p:nvGrpSpPr>
          <p:cNvPr id="37" name="Group 37"/>
          <p:cNvGrpSpPr/>
          <p:nvPr/>
        </p:nvGrpSpPr>
        <p:grpSpPr>
          <a:xfrm>
            <a:off x="10966723" y="6426518"/>
            <a:ext cx="622535" cy="264033"/>
            <a:chOff x="10966723" y="6426518"/>
            <a:chExt cx="622535" cy="264033"/>
          </a:xfrm>
        </p:grpSpPr>
        <p:sp>
          <p:nvSpPr>
            <p:cNvPr id="36" name="TextBox 36"/>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300884" cy="913447"/>
            <a:chOff x="594360" y="482918"/>
            <a:chExt cx="10300884" cy="913447"/>
          </a:xfrm>
        </p:grpSpPr>
        <p:sp>
          <p:nvSpPr>
            <p:cNvPr id="3" name="TextBox 3"/>
            <p:cNvSpPr txBox="1"/>
            <p:nvPr/>
          </p:nvSpPr>
          <p:spPr>
            <a:xfrm>
              <a:off x="602742" y="482918"/>
              <a:ext cx="546469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RECOMMENDATION · ANSWER TO THE RESEARCH TEAM</a:t>
              </a:r>
            </a:p>
          </p:txBody>
        </p:sp>
        <p:sp>
          <p:nvSpPr>
            <p:cNvPr id="4" name="TextBox 4"/>
            <p:cNvSpPr txBox="1"/>
            <p:nvPr/>
          </p:nvSpPr>
          <p:spPr>
            <a:xfrm>
              <a:off x="594360" y="809625"/>
              <a:ext cx="10300884"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Continue only through a decision-changing test</a:t>
              </a:r>
            </a:p>
          </p:txBody>
        </p:sp>
      </p:grpSp>
      <p:grpSp>
        <p:nvGrpSpPr>
          <p:cNvPr id="18" name="Group 18"/>
          <p:cNvGrpSpPr/>
          <p:nvPr/>
        </p:nvGrpSpPr>
        <p:grpSpPr>
          <a:xfrm>
            <a:off x="609600" y="1562100"/>
            <a:ext cx="6109724" cy="3905250"/>
            <a:chOff x="609600" y="1562100"/>
            <a:chExt cx="6109724" cy="3905250"/>
          </a:xfrm>
        </p:grpSpPr>
        <p:sp>
          <p:nvSpPr>
            <p:cNvPr id="6" name="Rectangle 6"/>
            <p:cNvSpPr/>
            <p:nvPr/>
          </p:nvSpPr>
          <p:spPr>
            <a:xfrm>
              <a:off x="609600" y="1562100"/>
              <a:ext cx="5715000" cy="1104900"/>
            </a:xfrm>
            <a:prstGeom prst="rect">
              <a:avLst/>
            </a:prstGeom>
            <a:solidFill>
              <a:schemeClr val="lt2"/>
            </a:solidFill>
            <a:ln>
              <a:noFill/>
            </a:ln>
          </p:spPr>
        </p:sp>
        <p:sp>
          <p:nvSpPr>
            <p:cNvPr id="7" name="TextBox 7"/>
            <p:cNvSpPr txBox="1"/>
            <p:nvPr/>
          </p:nvSpPr>
          <p:spPr>
            <a:xfrm>
              <a:off x="831342" y="1740218"/>
              <a:ext cx="18888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WHICH APPLICATION?</a:t>
              </a:r>
            </a:p>
          </p:txBody>
        </p:sp>
        <p:sp>
          <p:nvSpPr>
            <p:cNvPr id="8" name="TextBox 8"/>
            <p:cNvSpPr txBox="1"/>
            <p:nvPr/>
          </p:nvSpPr>
          <p:spPr>
            <a:xfrm>
              <a:off x="827532" y="2040255"/>
              <a:ext cx="5891792"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j-lt"/>
                  <a:ea typeface="+mj-ea"/>
                  <a:cs typeface="+mj-cs"/>
                </a:rPr>
                <a:t>Few-label industrial defect inspection</a:t>
              </a:r>
            </a:p>
          </p:txBody>
        </p:sp>
        <p:sp>
          <p:nvSpPr>
            <p:cNvPr id="9" name="TextBox 9"/>
            <p:cNvSpPr txBox="1"/>
            <p:nvPr/>
          </p:nvSpPr>
          <p:spPr>
            <a:xfrm>
              <a:off x="831342" y="2378392"/>
              <a:ext cx="2785205"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with a fixed photonic reservoir</a:t>
              </a:r>
            </a:p>
          </p:txBody>
        </p:sp>
        <p:sp>
          <p:nvSpPr>
            <p:cNvPr id="10" name="Rectangle 10"/>
            <p:cNvSpPr/>
            <p:nvPr/>
          </p:nvSpPr>
          <p:spPr>
            <a:xfrm>
              <a:off x="609600" y="2819400"/>
              <a:ext cx="5715000" cy="1104900"/>
            </a:xfrm>
            <a:prstGeom prst="rect">
              <a:avLst/>
            </a:prstGeom>
            <a:solidFill>
              <a:schemeClr val="accent3"/>
            </a:solidFill>
            <a:ln>
              <a:noFill/>
            </a:ln>
          </p:spPr>
        </p:sp>
        <p:sp>
          <p:nvSpPr>
            <p:cNvPr id="11" name="TextBox 11"/>
            <p:cNvSpPr txBox="1"/>
            <p:nvPr/>
          </p:nvSpPr>
          <p:spPr>
            <a:xfrm>
              <a:off x="831342" y="2997518"/>
              <a:ext cx="1404930"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WHY THIS IDEA?</a:t>
              </a:r>
            </a:p>
          </p:txBody>
        </p:sp>
        <p:sp>
          <p:nvSpPr>
            <p:cNvPr id="12" name="TextBox 12"/>
            <p:cNvSpPr txBox="1"/>
            <p:nvPr/>
          </p:nvSpPr>
          <p:spPr>
            <a:xfrm>
              <a:off x="829056" y="3329940"/>
              <a:ext cx="5872243"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Real label scarcity · compact phase encoding</a:t>
              </a:r>
            </a:p>
          </p:txBody>
        </p:sp>
        <p:sp>
          <p:nvSpPr>
            <p:cNvPr id="13" name="TextBox 13"/>
            <p:cNvSpPr txBox="1"/>
            <p:nvPr/>
          </p:nvSpPr>
          <p:spPr>
            <a:xfrm>
              <a:off x="831342" y="3635692"/>
              <a:ext cx="3257721"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measurable evidence within 12 weeks</a:t>
              </a:r>
            </a:p>
          </p:txBody>
        </p:sp>
        <p:sp>
          <p:nvSpPr>
            <p:cNvPr id="14" name="Rectangle 14"/>
            <p:cNvSpPr/>
            <p:nvPr/>
          </p:nvSpPr>
          <p:spPr>
            <a:xfrm>
              <a:off x="609600" y="4076700"/>
              <a:ext cx="5715000" cy="1390650"/>
            </a:xfrm>
            <a:prstGeom prst="rect">
              <a:avLst/>
            </a:prstGeom>
            <a:solidFill>
              <a:srgbClr val="7BA39A"/>
            </a:solidFill>
            <a:ln>
              <a:noFill/>
            </a:ln>
          </p:spPr>
        </p:sp>
        <p:sp>
          <p:nvSpPr>
            <p:cNvPr id="15" name="TextBox 15"/>
            <p:cNvSpPr txBox="1"/>
            <p:nvPr/>
          </p:nvSpPr>
          <p:spPr>
            <a:xfrm>
              <a:off x="831342" y="4254818"/>
              <a:ext cx="1576311"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CURRENT VERDICT</a:t>
              </a:r>
            </a:p>
          </p:txBody>
        </p:sp>
        <p:sp>
          <p:nvSpPr>
            <p:cNvPr id="16" name="TextBox 16"/>
            <p:cNvSpPr txBox="1"/>
            <p:nvPr/>
          </p:nvSpPr>
          <p:spPr>
            <a:xfrm>
              <a:off x="827532" y="4554855"/>
              <a:ext cx="3465766" cy="734568"/>
            </a:xfrm>
            <a:prstGeom prst="rect">
              <a:avLst/>
            </a:prstGeom>
            <a:noFill/>
            <a:ln>
              <a:noFill/>
            </a:ln>
          </p:spPr>
          <p:txBody>
            <a:bodyPr wrap="none" lIns="0" tIns="0" rIns="0" bIns="0" anchor="t" anchorCtr="0">
              <a:spAutoFit/>
            </a:bodyPr>
            <a:lstStyle/>
            <a:p>
              <a:pPr algn="l">
                <a:lnSpc>
                  <a:spcPts val="2550"/>
                </a:lnSpc>
              </a:pPr>
              <a:r>
                <a:rPr lang="en-US" sz="2100" b="1" dirty="0">
                  <a:solidFill>
                    <a:schemeClr val="accent1"/>
                  </a:solidFill>
                  <a:latin typeface="+mj-lt"/>
                  <a:ea typeface="+mj-ea"/>
                  <a:cs typeface="+mj-cs"/>
                </a:rPr>
                <a:t>Technically feasible and</a:t>
              </a:r>
              <a:br/>
              <a:r>
                <a:rPr lang="en-US" sz="2100" b="1" dirty="0">
                  <a:solidFill>
                    <a:schemeClr val="accent1"/>
                  </a:solidFill>
                  <a:latin typeface="+mj-lt"/>
                  <a:ea typeface="+mj-ea"/>
                  <a:cs typeface="+mj-cs"/>
                </a:rPr>
                <a:t>scientifically interesting</a:t>
              </a:r>
            </a:p>
          </p:txBody>
        </p:sp>
        <p:sp>
          <p:nvSpPr>
            <p:cNvPr id="17" name="TextBox 17"/>
            <p:cNvSpPr txBox="1"/>
            <p:nvPr/>
          </p:nvSpPr>
          <p:spPr>
            <a:xfrm>
              <a:off x="831342" y="5169218"/>
              <a:ext cx="4207520"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NO DEMONSTRATED PRACTICAL ADVANTAGE YET</a:t>
              </a:r>
            </a:p>
          </p:txBody>
        </p:sp>
      </p:grpSp>
      <p:grpSp>
        <p:nvGrpSpPr>
          <p:cNvPr id="29" name="Group 29"/>
          <p:cNvGrpSpPr/>
          <p:nvPr/>
        </p:nvGrpSpPr>
        <p:grpSpPr>
          <a:xfrm>
            <a:off x="6598044" y="1562100"/>
            <a:ext cx="5015711" cy="3905250"/>
            <a:chOff x="6598044" y="1562100"/>
            <a:chExt cx="5015711" cy="3905250"/>
          </a:xfrm>
        </p:grpSpPr>
        <p:sp>
          <p:nvSpPr>
            <p:cNvPr id="19" name="Rectangle 19"/>
            <p:cNvSpPr/>
            <p:nvPr/>
          </p:nvSpPr>
          <p:spPr>
            <a:xfrm>
              <a:off x="6629400" y="1562100"/>
              <a:ext cx="4953000" cy="1847850"/>
            </a:xfrm>
            <a:prstGeom prst="rect">
              <a:avLst/>
            </a:prstGeom>
            <a:solidFill>
              <a:schemeClr val="accent1"/>
            </a:solidFill>
            <a:ln>
              <a:noFill/>
            </a:ln>
          </p:spPr>
        </p:sp>
        <p:sp>
          <p:nvSpPr>
            <p:cNvPr id="20" name="TextBox 20"/>
            <p:cNvSpPr txBox="1"/>
            <p:nvPr/>
          </p:nvSpPr>
          <p:spPr>
            <a:xfrm>
              <a:off x="6889242" y="1759268"/>
              <a:ext cx="1667043"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CONTINUE ONLY IF</a:t>
              </a:r>
            </a:p>
          </p:txBody>
        </p:sp>
        <p:sp>
          <p:nvSpPr>
            <p:cNvPr id="21" name="TextBox 21"/>
            <p:cNvSpPr txBox="1"/>
            <p:nvPr/>
          </p:nvSpPr>
          <p:spPr>
            <a:xfrm>
              <a:off x="6885432" y="2097405"/>
              <a:ext cx="3801809" cy="744093"/>
            </a:xfrm>
            <a:prstGeom prst="rect">
              <a:avLst/>
            </a:prstGeom>
            <a:noFill/>
            <a:ln>
              <a:noFill/>
            </a:ln>
          </p:spPr>
          <p:txBody>
            <a:bodyPr wrap="none" lIns="0" tIns="0" rIns="0" bIns="0" anchor="t" anchorCtr="0">
              <a:spAutoFit/>
            </a:bodyPr>
            <a:lstStyle/>
            <a:p>
              <a:pPr algn="l">
                <a:lnSpc>
                  <a:spcPts val="2625"/>
                </a:lnSpc>
              </a:pPr>
              <a:r>
                <a:rPr lang="en-US" sz="2100" b="1" dirty="0">
                  <a:solidFill>
                    <a:srgbClr val="FFFFFF"/>
                  </a:solidFill>
                  <a:latin typeface="+mj-lt"/>
                  <a:ea typeface="+mj-ea"/>
                  <a:cs typeface="+mj-cs"/>
                </a:rPr>
                <a:t>Q1 closes the ELM / RBF gap</a:t>
              </a:r>
              <a:br/>
              <a:r>
                <a:rPr lang="en-US" sz="2100" b="1" dirty="0">
                  <a:solidFill>
                    <a:srgbClr val="FFFFFF"/>
                  </a:solidFill>
                  <a:latin typeface="+mj-lt"/>
                  <a:ea typeface="+mj-ea"/>
                  <a:cs typeface="+mj-cs"/>
                </a:rPr>
                <a:t>across outer folds</a:t>
              </a:r>
            </a:p>
          </p:txBody>
        </p:sp>
        <p:sp>
          <p:nvSpPr>
            <p:cNvPr id="22" name="TextBox 22"/>
            <p:cNvSpPr txBox="1"/>
            <p:nvPr/>
          </p:nvSpPr>
          <p:spPr>
            <a:xfrm>
              <a:off x="6888480" y="2943225"/>
              <a:ext cx="4144709"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or shows a practical resource trade-off.</a:t>
              </a:r>
            </a:p>
          </p:txBody>
        </p:sp>
        <p:sp>
          <p:nvSpPr>
            <p:cNvPr id="23" name="Rectangle 23"/>
            <p:cNvSpPr/>
            <p:nvPr/>
          </p:nvSpPr>
          <p:spPr>
            <a:xfrm>
              <a:off x="6629400" y="3562350"/>
              <a:ext cx="4953000" cy="1143000"/>
            </a:xfrm>
            <a:prstGeom prst="rect">
              <a:avLst/>
            </a:prstGeom>
            <a:solidFill>
              <a:schemeClr val="accent2"/>
            </a:solidFill>
            <a:ln>
              <a:noFill/>
            </a:ln>
          </p:spPr>
        </p:sp>
        <p:sp>
          <p:nvSpPr>
            <p:cNvPr id="24" name="TextBox 24"/>
            <p:cNvSpPr txBox="1"/>
            <p:nvPr/>
          </p:nvSpPr>
          <p:spPr>
            <a:xfrm>
              <a:off x="6889242" y="3740468"/>
              <a:ext cx="153598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STOP CONDITION</a:t>
              </a:r>
            </a:p>
          </p:txBody>
        </p:sp>
        <p:sp>
          <p:nvSpPr>
            <p:cNvPr id="25" name="TextBox 25"/>
            <p:cNvSpPr txBox="1"/>
            <p:nvPr/>
          </p:nvSpPr>
          <p:spPr>
            <a:xfrm>
              <a:off x="6886194" y="4056698"/>
              <a:ext cx="3218212" cy="381381"/>
            </a:xfrm>
            <a:prstGeom prst="rect">
              <a:avLst/>
            </a:prstGeom>
            <a:noFill/>
            <a:ln>
              <a:noFill/>
            </a:ln>
          </p:spPr>
          <p:txBody>
            <a:bodyPr wrap="none" lIns="0" tIns="0" rIns="0" bIns="0" anchor="t" anchorCtr="0">
              <a:spAutoFit/>
            </a:bodyPr>
            <a:lstStyle/>
            <a:p>
              <a:pPr algn="l"/>
              <a:r>
                <a:rPr lang="en-US" sz="1950" b="1" dirty="0">
                  <a:solidFill>
                    <a:srgbClr val="FFFFFF"/>
                  </a:solidFill>
                  <a:latin typeface="+mj-lt"/>
                  <a:ea typeface="+mj-ea"/>
                  <a:cs typeface="+mj-cs"/>
                </a:rPr>
                <a:t>If Q1 only beats RFF:</a:t>
              </a:r>
            </a:p>
          </p:txBody>
        </p:sp>
        <p:sp>
          <p:nvSpPr>
            <p:cNvPr id="26" name="TextBox 26"/>
            <p:cNvSpPr txBox="1"/>
            <p:nvPr/>
          </p:nvSpPr>
          <p:spPr>
            <a:xfrm>
              <a:off x="6888480" y="4410075"/>
              <a:ext cx="3556083"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n-lt"/>
                  <a:ea typeface="+mn-ea"/>
                  <a:cs typeface="+mn-cs"/>
                </a:rPr>
                <a:t>report feasibility without utility.</a:t>
              </a:r>
            </a:p>
          </p:txBody>
        </p:sp>
        <p:sp>
          <p:nvSpPr>
            <p:cNvPr id="27" name="Rectangle 27"/>
            <p:cNvSpPr/>
            <p:nvPr/>
          </p:nvSpPr>
          <p:spPr>
            <a:xfrm>
              <a:off x="6629400" y="4857750"/>
              <a:ext cx="4953000" cy="609600"/>
            </a:xfrm>
            <a:prstGeom prst="rect">
              <a:avLst/>
            </a:prstGeom>
            <a:solidFill>
              <a:schemeClr val="lt2"/>
            </a:solidFill>
            <a:ln>
              <a:noFill/>
            </a:ln>
          </p:spPr>
        </p:sp>
        <p:sp>
          <p:nvSpPr>
            <p:cNvPr id="28" name="TextBox 28"/>
            <p:cNvSpPr txBox="1"/>
            <p:nvPr/>
          </p:nvSpPr>
          <p:spPr>
            <a:xfrm>
              <a:off x="6598044" y="5076825"/>
              <a:ext cx="501571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Evidence first · hardware only after gates pass</a:t>
              </a:r>
            </a:p>
          </p:txBody>
        </p:sp>
      </p:grpSp>
      <p:grpSp>
        <p:nvGrpSpPr>
          <p:cNvPr id="33" name="Group 33"/>
          <p:cNvGrpSpPr/>
          <p:nvPr/>
        </p:nvGrpSpPr>
        <p:grpSpPr>
          <a:xfrm>
            <a:off x="609600" y="5734050"/>
            <a:ext cx="10972800" cy="514350"/>
            <a:chOff x="609600" y="5734050"/>
            <a:chExt cx="10972800" cy="514350"/>
          </a:xfrm>
        </p:grpSpPr>
        <p:grpSp>
          <p:nvGrpSpPr>
            <p:cNvPr id="32" name="Group 32"/>
            <p:cNvGrpSpPr/>
            <p:nvPr/>
          </p:nvGrpSpPr>
          <p:grpSpPr>
            <a:xfrm>
              <a:off x="609600" y="5734050"/>
              <a:ext cx="10972800" cy="514350"/>
              <a:chOff x="609600" y="5734050"/>
              <a:chExt cx="10972800" cy="514350"/>
            </a:xfrm>
          </p:grpSpPr>
          <p:sp>
            <p:nvSpPr>
              <p:cNvPr id="30" name="Rectangle 30">
                <a:hlinkClick r:id="rId2"/>
              </p:cNvPr>
              <p:cNvSpPr/>
              <p:nvPr/>
            </p:nvSpPr>
            <p:spPr>
              <a:xfrm>
                <a:off x="609600" y="5734050"/>
                <a:ext cx="10972800" cy="514350"/>
              </a:xfrm>
              <a:prstGeom prst="rect">
                <a:avLst/>
              </a:prstGeom>
              <a:solidFill>
                <a:schemeClr val="accent3"/>
              </a:solidFill>
              <a:ln>
                <a:noFill/>
              </a:ln>
            </p:spPr>
          </p:sp>
          <p:sp>
            <p:nvSpPr>
              <p:cNvPr id="31" name="TextBox 31">
                <a:hlinkClick r:id="rId2"/>
              </p:cNvPr>
              <p:cNvSpPr txBox="1"/>
              <p:nvPr/>
            </p:nvSpPr>
            <p:spPr>
              <a:xfrm>
                <a:off x="831342" y="5912168"/>
                <a:ext cx="6630353"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Repository · github.com/MonsieurNam/Quanova_Photonic_Defect_QML</a:t>
                </a:r>
              </a:p>
            </p:txBody>
          </p:sp>
        </p:grpSp>
      </p:grpSp>
      <p:grpSp>
        <p:nvGrpSpPr>
          <p:cNvPr id="35" name="Group 35"/>
          <p:cNvGrpSpPr/>
          <p:nvPr/>
        </p:nvGrpSpPr>
        <p:grpSpPr>
          <a:xfrm>
            <a:off x="10966723" y="6426518"/>
            <a:ext cx="622535" cy="264033"/>
            <a:chOff x="10966723" y="6426518"/>
            <a:chExt cx="622535" cy="264033"/>
          </a:xfrm>
        </p:grpSpPr>
        <p:sp>
          <p:nvSpPr>
            <p:cNvPr id="34" name="TextBox 3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2026-09-12T06:19:13Z</dcterms:created>
  <dcterms:modified xsi:type="dcterms:W3CDTF">2026-09-12T06:19:13Z</dcterms:modified>
  <cp:category/>
  <cp:contentStatus/>
</cp:coreProperties>
</file>