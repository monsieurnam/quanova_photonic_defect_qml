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  <Relationship Id="rId17"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Good afternoon. I am Nguyen Ngo Nhat Nam, and I would investigate few-label industrial defect inspection using a fixed photonic reservoir. I chose it for three reasons: expert defect labels are costly, photonic interference offers a compact nonlinear feature map, and the idea can be evaluated rigorously within twelve weeks using public data, matched controls, and a staged path from simulation to hardware. I have already completed a de-risking pilot. Q1 reached 0.8708 macro-F1 at forty-eight labels per class. That is useful signal, but it is not evidence of practical or quantum advantage.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operational constraint is label scarcity. Inspection images may be plentiful, but reliable defect labels consume expert time. Performance at twelve, twenty-four, and forty-eight labels per class is therefore a meaningful target. NEU-CLS gives 1,800 audited images across six balanced steel-surface defect classes, so the study can start without waiting for proprietary data. The evaluation also has a clear failure mode: the exact duplicate pair Pa_101 and Pa_105 remains in one group, and the pilot test fold contains sixty images per class with no sample or duplicate-group overlap. This gives a real need, accessible evidence, and a quantitative decision.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architecture is deliberately hybrid and small. A frozen OpenCLIP encoder produces an image embedding. Principal component analysis is fitted on training data only and reduces it to five values scaled from minus pi to pi. Those phases enter a fixed six-mode, two-photon circuit. Postselection turns twenty-one possible outcomes into fifteen conditional probabilities for a linear readout. Only the readout is trained, which isolates the feature map and avoids a costly variational loop. Perceval is the primary simulation layer. A second implementation in MerLin reproduces the probabilities to machine precision. That is a separate code path inside the same ecosystem, not external replication. Both checks are complete. Remote QPU execution remains a proposed final gate, subject to access.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question is specific: from the same PCA-five input, can Q1’s fifteen-dimensional photonic features beat matched fifteen-dimensional controls and approach PCA-five RBF-SVM? RFF means random Fourier features; ELM means extreme learning machine; and RBF-SVM means radial-basis-function support vector machine. The protocol uses nested label budgets, validation-only selection, averaged map seeds, and one test evaluation per selected fitted pipeline. I would preregister two pass routes. Accuracy passes if Q1 is within 0.02 macro-F1 of PCA-five RBF-SVM on at least four of five outer folds. Resource value passes if Q1 with twenty-four labels per class reaches the forty-eight-label RBF-SVM within 0.02 on at least four folds, using at most two thousand launched shots per image and an acceptance rate of at least 0.70. If neither route passes, or Q1 fails both matched controls on at least four folds, I stop.</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pilot is pre-study evidence; it does not consume the twelve-week project. The dataset audit, frozen protocol, simulator checks, finite-shot test, and fold-zero result are complete. Weeks one and two replicate all five outer folds. Weeks three and four ablate PCA dimension, circuit design, and measurement choices. Weeks five and six add loss, phase drift, partial distinguishability, detector effects, and noise-aware training. Weeks seven and eight select and freeze one hardware candidate, including preprocessing, shot definition, and calibration fields. Weeks nine and ten run a remote QPU subset only if the earlier gates pass. Weeks eleven and twelve use harder data or an independent evaluation, account for resources, and produce a go-or-stop memo.</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Here is the primary pilot evidence. Q1 rises from 0.7812 at twelve labels per class to 0.7886 at twenty-four and 0.8708 at forty-eight. The upward trend shows that the photonic features contain class information. The full OpenCLIP linear baseline, however, starts at 0.9242 and reaches 0.9852. Each point averages three subset seeds, with sample-standard-deviation error bars, but all points reuse one outer test fold. The correct conclusion is that Q1 learns useful structure on this pilot while the current configuration does not justify replacing the full embedding or claiming an advantage.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diagnosis changes the next experiment. Compressing the full embedding to five principal components costs the linear baseline about 0.07 to 0.10 macro-F1, so information is lost before the nonlinear map is tested. Within the compressed comparison, Q1 beats the locked RFF-fifteen comparator by about 0.22 to 0.31. It still trails ELM by roughly 0.02 to 0.04 and PCA-five RBF-SVM by about 0.05 to 0.06. The surviving claim is narrow: this photonic map is better than one matched random-feature control, but not the stronger nonlinear controls. I would therefore vary representation size and circuit design separately.</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finite-shot test asks whether sampled probabilities are stable enough for a later hardware comparison. Macro-F1 is 0.7662 at five hundred launched shots, 0.7739 at two thousand, and 0.7725 at eight thousand. Each shot level contains fifteen evaluations: three map seeds times five sampling seeds. Across all three levels, that is forty-five evaluations on the same outer test fold. Acceptance stays near 0.754, with no zero-acceptance failure. More shots do not recover accuracy monotonically, so shot count alone does not close the gap. This tests sampling around an ideal-trained readout; loss, drift, distinguishability, detectors, and noise-aware training remain future work.</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evidence supports a three-level verdict. Technical feasibility is proven: the pipeline executes, two implementations agree, and the artifacts are reproducible. Application signal is partly answered: Q1 improves with labels, the paired one-fold ranking is known, and finite-shot sampling is stable in the tested range. Practical utility remains open because five-fold generalization, realistic noise, and remote hardware are unfinished. Local runtime is not the constraint: cached OpenCLIP extraction took 96.57 seconds, and the pilot model grid took about 59.9 seconds on CPU. The bottleneck is scientific validity under more folds, stronger controls, realistic noise, and calibrated hardware.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My recommendation is to continue this application only through a decision-changing test. The case is worth testing because label scarcity is real, the compact circuit fits Quandela’s simulator-to-hardware path, and the pilot proves that the workflow can be executed. It has not yet demonstrated practical advantage. I would continue only if the preregistered accuracy-parity or label-efficiency gate passes. If Q1 still beats only RFF while ELM and RBF-SVM remain stronger, I would report technical feasibility without utility and stop. The repository link contains the protocol, implementation, results, and presentation artifacts needed to audit that decision. Thank you.</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quanova_interview_case_study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quanova_interview_case_study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0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7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6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5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95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50" kern="1200">
          <a:solidFill>
            <a:schemeClr val="tx1"/>
          </a:solidFill>
          <a:latin typeface="+mn-lt"/>
          <a:ea typeface="+mn-ea"/>
          <a:cs typeface="+mn-cs"/>
        </a:defRPr>
      </a:lvl9pPr>
    </p:bodyStyle>
    <p:otherStyle>
      <a:defPPr>
        <a:defRPr lang="en-US"/>
      </a:defPPr>
      <a:lvl1pPr marL="0" algn="l" defTabSz="457200" rtl="0" eaLnBrk="1" latinLnBrk="0" hangingPunct="1">
        <a:defRPr sz="1700" kern="1200">
          <a:solidFill>
            <a:schemeClr val="tx1"/>
          </a:solidFill>
          <a:latin typeface="+mn-lt"/>
          <a:ea typeface="+mn-ea"/>
          <a:cs typeface="+mn-cs"/>
        </a:defRPr>
      </a:lvl1pPr>
      <a:lvl2pPr marL="457200" algn="l" defTabSz="457200" rtl="0" eaLnBrk="1" latinLnBrk="0" hangingPunct="1">
        <a:defRPr sz="1600" kern="1200">
          <a:solidFill>
            <a:schemeClr val="tx1"/>
          </a:solidFill>
          <a:latin typeface="+mn-lt"/>
          <a:ea typeface="+mn-ea"/>
          <a:cs typeface="+mn-cs"/>
        </a:defRPr>
      </a:lvl2pPr>
      <a:lvl3pPr marL="914400" algn="l" defTabSz="457200" rtl="0" eaLnBrk="1" latinLnBrk="0" hangingPunct="1">
        <a:defRPr sz="1500" kern="1200">
          <a:solidFill>
            <a:schemeClr val="tx1"/>
          </a:solidFill>
          <a:latin typeface="+mn-lt"/>
          <a:ea typeface="+mn-ea"/>
          <a:cs typeface="+mn-cs"/>
        </a:defRPr>
      </a:lvl3pPr>
      <a:lvl4pPr marL="1371600" algn="l" defTabSz="457200" rtl="0" eaLnBrk="1" latinLnBrk="0" hangingPunct="1">
        <a:defRPr sz="1400" kern="1200">
          <a:solidFill>
            <a:schemeClr val="tx1"/>
          </a:solidFill>
          <a:latin typeface="+mn-lt"/>
          <a:ea typeface="+mn-ea"/>
          <a:cs typeface="+mn-cs"/>
        </a:defRPr>
      </a:lvl4pPr>
      <a:lvl5pPr marL="1828800" algn="l" defTabSz="457200" rtl="0" eaLnBrk="1" latinLnBrk="0" hangingPunct="1">
        <a:defRPr sz="13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100" kern="1200">
          <a:solidFill>
            <a:schemeClr val="tx1"/>
          </a:solidFill>
          <a:latin typeface="+mn-lt"/>
          <a:ea typeface="+mn-ea"/>
          <a:cs typeface="+mn-cs"/>
        </a:defRPr>
      </a:lvl7pPr>
      <a:lvl8pPr marL="3200400" algn="l" defTabSz="457200" rtl="0" eaLnBrk="1" latinLnBrk="0" hangingPunct="1">
        <a:defRPr sz="950" kern="1200">
          <a:solidFill>
            <a:schemeClr val="tx1"/>
          </a:solidFill>
          <a:latin typeface="+mn-lt"/>
          <a:ea typeface="+mn-ea"/>
          <a:cs typeface="+mn-cs"/>
        </a:defRPr>
      </a:lvl8pPr>
      <a:lvl9pPr marL="3657600" algn="l" defTabSz="457200" rtl="0" eaLnBrk="1" latinLnBrk="0" hangingPunct="1">
        <a:defRPr sz="8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34284d2cc43e5ab5.png"/>
  <Relationship Id="rId3" Type="http://schemas.openxmlformats.org/officeDocument/2006/relationships/image" Target="../media/image_e293769c30b47a18.png"/>
  <Relationship Id="rId4" Type="http://schemas.openxmlformats.org/officeDocument/2006/relationships/image" Target="../media/image_dcc98b48f2678b03.png"/>
  <Relationship Id="rId5" Type="http://schemas.openxmlformats.org/officeDocument/2006/relationships/image" Target="../media/image_7a56227ed108e195.png"/>
  <Relationship Id="rId6" Type="http://schemas.openxmlformats.org/officeDocument/2006/relationships/image" Target="../media/image_a33fe4ec7588815e.png"/>
  <Relationship Id="rId7" Type="http://schemas.openxmlformats.org/officeDocument/2006/relationships/image" Target="../media/image_490aee84795026a0.png"/>
  <Relationship Id="rId8"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e284333faf7751ba.png"/>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2e0d82f4d160f3f1.png"/>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5df4d430b28f2d68.png"/>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hyperlink" Target="https://github.com/MonsieurNam/Quanova_Photonic_Defect_QML" TargetMode="External"/>
  <Relationship Id="rId3" Type="http://schemas.openxmlformats.org/officeDocument/2006/relationships/notesSlide" Target="../notesSlides/notesSlide10.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76200"/>
          </a:xfrm>
          <a:prstGeom prst="rect">
            <a:avLst/>
          </a:prstGeom>
          <a:solidFill>
            <a:schemeClr val="accent3"/>
          </a:solidFill>
          <a:ln>
            <a:noFill/>
          </a:ln>
        </p:spPr>
      </p:sp>
      <p:grpSp>
        <p:nvGrpSpPr>
          <p:cNvPr id="7" name="Group 7"/>
          <p:cNvGrpSpPr/>
          <p:nvPr/>
        </p:nvGrpSpPr>
        <p:grpSpPr>
          <a:xfrm>
            <a:off x="593598" y="501968"/>
            <a:ext cx="9000125" cy="2060638"/>
            <a:chOff x="593598" y="501968"/>
            <a:chExt cx="9000125" cy="2060638"/>
          </a:xfrm>
        </p:grpSpPr>
        <p:sp>
          <p:nvSpPr>
            <p:cNvPr id="3" name="TextBox 3"/>
            <p:cNvSpPr txBox="1"/>
            <p:nvPr/>
          </p:nvSpPr>
          <p:spPr>
            <a:xfrm>
              <a:off x="602742" y="501968"/>
              <a:ext cx="3929352" cy="264033"/>
            </a:xfrm>
            <a:prstGeom prst="rect">
              <a:avLst/>
            </a:prstGeom>
            <a:noFill/>
            <a:ln>
              <a:noFill/>
            </a:ln>
          </p:spPr>
          <p:txBody>
            <a:bodyPr wrap="none" lIns="0" tIns="0" rIns="0" bIns="0" anchor="t" anchorCtr="0">
              <a:spAutoFit/>
            </a:bodyPr>
            <a:lstStyle/>
            <a:p>
              <a:pPr algn="l"/>
              <a:r>
                <a:rPr lang="en-US" sz="1350" b="1" spc="105" dirty="0">
                  <a:solidFill>
                    <a:schemeClr val="accent6"/>
                  </a:solidFill>
                  <a:latin typeface="+mn-lt"/>
                  <a:ea typeface="+mn-ea"/>
                  <a:cs typeface="+mn-cs"/>
                </a:rPr>
                <a:t>QUANDELA · APPLICATION CASE STUDY</a:t>
              </a:r>
            </a:p>
          </p:txBody>
        </p:sp>
        <p:sp>
          <p:nvSpPr>
            <p:cNvPr id="4" name="TextBox 4"/>
            <p:cNvSpPr txBox="1"/>
            <p:nvPr/>
          </p:nvSpPr>
          <p:spPr>
            <a:xfrm>
              <a:off x="593598" y="860108"/>
              <a:ext cx="9000125" cy="1130427"/>
            </a:xfrm>
            <a:prstGeom prst="rect">
              <a:avLst/>
            </a:prstGeom>
            <a:noFill/>
            <a:ln>
              <a:noFill/>
            </a:ln>
          </p:spPr>
          <p:txBody>
            <a:bodyPr wrap="none" lIns="0" tIns="0" rIns="0" bIns="0" anchor="t" anchorCtr="0">
              <a:spAutoFit/>
            </a:bodyPr>
            <a:lstStyle/>
            <a:p>
              <a:pPr algn="l">
                <a:lnSpc>
                  <a:spcPts val="4050"/>
                </a:lnSpc>
              </a:pPr>
              <a:r>
                <a:rPr lang="en-US" sz="3150" b="1" dirty="0">
                  <a:solidFill>
                    <a:schemeClr val="accent1"/>
                  </a:solidFill>
                  <a:latin typeface="+mj-lt"/>
                  <a:ea typeface="+mj-ea"/>
                  <a:cs typeface="+mj-cs"/>
                </a:rPr>
                <a:t>I would investigate few-label industrial</a:t>
              </a:r>
              <a:br/>
              <a:r>
                <a:rPr lang="en-US" sz="3150" b="1" dirty="0">
                  <a:solidFill>
                    <a:schemeClr val="accent1"/>
                  </a:solidFill>
                  <a:latin typeface="+mj-lt"/>
                  <a:ea typeface="+mj-ea"/>
                  <a:cs typeface="+mj-cs"/>
                </a:rPr>
                <a:t>defect inspection with a photonic reservoir</a:t>
              </a:r>
            </a:p>
          </p:txBody>
        </p:sp>
        <p:sp>
          <p:nvSpPr>
            <p:cNvPr id="5" name="TextBox 5"/>
            <p:cNvSpPr txBox="1"/>
            <p:nvPr/>
          </p:nvSpPr>
          <p:spPr>
            <a:xfrm>
              <a:off x="600837" y="1966436"/>
              <a:ext cx="8523432" cy="337376"/>
            </a:xfrm>
            <a:prstGeom prst="rect">
              <a:avLst/>
            </a:prstGeom>
            <a:noFill/>
            <a:ln>
              <a:noFill/>
            </a:ln>
          </p:spPr>
          <p:txBody>
            <a:bodyPr wrap="none" lIns="0" tIns="0" rIns="0" bIns="0" anchor="t" anchorCtr="0">
              <a:spAutoFit/>
            </a:bodyPr>
            <a:lstStyle/>
            <a:p>
              <a:pPr algn="l"/>
              <a:r>
                <a:rPr lang="en-US" sz="1720" dirty="0">
                  <a:solidFill>
                    <a:schemeClr val="dk1"/>
                  </a:solidFill>
                  <a:latin typeface="+mn-lt"/>
                  <a:ea typeface="+mn-ea"/>
                  <a:cs typeface="+mn-cs"/>
                </a:rPr>
                <a:t>A measurable 12-week path from public data to a conditional hardware test</a:t>
              </a:r>
            </a:p>
          </p:txBody>
        </p:sp>
        <p:sp>
          <p:nvSpPr>
            <p:cNvPr id="6" name="TextBox 6"/>
            <p:cNvSpPr txBox="1"/>
            <p:nvPr/>
          </p:nvSpPr>
          <p:spPr>
            <a:xfrm>
              <a:off x="603504" y="2327910"/>
              <a:ext cx="8416585" cy="234696"/>
            </a:xfrm>
            <a:prstGeom prst="rect">
              <a:avLst/>
            </a:prstGeom>
            <a:noFill/>
            <a:ln>
              <a:noFill/>
            </a:ln>
          </p:spPr>
          <p:txBody>
            <a:bodyPr wrap="none" lIns="0" tIns="0" rIns="0" bIns="0" anchor="t" anchorCtr="0">
              <a:spAutoFit/>
            </a:bodyPr>
            <a:lstStyle/>
            <a:p>
              <a:pPr algn="l"/>
              <a:r>
                <a:rPr lang="en-US" sz="1200" b="1" spc="38" dirty="0">
                  <a:solidFill>
                    <a:schemeClr val="accent6"/>
                  </a:solidFill>
                  <a:latin typeface="+mn-lt"/>
                  <a:ea typeface="+mn-ea"/>
                  <a:cs typeface="+mn-cs"/>
                </a:rPr>
                <a:t>NGUYEN NGO NHAT NAM · R&amp;D QUANTUM OPTICS ENGINEER CANDIDATE · 15 SEP 2026 · 15:30 GMT+7</a:t>
              </a:r>
            </a:p>
          </p:txBody>
        </p:sp>
      </p:grpSp>
      <p:grpSp>
        <p:nvGrpSpPr>
          <p:cNvPr id="20" name="Group 20"/>
          <p:cNvGrpSpPr/>
          <p:nvPr/>
        </p:nvGrpSpPr>
        <p:grpSpPr>
          <a:xfrm>
            <a:off x="609600" y="2724150"/>
            <a:ext cx="11140457" cy="1695450"/>
            <a:chOff x="609600" y="2724150"/>
            <a:chExt cx="11140457" cy="1695450"/>
          </a:xfrm>
        </p:grpSpPr>
        <p:sp>
          <p:nvSpPr>
            <p:cNvPr id="8" name="Rectangle 8"/>
            <p:cNvSpPr/>
            <p:nvPr/>
          </p:nvSpPr>
          <p:spPr>
            <a:xfrm>
              <a:off x="609600" y="2724150"/>
              <a:ext cx="3429000" cy="1695450"/>
            </a:xfrm>
            <a:prstGeom prst="rect">
              <a:avLst/>
            </a:prstGeom>
            <a:solidFill>
              <a:schemeClr val="lt2"/>
            </a:solidFill>
            <a:ln>
              <a:noFill/>
            </a:ln>
          </p:spPr>
        </p:sp>
        <p:sp>
          <p:nvSpPr>
            <p:cNvPr id="9" name="TextBox 9"/>
            <p:cNvSpPr txBox="1"/>
            <p:nvPr/>
          </p:nvSpPr>
          <p:spPr>
            <a:xfrm>
              <a:off x="831342" y="2911792"/>
              <a:ext cx="2029968" cy="264033"/>
            </a:xfrm>
            <a:prstGeom prst="rect">
              <a:avLst/>
            </a:prstGeom>
            <a:noFill/>
            <a:ln>
              <a:noFill/>
            </a:ln>
          </p:spPr>
          <p:txBody>
            <a:bodyPr wrap="none" lIns="0" tIns="0" rIns="0" bIns="0" anchor="t" anchorCtr="0">
              <a:spAutoFit/>
            </a:bodyPr>
            <a:lstStyle/>
            <a:p>
              <a:pPr algn="l"/>
              <a:r>
                <a:rPr lang="en-US" sz="1350" b="1" dirty="0">
                  <a:solidFill>
                    <a:schemeClr val="accent5"/>
                  </a:solidFill>
                  <a:latin typeface="+mn-lt"/>
                  <a:ea typeface="+mn-ea"/>
                  <a:cs typeface="+mn-cs"/>
                </a:rPr>
                <a:t>REAL INDUSTRIAL NEED</a:t>
              </a:r>
            </a:p>
          </p:txBody>
        </p:sp>
        <p:sp>
          <p:nvSpPr>
            <p:cNvPr id="10" name="TextBox 10"/>
            <p:cNvSpPr txBox="1"/>
            <p:nvPr/>
          </p:nvSpPr>
          <p:spPr>
            <a:xfrm>
              <a:off x="826770" y="3176588"/>
              <a:ext cx="3423285" cy="440055"/>
            </a:xfrm>
            <a:prstGeom prst="rect">
              <a:avLst/>
            </a:prstGeom>
            <a:noFill/>
            <a:ln>
              <a:noFill/>
            </a:ln>
          </p:spPr>
          <p:txBody>
            <a:bodyPr wrap="none" lIns="0" tIns="0" rIns="0" bIns="0" anchor="t" anchorCtr="0">
              <a:spAutoFit/>
            </a:bodyPr>
            <a:lstStyle/>
            <a:p>
              <a:pPr algn="l"/>
              <a:r>
                <a:rPr lang="en-US" sz="2250" b="1" dirty="0">
                  <a:solidFill>
                    <a:schemeClr val="accent1"/>
                  </a:solidFill>
                  <a:latin typeface="+mj-lt"/>
                  <a:ea typeface="+mj-ea"/>
                  <a:cs typeface="+mj-cs"/>
                </a:rPr>
                <a:t>Scarce expert labels</a:t>
              </a:r>
            </a:p>
          </p:txBody>
        </p:sp>
        <p:sp>
          <p:nvSpPr>
            <p:cNvPr id="11" name="TextBox 11"/>
            <p:cNvSpPr txBox="1"/>
            <p:nvPr/>
          </p:nvSpPr>
          <p:spPr>
            <a:xfrm>
              <a:off x="830580" y="3609975"/>
              <a:ext cx="3225165" cy="5600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Quality inspection needs useful</a:t>
              </a:r>
              <a:br/>
              <a:r>
                <a:rPr lang="en-US" sz="1500" dirty="0">
                  <a:solidFill>
                    <a:schemeClr val="dk1"/>
                  </a:solidFill>
                  <a:latin typeface="+mn-lt"/>
                  <a:ea typeface="+mn-ea"/>
                  <a:cs typeface="+mn-cs"/>
                </a:rPr>
                <a:t>accuracy from small labelled sets.</a:t>
              </a:r>
            </a:p>
          </p:txBody>
        </p:sp>
        <p:sp>
          <p:nvSpPr>
            <p:cNvPr id="12" name="Rectangle 12"/>
            <p:cNvSpPr/>
            <p:nvPr/>
          </p:nvSpPr>
          <p:spPr>
            <a:xfrm>
              <a:off x="4267200" y="2724150"/>
              <a:ext cx="3429000" cy="1695450"/>
            </a:xfrm>
            <a:prstGeom prst="rect">
              <a:avLst/>
            </a:prstGeom>
            <a:solidFill>
              <a:schemeClr val="accent1"/>
            </a:solidFill>
            <a:ln>
              <a:noFill/>
            </a:ln>
          </p:spPr>
        </p:sp>
        <p:sp>
          <p:nvSpPr>
            <p:cNvPr id="13" name="TextBox 13"/>
            <p:cNvSpPr txBox="1"/>
            <p:nvPr/>
          </p:nvSpPr>
          <p:spPr>
            <a:xfrm>
              <a:off x="4488942" y="2911792"/>
              <a:ext cx="1273874" cy="264033"/>
            </a:xfrm>
            <a:prstGeom prst="rect">
              <a:avLst/>
            </a:prstGeom>
            <a:noFill/>
            <a:ln>
              <a:noFill/>
            </a:ln>
          </p:spPr>
          <p:txBody>
            <a:bodyPr wrap="none" lIns="0" tIns="0" rIns="0" bIns="0" anchor="t" anchorCtr="0">
              <a:spAutoFit/>
            </a:bodyPr>
            <a:lstStyle/>
            <a:p>
              <a:pPr algn="l"/>
              <a:r>
                <a:rPr lang="en-US" sz="1350" b="1" dirty="0">
                  <a:solidFill>
                    <a:srgbClr val="B9D0C7"/>
                  </a:solidFill>
                  <a:latin typeface="+mn-lt"/>
                  <a:ea typeface="+mn-ea"/>
                  <a:cs typeface="+mn-cs"/>
                </a:rPr>
                <a:t>PHOTONIC FIT</a:t>
              </a:r>
            </a:p>
          </p:txBody>
        </p:sp>
        <p:sp>
          <p:nvSpPr>
            <p:cNvPr id="14" name="TextBox 14"/>
            <p:cNvSpPr txBox="1"/>
            <p:nvPr/>
          </p:nvSpPr>
          <p:spPr>
            <a:xfrm>
              <a:off x="4484370" y="3176588"/>
              <a:ext cx="3221472" cy="440055"/>
            </a:xfrm>
            <a:prstGeom prst="rect">
              <a:avLst/>
            </a:prstGeom>
            <a:noFill/>
            <a:ln>
              <a:noFill/>
            </a:ln>
          </p:spPr>
          <p:txBody>
            <a:bodyPr wrap="none" lIns="0" tIns="0" rIns="0" bIns="0" anchor="t" anchorCtr="0">
              <a:spAutoFit/>
            </a:bodyPr>
            <a:lstStyle/>
            <a:p>
              <a:pPr algn="l"/>
              <a:r>
                <a:rPr lang="en-US" sz="2250" b="1" dirty="0">
                  <a:solidFill>
                    <a:srgbClr val="FBF7EE"/>
                  </a:solidFill>
                  <a:latin typeface="+mj-lt"/>
                  <a:ea typeface="+mj-ea"/>
                  <a:cs typeface="+mj-cs"/>
                </a:rPr>
                <a:t>Fixed nonlinear map</a:t>
              </a:r>
            </a:p>
          </p:txBody>
        </p:sp>
        <p:sp>
          <p:nvSpPr>
            <p:cNvPr id="15" name="TextBox 15"/>
            <p:cNvSpPr txBox="1"/>
            <p:nvPr/>
          </p:nvSpPr>
          <p:spPr>
            <a:xfrm>
              <a:off x="4488180" y="3609975"/>
              <a:ext cx="3196590" cy="560070"/>
            </a:xfrm>
            <a:prstGeom prst="rect">
              <a:avLst/>
            </a:prstGeom>
            <a:noFill/>
            <a:ln>
              <a:noFill/>
            </a:ln>
          </p:spPr>
          <p:txBody>
            <a:bodyPr wrap="none" lIns="0" tIns="0" rIns="0" bIns="0" anchor="t" anchorCtr="0">
              <a:spAutoFit/>
            </a:bodyPr>
            <a:lstStyle/>
            <a:p>
              <a:pPr algn="l">
                <a:lnSpc>
                  <a:spcPts val="2100"/>
                </a:lnSpc>
              </a:pPr>
              <a:r>
                <a:rPr lang="en-US" sz="1500" dirty="0">
                  <a:solidFill>
                    <a:srgbClr val="FBF7EE"/>
                  </a:solidFill>
                  <a:latin typeface="+mn-lt"/>
                  <a:ea typeface="+mn-ea"/>
                  <a:cs typeface="+mn-cs"/>
                </a:rPr>
                <a:t>Interference transforms compact</a:t>
              </a:r>
              <a:br/>
              <a:r>
                <a:rPr lang="en-US" sz="1500" dirty="0">
                  <a:solidFill>
                    <a:srgbClr val="FBF7EE"/>
                  </a:solidFill>
                  <a:latin typeface="+mn-lt"/>
                  <a:ea typeface="+mn-ea"/>
                  <a:cs typeface="+mn-cs"/>
                </a:rPr>
                <a:t>phase-encoded image features.</a:t>
              </a:r>
            </a:p>
          </p:txBody>
        </p:sp>
        <p:sp>
          <p:nvSpPr>
            <p:cNvPr id="16" name="Rectangle 16"/>
            <p:cNvSpPr/>
            <p:nvPr/>
          </p:nvSpPr>
          <p:spPr>
            <a:xfrm>
              <a:off x="7924800" y="2724150"/>
              <a:ext cx="3657600" cy="1695450"/>
            </a:xfrm>
            <a:prstGeom prst="rect">
              <a:avLst/>
            </a:prstGeom>
            <a:solidFill>
              <a:schemeClr val="lt2"/>
            </a:solidFill>
            <a:ln>
              <a:noFill/>
            </a:ln>
          </p:spPr>
        </p:sp>
        <p:sp>
          <p:nvSpPr>
            <p:cNvPr id="17" name="TextBox 17"/>
            <p:cNvSpPr txBox="1"/>
            <p:nvPr/>
          </p:nvSpPr>
          <p:spPr>
            <a:xfrm>
              <a:off x="8146542" y="2911792"/>
              <a:ext cx="1334361" cy="264033"/>
            </a:xfrm>
            <a:prstGeom prst="rect">
              <a:avLst/>
            </a:prstGeom>
            <a:noFill/>
            <a:ln>
              <a:noFill/>
            </a:ln>
          </p:spPr>
          <p:txBody>
            <a:bodyPr wrap="none" lIns="0" tIns="0" rIns="0" bIns="0" anchor="t" anchorCtr="0">
              <a:spAutoFit/>
            </a:bodyPr>
            <a:lstStyle/>
            <a:p>
              <a:pPr algn="l"/>
              <a:r>
                <a:rPr lang="en-US" sz="1350" b="1" dirty="0">
                  <a:solidFill>
                    <a:schemeClr val="accent5"/>
                  </a:solidFill>
                  <a:latin typeface="+mn-lt"/>
                  <a:ea typeface="+mn-ea"/>
                  <a:cs typeface="+mn-cs"/>
                </a:rPr>
                <a:t>12-WEEK TEST</a:t>
              </a:r>
            </a:p>
          </p:txBody>
        </p:sp>
        <p:sp>
          <p:nvSpPr>
            <p:cNvPr id="18" name="TextBox 18"/>
            <p:cNvSpPr txBox="1"/>
            <p:nvPr/>
          </p:nvSpPr>
          <p:spPr>
            <a:xfrm>
              <a:off x="8141970" y="3176588"/>
              <a:ext cx="3608087" cy="440055"/>
            </a:xfrm>
            <a:prstGeom prst="rect">
              <a:avLst/>
            </a:prstGeom>
            <a:noFill/>
            <a:ln>
              <a:noFill/>
            </a:ln>
          </p:spPr>
          <p:txBody>
            <a:bodyPr wrap="none" lIns="0" tIns="0" rIns="0" bIns="0" anchor="t" anchorCtr="0">
              <a:spAutoFit/>
            </a:bodyPr>
            <a:lstStyle/>
            <a:p>
              <a:pPr algn="l"/>
              <a:r>
                <a:rPr lang="en-US" sz="2250" b="1" dirty="0">
                  <a:solidFill>
                    <a:schemeClr val="accent1"/>
                  </a:solidFill>
                  <a:latin typeface="+mj-lt"/>
                  <a:ea typeface="+mj-ea"/>
                  <a:cs typeface="+mj-cs"/>
                </a:rPr>
                <a:t>Decision-ready result</a:t>
              </a:r>
            </a:p>
          </p:txBody>
        </p:sp>
        <p:sp>
          <p:nvSpPr>
            <p:cNvPr id="19" name="TextBox 19"/>
            <p:cNvSpPr txBox="1"/>
            <p:nvPr/>
          </p:nvSpPr>
          <p:spPr>
            <a:xfrm>
              <a:off x="8145780" y="3609975"/>
              <a:ext cx="2910840" cy="5600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Public data · matched controls</a:t>
              </a:r>
              <a:br/>
              <a:r>
                <a:rPr lang="en-US" sz="1500" dirty="0">
                  <a:solidFill>
                    <a:schemeClr val="dk1"/>
                  </a:solidFill>
                  <a:latin typeface="+mn-lt"/>
                  <a:ea typeface="+mn-ea"/>
                  <a:cs typeface="+mn-cs"/>
                </a:rPr>
                <a:t>simulator → conditional QPU run</a:t>
              </a:r>
            </a:p>
          </p:txBody>
        </p:sp>
      </p:grpSp>
      <p:grpSp>
        <p:nvGrpSpPr>
          <p:cNvPr id="28" name="Group 28"/>
          <p:cNvGrpSpPr/>
          <p:nvPr/>
        </p:nvGrpSpPr>
        <p:grpSpPr>
          <a:xfrm>
            <a:off x="609600" y="4762500"/>
            <a:ext cx="10972800" cy="1352550"/>
            <a:chOff x="609600" y="4762500"/>
            <a:chExt cx="10972800" cy="1352550"/>
          </a:xfrm>
        </p:grpSpPr>
        <p:sp>
          <p:nvSpPr>
            <p:cNvPr id="21" name="Rectangle 21"/>
            <p:cNvSpPr/>
            <p:nvPr/>
          </p:nvSpPr>
          <p:spPr>
            <a:xfrm>
              <a:off x="609600" y="4762500"/>
              <a:ext cx="10972800" cy="1352550"/>
            </a:xfrm>
            <a:prstGeom prst="rect">
              <a:avLst/>
            </a:prstGeom>
            <a:solidFill>
              <a:schemeClr val="accent3"/>
            </a:solidFill>
            <a:ln>
              <a:noFill/>
            </a:ln>
          </p:spPr>
        </p:sp>
        <p:sp>
          <p:nvSpPr>
            <p:cNvPr id="22" name="TextBox 22"/>
            <p:cNvSpPr txBox="1"/>
            <p:nvPr/>
          </p:nvSpPr>
          <p:spPr>
            <a:xfrm>
              <a:off x="831342" y="4950142"/>
              <a:ext cx="2765900" cy="264033"/>
            </a:xfrm>
            <a:prstGeom prst="rect">
              <a:avLst/>
            </a:prstGeom>
            <a:noFill/>
            <a:ln>
              <a:noFill/>
            </a:ln>
          </p:spPr>
          <p:txBody>
            <a:bodyPr wrap="none" lIns="0" tIns="0" rIns="0" bIns="0" anchor="t" anchorCtr="0">
              <a:spAutoFit/>
            </a:bodyPr>
            <a:lstStyle/>
            <a:p>
              <a:pPr algn="l"/>
              <a:r>
                <a:rPr lang="en-US" sz="1350" b="1" dirty="0">
                  <a:solidFill>
                    <a:srgbClr val="FBF7EE"/>
                  </a:solidFill>
                  <a:latin typeface="+mn-lt"/>
                  <a:ea typeface="+mn-ea"/>
                  <a:cs typeface="+mn-cs"/>
                </a:rPr>
                <a:t>COMPLETED DE-RISKING PILOT</a:t>
              </a:r>
            </a:p>
          </p:txBody>
        </p:sp>
        <p:sp>
          <p:nvSpPr>
            <p:cNvPr id="23" name="TextBox 23"/>
            <p:cNvSpPr txBox="1"/>
            <p:nvPr/>
          </p:nvSpPr>
          <p:spPr>
            <a:xfrm>
              <a:off x="819912" y="5288280"/>
              <a:ext cx="2671145" cy="704088"/>
            </a:xfrm>
            <a:prstGeom prst="rect">
              <a:avLst/>
            </a:prstGeom>
            <a:noFill/>
            <a:ln>
              <a:noFill/>
            </a:ln>
          </p:spPr>
          <p:txBody>
            <a:bodyPr wrap="none" lIns="0" tIns="0" rIns="0" bIns="0" anchor="t" anchorCtr="0">
              <a:spAutoFit/>
            </a:bodyPr>
            <a:lstStyle/>
            <a:p>
              <a:pPr algn="l"/>
              <a:r>
                <a:rPr lang="en-US" sz="3600" b="1" dirty="0">
                  <a:solidFill>
                    <a:srgbClr val="FFFFFF"/>
                  </a:solidFill>
                  <a:latin typeface="Consolas"/>
                  <a:ea typeface="Consolas"/>
                  <a:cs typeface="Consolas"/>
                </a:rPr>
                <a:t>Q1 0.8708</a:t>
              </a:r>
            </a:p>
          </p:txBody>
        </p:sp>
        <p:sp>
          <p:nvSpPr>
            <p:cNvPr id="24" name="TextBox 24"/>
            <p:cNvSpPr txBox="1"/>
            <p:nvPr/>
          </p:nvSpPr>
          <p:spPr>
            <a:xfrm>
              <a:off x="3440430" y="5429250"/>
              <a:ext cx="2992012" cy="293370"/>
            </a:xfrm>
            <a:prstGeom prst="rect">
              <a:avLst/>
            </a:prstGeom>
            <a:noFill/>
            <a:ln>
              <a:noFill/>
            </a:ln>
          </p:spPr>
          <p:txBody>
            <a:bodyPr wrap="none" lIns="0" tIns="0" rIns="0" bIns="0" anchor="t" anchorCtr="0">
              <a:spAutoFit/>
            </a:bodyPr>
            <a:lstStyle/>
            <a:p>
              <a:pPr algn="l"/>
              <a:r>
                <a:rPr lang="en-US" sz="1500" dirty="0">
                  <a:solidFill>
                    <a:srgbClr val="FBF7EE"/>
                  </a:solidFill>
                  <a:latin typeface="+mn-lt"/>
                  <a:ea typeface="+mn-ea"/>
                  <a:cs typeface="+mn-cs"/>
                </a:rPr>
                <a:t>macro-F1 · 48 labels per class</a:t>
              </a:r>
            </a:p>
          </p:txBody>
        </p:sp>
        <p:sp>
          <p:nvSpPr>
            <p:cNvPr id="25" name="Line 25"/>
            <p:cNvSpPr/>
            <p:nvPr/>
          </p:nvSpPr>
          <p:spPr>
            <a:xfrm>
              <a:off x="6572250" y="4972050"/>
              <a:ext cx="9525" cy="933450"/>
            </a:xfrm>
            <a:custGeom>
              <a:avLst/>
              <a:gdLst/>
              <a:ahLst/>
              <a:cxnLst/>
              <a:rect l="l" t="t" r="r" b="b"/>
              <a:pathLst>
                <a:path w="9525" h="933450">
                  <a:moveTo>
                    <a:pt x="0" y="0"/>
                  </a:moveTo>
                  <a:lnTo>
                    <a:pt x="0" y="933450"/>
                  </a:lnTo>
                </a:path>
              </a:pathLst>
            </a:custGeom>
            <a:noFill/>
            <a:ln w="19050">
              <a:solidFill>
                <a:srgbClr val="B9D0C7"/>
              </a:solidFill>
            </a:ln>
          </p:spPr>
        </p:sp>
        <p:sp>
          <p:nvSpPr>
            <p:cNvPr id="26" name="TextBox 26"/>
            <p:cNvSpPr txBox="1"/>
            <p:nvPr/>
          </p:nvSpPr>
          <p:spPr>
            <a:xfrm>
              <a:off x="6867906" y="5044440"/>
              <a:ext cx="4165342"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mj-lt"/>
                  <a:ea typeface="+mj-ea"/>
                  <a:cs typeface="+mj-cs"/>
                </a:rPr>
                <a:t>Useful signal; no advantage yet</a:t>
              </a:r>
            </a:p>
          </p:txBody>
        </p:sp>
        <p:sp>
          <p:nvSpPr>
            <p:cNvPr id="27" name="TextBox 27"/>
            <p:cNvSpPr txBox="1"/>
            <p:nvPr/>
          </p:nvSpPr>
          <p:spPr>
            <a:xfrm>
              <a:off x="6870192" y="5454968"/>
              <a:ext cx="4385691" cy="502158"/>
            </a:xfrm>
            <a:prstGeom prst="rect">
              <a:avLst/>
            </a:prstGeom>
            <a:noFill/>
            <a:ln>
              <a:noFill/>
            </a:ln>
          </p:spPr>
          <p:txBody>
            <a:bodyPr wrap="none" lIns="0" tIns="0" rIns="0" bIns="0" anchor="t" anchorCtr="0">
              <a:spAutoFit/>
            </a:bodyPr>
            <a:lstStyle/>
            <a:p>
              <a:pPr algn="l">
                <a:lnSpc>
                  <a:spcPts val="1875"/>
                </a:lnSpc>
              </a:pPr>
              <a:r>
                <a:rPr lang="en-US" sz="1350" dirty="0">
                  <a:solidFill>
                    <a:srgbClr val="FBF7EE"/>
                  </a:solidFill>
                  <a:latin typeface="+mn-lt"/>
                  <a:ea typeface="+mn-ea"/>
                  <a:cs typeface="+mn-cs"/>
                </a:rPr>
                <a:t>Evidence informs the next test; it does not support</a:t>
              </a:r>
              <a:br/>
              <a:r>
                <a:rPr lang="en-US" sz="1350" dirty="0">
                  <a:solidFill>
                    <a:srgbClr val="FBF7EE"/>
                  </a:solidFill>
                  <a:latin typeface="+mn-lt"/>
                  <a:ea typeface="+mn-ea"/>
                  <a:cs typeface="+mn-cs"/>
                </a:rPr>
                <a:t>a quantum-advantage claim.</a:t>
              </a:r>
            </a:p>
          </p:txBody>
        </p:sp>
      </p:grpSp>
      <p:grpSp>
        <p:nvGrpSpPr>
          <p:cNvPr id="30" name="Group 30"/>
          <p:cNvGrpSpPr/>
          <p:nvPr/>
        </p:nvGrpSpPr>
        <p:grpSpPr>
          <a:xfrm>
            <a:off x="10966723" y="6426518"/>
            <a:ext cx="622535" cy="264033"/>
            <a:chOff x="10966723" y="6426518"/>
            <a:chExt cx="622535" cy="264033"/>
          </a:xfrm>
        </p:grpSpPr>
        <p:sp>
          <p:nvSpPr>
            <p:cNvPr id="29" name="TextBox 29"/>
            <p:cNvSpPr txBox="1"/>
            <p:nvPr/>
          </p:nvSpPr>
          <p:spPr>
            <a:xfrm>
              <a:off x="10966723" y="6426518"/>
              <a:ext cx="622535" cy="264033"/>
            </a:xfrm>
            <a:prstGeom prst="rect">
              <a:avLst/>
            </a:prstGeom>
            <a:noFill/>
            <a:ln>
              <a:noFill/>
            </a:ln>
          </p:spPr>
          <p:txBody>
            <a:bodyPr wrap="none" lIns="0" tIns="0" rIns="0" bIns="0" anchor="t" anchorCtr="0">
              <a:spAutoFit/>
            </a:bodyPr>
            <a:lstStyle/>
            <a:p>
              <a:pPr algn="r"/>
              <a:r>
                <a:rPr lang="en-US" sz="1350" dirty="0">
                  <a:solidFill>
                    <a:srgbClr val="766E62"/>
                  </a:solidFill>
                  <a:latin typeface="+mn-lt"/>
                  <a:ea typeface="+mn-ea"/>
                  <a:cs typeface="+mn-cs"/>
                </a:rPr>
                <a:t>01 / 10</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76200"/>
          </a:xfrm>
          <a:prstGeom prst="rect">
            <a:avLst/>
          </a:prstGeom>
          <a:solidFill>
            <a:schemeClr val="accent3"/>
          </a:solidFill>
          <a:ln>
            <a:noFill/>
          </a:ln>
        </p:spPr>
      </p:sp>
      <p:grpSp>
        <p:nvGrpSpPr>
          <p:cNvPr id="5" name="Group 5"/>
          <p:cNvGrpSpPr/>
          <p:nvPr/>
        </p:nvGrpSpPr>
        <p:grpSpPr>
          <a:xfrm>
            <a:off x="594360" y="482918"/>
            <a:ext cx="9656765" cy="913447"/>
            <a:chOff x="594360" y="482918"/>
            <a:chExt cx="9656765" cy="913447"/>
          </a:xfrm>
        </p:grpSpPr>
        <p:sp>
          <p:nvSpPr>
            <p:cNvPr id="3" name="TextBox 3"/>
            <p:cNvSpPr txBox="1"/>
            <p:nvPr/>
          </p:nvSpPr>
          <p:spPr>
            <a:xfrm>
              <a:off x="602742" y="482918"/>
              <a:ext cx="5781317" cy="264033"/>
            </a:xfrm>
            <a:prstGeom prst="rect">
              <a:avLst/>
            </a:prstGeom>
            <a:noFill/>
            <a:ln>
              <a:noFill/>
            </a:ln>
          </p:spPr>
          <p:txBody>
            <a:bodyPr wrap="none" lIns="0" tIns="0" rIns="0" bIns="0" anchor="t" anchorCtr="0">
              <a:spAutoFit/>
            </a:bodyPr>
            <a:lstStyle/>
            <a:p>
              <a:pPr algn="l"/>
              <a:r>
                <a:rPr lang="en-US" sz="1350" b="1" spc="105" dirty="0">
                  <a:solidFill>
                    <a:schemeClr val="accent6"/>
                  </a:solidFill>
                  <a:latin typeface="+mn-lt"/>
                  <a:ea typeface="+mn-ea"/>
                  <a:cs typeface="+mn-cs"/>
                </a:rPr>
                <a:t>WHY THIS APPLICATION · REAL NEED, MEASURABLE TEST</a:t>
              </a:r>
            </a:p>
          </p:txBody>
        </p:sp>
        <p:sp>
          <p:nvSpPr>
            <p:cNvPr id="4" name="TextBox 4"/>
            <p:cNvSpPr txBox="1"/>
            <p:nvPr/>
          </p:nvSpPr>
          <p:spPr>
            <a:xfrm>
              <a:off x="594360" y="809625"/>
              <a:ext cx="9656765"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Why this is a good 12-week feasibility study</a:t>
              </a:r>
            </a:p>
          </p:txBody>
        </p:sp>
      </p:grpSp>
      <p:grpSp>
        <p:nvGrpSpPr>
          <p:cNvPr id="18" name="Group 18"/>
          <p:cNvGrpSpPr/>
          <p:nvPr/>
        </p:nvGrpSpPr>
        <p:grpSpPr>
          <a:xfrm>
            <a:off x="685800" y="1466850"/>
            <a:ext cx="10067925" cy="1419606"/>
            <a:chOff x="685800" y="1466850"/>
            <a:chExt cx="10067925" cy="1419606"/>
          </a:xfrm>
        </p:grpSpPr>
        <p:pic>
          <p:nvPicPr>
            <p:cNvPr id="6" name="Image 6"/>
            <p:cNvPicPr>
              <a:picLocks noChangeAspect="1"/>
            </p:cNvPicPr>
            <p:nvPr/>
          </p:nvPicPr>
          <p:blipFill>
            <a:blip r:embed="rId2"/>
            <a:stretch>
              <a:fillRect/>
            </a:stretch>
          </p:blipFill>
          <p:spPr>
            <a:xfrm>
              <a:off x="685800" y="1466850"/>
              <a:ext cx="1066800" cy="1066800"/>
            </a:xfrm>
            <a:prstGeom prst="rect">
              <a:avLst/>
            </a:prstGeom>
          </p:spPr>
        </p:pic>
        <p:sp>
          <p:nvSpPr>
            <p:cNvPr id="7" name="TextBox 7"/>
            <p:cNvSpPr txBox="1"/>
            <p:nvPr/>
          </p:nvSpPr>
          <p:spPr>
            <a:xfrm>
              <a:off x="919973" y="2651760"/>
              <a:ext cx="598453" cy="234696"/>
            </a:xfrm>
            <a:prstGeom prst="rect">
              <a:avLst/>
            </a:prstGeom>
            <a:noFill/>
            <a:ln>
              <a:noFill/>
            </a:ln>
          </p:spPr>
          <p:txBody>
            <a:bodyPr wrap="none" lIns="0" tIns="0" rIns="0" bIns="0" anchor="t" anchorCtr="0">
              <a:spAutoFit/>
            </a:bodyPr>
            <a:lstStyle/>
            <a:p>
              <a:pPr algn="ctr"/>
              <a:r>
                <a:rPr lang="en-US" sz="1200" dirty="0">
                  <a:solidFill>
                    <a:schemeClr val="dk1"/>
                  </a:solidFill>
                  <a:latin typeface="+mn-lt"/>
                  <a:ea typeface="+mn-ea"/>
                  <a:cs typeface="+mn-cs"/>
                </a:rPr>
                <a:t>Crazing</a:t>
              </a:r>
            </a:p>
          </p:txBody>
        </p:sp>
        <p:pic>
          <p:nvPicPr>
            <p:cNvPr id="8" name="Image 8"/>
            <p:cNvPicPr>
              <a:picLocks noChangeAspect="1"/>
            </p:cNvPicPr>
            <p:nvPr/>
          </p:nvPicPr>
          <p:blipFill>
            <a:blip r:embed="rId3"/>
            <a:stretch>
              <a:fillRect/>
            </a:stretch>
          </p:blipFill>
          <p:spPr>
            <a:xfrm>
              <a:off x="2486025" y="1466850"/>
              <a:ext cx="1066800" cy="1066800"/>
            </a:xfrm>
            <a:prstGeom prst="rect">
              <a:avLst/>
            </a:prstGeom>
          </p:spPr>
        </p:pic>
        <p:sp>
          <p:nvSpPr>
            <p:cNvPr id="9" name="TextBox 9"/>
            <p:cNvSpPr txBox="1"/>
            <p:nvPr/>
          </p:nvSpPr>
          <p:spPr>
            <a:xfrm>
              <a:off x="2671953" y="2651760"/>
              <a:ext cx="694944" cy="234696"/>
            </a:xfrm>
            <a:prstGeom prst="rect">
              <a:avLst/>
            </a:prstGeom>
            <a:noFill/>
            <a:ln>
              <a:noFill/>
            </a:ln>
          </p:spPr>
          <p:txBody>
            <a:bodyPr wrap="none" lIns="0" tIns="0" rIns="0" bIns="0" anchor="t" anchorCtr="0">
              <a:spAutoFit/>
            </a:bodyPr>
            <a:lstStyle/>
            <a:p>
              <a:pPr algn="ctr"/>
              <a:r>
                <a:rPr lang="en-US" sz="1200" dirty="0">
                  <a:solidFill>
                    <a:schemeClr val="dk1"/>
                  </a:solidFill>
                  <a:latin typeface="+mn-lt"/>
                  <a:ea typeface="+mn-ea"/>
                  <a:cs typeface="+mn-cs"/>
                </a:rPr>
                <a:t>Inclusion</a:t>
              </a:r>
            </a:p>
          </p:txBody>
        </p:sp>
        <p:pic>
          <p:nvPicPr>
            <p:cNvPr id="10" name="Image 10"/>
            <p:cNvPicPr>
              <a:picLocks noChangeAspect="1"/>
            </p:cNvPicPr>
            <p:nvPr/>
          </p:nvPicPr>
          <p:blipFill>
            <a:blip r:embed="rId4"/>
            <a:stretch>
              <a:fillRect/>
            </a:stretch>
          </p:blipFill>
          <p:spPr>
            <a:xfrm>
              <a:off x="4286250" y="1466850"/>
              <a:ext cx="1066800" cy="1066800"/>
            </a:xfrm>
            <a:prstGeom prst="rect">
              <a:avLst/>
            </a:prstGeom>
          </p:spPr>
        </p:pic>
        <p:sp>
          <p:nvSpPr>
            <p:cNvPr id="11" name="TextBox 11"/>
            <p:cNvSpPr txBox="1"/>
            <p:nvPr/>
          </p:nvSpPr>
          <p:spPr>
            <a:xfrm>
              <a:off x="4500067" y="2651760"/>
              <a:ext cx="639166" cy="234696"/>
            </a:xfrm>
            <a:prstGeom prst="rect">
              <a:avLst/>
            </a:prstGeom>
            <a:noFill/>
            <a:ln>
              <a:noFill/>
            </a:ln>
          </p:spPr>
          <p:txBody>
            <a:bodyPr wrap="none" lIns="0" tIns="0" rIns="0" bIns="0" anchor="t" anchorCtr="0">
              <a:spAutoFit/>
            </a:bodyPr>
            <a:lstStyle/>
            <a:p>
              <a:pPr algn="ctr"/>
              <a:r>
                <a:rPr lang="en-US" sz="1200" dirty="0">
                  <a:solidFill>
                    <a:schemeClr val="dk1"/>
                  </a:solidFill>
                  <a:latin typeface="+mn-lt"/>
                  <a:ea typeface="+mn-ea"/>
                  <a:cs typeface="+mn-cs"/>
                </a:rPr>
                <a:t>Patches</a:t>
              </a:r>
            </a:p>
          </p:txBody>
        </p:sp>
        <p:pic>
          <p:nvPicPr>
            <p:cNvPr id="12" name="Image 12"/>
            <p:cNvPicPr>
              <a:picLocks noChangeAspect="1"/>
            </p:cNvPicPr>
            <p:nvPr/>
          </p:nvPicPr>
          <p:blipFill>
            <a:blip r:embed="rId5"/>
            <a:stretch>
              <a:fillRect/>
            </a:stretch>
          </p:blipFill>
          <p:spPr>
            <a:xfrm>
              <a:off x="6086475" y="1466850"/>
              <a:ext cx="1066800" cy="1066800"/>
            </a:xfrm>
            <a:prstGeom prst="rect">
              <a:avLst/>
            </a:prstGeom>
          </p:spPr>
        </p:pic>
        <p:sp>
          <p:nvSpPr>
            <p:cNvPr id="13" name="TextBox 13"/>
            <p:cNvSpPr txBox="1"/>
            <p:nvPr/>
          </p:nvSpPr>
          <p:spPr>
            <a:xfrm>
              <a:off x="6029688" y="2651760"/>
              <a:ext cx="1180373" cy="234696"/>
            </a:xfrm>
            <a:prstGeom prst="rect">
              <a:avLst/>
            </a:prstGeom>
            <a:noFill/>
            <a:ln>
              <a:noFill/>
            </a:ln>
          </p:spPr>
          <p:txBody>
            <a:bodyPr wrap="none" lIns="0" tIns="0" rIns="0" bIns="0" anchor="t" anchorCtr="0">
              <a:spAutoFit/>
            </a:bodyPr>
            <a:lstStyle/>
            <a:p>
              <a:pPr algn="ctr"/>
              <a:r>
                <a:rPr lang="en-US" sz="1200" dirty="0">
                  <a:solidFill>
                    <a:schemeClr val="dk1"/>
                  </a:solidFill>
                  <a:latin typeface="+mn-lt"/>
                  <a:ea typeface="+mn-ea"/>
                  <a:cs typeface="+mn-cs"/>
                </a:rPr>
                <a:t>Pitted surface</a:t>
              </a:r>
            </a:p>
          </p:txBody>
        </p:sp>
        <p:pic>
          <p:nvPicPr>
            <p:cNvPr id="14" name="Image 14"/>
            <p:cNvPicPr>
              <a:picLocks noChangeAspect="1"/>
            </p:cNvPicPr>
            <p:nvPr/>
          </p:nvPicPr>
          <p:blipFill>
            <a:blip r:embed="rId6"/>
            <a:stretch>
              <a:fillRect/>
            </a:stretch>
          </p:blipFill>
          <p:spPr>
            <a:xfrm>
              <a:off x="7886700" y="1466850"/>
              <a:ext cx="1066800" cy="1066800"/>
            </a:xfrm>
            <a:prstGeom prst="rect">
              <a:avLst/>
            </a:prstGeom>
          </p:spPr>
        </p:pic>
        <p:sp>
          <p:nvSpPr>
            <p:cNvPr id="15" name="TextBox 15"/>
            <p:cNvSpPr txBox="1"/>
            <p:nvPr/>
          </p:nvSpPr>
          <p:spPr>
            <a:xfrm>
              <a:off x="7846138" y="2651760"/>
              <a:ext cx="1147924" cy="234696"/>
            </a:xfrm>
            <a:prstGeom prst="rect">
              <a:avLst/>
            </a:prstGeom>
            <a:noFill/>
            <a:ln>
              <a:noFill/>
            </a:ln>
          </p:spPr>
          <p:txBody>
            <a:bodyPr wrap="none" lIns="0" tIns="0" rIns="0" bIns="0" anchor="t" anchorCtr="0">
              <a:spAutoFit/>
            </a:bodyPr>
            <a:lstStyle/>
            <a:p>
              <a:pPr algn="ctr"/>
              <a:r>
                <a:rPr lang="en-US" sz="1200" dirty="0">
                  <a:solidFill>
                    <a:schemeClr val="dk1"/>
                  </a:solidFill>
                  <a:latin typeface="+mn-lt"/>
                  <a:ea typeface="+mn-ea"/>
                  <a:cs typeface="+mn-cs"/>
                </a:rPr>
                <a:t>Rolled-in scale</a:t>
              </a:r>
            </a:p>
          </p:txBody>
        </p:sp>
        <p:pic>
          <p:nvPicPr>
            <p:cNvPr id="16" name="Image 16"/>
            <p:cNvPicPr>
              <a:picLocks noChangeAspect="1"/>
            </p:cNvPicPr>
            <p:nvPr/>
          </p:nvPicPr>
          <p:blipFill>
            <a:blip r:embed="rId7"/>
            <a:stretch>
              <a:fillRect/>
            </a:stretch>
          </p:blipFill>
          <p:spPr>
            <a:xfrm>
              <a:off x="9686925" y="1466850"/>
              <a:ext cx="1066800" cy="1066800"/>
            </a:xfrm>
            <a:prstGeom prst="rect">
              <a:avLst/>
            </a:prstGeom>
          </p:spPr>
        </p:pic>
        <p:sp>
          <p:nvSpPr>
            <p:cNvPr id="17" name="TextBox 17"/>
            <p:cNvSpPr txBox="1"/>
            <p:nvPr/>
          </p:nvSpPr>
          <p:spPr>
            <a:xfrm>
              <a:off x="9811893" y="2651760"/>
              <a:ext cx="816864" cy="234696"/>
            </a:xfrm>
            <a:prstGeom prst="rect">
              <a:avLst/>
            </a:prstGeom>
            <a:noFill/>
            <a:ln>
              <a:noFill/>
            </a:ln>
          </p:spPr>
          <p:txBody>
            <a:bodyPr wrap="none" lIns="0" tIns="0" rIns="0" bIns="0" anchor="t" anchorCtr="0">
              <a:spAutoFit/>
            </a:bodyPr>
            <a:lstStyle/>
            <a:p>
              <a:pPr algn="ctr"/>
              <a:r>
                <a:rPr lang="en-US" sz="1200" dirty="0">
                  <a:solidFill>
                    <a:schemeClr val="dk1"/>
                  </a:solidFill>
                  <a:latin typeface="+mn-lt"/>
                  <a:ea typeface="+mn-ea"/>
                  <a:cs typeface="+mn-cs"/>
                </a:rPr>
                <a:t>Scratches</a:t>
              </a:r>
            </a:p>
          </p:txBody>
        </p:sp>
      </p:grpSp>
      <p:grpSp>
        <p:nvGrpSpPr>
          <p:cNvPr id="31" name="Group 31"/>
          <p:cNvGrpSpPr/>
          <p:nvPr/>
        </p:nvGrpSpPr>
        <p:grpSpPr>
          <a:xfrm>
            <a:off x="609600" y="3219450"/>
            <a:ext cx="10972800" cy="2381250"/>
            <a:chOff x="609600" y="3219450"/>
            <a:chExt cx="10972800" cy="2381250"/>
          </a:xfrm>
        </p:grpSpPr>
        <p:sp>
          <p:nvSpPr>
            <p:cNvPr id="19" name="Rectangle 19"/>
            <p:cNvSpPr/>
            <p:nvPr/>
          </p:nvSpPr>
          <p:spPr>
            <a:xfrm>
              <a:off x="609600" y="3219450"/>
              <a:ext cx="3352800" cy="2381250"/>
            </a:xfrm>
            <a:prstGeom prst="rect">
              <a:avLst/>
            </a:prstGeom>
            <a:solidFill>
              <a:schemeClr val="lt2"/>
            </a:solidFill>
            <a:ln>
              <a:noFill/>
            </a:ln>
          </p:spPr>
        </p:sp>
        <p:sp>
          <p:nvSpPr>
            <p:cNvPr id="20" name="TextBox 20"/>
            <p:cNvSpPr txBox="1"/>
            <p:nvPr/>
          </p:nvSpPr>
          <p:spPr>
            <a:xfrm>
              <a:off x="831342" y="3416618"/>
              <a:ext cx="961354" cy="264033"/>
            </a:xfrm>
            <a:prstGeom prst="rect">
              <a:avLst/>
            </a:prstGeom>
            <a:noFill/>
            <a:ln>
              <a:noFill/>
            </a:ln>
          </p:spPr>
          <p:txBody>
            <a:bodyPr wrap="none" lIns="0" tIns="0" rIns="0" bIns="0" anchor="t" anchorCtr="0">
              <a:spAutoFit/>
            </a:bodyPr>
            <a:lstStyle/>
            <a:p>
              <a:pPr algn="l"/>
              <a:r>
                <a:rPr lang="en-US" sz="1350" b="1" dirty="0">
                  <a:solidFill>
                    <a:schemeClr val="accent5"/>
                  </a:solidFill>
                  <a:latin typeface="+mn-lt"/>
                  <a:ea typeface="+mn-ea"/>
                  <a:cs typeface="+mn-cs"/>
                </a:rPr>
                <a:t>REAL NEED</a:t>
              </a:r>
            </a:p>
          </p:txBody>
        </p:sp>
        <p:sp>
          <p:nvSpPr>
            <p:cNvPr id="21" name="TextBox 21"/>
            <p:cNvSpPr txBox="1"/>
            <p:nvPr/>
          </p:nvSpPr>
          <p:spPr>
            <a:xfrm>
              <a:off x="826770" y="3709988"/>
              <a:ext cx="3423285" cy="440055"/>
            </a:xfrm>
            <a:prstGeom prst="rect">
              <a:avLst/>
            </a:prstGeom>
            <a:noFill/>
            <a:ln>
              <a:noFill/>
            </a:ln>
          </p:spPr>
          <p:txBody>
            <a:bodyPr wrap="none" lIns="0" tIns="0" rIns="0" bIns="0" anchor="t" anchorCtr="0">
              <a:spAutoFit/>
            </a:bodyPr>
            <a:lstStyle/>
            <a:p>
              <a:pPr algn="l"/>
              <a:r>
                <a:rPr lang="en-US" sz="2250" b="1" dirty="0">
                  <a:solidFill>
                    <a:schemeClr val="accent1"/>
                  </a:solidFill>
                  <a:latin typeface="+mj-lt"/>
                  <a:ea typeface="+mj-ea"/>
                  <a:cs typeface="+mj-cs"/>
                </a:rPr>
                <a:t>Labels are expensive</a:t>
              </a:r>
            </a:p>
          </p:txBody>
        </p:sp>
        <p:sp>
          <p:nvSpPr>
            <p:cNvPr id="22" name="TextBox 22"/>
            <p:cNvSpPr txBox="1"/>
            <p:nvPr/>
          </p:nvSpPr>
          <p:spPr>
            <a:xfrm>
              <a:off x="830580" y="4181475"/>
              <a:ext cx="3282315" cy="912495"/>
            </a:xfrm>
            <a:prstGeom prst="rect">
              <a:avLst/>
            </a:prstGeom>
            <a:noFill/>
            <a:ln>
              <a:noFill/>
            </a:ln>
          </p:spPr>
          <p:txBody>
            <a:bodyPr wrap="none" lIns="0" tIns="0" rIns="0" bIns="0" anchor="t" anchorCtr="0">
              <a:spAutoFit/>
            </a:bodyPr>
            <a:lstStyle/>
            <a:p>
              <a:pPr algn="l">
                <a:lnSpc>
                  <a:spcPts val="2175"/>
                </a:lnSpc>
              </a:pPr>
              <a:r>
                <a:rPr lang="en-US" sz="1500" dirty="0">
                  <a:solidFill>
                    <a:schemeClr val="dk1"/>
                  </a:solidFill>
                  <a:latin typeface="+mn-lt"/>
                  <a:ea typeface="+mn-ea"/>
                  <a:cs typeface="+mn-cs"/>
                </a:rPr>
                <a:t>The target is useful accuracy from</a:t>
              </a:r>
              <a:br/>
              <a:r>
                <a:rPr lang="en-US" sz="1500" dirty="0">
                  <a:solidFill>
                    <a:schemeClr val="dk1"/>
                  </a:solidFill>
                  <a:latin typeface="+mn-lt"/>
                  <a:ea typeface="+mn-ea"/>
                  <a:cs typeface="+mn-cs"/>
                </a:rPr>
                <a:t>12 · 24 · 48 labels per class.</a:t>
              </a:r>
            </a:p>
            <a:p>
              <a:pPr algn="l">
                <a:lnSpc>
                  <a:spcPts val="2175"/>
                </a:lnSpc>
                <a:spcBef>
                  <a:spcPts val="525"/>
                </a:spcBef>
              </a:pPr>
              <a:r>
                <a:rPr lang="en-US" sz="1500" b="1" dirty="0">
                  <a:solidFill>
                    <a:schemeClr val="accent3"/>
                  </a:solidFill>
                  <a:latin typeface="+mn-lt"/>
                  <a:ea typeface="+mn-ea"/>
                  <a:cs typeface="+mn-cs"/>
                </a:rPr>
                <a:t>Sample efficiency is measurable.</a:t>
              </a:r>
            </a:p>
          </p:txBody>
        </p:sp>
        <p:sp>
          <p:nvSpPr>
            <p:cNvPr id="23" name="Rectangle 23"/>
            <p:cNvSpPr/>
            <p:nvPr/>
          </p:nvSpPr>
          <p:spPr>
            <a:xfrm>
              <a:off x="4191000" y="3219450"/>
              <a:ext cx="3352800" cy="2381250"/>
            </a:xfrm>
            <a:prstGeom prst="rect">
              <a:avLst/>
            </a:prstGeom>
            <a:solidFill>
              <a:schemeClr val="accent1"/>
            </a:solidFill>
            <a:ln>
              <a:noFill/>
            </a:ln>
          </p:spPr>
        </p:sp>
        <p:sp>
          <p:nvSpPr>
            <p:cNvPr id="24" name="TextBox 24"/>
            <p:cNvSpPr txBox="1"/>
            <p:nvPr/>
          </p:nvSpPr>
          <p:spPr>
            <a:xfrm>
              <a:off x="4412742" y="3416618"/>
              <a:ext cx="2110618" cy="264033"/>
            </a:xfrm>
            <a:prstGeom prst="rect">
              <a:avLst/>
            </a:prstGeom>
            <a:noFill/>
            <a:ln>
              <a:noFill/>
            </a:ln>
          </p:spPr>
          <p:txBody>
            <a:bodyPr wrap="none" lIns="0" tIns="0" rIns="0" bIns="0" anchor="t" anchorCtr="0">
              <a:spAutoFit/>
            </a:bodyPr>
            <a:lstStyle/>
            <a:p>
              <a:pPr algn="l"/>
              <a:r>
                <a:rPr lang="en-US" sz="1350" b="1" dirty="0">
                  <a:solidFill>
                    <a:srgbClr val="B9D0C7"/>
                  </a:solidFill>
                  <a:latin typeface="+mn-lt"/>
                  <a:ea typeface="+mn-ea"/>
                  <a:cs typeface="+mn-cs"/>
                </a:rPr>
                <a:t>TRACTABLE BENCHMARK</a:t>
              </a:r>
            </a:p>
          </p:txBody>
        </p:sp>
        <p:sp>
          <p:nvSpPr>
            <p:cNvPr id="25" name="TextBox 25"/>
            <p:cNvSpPr txBox="1"/>
            <p:nvPr/>
          </p:nvSpPr>
          <p:spPr>
            <a:xfrm>
              <a:off x="4408170" y="3709988"/>
              <a:ext cx="2026510"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Consolas"/>
                  <a:ea typeface="Consolas"/>
                  <a:cs typeface="Consolas"/>
                </a:rPr>
                <a:t>1,800 images</a:t>
              </a:r>
            </a:p>
          </p:txBody>
        </p:sp>
        <p:sp>
          <p:nvSpPr>
            <p:cNvPr id="26" name="TextBox 26"/>
            <p:cNvSpPr txBox="1"/>
            <p:nvPr/>
          </p:nvSpPr>
          <p:spPr>
            <a:xfrm>
              <a:off x="4411980" y="4181475"/>
              <a:ext cx="2945606" cy="912495"/>
            </a:xfrm>
            <a:prstGeom prst="rect">
              <a:avLst/>
            </a:prstGeom>
            <a:noFill/>
            <a:ln>
              <a:noFill/>
            </a:ln>
          </p:spPr>
          <p:txBody>
            <a:bodyPr wrap="none" lIns="0" tIns="0" rIns="0" bIns="0" anchor="t" anchorCtr="0">
              <a:spAutoFit/>
            </a:bodyPr>
            <a:lstStyle/>
            <a:p>
              <a:pPr algn="l">
                <a:lnSpc>
                  <a:spcPts val="2175"/>
                </a:lnSpc>
              </a:pPr>
              <a:r>
                <a:rPr lang="en-US" sz="1500" dirty="0">
                  <a:solidFill>
                    <a:srgbClr val="FBF7EE"/>
                  </a:solidFill>
                  <a:latin typeface="+mn-lt"/>
                  <a:ea typeface="+mn-ea"/>
                  <a:cs typeface="+mn-cs"/>
                </a:rPr>
                <a:t>Six balanced defect classes</a:t>
              </a:r>
              <a:br/>
              <a:r>
                <a:rPr lang="en-US" sz="1500" dirty="0">
                  <a:solidFill>
                    <a:srgbClr val="FBF7EE"/>
                  </a:solidFill>
                  <a:latin typeface="+mn-lt"/>
                  <a:ea typeface="+mn-ea"/>
                  <a:cs typeface="+mn-cs"/>
                </a:rPr>
                <a:t>300 images per class</a:t>
              </a:r>
            </a:p>
            <a:p>
              <a:pPr algn="l">
                <a:lnSpc>
                  <a:spcPts val="2175"/>
                </a:lnSpc>
                <a:spcBef>
                  <a:spcPts val="525"/>
                </a:spcBef>
              </a:pPr>
              <a:r>
                <a:rPr lang="en-US" sz="1500" b="1" dirty="0">
                  <a:solidFill>
                    <a:srgbClr val="FBF7EE"/>
                  </a:solidFill>
                  <a:latin typeface="+mn-lt"/>
                  <a:ea typeface="+mn-ea"/>
                  <a:cs typeface="+mn-cs"/>
                </a:rPr>
                <a:t>Public data · macro-F1 target</a:t>
              </a:r>
            </a:p>
          </p:txBody>
        </p:sp>
        <p:sp>
          <p:nvSpPr>
            <p:cNvPr id="27" name="Rectangle 27"/>
            <p:cNvSpPr/>
            <p:nvPr/>
          </p:nvSpPr>
          <p:spPr>
            <a:xfrm>
              <a:off x="7772400" y="3219450"/>
              <a:ext cx="3810000" cy="2381250"/>
            </a:xfrm>
            <a:prstGeom prst="rect">
              <a:avLst/>
            </a:prstGeom>
            <a:solidFill>
              <a:schemeClr val="lt2"/>
            </a:solidFill>
            <a:ln>
              <a:noFill/>
            </a:ln>
          </p:spPr>
        </p:sp>
        <p:sp>
          <p:nvSpPr>
            <p:cNvPr id="28" name="TextBox 28"/>
            <p:cNvSpPr txBox="1"/>
            <p:nvPr/>
          </p:nvSpPr>
          <p:spPr>
            <a:xfrm>
              <a:off x="7994142" y="3416618"/>
              <a:ext cx="2241674" cy="264033"/>
            </a:xfrm>
            <a:prstGeom prst="rect">
              <a:avLst/>
            </a:prstGeom>
            <a:noFill/>
            <a:ln>
              <a:noFill/>
            </a:ln>
          </p:spPr>
          <p:txBody>
            <a:bodyPr wrap="none" lIns="0" tIns="0" rIns="0" bIns="0" anchor="t" anchorCtr="0">
              <a:spAutoFit/>
            </a:bodyPr>
            <a:lstStyle/>
            <a:p>
              <a:pPr algn="l"/>
              <a:r>
                <a:rPr lang="en-US" sz="1350" b="1" dirty="0">
                  <a:solidFill>
                    <a:schemeClr val="accent5"/>
                  </a:solidFill>
                  <a:latin typeface="+mn-lt"/>
                  <a:ea typeface="+mn-ea"/>
                  <a:cs typeface="+mn-cs"/>
                </a:rPr>
                <a:t>LEAKAGE-SAFE EVIDENCE</a:t>
              </a:r>
            </a:p>
          </p:txBody>
        </p:sp>
        <p:sp>
          <p:nvSpPr>
            <p:cNvPr id="29" name="TextBox 29"/>
            <p:cNvSpPr txBox="1"/>
            <p:nvPr/>
          </p:nvSpPr>
          <p:spPr>
            <a:xfrm>
              <a:off x="7989570" y="3709988"/>
              <a:ext cx="3306541" cy="440055"/>
            </a:xfrm>
            <a:prstGeom prst="rect">
              <a:avLst/>
            </a:prstGeom>
            <a:noFill/>
            <a:ln>
              <a:noFill/>
            </a:ln>
          </p:spPr>
          <p:txBody>
            <a:bodyPr wrap="none" lIns="0" tIns="0" rIns="0" bIns="0" anchor="t" anchorCtr="0">
              <a:spAutoFit/>
            </a:bodyPr>
            <a:lstStyle/>
            <a:p>
              <a:pPr algn="l"/>
              <a:r>
                <a:rPr lang="en-US" sz="2250" b="1" dirty="0">
                  <a:solidFill>
                    <a:schemeClr val="accent1"/>
                  </a:solidFill>
                  <a:latin typeface="+mj-lt"/>
                  <a:ea typeface="+mj-ea"/>
                  <a:cs typeface="+mj-cs"/>
                </a:rPr>
                <a:t>One duplicate group</a:t>
              </a:r>
            </a:p>
          </p:txBody>
        </p:sp>
        <p:sp>
          <p:nvSpPr>
            <p:cNvPr id="30" name="TextBox 30"/>
            <p:cNvSpPr txBox="1"/>
            <p:nvPr/>
          </p:nvSpPr>
          <p:spPr>
            <a:xfrm>
              <a:off x="7993380" y="4181475"/>
              <a:ext cx="3348990" cy="912495"/>
            </a:xfrm>
            <a:prstGeom prst="rect">
              <a:avLst/>
            </a:prstGeom>
            <a:noFill/>
            <a:ln>
              <a:noFill/>
            </a:ln>
          </p:spPr>
          <p:txBody>
            <a:bodyPr wrap="none" lIns="0" tIns="0" rIns="0" bIns="0" anchor="t" anchorCtr="0">
              <a:spAutoFit/>
            </a:bodyPr>
            <a:lstStyle/>
            <a:p>
              <a:pPr algn="l">
                <a:lnSpc>
                  <a:spcPts val="2175"/>
                </a:lnSpc>
              </a:pPr>
              <a:r>
                <a:rPr lang="en-US" sz="1500" dirty="0">
                  <a:solidFill>
                    <a:schemeClr val="dk1"/>
                  </a:solidFill>
                  <a:latin typeface="+mn-lt"/>
                  <a:ea typeface="+mn-ea"/>
                  <a:cs typeface="+mn-cs"/>
                </a:rPr>
                <a:t>Pa_101 · Pa_105 never cross splits.</a:t>
              </a:r>
              <a:br/>
              <a:r>
                <a:rPr lang="en-US" sz="1500" dirty="0">
                  <a:solidFill>
                    <a:schemeClr val="dk1"/>
                  </a:solidFill>
                  <a:latin typeface="+mn-lt"/>
                  <a:ea typeface="+mn-ea"/>
                  <a:cs typeface="+mn-cs"/>
                </a:rPr>
                <a:t>Fold 0: 60 test images per class.</a:t>
              </a:r>
            </a:p>
            <a:p>
              <a:pPr algn="l">
                <a:lnSpc>
                  <a:spcPts val="2175"/>
                </a:lnSpc>
                <a:spcBef>
                  <a:spcPts val="525"/>
                </a:spcBef>
              </a:pPr>
              <a:r>
                <a:rPr lang="en-US" sz="1500" b="1" dirty="0">
                  <a:solidFill>
                    <a:schemeClr val="accent3"/>
                  </a:solidFill>
                  <a:latin typeface="+mn-lt"/>
                  <a:ea typeface="+mn-ea"/>
                  <a:cs typeface="+mn-cs"/>
                </a:rPr>
                <a:t>Real need · data · decision metric</a:t>
              </a:r>
            </a:p>
          </p:txBody>
        </p:sp>
      </p:grpSp>
      <p:grpSp>
        <p:nvGrpSpPr>
          <p:cNvPr id="33" name="Group 33"/>
          <p:cNvGrpSpPr/>
          <p:nvPr/>
        </p:nvGrpSpPr>
        <p:grpSpPr>
          <a:xfrm>
            <a:off x="602742" y="6045518"/>
            <a:ext cx="5090556" cy="264033"/>
            <a:chOff x="602742" y="6045518"/>
            <a:chExt cx="5090556" cy="264033"/>
          </a:xfrm>
        </p:grpSpPr>
        <p:sp>
          <p:nvSpPr>
            <p:cNvPr id="32" name="TextBox 32"/>
            <p:cNvSpPr txBox="1"/>
            <p:nvPr/>
          </p:nvSpPr>
          <p:spPr>
            <a:xfrm>
              <a:off x="602742" y="6045518"/>
              <a:ext cx="5090556" cy="264033"/>
            </a:xfrm>
            <a:prstGeom prst="rect">
              <a:avLst/>
            </a:prstGeom>
            <a:noFill/>
            <a:ln>
              <a:noFill/>
            </a:ln>
          </p:spPr>
          <p:txBody>
            <a:bodyPr wrap="none" lIns="0" tIns="0" rIns="0" bIns="0" anchor="t" anchorCtr="0">
              <a:spAutoFit/>
            </a:bodyPr>
            <a:lstStyle/>
            <a:p>
              <a:pPr algn="l"/>
              <a:r>
                <a:rPr lang="en-US" sz="1350" dirty="0">
                  <a:solidFill>
                    <a:srgbClr val="766E62"/>
                  </a:solidFill>
                  <a:latin typeface="+mn-lt"/>
                  <a:ea typeface="+mn-ea"/>
                  <a:cs typeface="+mn-cs"/>
                </a:rPr>
                <a:t>Source: dataset_audit.csv · frozen experiment protocol</a:t>
              </a:r>
            </a:p>
          </p:txBody>
        </p:sp>
      </p:grpSp>
      <p:grpSp>
        <p:nvGrpSpPr>
          <p:cNvPr id="35" name="Group 35"/>
          <p:cNvGrpSpPr/>
          <p:nvPr/>
        </p:nvGrpSpPr>
        <p:grpSpPr>
          <a:xfrm>
            <a:off x="10966723" y="6426518"/>
            <a:ext cx="622535" cy="264033"/>
            <a:chOff x="10966723" y="6426518"/>
            <a:chExt cx="622535" cy="264033"/>
          </a:xfrm>
        </p:grpSpPr>
        <p:sp>
          <p:nvSpPr>
            <p:cNvPr id="34" name="TextBox 34"/>
            <p:cNvSpPr txBox="1"/>
            <p:nvPr/>
          </p:nvSpPr>
          <p:spPr>
            <a:xfrm>
              <a:off x="10966723" y="6426518"/>
              <a:ext cx="622535" cy="264033"/>
            </a:xfrm>
            <a:prstGeom prst="rect">
              <a:avLst/>
            </a:prstGeom>
            <a:noFill/>
            <a:ln>
              <a:noFill/>
            </a:ln>
          </p:spPr>
          <p:txBody>
            <a:bodyPr wrap="none" lIns="0" tIns="0" rIns="0" bIns="0" anchor="t" anchorCtr="0">
              <a:spAutoFit/>
            </a:bodyPr>
            <a:lstStyle/>
            <a:p>
              <a:pPr algn="r"/>
              <a:r>
                <a:rPr lang="en-US" sz="1350" dirty="0">
                  <a:solidFill>
                    <a:srgbClr val="766E62"/>
                  </a:solidFill>
                  <a:latin typeface="+mn-lt"/>
                  <a:ea typeface="+mn-ea"/>
                  <a:cs typeface="+mn-cs"/>
                </a:rPr>
                <a:t>02 / 10</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76200"/>
          </a:xfrm>
          <a:prstGeom prst="rect">
            <a:avLst/>
          </a:prstGeom>
          <a:solidFill>
            <a:schemeClr val="accent3"/>
          </a:solidFill>
          <a:ln>
            <a:noFill/>
          </a:ln>
        </p:spPr>
      </p:sp>
      <p:grpSp>
        <p:nvGrpSpPr>
          <p:cNvPr id="5" name="Group 5"/>
          <p:cNvGrpSpPr/>
          <p:nvPr/>
        </p:nvGrpSpPr>
        <p:grpSpPr>
          <a:xfrm>
            <a:off x="595122" y="482918"/>
            <a:ext cx="10821871" cy="890777"/>
            <a:chOff x="595122" y="482918"/>
            <a:chExt cx="10821871" cy="890777"/>
          </a:xfrm>
        </p:grpSpPr>
        <p:sp>
          <p:nvSpPr>
            <p:cNvPr id="3" name="TextBox 3"/>
            <p:cNvSpPr txBox="1"/>
            <p:nvPr/>
          </p:nvSpPr>
          <p:spPr>
            <a:xfrm>
              <a:off x="602742" y="482918"/>
              <a:ext cx="5147691" cy="264033"/>
            </a:xfrm>
            <a:prstGeom prst="rect">
              <a:avLst/>
            </a:prstGeom>
            <a:noFill/>
            <a:ln>
              <a:noFill/>
            </a:ln>
          </p:spPr>
          <p:txBody>
            <a:bodyPr wrap="none" lIns="0" tIns="0" rIns="0" bIns="0" anchor="t" anchorCtr="0">
              <a:spAutoFit/>
            </a:bodyPr>
            <a:lstStyle/>
            <a:p>
              <a:pPr algn="l"/>
              <a:r>
                <a:rPr lang="en-US" sz="1350" b="1" spc="105" dirty="0">
                  <a:solidFill>
                    <a:schemeClr val="accent6"/>
                  </a:solidFill>
                  <a:latin typeface="+mn-lt"/>
                  <a:ea typeface="+mn-ea"/>
                  <a:cs typeface="+mn-cs"/>
                </a:rPr>
                <a:t>WHY QUANDELA · SIMULATOR-TO-HARDWARE PATH</a:t>
              </a:r>
            </a:p>
          </p:txBody>
        </p:sp>
        <p:sp>
          <p:nvSpPr>
            <p:cNvPr id="4" name="TextBox 4"/>
            <p:cNvSpPr txBox="1"/>
            <p:nvPr/>
          </p:nvSpPr>
          <p:spPr>
            <a:xfrm>
              <a:off x="595122" y="816292"/>
              <a:ext cx="10821871" cy="557403"/>
            </a:xfrm>
            <a:prstGeom prst="rect">
              <a:avLst/>
            </a:prstGeom>
            <a:noFill/>
            <a:ln>
              <a:noFill/>
            </a:ln>
          </p:spPr>
          <p:txBody>
            <a:bodyPr wrap="none" lIns="0" tIns="0" rIns="0" bIns="0" anchor="t" anchorCtr="0">
              <a:spAutoFit/>
            </a:bodyPr>
            <a:lstStyle/>
            <a:p>
              <a:pPr algn="l"/>
              <a:r>
                <a:rPr lang="en-US" sz="2850" b="1" dirty="0">
                  <a:solidFill>
                    <a:schemeClr val="accent1"/>
                  </a:solidFill>
                  <a:latin typeface="+mj-lt"/>
                  <a:ea typeface="+mj-ea"/>
                  <a:cs typeface="+mj-cs"/>
                </a:rPr>
                <a:t>A small reservoir fits Quandela’s path to hardware</a:t>
              </a:r>
            </a:p>
          </p:txBody>
        </p:sp>
      </p:grpSp>
      <p:grpSp>
        <p:nvGrpSpPr>
          <p:cNvPr id="31" name="Group 31"/>
          <p:cNvGrpSpPr/>
          <p:nvPr/>
        </p:nvGrpSpPr>
        <p:grpSpPr>
          <a:xfrm>
            <a:off x="609600" y="1466850"/>
            <a:ext cx="10972800" cy="1562100"/>
            <a:chOff x="609600" y="1466850"/>
            <a:chExt cx="10972800" cy="1562100"/>
          </a:xfrm>
        </p:grpSpPr>
        <p:sp>
          <p:nvSpPr>
            <p:cNvPr id="6" name="Rectangle 6"/>
            <p:cNvSpPr/>
            <p:nvPr/>
          </p:nvSpPr>
          <p:spPr>
            <a:xfrm>
              <a:off x="609600" y="1657350"/>
              <a:ext cx="1581150" cy="1162050"/>
            </a:xfrm>
            <a:prstGeom prst="rect">
              <a:avLst/>
            </a:prstGeom>
            <a:solidFill>
              <a:schemeClr val="lt2"/>
            </a:solidFill>
            <a:ln>
              <a:noFill/>
            </a:ln>
          </p:spPr>
        </p:sp>
        <p:sp>
          <p:nvSpPr>
            <p:cNvPr id="7" name="TextBox 7"/>
            <p:cNvSpPr txBox="1"/>
            <p:nvPr/>
          </p:nvSpPr>
          <p:spPr>
            <a:xfrm>
              <a:off x="1040473" y="1835468"/>
              <a:ext cx="719404" cy="264033"/>
            </a:xfrm>
            <a:prstGeom prst="rect">
              <a:avLst/>
            </a:prstGeom>
            <a:noFill/>
            <a:ln>
              <a:noFill/>
            </a:ln>
          </p:spPr>
          <p:txBody>
            <a:bodyPr wrap="none" lIns="0" tIns="0" rIns="0" bIns="0" anchor="t" anchorCtr="0">
              <a:spAutoFit/>
            </a:bodyPr>
            <a:lstStyle/>
            <a:p>
              <a:pPr algn="ctr"/>
              <a:r>
                <a:rPr lang="en-US" sz="1350" b="1" dirty="0">
                  <a:solidFill>
                    <a:schemeClr val="accent6"/>
                  </a:solidFill>
                  <a:latin typeface="+mn-lt"/>
                  <a:ea typeface="+mn-ea"/>
                  <a:cs typeface="+mn-cs"/>
                </a:rPr>
                <a:t>FROZEN</a:t>
              </a:r>
            </a:p>
          </p:txBody>
        </p:sp>
        <p:sp>
          <p:nvSpPr>
            <p:cNvPr id="8" name="TextBox 8"/>
            <p:cNvSpPr txBox="1"/>
            <p:nvPr/>
          </p:nvSpPr>
          <p:spPr>
            <a:xfrm>
              <a:off x="843911" y="2156936"/>
              <a:ext cx="1112529" cy="337376"/>
            </a:xfrm>
            <a:prstGeom prst="rect">
              <a:avLst/>
            </a:prstGeom>
            <a:noFill/>
            <a:ln>
              <a:noFill/>
            </a:ln>
          </p:spPr>
          <p:txBody>
            <a:bodyPr wrap="none" lIns="0" tIns="0" rIns="0" bIns="0" anchor="t" anchorCtr="0">
              <a:spAutoFit/>
            </a:bodyPr>
            <a:lstStyle/>
            <a:p>
              <a:pPr algn="ctr"/>
              <a:r>
                <a:rPr lang="en-US" sz="1720" b="1" dirty="0">
                  <a:solidFill>
                    <a:schemeClr val="accent1"/>
                  </a:solidFill>
                  <a:latin typeface="+mn-lt"/>
                  <a:ea typeface="+mn-ea"/>
                  <a:cs typeface="+mn-cs"/>
                </a:rPr>
                <a:t>OpenCLIP</a:t>
              </a:r>
            </a:p>
          </p:txBody>
        </p:sp>
        <p:sp>
          <p:nvSpPr>
            <p:cNvPr id="9" name="TextBox 9"/>
            <p:cNvSpPr txBox="1"/>
            <p:nvPr/>
          </p:nvSpPr>
          <p:spPr>
            <a:xfrm>
              <a:off x="785424" y="2483168"/>
              <a:ext cx="1229502" cy="264033"/>
            </a:xfrm>
            <a:prstGeom prst="rect">
              <a:avLst/>
            </a:prstGeom>
            <a:noFill/>
            <a:ln>
              <a:noFill/>
            </a:ln>
          </p:spPr>
          <p:txBody>
            <a:bodyPr wrap="none" lIns="0" tIns="0" rIns="0" bIns="0" anchor="t" anchorCtr="0">
              <a:spAutoFit/>
            </a:bodyPr>
            <a:lstStyle/>
            <a:p>
              <a:pPr algn="ctr"/>
              <a:r>
                <a:rPr lang="en-US" sz="1350" dirty="0">
                  <a:solidFill>
                    <a:schemeClr val="dk1"/>
                  </a:solidFill>
                  <a:latin typeface="+mn-lt"/>
                  <a:ea typeface="+mn-ea"/>
                  <a:cs typeface="+mn-cs"/>
                </a:rPr>
                <a:t>ViT-B/32 · L2</a:t>
              </a:r>
            </a:p>
          </p:txBody>
        </p:sp>
        <p:sp>
          <p:nvSpPr>
            <p:cNvPr id="10" name="Freeform 10"/>
            <p:cNvSpPr/>
            <p:nvPr/>
          </p:nvSpPr>
          <p:spPr>
            <a:xfrm>
              <a:off x="2190750" y="2143125"/>
              <a:ext cx="381000" cy="190500"/>
            </a:xfrm>
            <a:custGeom>
              <a:avLst/>
              <a:gdLst/>
              <a:ahLst/>
              <a:cxnLst/>
              <a:rect l="l" t="t" r="r" b="b"/>
              <a:pathLst>
                <a:path w="381000" h="190500">
                  <a:moveTo>
                    <a:pt x="0" y="95250"/>
                  </a:moveTo>
                  <a:lnTo>
                    <a:pt x="381000" y="95250"/>
                  </a:lnTo>
                  <a:moveTo>
                    <a:pt x="285750" y="0"/>
                  </a:moveTo>
                  <a:lnTo>
                    <a:pt x="381000" y="95250"/>
                  </a:lnTo>
                  <a:lnTo>
                    <a:pt x="285750" y="190500"/>
                  </a:lnTo>
                </a:path>
              </a:pathLst>
            </a:custGeom>
            <a:noFill/>
            <a:ln w="38100">
              <a:solidFill>
                <a:schemeClr val="accent1"/>
              </a:solidFill>
            </a:ln>
          </p:spPr>
        </p:sp>
        <p:sp>
          <p:nvSpPr>
            <p:cNvPr id="11" name="Rectangle 11"/>
            <p:cNvSpPr/>
            <p:nvPr/>
          </p:nvSpPr>
          <p:spPr>
            <a:xfrm>
              <a:off x="2571750" y="1657350"/>
              <a:ext cx="1581150" cy="1162050"/>
            </a:xfrm>
            <a:prstGeom prst="rect">
              <a:avLst/>
            </a:prstGeom>
            <a:solidFill>
              <a:schemeClr val="lt1"/>
            </a:solidFill>
            <a:ln w="19050">
              <a:solidFill>
                <a:schemeClr val="accent1"/>
              </a:solidFill>
            </a:ln>
          </p:spPr>
        </p:sp>
        <p:sp>
          <p:nvSpPr>
            <p:cNvPr id="12" name="TextBox 12"/>
            <p:cNvSpPr txBox="1"/>
            <p:nvPr/>
          </p:nvSpPr>
          <p:spPr>
            <a:xfrm>
              <a:off x="2831241" y="1835468"/>
              <a:ext cx="1062167" cy="264033"/>
            </a:xfrm>
            <a:prstGeom prst="rect">
              <a:avLst/>
            </a:prstGeom>
            <a:noFill/>
            <a:ln>
              <a:noFill/>
            </a:ln>
          </p:spPr>
          <p:txBody>
            <a:bodyPr wrap="none" lIns="0" tIns="0" rIns="0" bIns="0" anchor="t" anchorCtr="0">
              <a:spAutoFit/>
            </a:bodyPr>
            <a:lstStyle/>
            <a:p>
              <a:pPr algn="ctr"/>
              <a:r>
                <a:rPr lang="en-US" sz="1350" b="1" dirty="0">
                  <a:solidFill>
                    <a:schemeClr val="accent5"/>
                  </a:solidFill>
                  <a:latin typeface="+mn-lt"/>
                  <a:ea typeface="+mn-ea"/>
                  <a:cs typeface="+mn-cs"/>
                </a:rPr>
                <a:t>TRAIN ONLY</a:t>
              </a:r>
            </a:p>
          </p:txBody>
        </p:sp>
        <p:sp>
          <p:nvSpPr>
            <p:cNvPr id="13" name="TextBox 13"/>
            <p:cNvSpPr txBox="1"/>
            <p:nvPr/>
          </p:nvSpPr>
          <p:spPr>
            <a:xfrm>
              <a:off x="3000345" y="2156936"/>
              <a:ext cx="723961" cy="337376"/>
            </a:xfrm>
            <a:prstGeom prst="rect">
              <a:avLst/>
            </a:prstGeom>
            <a:noFill/>
            <a:ln>
              <a:noFill/>
            </a:ln>
          </p:spPr>
          <p:txBody>
            <a:bodyPr wrap="none" lIns="0" tIns="0" rIns="0" bIns="0" anchor="t" anchorCtr="0">
              <a:spAutoFit/>
            </a:bodyPr>
            <a:lstStyle/>
            <a:p>
              <a:pPr algn="ctr"/>
              <a:r>
                <a:rPr lang="en-US" sz="1720" b="1" dirty="0">
                  <a:solidFill>
                    <a:schemeClr val="accent1"/>
                  </a:solidFill>
                  <a:latin typeface="+mn-lt"/>
                  <a:ea typeface="+mn-ea"/>
                  <a:cs typeface="+mn-cs"/>
                </a:rPr>
                <a:t>PCA-5</a:t>
              </a:r>
            </a:p>
          </p:txBody>
        </p:sp>
        <p:sp>
          <p:nvSpPr>
            <p:cNvPr id="14" name="TextBox 14"/>
            <p:cNvSpPr txBox="1"/>
            <p:nvPr/>
          </p:nvSpPr>
          <p:spPr>
            <a:xfrm>
              <a:off x="2701214" y="2483168"/>
              <a:ext cx="1322222" cy="264033"/>
            </a:xfrm>
            <a:prstGeom prst="rect">
              <a:avLst/>
            </a:prstGeom>
            <a:noFill/>
            <a:ln>
              <a:noFill/>
            </a:ln>
          </p:spPr>
          <p:txBody>
            <a:bodyPr wrap="none" lIns="0" tIns="0" rIns="0" bIns="0" anchor="t" anchorCtr="0">
              <a:spAutoFit/>
            </a:bodyPr>
            <a:lstStyle/>
            <a:p>
              <a:pPr algn="ctr"/>
              <a:r>
                <a:rPr lang="el-GR" sz="1350" dirty="0">
                  <a:solidFill>
                    <a:schemeClr val="dk1"/>
                  </a:solidFill>
                  <a:latin typeface="+mn-lt"/>
                  <a:ea typeface="+mn-ea"/>
                  <a:cs typeface="+mn-cs"/>
                </a:rPr>
                <a:t>phases [−π, π]</a:t>
              </a:r>
            </a:p>
          </p:txBody>
        </p:sp>
        <p:sp>
          <p:nvSpPr>
            <p:cNvPr id="15" name="Freeform 15"/>
            <p:cNvSpPr/>
            <p:nvPr/>
          </p:nvSpPr>
          <p:spPr>
            <a:xfrm>
              <a:off x="4152900" y="2143125"/>
              <a:ext cx="381000" cy="190500"/>
            </a:xfrm>
            <a:custGeom>
              <a:avLst/>
              <a:gdLst/>
              <a:ahLst/>
              <a:cxnLst/>
              <a:rect l="l" t="t" r="r" b="b"/>
              <a:pathLst>
                <a:path w="381000" h="190500">
                  <a:moveTo>
                    <a:pt x="0" y="95250"/>
                  </a:moveTo>
                  <a:lnTo>
                    <a:pt x="381000" y="95250"/>
                  </a:lnTo>
                  <a:moveTo>
                    <a:pt x="285750" y="0"/>
                  </a:moveTo>
                  <a:lnTo>
                    <a:pt x="381000" y="95250"/>
                  </a:lnTo>
                  <a:lnTo>
                    <a:pt x="285750" y="190500"/>
                  </a:lnTo>
                </a:path>
              </a:pathLst>
            </a:custGeom>
            <a:noFill/>
            <a:ln w="38100">
              <a:solidFill>
                <a:schemeClr val="accent1"/>
              </a:solidFill>
            </a:ln>
          </p:spPr>
        </p:sp>
        <p:sp>
          <p:nvSpPr>
            <p:cNvPr id="16" name="Rectangle 16"/>
            <p:cNvSpPr/>
            <p:nvPr/>
          </p:nvSpPr>
          <p:spPr>
            <a:xfrm>
              <a:off x="4533900" y="1466850"/>
              <a:ext cx="2628900" cy="1562100"/>
            </a:xfrm>
            <a:prstGeom prst="rect">
              <a:avLst/>
            </a:prstGeom>
            <a:solidFill>
              <a:schemeClr val="accent1"/>
            </a:solidFill>
            <a:ln>
              <a:noFill/>
            </a:ln>
          </p:spPr>
        </p:sp>
        <p:sp>
          <p:nvSpPr>
            <p:cNvPr id="17" name="TextBox 17"/>
            <p:cNvSpPr txBox="1"/>
            <p:nvPr/>
          </p:nvSpPr>
          <p:spPr>
            <a:xfrm>
              <a:off x="4808163" y="1664018"/>
              <a:ext cx="2080374" cy="264033"/>
            </a:xfrm>
            <a:prstGeom prst="rect">
              <a:avLst/>
            </a:prstGeom>
            <a:noFill/>
            <a:ln>
              <a:noFill/>
            </a:ln>
          </p:spPr>
          <p:txBody>
            <a:bodyPr wrap="none" lIns="0" tIns="0" rIns="0" bIns="0" anchor="t" anchorCtr="0">
              <a:spAutoFit/>
            </a:bodyPr>
            <a:lstStyle/>
            <a:p>
              <a:pPr algn="ctr"/>
              <a:r>
                <a:rPr lang="en-US" sz="1350" b="1" dirty="0">
                  <a:solidFill>
                    <a:srgbClr val="B9D0C7"/>
                  </a:solidFill>
                  <a:latin typeface="+mn-lt"/>
                  <a:ea typeface="+mn-ea"/>
                  <a:cs typeface="+mn-cs"/>
                </a:rPr>
                <a:t>6 MODES · 2 PHOTONS</a:t>
              </a:r>
            </a:p>
          </p:txBody>
        </p:sp>
        <p:sp>
          <p:nvSpPr>
            <p:cNvPr id="18" name="TextBox 18"/>
            <p:cNvSpPr txBox="1"/>
            <p:nvPr/>
          </p:nvSpPr>
          <p:spPr>
            <a:xfrm>
              <a:off x="4671212" y="2017395"/>
              <a:ext cx="2354275" cy="469392"/>
            </a:xfrm>
            <a:prstGeom prst="rect">
              <a:avLst/>
            </a:prstGeom>
            <a:noFill/>
            <a:ln>
              <a:noFill/>
            </a:ln>
          </p:spPr>
          <p:txBody>
            <a:bodyPr wrap="none" lIns="0" tIns="0" rIns="0" bIns="0" anchor="t" anchorCtr="0">
              <a:spAutoFit/>
            </a:bodyPr>
            <a:lstStyle/>
            <a:p>
              <a:pPr algn="ctr"/>
              <a:r>
                <a:rPr lang="en-US" sz="2400" b="1" dirty="0">
                  <a:solidFill>
                    <a:srgbClr val="FFFFFF"/>
                  </a:solidFill>
                  <a:latin typeface="+mj-lt"/>
                  <a:ea typeface="+mj-ea"/>
                  <a:cs typeface="+mj-cs"/>
                </a:rPr>
                <a:t>U · D(x) · U</a:t>
              </a:r>
            </a:p>
          </p:txBody>
        </p:sp>
        <p:sp>
          <p:nvSpPr>
            <p:cNvPr id="19" name="TextBox 19"/>
            <p:cNvSpPr txBox="1"/>
            <p:nvPr/>
          </p:nvSpPr>
          <p:spPr>
            <a:xfrm>
              <a:off x="4687462" y="2454592"/>
              <a:ext cx="2321776" cy="264033"/>
            </a:xfrm>
            <a:prstGeom prst="rect">
              <a:avLst/>
            </a:prstGeom>
            <a:noFill/>
            <a:ln>
              <a:noFill/>
            </a:ln>
          </p:spPr>
          <p:txBody>
            <a:bodyPr wrap="none" lIns="0" tIns="0" rIns="0" bIns="0" anchor="t" anchorCtr="0">
              <a:spAutoFit/>
            </a:bodyPr>
            <a:lstStyle/>
            <a:p>
              <a:pPr algn="ctr"/>
              <a:r>
                <a:rPr lang="en-US" sz="1350" dirty="0">
                  <a:solidFill>
                    <a:srgbClr val="FBF7EE"/>
                  </a:solidFill>
                  <a:latin typeface="+mn-lt"/>
                  <a:ea typeface="+mn-ea"/>
                  <a:cs typeface="+mn-cs"/>
                </a:rPr>
                <a:t>occupation [1,0,1,0,0,0]</a:t>
              </a:r>
            </a:p>
          </p:txBody>
        </p:sp>
        <p:sp>
          <p:nvSpPr>
            <p:cNvPr id="20" name="TextBox 20"/>
            <p:cNvSpPr txBox="1"/>
            <p:nvPr/>
          </p:nvSpPr>
          <p:spPr>
            <a:xfrm>
              <a:off x="4522804" y="2718435"/>
              <a:ext cx="2651092" cy="234696"/>
            </a:xfrm>
            <a:prstGeom prst="rect">
              <a:avLst/>
            </a:prstGeom>
            <a:noFill/>
            <a:ln>
              <a:noFill/>
            </a:ln>
          </p:spPr>
          <p:txBody>
            <a:bodyPr wrap="none" lIns="0" tIns="0" rIns="0" bIns="0" anchor="t" anchorCtr="0">
              <a:spAutoFit/>
            </a:bodyPr>
            <a:lstStyle/>
            <a:p>
              <a:pPr algn="ctr"/>
              <a:r>
                <a:rPr lang="en-US" sz="1200" dirty="0">
                  <a:solidFill>
                    <a:srgbClr val="B9D0C7"/>
                  </a:solidFill>
                  <a:latin typeface="+mn-lt"/>
                  <a:ea typeface="+mn-ea"/>
                  <a:cs typeface="+mn-cs"/>
                </a:rPr>
                <a:t>fixed U · image-dependent phases</a:t>
              </a:r>
            </a:p>
          </p:txBody>
        </p:sp>
        <p:sp>
          <p:nvSpPr>
            <p:cNvPr id="21" name="Freeform 21"/>
            <p:cNvSpPr/>
            <p:nvPr/>
          </p:nvSpPr>
          <p:spPr>
            <a:xfrm>
              <a:off x="7162800" y="2143125"/>
              <a:ext cx="381000" cy="190500"/>
            </a:xfrm>
            <a:custGeom>
              <a:avLst/>
              <a:gdLst/>
              <a:ahLst/>
              <a:cxnLst/>
              <a:rect l="l" t="t" r="r" b="b"/>
              <a:pathLst>
                <a:path w="381000" h="190500">
                  <a:moveTo>
                    <a:pt x="0" y="95250"/>
                  </a:moveTo>
                  <a:lnTo>
                    <a:pt x="381000" y="95250"/>
                  </a:lnTo>
                  <a:moveTo>
                    <a:pt x="285750" y="0"/>
                  </a:moveTo>
                  <a:lnTo>
                    <a:pt x="381000" y="95250"/>
                  </a:lnTo>
                  <a:lnTo>
                    <a:pt x="285750" y="190500"/>
                  </a:lnTo>
                </a:path>
              </a:pathLst>
            </a:custGeom>
            <a:noFill/>
            <a:ln w="38100">
              <a:solidFill>
                <a:schemeClr val="accent1"/>
              </a:solidFill>
            </a:ln>
          </p:spPr>
        </p:sp>
        <p:sp>
          <p:nvSpPr>
            <p:cNvPr id="22" name="Rectangle 22"/>
            <p:cNvSpPr/>
            <p:nvPr/>
          </p:nvSpPr>
          <p:spPr>
            <a:xfrm>
              <a:off x="7543800" y="1657350"/>
              <a:ext cx="1695450" cy="1162050"/>
            </a:xfrm>
            <a:prstGeom prst="rect">
              <a:avLst/>
            </a:prstGeom>
            <a:solidFill>
              <a:schemeClr val="lt2"/>
            </a:solidFill>
            <a:ln>
              <a:noFill/>
            </a:ln>
          </p:spPr>
        </p:sp>
        <p:sp>
          <p:nvSpPr>
            <p:cNvPr id="23" name="TextBox 23"/>
            <p:cNvSpPr txBox="1"/>
            <p:nvPr/>
          </p:nvSpPr>
          <p:spPr>
            <a:xfrm>
              <a:off x="7810035" y="1835468"/>
              <a:ext cx="1162980" cy="264033"/>
            </a:xfrm>
            <a:prstGeom prst="rect">
              <a:avLst/>
            </a:prstGeom>
            <a:noFill/>
            <a:ln>
              <a:noFill/>
            </a:ln>
          </p:spPr>
          <p:txBody>
            <a:bodyPr wrap="none" lIns="0" tIns="0" rIns="0" bIns="0" anchor="t" anchorCtr="0">
              <a:spAutoFit/>
            </a:bodyPr>
            <a:lstStyle/>
            <a:p>
              <a:pPr algn="ctr"/>
              <a:r>
                <a:rPr lang="en-US" sz="1350" b="1" dirty="0">
                  <a:solidFill>
                    <a:schemeClr val="accent6"/>
                  </a:solidFill>
                  <a:latin typeface="+mn-lt"/>
                  <a:ea typeface="+mn-ea"/>
                  <a:cs typeface="+mn-cs"/>
                </a:rPr>
                <a:t>POSTSELECT</a:t>
              </a:r>
            </a:p>
          </p:txBody>
        </p:sp>
        <p:sp>
          <p:nvSpPr>
            <p:cNvPr id="24" name="TextBox 24"/>
            <p:cNvSpPr txBox="1"/>
            <p:nvPr/>
          </p:nvSpPr>
          <p:spPr>
            <a:xfrm>
              <a:off x="7847378" y="2100262"/>
              <a:ext cx="1088293" cy="440055"/>
            </a:xfrm>
            <a:prstGeom prst="rect">
              <a:avLst/>
            </a:prstGeom>
            <a:noFill/>
            <a:ln>
              <a:noFill/>
            </a:ln>
          </p:spPr>
          <p:txBody>
            <a:bodyPr wrap="none" lIns="0" tIns="0" rIns="0" bIns="0" anchor="t" anchorCtr="0">
              <a:spAutoFit/>
            </a:bodyPr>
            <a:lstStyle/>
            <a:p>
              <a:pPr algn="ctr"/>
              <a:r>
                <a:rPr lang="en-US" sz="2250" b="1" dirty="0">
                  <a:solidFill>
                    <a:schemeClr val="accent1"/>
                  </a:solidFill>
                  <a:latin typeface="Consolas"/>
                  <a:ea typeface="Consolas"/>
                  <a:cs typeface="Consolas"/>
                </a:rPr>
                <a:t>21 → 15</a:t>
              </a:r>
            </a:p>
          </p:txBody>
        </p:sp>
        <p:sp>
          <p:nvSpPr>
            <p:cNvPr id="25" name="TextBox 25"/>
            <p:cNvSpPr txBox="1"/>
            <p:nvPr/>
          </p:nvSpPr>
          <p:spPr>
            <a:xfrm>
              <a:off x="7595477" y="2483168"/>
              <a:ext cx="1592097" cy="264033"/>
            </a:xfrm>
            <a:prstGeom prst="rect">
              <a:avLst/>
            </a:prstGeom>
            <a:noFill/>
            <a:ln>
              <a:noFill/>
            </a:ln>
          </p:spPr>
          <p:txBody>
            <a:bodyPr wrap="none" lIns="0" tIns="0" rIns="0" bIns="0" anchor="t" anchorCtr="0">
              <a:spAutoFit/>
            </a:bodyPr>
            <a:lstStyle/>
            <a:p>
              <a:pPr algn="ctr"/>
              <a:r>
                <a:rPr lang="en-US" sz="1350" dirty="0">
                  <a:solidFill>
                    <a:schemeClr val="dk1"/>
                  </a:solidFill>
                  <a:latin typeface="+mn-lt"/>
                  <a:ea typeface="+mn-ea"/>
                  <a:cs typeface="+mn-cs"/>
                </a:rPr>
                <a:t>conditional P(n|x)</a:t>
              </a:r>
            </a:p>
          </p:txBody>
        </p:sp>
        <p:sp>
          <p:nvSpPr>
            <p:cNvPr id="26" name="Freeform 26"/>
            <p:cNvSpPr/>
            <p:nvPr/>
          </p:nvSpPr>
          <p:spPr>
            <a:xfrm>
              <a:off x="9239250" y="2143125"/>
              <a:ext cx="381000" cy="190500"/>
            </a:xfrm>
            <a:custGeom>
              <a:avLst/>
              <a:gdLst/>
              <a:ahLst/>
              <a:cxnLst/>
              <a:rect l="l" t="t" r="r" b="b"/>
              <a:pathLst>
                <a:path w="381000" h="190500">
                  <a:moveTo>
                    <a:pt x="0" y="95250"/>
                  </a:moveTo>
                  <a:lnTo>
                    <a:pt x="381000" y="95250"/>
                  </a:lnTo>
                  <a:moveTo>
                    <a:pt x="285750" y="0"/>
                  </a:moveTo>
                  <a:lnTo>
                    <a:pt x="381000" y="95250"/>
                  </a:lnTo>
                  <a:lnTo>
                    <a:pt x="285750" y="190500"/>
                  </a:lnTo>
                </a:path>
              </a:pathLst>
            </a:custGeom>
            <a:noFill/>
            <a:ln w="38100">
              <a:solidFill>
                <a:schemeClr val="accent1"/>
              </a:solidFill>
            </a:ln>
          </p:spPr>
        </p:sp>
        <p:sp>
          <p:nvSpPr>
            <p:cNvPr id="27" name="Rectangle 27"/>
            <p:cNvSpPr/>
            <p:nvPr/>
          </p:nvSpPr>
          <p:spPr>
            <a:xfrm>
              <a:off x="9620250" y="1657350"/>
              <a:ext cx="1962150" cy="1162050"/>
            </a:xfrm>
            <a:prstGeom prst="rect">
              <a:avLst/>
            </a:prstGeom>
            <a:solidFill>
              <a:schemeClr val="accent3"/>
            </a:solidFill>
            <a:ln>
              <a:noFill/>
            </a:ln>
          </p:spPr>
        </p:sp>
        <p:sp>
          <p:nvSpPr>
            <p:cNvPr id="28" name="TextBox 28"/>
            <p:cNvSpPr txBox="1"/>
            <p:nvPr/>
          </p:nvSpPr>
          <p:spPr>
            <a:xfrm>
              <a:off x="9682113" y="1911668"/>
              <a:ext cx="1838424" cy="264033"/>
            </a:xfrm>
            <a:prstGeom prst="rect">
              <a:avLst/>
            </a:prstGeom>
            <a:noFill/>
            <a:ln>
              <a:noFill/>
            </a:ln>
          </p:spPr>
          <p:txBody>
            <a:bodyPr wrap="none" lIns="0" tIns="0" rIns="0" bIns="0" anchor="t" anchorCtr="0">
              <a:spAutoFit/>
            </a:bodyPr>
            <a:lstStyle/>
            <a:p>
              <a:pPr algn="ctr"/>
              <a:r>
                <a:rPr lang="en-US" sz="1350" b="1" dirty="0">
                  <a:solidFill>
                    <a:srgbClr val="FBF7EE"/>
                  </a:solidFill>
                  <a:latin typeface="+mn-lt"/>
                  <a:ea typeface="+mn-ea"/>
                  <a:cs typeface="+mn-cs"/>
                </a:rPr>
                <a:t>CLASSICAL READOUT</a:t>
              </a:r>
            </a:p>
          </p:txBody>
        </p:sp>
        <p:sp>
          <p:nvSpPr>
            <p:cNvPr id="29" name="TextBox 29"/>
            <p:cNvSpPr txBox="1"/>
            <p:nvPr/>
          </p:nvSpPr>
          <p:spPr>
            <a:xfrm>
              <a:off x="9853328" y="2233136"/>
              <a:ext cx="1495993" cy="337376"/>
            </a:xfrm>
            <a:prstGeom prst="rect">
              <a:avLst/>
            </a:prstGeom>
            <a:noFill/>
            <a:ln>
              <a:noFill/>
            </a:ln>
          </p:spPr>
          <p:txBody>
            <a:bodyPr wrap="none" lIns="0" tIns="0" rIns="0" bIns="0" anchor="t" anchorCtr="0">
              <a:spAutoFit/>
            </a:bodyPr>
            <a:lstStyle/>
            <a:p>
              <a:pPr algn="ctr"/>
              <a:r>
                <a:rPr lang="en-US" sz="1720" b="1" dirty="0">
                  <a:solidFill>
                    <a:srgbClr val="FFFFFF"/>
                  </a:solidFill>
                  <a:latin typeface="+mn-lt"/>
                  <a:ea typeface="+mn-ea"/>
                  <a:cs typeface="+mn-cs"/>
                </a:rPr>
                <a:t>Linear model</a:t>
              </a:r>
            </a:p>
          </p:txBody>
        </p:sp>
        <p:sp>
          <p:nvSpPr>
            <p:cNvPr id="30" name="TextBox 30"/>
            <p:cNvSpPr txBox="1"/>
            <p:nvPr/>
          </p:nvSpPr>
          <p:spPr>
            <a:xfrm>
              <a:off x="10172529" y="2540318"/>
              <a:ext cx="857593" cy="264033"/>
            </a:xfrm>
            <a:prstGeom prst="rect">
              <a:avLst/>
            </a:prstGeom>
            <a:noFill/>
            <a:ln>
              <a:noFill/>
            </a:ln>
          </p:spPr>
          <p:txBody>
            <a:bodyPr wrap="none" lIns="0" tIns="0" rIns="0" bIns="0" anchor="t" anchorCtr="0">
              <a:spAutoFit/>
            </a:bodyPr>
            <a:lstStyle/>
            <a:p>
              <a:pPr algn="ctr"/>
              <a:r>
                <a:rPr lang="en-US" sz="1350" dirty="0">
                  <a:solidFill>
                    <a:srgbClr val="FBF7EE"/>
                  </a:solidFill>
                  <a:latin typeface="+mn-lt"/>
                  <a:ea typeface="+mn-ea"/>
                  <a:cs typeface="+mn-cs"/>
                </a:rPr>
                <a:t>macro-F1</a:t>
              </a:r>
            </a:p>
          </p:txBody>
        </p:sp>
      </p:grpSp>
      <mc:AlternateContent xmlns:mc="http://schemas.openxmlformats.org/markup-compatibility/2006">
        <mc:Choice xmlns:a14="http://schemas.microsoft.com/office/drawing/2010/main" Requires="a14">
          <p:sp>
            <p:nvSpPr>
              <p:cNvPr id="32" name="formula"/>
              <p:cNvSpPr txBox="1">
                <a:spLocks noGrp="1"/>
              </p:cNvSpPr>
              <p:nvPr/>
            </p:nvSpPr>
            <p:spPr>
              <a:xfrm>
                <a:off x="609600" y="3333750"/>
                <a:ext cx="10972800" cy="78105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a:rPr lang="en-US" sz="2250" dirty="0">
                          <a:solidFill>
                            <a:srgbClr val="1C2D38"/>
                          </a:solidFill>
                          <a:latin typeface="Cambria Math"/>
                          <a:ea typeface="Cambria Math"/>
                          <a:cs typeface="Cambria Math"/>
                        </a:rPr>
                        <m:t>U</m:t>
                      </m:r>
                      <m:d>
                        <m:dPr>
                          <m:begChr m:val="("/>
                          <m:sepChr m:val=""/>
                          <m:endChr m:val=")"/>
                          <m:grow m:val="on"/>
                          <m:ctrlPr>
                            <a:rPr lang="en-US" sz="2250" dirty="0">
                              <a:solidFill>
                                <a:srgbClr val="1C2D38"/>
                              </a:solidFill>
                              <a:latin typeface="Cambria Math"/>
                              <a:ea typeface="Cambria Math"/>
                              <a:cs typeface="Cambria Math"/>
                            </a:rPr>
                          </m:ctrlPr>
                        </m:dPr>
                        <m:e>
                          <m:r>
                            <a:rPr lang="en-US" sz="2250" dirty="0">
                              <a:solidFill>
                                <a:srgbClr val="1C2D38"/>
                              </a:solidFill>
                              <a:latin typeface="Cambria Math"/>
                              <a:ea typeface="Cambria Math"/>
                              <a:cs typeface="Cambria Math"/>
                            </a:rPr>
                            <m:t>x</m:t>
                          </m:r>
                        </m:e>
                      </m:d>
                      <m:r>
                        <m:rPr>
                          <m:sty m:val="p"/>
                        </m:rPr>
                        <a:rPr lang="en-US" sz="2250" dirty="0">
                          <a:solidFill>
                            <a:srgbClr val="1C2D38"/>
                          </a:solidFill>
                          <a:latin typeface="Cambria Math"/>
                          <a:ea typeface="Cambria Math"/>
                          <a:cs typeface="Cambria Math"/>
                        </a:rPr>
                        <m:t>=</m:t>
                      </m:r>
                      <m:r>
                        <a:rPr lang="en-US" sz="2250" dirty="0">
                          <a:solidFill>
                            <a:srgbClr val="1C2D38"/>
                          </a:solidFill>
                          <a:latin typeface="Cambria Math"/>
                          <a:ea typeface="Cambria Math"/>
                          <a:cs typeface="Cambria Math"/>
                        </a:rPr>
                        <m:t>UD</m:t>
                      </m:r>
                      <m:d>
                        <m:dPr>
                          <m:begChr m:val="("/>
                          <m:sepChr m:val=""/>
                          <m:endChr m:val=")"/>
                          <m:grow m:val="on"/>
                          <m:ctrlPr>
                            <a:rPr lang="en-US" sz="2250" dirty="0">
                              <a:solidFill>
                                <a:srgbClr val="1C2D38"/>
                              </a:solidFill>
                              <a:latin typeface="Cambria Math"/>
                              <a:ea typeface="Cambria Math"/>
                              <a:cs typeface="Cambria Math"/>
                            </a:rPr>
                          </m:ctrlPr>
                        </m:dPr>
                        <m:e>
                          <m:r>
                            <a:rPr lang="en-US" sz="2250" dirty="0">
                              <a:solidFill>
                                <a:srgbClr val="1C2D38"/>
                              </a:solidFill>
                              <a:latin typeface="Cambria Math"/>
                              <a:ea typeface="Cambria Math"/>
                              <a:cs typeface="Cambria Math"/>
                            </a:rPr>
                            <m:t>x</m:t>
                          </m:r>
                        </m:e>
                      </m:d>
                      <m:r>
                        <a:rPr lang="en-US" sz="2250" dirty="0">
                          <a:solidFill>
                            <a:srgbClr val="1C2D38"/>
                          </a:solidFill>
                          <a:latin typeface="Cambria Math"/>
                          <a:ea typeface="Cambria Math"/>
                          <a:cs typeface="Cambria Math"/>
                        </a:rPr>
                        <m:t>U</m:t>
                      </m:r>
                      <m:r>
                        <m:rPr>
                          <m:sty m:val="p"/>
                        </m:rPr>
                        <a:rPr lang="en-US" sz="2250" dirty="0">
                          <a:solidFill>
                            <a:srgbClr val="1C2D38"/>
                          </a:solidFill>
                          <a:latin typeface="Cambria Math"/>
                          <a:ea typeface="Cambria Math"/>
                          <a:cs typeface="Cambria Math"/>
                        </a:rPr>
                        <m:t>,</m:t>
                      </m:r>
                      <m:r>
                        <a:rPr lang="en-US" sz="2250" dirty="0">
                          <a:solidFill>
                            <a:srgbClr val="1C2D38"/>
                          </a:solidFill>
                          <a:latin typeface="Cambria Math"/>
                          <a:ea typeface="Cambria Math"/>
                          <a:cs typeface="Cambria Math"/>
                        </a:rPr>
                        <m:t xml:space="preserve"> </m:t>
                      </m:r>
                      <m:sSub>
                        <m:e>
                          <m:r>
                            <a:rPr lang="en-US" sz="2250" dirty="0">
                              <a:solidFill>
                                <a:srgbClr val="1C2D38"/>
                              </a:solidFill>
                              <a:latin typeface="Cambria Math"/>
                              <a:ea typeface="Cambria Math"/>
                              <a:cs typeface="Cambria Math"/>
                            </a:rPr>
                            <m:t>ϕ</m:t>
                          </m:r>
                        </m:e>
                        <m:sub>
                          <m:r>
                            <a:rPr lang="en-US" sz="2250" dirty="0">
                              <a:solidFill>
                                <a:srgbClr val="1C2D38"/>
                              </a:solidFill>
                              <a:latin typeface="Cambria Math"/>
                              <a:ea typeface="Cambria Math"/>
                              <a:cs typeface="Cambria Math"/>
                            </a:rPr>
                            <m:t>Q</m:t>
                          </m:r>
                        </m:sub>
                      </m:sSub>
                      <m:d>
                        <m:dPr>
                          <m:begChr m:val="("/>
                          <m:sepChr m:val=""/>
                          <m:endChr m:val=")"/>
                          <m:grow m:val="on"/>
                          <m:ctrlPr>
                            <a:rPr lang="en-US" sz="2250" dirty="0">
                              <a:solidFill>
                                <a:srgbClr val="1C2D38"/>
                              </a:solidFill>
                              <a:latin typeface="Cambria Math"/>
                              <a:ea typeface="Cambria Math"/>
                              <a:cs typeface="Cambria Math"/>
                            </a:rPr>
                          </m:ctrlPr>
                        </m:dPr>
                        <m:e>
                          <m:r>
                            <a:rPr lang="en-US" sz="2250" dirty="0">
                              <a:solidFill>
                                <a:srgbClr val="1C2D38"/>
                              </a:solidFill>
                              <a:latin typeface="Cambria Math"/>
                              <a:ea typeface="Cambria Math"/>
                              <a:cs typeface="Cambria Math"/>
                            </a:rPr>
                            <m:t>x</m:t>
                          </m:r>
                        </m:e>
                      </m:d>
                      <m:r>
                        <m:rPr>
                          <m:sty m:val="p"/>
                        </m:rPr>
                        <a:rPr lang="en-US" sz="2250" dirty="0">
                          <a:solidFill>
                            <a:srgbClr val="1C2D38"/>
                          </a:solidFill>
                          <a:latin typeface="Cambria Math"/>
                          <a:ea typeface="Cambria Math"/>
                          <a:cs typeface="Cambria Math"/>
                        </a:rPr>
                        <m:t>=</m:t>
                      </m:r>
                      <m:func>
                        <m:funcPr/>
                        <m:fName>
                          <m:r>
                            <m:rPr>
                              <m:sty m:val="p"/>
                            </m:rPr>
                            <a:rPr lang="en-US" sz="2250" dirty="0">
                              <a:solidFill>
                                <a:srgbClr val="1C2D38"/>
                              </a:solidFill>
                              <a:latin typeface="Cambria Math"/>
                              <a:ea typeface="Cambria Math"/>
                              <a:cs typeface="Cambria Math"/>
                            </a:rPr>
                            <m:t>Normalize</m:t>
                          </m:r>
                        </m:fName>
                        <m:e>
                          <m:d>
                            <m:dPr>
                              <m:begChr m:val="("/>
                              <m:sepChr m:val=""/>
                              <m:endChr m:val=")"/>
                              <m:grow m:val="on"/>
                              <m:ctrlPr>
                                <a:rPr lang="en-US" sz="2250" dirty="0">
                                  <a:solidFill>
                                    <a:srgbClr val="1C2D38"/>
                                  </a:solidFill>
                                  <a:latin typeface="Cambria Math"/>
                                  <a:ea typeface="Cambria Math"/>
                                  <a:cs typeface="Cambria Math"/>
                                </a:rPr>
                              </m:ctrlPr>
                            </m:dPr>
                            <m:e>
                              <m:sSub>
                                <m:e>
                                  <m:d>
                                    <m:dPr>
                                      <m:begChr m:val="{"/>
                                      <m:sepChr m:val=""/>
                                      <m:endChr m:val="}"/>
                                      <m:grow m:val="on"/>
                                      <m:ctrlPr>
                                        <a:rPr lang="en-US" sz="2250" dirty="0">
                                          <a:solidFill>
                                            <a:srgbClr val="1C2D38"/>
                                          </a:solidFill>
                                          <a:latin typeface="Cambria Math"/>
                                          <a:ea typeface="Cambria Math"/>
                                          <a:cs typeface="Cambria Math"/>
                                        </a:rPr>
                                      </m:ctrlPr>
                                    </m:dPr>
                                    <m:e>
                                      <m:r>
                                        <a:rPr lang="en-US" sz="2250" dirty="0">
                                          <a:solidFill>
                                            <a:srgbClr val="1C2D38"/>
                                          </a:solidFill>
                                          <a:latin typeface="Cambria Math"/>
                                          <a:ea typeface="Cambria Math"/>
                                          <a:cs typeface="Cambria Math"/>
                                        </a:rPr>
                                        <m:t>P</m:t>
                                      </m:r>
                                      <m:d>
                                        <m:dPr>
                                          <m:begChr m:val="("/>
                                          <m:sepChr m:val=""/>
                                          <m:endChr m:val=")"/>
                                          <m:grow m:val="on"/>
                                          <m:ctrlPr>
                                            <a:rPr lang="en-US" sz="2250" dirty="0">
                                              <a:solidFill>
                                                <a:srgbClr val="1C2D38"/>
                                              </a:solidFill>
                                              <a:latin typeface="Cambria Math"/>
                                              <a:ea typeface="Cambria Math"/>
                                              <a:cs typeface="Cambria Math"/>
                                            </a:rPr>
                                          </m:ctrlPr>
                                        </m:dPr>
                                        <m:e>
                                          <m:r>
                                            <m:rPr>
                                              <m:sty m:val="b"/>
                                            </m:rPr>
                                            <a:rPr lang="en-US" sz="2250" dirty="0">
                                              <a:solidFill>
                                                <a:srgbClr val="1C2D38"/>
                                              </a:solidFill>
                                              <a:latin typeface="Cambria Math"/>
                                              <a:ea typeface="Cambria Math"/>
                                              <a:cs typeface="Cambria Math"/>
                                            </a:rPr>
                                            <m:t>n</m:t>
                                          </m:r>
                                          <m:r>
                                            <m:rPr>
                                              <m:sty m:val="p"/>
                                            </m:rPr>
                                            <a:rPr lang="en-US" sz="2250" dirty="0">
                                              <a:solidFill>
                                                <a:srgbClr val="1C2D38"/>
                                              </a:solidFill>
                                              <a:latin typeface="Cambria Math"/>
                                              <a:ea typeface="Cambria Math"/>
                                              <a:cs typeface="Cambria Math"/>
                                            </a:rPr>
                                            <m:t>∣</m:t>
                                          </m:r>
                                          <m:r>
                                            <a:rPr lang="en-US" sz="2250" dirty="0">
                                              <a:solidFill>
                                                <a:srgbClr val="1C2D38"/>
                                              </a:solidFill>
                                              <a:latin typeface="Cambria Math"/>
                                              <a:ea typeface="Cambria Math"/>
                                              <a:cs typeface="Cambria Math"/>
                                            </a:rPr>
                                            <m:t>x</m:t>
                                          </m:r>
                                        </m:e>
                                      </m:d>
                                    </m:e>
                                  </m:d>
                                </m:e>
                                <m:sub>
                                  <m:r>
                                    <m:rPr>
                                      <m:sty m:val="b"/>
                                    </m:rPr>
                                    <a:rPr lang="en-US" sz="2250" dirty="0">
                                      <a:solidFill>
                                        <a:srgbClr val="1C2D38"/>
                                      </a:solidFill>
                                      <a:latin typeface="Cambria Math"/>
                                      <a:ea typeface="Cambria Math"/>
                                      <a:cs typeface="Cambria Math"/>
                                    </a:rPr>
                                    <m:t>n</m:t>
                                  </m:r>
                                  <m:r>
                                    <m:rPr>
                                      <m:sty m:val="p"/>
                                    </m:rPr>
                                    <a:rPr lang="en-US" sz="2250" dirty="0">
                                      <a:solidFill>
                                        <a:srgbClr val="1C2D38"/>
                                      </a:solidFill>
                                      <a:latin typeface="Cambria Math"/>
                                      <a:ea typeface="Cambria Math"/>
                                      <a:cs typeface="Cambria Math"/>
                                    </a:rPr>
                                    <m:t>∈</m:t>
                                  </m:r>
                                  <m:r>
                                    <m:rPr>
                                      <m:scr m:val="script"/>
                                      <m:sty m:val="p"/>
                                    </m:rPr>
                                    <a:rPr lang="en-US" sz="2250" dirty="0">
                                      <a:solidFill>
                                        <a:srgbClr val="1C2D38"/>
                                      </a:solidFill>
                                      <a:latin typeface="Cambria Math"/>
                                      <a:ea typeface="Cambria Math"/>
                                      <a:cs typeface="Cambria Math"/>
                                    </a:rPr>
                                    <m:t>C</m:t>
                                  </m:r>
                                </m:sub>
                              </m:sSub>
                            </m:e>
                          </m:d>
                        </m:e>
                      </m:func>
                    </m:oMath>
                  </m:oMathPara>
                </a14:m>
              </a:p>
            </p:txBody>
          </p:sp>
        </mc:Choice>
      </mc:AlternateContent>
      <p:grpSp>
        <p:nvGrpSpPr>
          <p:cNvPr id="47" name="Group 47"/>
          <p:cNvGrpSpPr/>
          <p:nvPr/>
        </p:nvGrpSpPr>
        <p:grpSpPr>
          <a:xfrm>
            <a:off x="609600" y="4438650"/>
            <a:ext cx="10972800" cy="1428750"/>
            <a:chOff x="609600" y="4438650"/>
            <a:chExt cx="10972800" cy="1428750"/>
          </a:xfrm>
        </p:grpSpPr>
        <p:sp>
          <p:nvSpPr>
            <p:cNvPr id="33" name="Rectangle 33"/>
            <p:cNvSpPr/>
            <p:nvPr/>
          </p:nvSpPr>
          <p:spPr>
            <a:xfrm>
              <a:off x="609600" y="4438650"/>
              <a:ext cx="3352800" cy="1428750"/>
            </a:xfrm>
            <a:prstGeom prst="rect">
              <a:avLst/>
            </a:prstGeom>
            <a:solidFill>
              <a:schemeClr val="accent3"/>
            </a:solidFill>
            <a:ln>
              <a:noFill/>
            </a:ln>
          </p:spPr>
        </p:sp>
        <p:sp>
          <p:nvSpPr>
            <p:cNvPr id="34" name="TextBox 34"/>
            <p:cNvSpPr txBox="1"/>
            <p:nvPr/>
          </p:nvSpPr>
          <p:spPr>
            <a:xfrm>
              <a:off x="831342" y="4607242"/>
              <a:ext cx="2402975" cy="264033"/>
            </a:xfrm>
            <a:prstGeom prst="rect">
              <a:avLst/>
            </a:prstGeom>
            <a:noFill/>
            <a:ln>
              <a:noFill/>
            </a:ln>
          </p:spPr>
          <p:txBody>
            <a:bodyPr wrap="none" lIns="0" tIns="0" rIns="0" bIns="0" anchor="t" anchorCtr="0">
              <a:spAutoFit/>
            </a:bodyPr>
            <a:lstStyle/>
            <a:p>
              <a:pPr algn="l"/>
              <a:r>
                <a:rPr lang="en-US" sz="1350" b="1" dirty="0">
                  <a:solidFill>
                    <a:srgbClr val="FBF7EE"/>
                  </a:solidFill>
                  <a:latin typeface="+mn-lt"/>
                  <a:ea typeface="+mn-ea"/>
                  <a:cs typeface="+mn-cs"/>
                </a:rPr>
                <a:t>1 · PERCEVAL · QUANDELA</a:t>
              </a:r>
            </a:p>
          </p:txBody>
        </p:sp>
        <p:sp>
          <p:nvSpPr>
            <p:cNvPr id="35" name="TextBox 35"/>
            <p:cNvSpPr txBox="1"/>
            <p:nvPr/>
          </p:nvSpPr>
          <p:spPr>
            <a:xfrm>
              <a:off x="826770" y="4891088"/>
              <a:ext cx="3287268"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mj-lt"/>
                  <a:ea typeface="+mj-ea"/>
                  <a:cs typeface="+mj-cs"/>
                </a:rPr>
                <a:t>Simulation complete</a:t>
              </a:r>
            </a:p>
          </p:txBody>
        </p:sp>
        <p:sp>
          <p:nvSpPr>
            <p:cNvPr id="36" name="TextBox 36"/>
            <p:cNvSpPr txBox="1"/>
            <p:nvPr/>
          </p:nvSpPr>
          <p:spPr>
            <a:xfrm>
              <a:off x="831342" y="5321618"/>
              <a:ext cx="2067344" cy="264033"/>
            </a:xfrm>
            <a:prstGeom prst="rect">
              <a:avLst/>
            </a:prstGeom>
            <a:noFill/>
            <a:ln>
              <a:noFill/>
            </a:ln>
          </p:spPr>
          <p:txBody>
            <a:bodyPr wrap="none" lIns="0" tIns="0" rIns="0" bIns="0" anchor="t" anchorCtr="0">
              <a:spAutoFit/>
            </a:bodyPr>
            <a:lstStyle/>
            <a:p>
              <a:pPr algn="l"/>
              <a:r>
                <a:rPr lang="en-US" sz="1350" dirty="0">
                  <a:solidFill>
                    <a:srgbClr val="FBF7EE"/>
                  </a:solidFill>
                  <a:latin typeface="Consolas"/>
                  <a:ea typeface="Consolas"/>
                  <a:cs typeface="Consolas"/>
                </a:rPr>
                <a:t>max error 4.16 × 10⁻¹⁷</a:t>
              </a:r>
            </a:p>
          </p:txBody>
        </p:sp>
        <p:sp>
          <p:nvSpPr>
            <p:cNvPr id="37" name="Rectangle 37"/>
            <p:cNvSpPr/>
            <p:nvPr/>
          </p:nvSpPr>
          <p:spPr>
            <a:xfrm>
              <a:off x="4191000" y="4438650"/>
              <a:ext cx="3352800" cy="1428750"/>
            </a:xfrm>
            <a:prstGeom prst="rect">
              <a:avLst/>
            </a:prstGeom>
            <a:solidFill>
              <a:srgbClr val="7BA39A"/>
            </a:solidFill>
            <a:ln>
              <a:noFill/>
            </a:ln>
          </p:spPr>
        </p:sp>
        <p:sp>
          <p:nvSpPr>
            <p:cNvPr id="38" name="TextBox 38"/>
            <p:cNvSpPr txBox="1"/>
            <p:nvPr/>
          </p:nvSpPr>
          <p:spPr>
            <a:xfrm>
              <a:off x="4413123" y="4577239"/>
              <a:ext cx="2555522" cy="249364"/>
            </a:xfrm>
            <a:prstGeom prst="rect">
              <a:avLst/>
            </a:prstGeom>
            <a:noFill/>
            <a:ln>
              <a:noFill/>
            </a:ln>
          </p:spPr>
          <p:txBody>
            <a:bodyPr wrap="none" lIns="0" tIns="0" rIns="0" bIns="0" anchor="t" anchorCtr="0">
              <a:spAutoFit/>
            </a:bodyPr>
            <a:lstStyle/>
            <a:p>
              <a:pPr algn="l"/>
              <a:r>
                <a:rPr lang="en-US" sz="1280" b="1" dirty="0">
                  <a:solidFill>
                    <a:schemeClr val="accent1"/>
                  </a:solidFill>
                  <a:latin typeface="+mn-lt"/>
                  <a:ea typeface="+mn-ea"/>
                  <a:cs typeface="+mn-cs"/>
                </a:rPr>
                <a:t>2 · SECOND IMPLEMENTATION</a:t>
              </a:r>
            </a:p>
          </p:txBody>
        </p:sp>
        <p:sp>
          <p:nvSpPr>
            <p:cNvPr id="39" name="TextBox 39"/>
            <p:cNvSpPr txBox="1"/>
            <p:nvPr/>
          </p:nvSpPr>
          <p:spPr>
            <a:xfrm>
              <a:off x="4409313" y="4839176"/>
              <a:ext cx="2994386" cy="396050"/>
            </a:xfrm>
            <a:prstGeom prst="rect">
              <a:avLst/>
            </a:prstGeom>
            <a:noFill/>
            <a:ln>
              <a:noFill/>
            </a:ln>
          </p:spPr>
          <p:txBody>
            <a:bodyPr wrap="none" lIns="0" tIns="0" rIns="0" bIns="0" anchor="t" anchorCtr="0">
              <a:spAutoFit/>
            </a:bodyPr>
            <a:lstStyle/>
            <a:p>
              <a:pPr algn="l"/>
              <a:r>
                <a:rPr lang="en-US" sz="2020" b="1" dirty="0">
                  <a:solidFill>
                    <a:schemeClr val="accent1"/>
                  </a:solidFill>
                  <a:latin typeface="+mj-lt"/>
                  <a:ea typeface="+mj-ea"/>
                  <a:cs typeface="+mj-cs"/>
                </a:rPr>
                <a:t>MerLin cross-check</a:t>
              </a:r>
            </a:p>
          </p:txBody>
        </p:sp>
        <p:sp>
          <p:nvSpPr>
            <p:cNvPr id="40" name="TextBox 40"/>
            <p:cNvSpPr txBox="1"/>
            <p:nvPr/>
          </p:nvSpPr>
          <p:spPr>
            <a:xfrm>
              <a:off x="4414266" y="5220652"/>
              <a:ext cx="1516136" cy="205359"/>
            </a:xfrm>
            <a:prstGeom prst="rect">
              <a:avLst/>
            </a:prstGeom>
            <a:noFill/>
            <a:ln>
              <a:noFill/>
            </a:ln>
          </p:spPr>
          <p:txBody>
            <a:bodyPr wrap="none" lIns="0" tIns="0" rIns="0" bIns="0" anchor="t" anchorCtr="0">
              <a:spAutoFit/>
            </a:bodyPr>
            <a:lstStyle/>
            <a:p>
              <a:pPr algn="l"/>
              <a:r>
                <a:rPr lang="en-US" sz="1050" b="1" dirty="0">
                  <a:solidFill>
                    <a:schemeClr val="accent1"/>
                  </a:solidFill>
                  <a:latin typeface="+mn-lt"/>
                  <a:ea typeface="+mn-ea"/>
                  <a:cs typeface="+mn-cs"/>
                </a:rPr>
                <a:t>SEPARATE CODE PATH</a:t>
              </a:r>
            </a:p>
          </p:txBody>
        </p:sp>
        <p:sp>
          <p:nvSpPr>
            <p:cNvPr id="41" name="TextBox 41"/>
            <p:cNvSpPr txBox="1"/>
            <p:nvPr/>
          </p:nvSpPr>
          <p:spPr>
            <a:xfrm>
              <a:off x="4414266" y="5401628"/>
              <a:ext cx="1986595" cy="205359"/>
            </a:xfrm>
            <a:prstGeom prst="rect">
              <a:avLst/>
            </a:prstGeom>
            <a:noFill/>
            <a:ln>
              <a:noFill/>
            </a:ln>
          </p:spPr>
          <p:txBody>
            <a:bodyPr wrap="none" lIns="0" tIns="0" rIns="0" bIns="0" anchor="t" anchorCtr="0">
              <a:spAutoFit/>
            </a:bodyPr>
            <a:lstStyle/>
            <a:p>
              <a:pPr algn="l"/>
              <a:r>
                <a:rPr lang="en-US" sz="1050" b="1" dirty="0">
                  <a:solidFill>
                    <a:schemeClr val="accent1"/>
                  </a:solidFill>
                  <a:latin typeface="+mn-lt"/>
                  <a:ea typeface="+mn-ea"/>
                  <a:cs typeface="+mn-cs"/>
                </a:rPr>
                <a:t>NOT EXTERNAL REPLICATION</a:t>
              </a:r>
            </a:p>
          </p:txBody>
        </p:sp>
        <p:sp>
          <p:nvSpPr>
            <p:cNvPr id="42" name="TextBox 42"/>
            <p:cNvSpPr txBox="1"/>
            <p:nvPr/>
          </p:nvSpPr>
          <p:spPr>
            <a:xfrm>
              <a:off x="4413885" y="5622131"/>
              <a:ext cx="1715181" cy="220028"/>
            </a:xfrm>
            <a:prstGeom prst="rect">
              <a:avLst/>
            </a:prstGeom>
            <a:noFill/>
            <a:ln>
              <a:noFill/>
            </a:ln>
          </p:spPr>
          <p:txBody>
            <a:bodyPr wrap="none" lIns="0" tIns="0" rIns="0" bIns="0" anchor="t" anchorCtr="0">
              <a:spAutoFit/>
            </a:bodyPr>
            <a:lstStyle/>
            <a:p>
              <a:pPr algn="l"/>
              <a:r>
                <a:rPr lang="en-US" sz="1120" dirty="0">
                  <a:solidFill>
                    <a:schemeClr val="accent1"/>
                  </a:solidFill>
                  <a:latin typeface="Consolas"/>
                  <a:ea typeface="Consolas"/>
                  <a:cs typeface="Consolas"/>
                </a:rPr>
                <a:t>max error 8.33 × 10⁻¹⁷</a:t>
              </a:r>
            </a:p>
          </p:txBody>
        </p:sp>
        <p:sp>
          <p:nvSpPr>
            <p:cNvPr id="43" name="Rectangle 43"/>
            <p:cNvSpPr/>
            <p:nvPr/>
          </p:nvSpPr>
          <p:spPr>
            <a:xfrm>
              <a:off x="7772400" y="4438650"/>
              <a:ext cx="3810000" cy="1428750"/>
            </a:xfrm>
            <a:prstGeom prst="rect">
              <a:avLst/>
            </a:prstGeom>
            <a:solidFill>
              <a:schemeClr val="lt2"/>
            </a:solidFill>
            <a:ln w="28575">
              <a:solidFill>
                <a:schemeClr val="accent2"/>
              </a:solidFill>
              <a:custDash>
                <a:ds d="333333" sp="233333"/>
              </a:custDash>
            </a:ln>
          </p:spPr>
        </p:sp>
        <p:sp>
          <p:nvSpPr>
            <p:cNvPr id="44" name="TextBox 44"/>
            <p:cNvSpPr txBox="1"/>
            <p:nvPr/>
          </p:nvSpPr>
          <p:spPr>
            <a:xfrm>
              <a:off x="7994142" y="4607242"/>
              <a:ext cx="2261837" cy="264033"/>
            </a:xfrm>
            <a:prstGeom prst="rect">
              <a:avLst/>
            </a:prstGeom>
            <a:noFill/>
            <a:ln>
              <a:noFill/>
            </a:ln>
          </p:spPr>
          <p:txBody>
            <a:bodyPr wrap="none" lIns="0" tIns="0" rIns="0" bIns="0" anchor="t" anchorCtr="0">
              <a:spAutoFit/>
            </a:bodyPr>
            <a:lstStyle/>
            <a:p>
              <a:pPr algn="l"/>
              <a:r>
                <a:rPr lang="en-US" sz="1350" b="1" dirty="0">
                  <a:solidFill>
                    <a:schemeClr val="accent5"/>
                  </a:solidFill>
                  <a:latin typeface="+mn-lt"/>
                  <a:ea typeface="+mn-ea"/>
                  <a:cs typeface="+mn-cs"/>
                </a:rPr>
                <a:t>3 · REMOTE QPU SUBSET</a:t>
              </a:r>
            </a:p>
          </p:txBody>
        </p:sp>
        <p:sp>
          <p:nvSpPr>
            <p:cNvPr id="45" name="TextBox 45"/>
            <p:cNvSpPr txBox="1"/>
            <p:nvPr/>
          </p:nvSpPr>
          <p:spPr>
            <a:xfrm>
              <a:off x="7989570" y="4891088"/>
              <a:ext cx="3223960" cy="440055"/>
            </a:xfrm>
            <a:prstGeom prst="rect">
              <a:avLst/>
            </a:prstGeom>
            <a:noFill/>
            <a:ln>
              <a:noFill/>
            </a:ln>
          </p:spPr>
          <p:txBody>
            <a:bodyPr wrap="none" lIns="0" tIns="0" rIns="0" bIns="0" anchor="t" anchorCtr="0">
              <a:spAutoFit/>
            </a:bodyPr>
            <a:lstStyle/>
            <a:p>
              <a:pPr algn="l"/>
              <a:r>
                <a:rPr lang="en-US" sz="2250" b="1" dirty="0">
                  <a:solidFill>
                    <a:schemeClr val="accent1"/>
                  </a:solidFill>
                  <a:latin typeface="+mj-lt"/>
                  <a:ea typeface="+mj-ea"/>
                  <a:cs typeface="+mj-cs"/>
                </a:rPr>
                <a:t>Proposed next gate</a:t>
              </a:r>
            </a:p>
          </p:txBody>
        </p:sp>
        <p:sp>
          <p:nvSpPr>
            <p:cNvPr id="46" name="TextBox 46"/>
            <p:cNvSpPr txBox="1"/>
            <p:nvPr/>
          </p:nvSpPr>
          <p:spPr>
            <a:xfrm>
              <a:off x="7994142" y="5321618"/>
              <a:ext cx="1727530" cy="264033"/>
            </a:xfrm>
            <a:prstGeom prst="rect">
              <a:avLst/>
            </a:prstGeom>
            <a:noFill/>
            <a:ln>
              <a:noFill/>
            </a:ln>
          </p:spPr>
          <p:txBody>
            <a:bodyPr wrap="none" lIns="0" tIns="0" rIns="0" bIns="0" anchor="t" anchorCtr="0">
              <a:spAutoFit/>
            </a:bodyPr>
            <a:lstStyle/>
            <a:p>
              <a:pPr algn="l"/>
              <a:r>
                <a:rPr lang="en-US" sz="1350" b="1" dirty="0">
                  <a:solidFill>
                    <a:schemeClr val="accent5"/>
                  </a:solidFill>
                  <a:latin typeface="+mn-lt"/>
                  <a:ea typeface="+mn-ea"/>
                  <a:cs typeface="+mn-cs"/>
                </a:rPr>
                <a:t>NOT YET EXECUTED</a:t>
              </a:r>
            </a:p>
          </p:txBody>
        </p:sp>
      </p:grpSp>
      <p:grpSp>
        <p:nvGrpSpPr>
          <p:cNvPr id="49" name="Group 49"/>
          <p:cNvGrpSpPr/>
          <p:nvPr/>
        </p:nvGrpSpPr>
        <p:grpSpPr>
          <a:xfrm>
            <a:off x="603885" y="6069806"/>
            <a:ext cx="7193934" cy="220028"/>
            <a:chOff x="603885" y="6069806"/>
            <a:chExt cx="7193934" cy="220028"/>
          </a:xfrm>
        </p:grpSpPr>
        <p:sp>
          <p:nvSpPr>
            <p:cNvPr id="48" name="TextBox 48"/>
            <p:cNvSpPr txBox="1"/>
            <p:nvPr/>
          </p:nvSpPr>
          <p:spPr>
            <a:xfrm>
              <a:off x="603885" y="6069806"/>
              <a:ext cx="7193934" cy="220028"/>
            </a:xfrm>
            <a:prstGeom prst="rect">
              <a:avLst/>
            </a:prstGeom>
            <a:noFill/>
            <a:ln>
              <a:noFill/>
            </a:ln>
          </p:spPr>
          <p:txBody>
            <a:bodyPr wrap="none" lIns="0" tIns="0" rIns="0" bIns="0" anchor="t" anchorCtr="0">
              <a:spAutoFit/>
            </a:bodyPr>
            <a:lstStyle/>
            <a:p>
              <a:pPr algn="l"/>
              <a:r>
                <a:rPr lang="en-US" sz="1120" dirty="0">
                  <a:solidFill>
                    <a:srgbClr val="766E62"/>
                  </a:solidFill>
                  <a:latin typeface="+mn-lt"/>
                  <a:ea typeface="+mn-ea"/>
                  <a:cs typeface="+mn-cs"/>
                </a:rPr>
                <a:t>Official docs: perceval.quandela.net/docs/v1.2 · merlinquantum.ai/0.4 · local verification.json</a:t>
              </a:r>
            </a:p>
          </p:txBody>
        </p:sp>
      </p:grpSp>
      <p:grpSp>
        <p:nvGrpSpPr>
          <p:cNvPr id="51" name="Group 51"/>
          <p:cNvGrpSpPr/>
          <p:nvPr/>
        </p:nvGrpSpPr>
        <p:grpSpPr>
          <a:xfrm>
            <a:off x="10966723" y="6426518"/>
            <a:ext cx="622535" cy="264033"/>
            <a:chOff x="10966723" y="6426518"/>
            <a:chExt cx="622535" cy="264033"/>
          </a:xfrm>
        </p:grpSpPr>
        <p:sp>
          <p:nvSpPr>
            <p:cNvPr id="50" name="TextBox 50"/>
            <p:cNvSpPr txBox="1"/>
            <p:nvPr/>
          </p:nvSpPr>
          <p:spPr>
            <a:xfrm>
              <a:off x="10966723" y="6426518"/>
              <a:ext cx="622535" cy="264033"/>
            </a:xfrm>
            <a:prstGeom prst="rect">
              <a:avLst/>
            </a:prstGeom>
            <a:noFill/>
            <a:ln>
              <a:noFill/>
            </a:ln>
          </p:spPr>
          <p:txBody>
            <a:bodyPr wrap="none" lIns="0" tIns="0" rIns="0" bIns="0" anchor="t" anchorCtr="0">
              <a:spAutoFit/>
            </a:bodyPr>
            <a:lstStyle/>
            <a:p>
              <a:pPr algn="r"/>
              <a:r>
                <a:rPr lang="en-US" sz="1350" dirty="0">
                  <a:solidFill>
                    <a:srgbClr val="766E62"/>
                  </a:solidFill>
                  <a:latin typeface="+mn-lt"/>
                  <a:ea typeface="+mn-ea"/>
                  <a:cs typeface="+mn-cs"/>
                </a:rPr>
                <a:t>03 / 10</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76200"/>
          </a:xfrm>
          <a:prstGeom prst="rect">
            <a:avLst/>
          </a:prstGeom>
          <a:solidFill>
            <a:schemeClr val="accent3"/>
          </a:solidFill>
          <a:ln>
            <a:noFill/>
          </a:ln>
        </p:spPr>
      </p:sp>
      <p:grpSp>
        <p:nvGrpSpPr>
          <p:cNvPr id="5" name="Group 5"/>
          <p:cNvGrpSpPr/>
          <p:nvPr/>
        </p:nvGrpSpPr>
        <p:grpSpPr>
          <a:xfrm>
            <a:off x="594360" y="482918"/>
            <a:ext cx="10877861" cy="913447"/>
            <a:chOff x="594360" y="482918"/>
            <a:chExt cx="10877861" cy="913447"/>
          </a:xfrm>
        </p:grpSpPr>
        <p:sp>
          <p:nvSpPr>
            <p:cNvPr id="3" name="TextBox 3"/>
            <p:cNvSpPr txBox="1"/>
            <p:nvPr/>
          </p:nvSpPr>
          <p:spPr>
            <a:xfrm>
              <a:off x="602742" y="482918"/>
              <a:ext cx="4850107" cy="264033"/>
            </a:xfrm>
            <a:prstGeom prst="rect">
              <a:avLst/>
            </a:prstGeom>
            <a:noFill/>
            <a:ln>
              <a:noFill/>
            </a:ln>
          </p:spPr>
          <p:txBody>
            <a:bodyPr wrap="none" lIns="0" tIns="0" rIns="0" bIns="0" anchor="t" anchorCtr="0">
              <a:spAutoFit/>
            </a:bodyPr>
            <a:lstStyle/>
            <a:p>
              <a:pPr algn="l"/>
              <a:r>
                <a:rPr lang="en-US" sz="1350" b="1" spc="105" dirty="0">
                  <a:solidFill>
                    <a:schemeClr val="accent6"/>
                  </a:solidFill>
                  <a:latin typeface="+mn-lt"/>
                  <a:ea typeface="+mn-ea"/>
                  <a:cs typeface="+mn-cs"/>
                </a:rPr>
                <a:t>FEASIBILITY QUESTION · PREDEFINED DECISION</a:t>
              </a:r>
            </a:p>
          </p:txBody>
        </p:sp>
        <p:sp>
          <p:nvSpPr>
            <p:cNvPr id="4" name="TextBox 4"/>
            <p:cNvSpPr txBox="1"/>
            <p:nvPr/>
          </p:nvSpPr>
          <p:spPr>
            <a:xfrm>
              <a:off x="594360" y="809625"/>
              <a:ext cx="10877861"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The feasibility question is deliberately falsifiable</a:t>
              </a:r>
            </a:p>
          </p:txBody>
        </p:sp>
      </p:grpSp>
      <p:grpSp>
        <p:nvGrpSpPr>
          <p:cNvPr id="9" name="Group 9"/>
          <p:cNvGrpSpPr/>
          <p:nvPr/>
        </p:nvGrpSpPr>
        <p:grpSpPr>
          <a:xfrm>
            <a:off x="609600" y="1466850"/>
            <a:ext cx="10972800" cy="1101376"/>
            <a:chOff x="609600" y="1466850"/>
            <a:chExt cx="10972800" cy="1101376"/>
          </a:xfrm>
        </p:grpSpPr>
        <p:sp>
          <p:nvSpPr>
            <p:cNvPr id="6" name="Rectangle 6"/>
            <p:cNvSpPr/>
            <p:nvPr/>
          </p:nvSpPr>
          <p:spPr>
            <a:xfrm>
              <a:off x="609600" y="1466850"/>
              <a:ext cx="10972800" cy="1028700"/>
            </a:xfrm>
            <a:prstGeom prst="rect">
              <a:avLst/>
            </a:prstGeom>
            <a:solidFill>
              <a:schemeClr val="accent1"/>
            </a:solidFill>
            <a:ln>
              <a:noFill/>
            </a:ln>
          </p:spPr>
        </p:sp>
        <p:sp>
          <p:nvSpPr>
            <p:cNvPr id="7" name="TextBox 7"/>
            <p:cNvSpPr txBox="1"/>
            <p:nvPr/>
          </p:nvSpPr>
          <p:spPr>
            <a:xfrm>
              <a:off x="831723" y="1624489"/>
              <a:ext cx="2230532" cy="249364"/>
            </a:xfrm>
            <a:prstGeom prst="rect">
              <a:avLst/>
            </a:prstGeom>
            <a:noFill/>
            <a:ln>
              <a:noFill/>
            </a:ln>
          </p:spPr>
          <p:txBody>
            <a:bodyPr wrap="none" lIns="0" tIns="0" rIns="0" bIns="0" anchor="t" anchorCtr="0">
              <a:spAutoFit/>
            </a:bodyPr>
            <a:lstStyle/>
            <a:p>
              <a:pPr algn="l"/>
              <a:r>
                <a:rPr lang="en-US" sz="1280" b="1" dirty="0">
                  <a:solidFill>
                    <a:srgbClr val="B9D0C7"/>
                  </a:solidFill>
                  <a:latin typeface="+mn-lt"/>
                  <a:ea typeface="+mn-ea"/>
                  <a:cs typeface="+mn-cs"/>
                </a:rPr>
                <a:t>AT THE SAME PCA-5 INPUT</a:t>
              </a:r>
            </a:p>
          </p:txBody>
        </p:sp>
        <p:sp>
          <p:nvSpPr>
            <p:cNvPr id="8" name="TextBox 8"/>
            <p:cNvSpPr txBox="1"/>
            <p:nvPr/>
          </p:nvSpPr>
          <p:spPr>
            <a:xfrm>
              <a:off x="827913" y="1867376"/>
              <a:ext cx="8047711" cy="700850"/>
            </a:xfrm>
            <a:prstGeom prst="rect">
              <a:avLst/>
            </a:prstGeom>
            <a:noFill/>
            <a:ln>
              <a:noFill/>
            </a:ln>
          </p:spPr>
          <p:txBody>
            <a:bodyPr wrap="none" lIns="0" tIns="0" rIns="0" bIns="0" anchor="t" anchorCtr="0">
              <a:spAutoFit/>
            </a:bodyPr>
            <a:lstStyle/>
            <a:p>
              <a:pPr algn="l">
                <a:lnSpc>
                  <a:spcPts val="2400"/>
                </a:lnSpc>
              </a:pPr>
              <a:r>
                <a:rPr lang="en-US" sz="2020" b="1" dirty="0">
                  <a:solidFill>
                    <a:srgbClr val="FFFFFF"/>
                  </a:solidFill>
                  <a:latin typeface="+mj-lt"/>
                  <a:ea typeface="+mj-ea"/>
                  <a:cs typeface="+mj-cs"/>
                </a:rPr>
                <a:t>Can Q1’s 15-D photonic features beat matched 15-D controls</a:t>
              </a:r>
              <a:br/>
              <a:r>
                <a:rPr lang="en-US" sz="2020" b="1" dirty="0">
                  <a:solidFill>
                    <a:srgbClr val="FFFFFF"/>
                  </a:solidFill>
                  <a:latin typeface="+mj-lt"/>
                  <a:ea typeface="+mj-ea"/>
                  <a:cs typeface="+mj-cs"/>
                </a:rPr>
                <a:t>and approach PCA-5 RBF-SVM?</a:t>
              </a:r>
            </a:p>
          </p:txBody>
        </p:sp>
      </p:grpSp>
      <p:grpSp>
        <p:nvGrpSpPr>
          <p:cNvPr id="17" name="Group 17"/>
          <p:cNvGrpSpPr/>
          <p:nvPr/>
        </p:nvGrpSpPr>
        <p:grpSpPr>
          <a:xfrm>
            <a:off x="609600" y="2647950"/>
            <a:ext cx="3052886" cy="2971800"/>
            <a:chOff x="609600" y="2647950"/>
            <a:chExt cx="3052886" cy="2971800"/>
          </a:xfrm>
        </p:grpSpPr>
        <p:sp>
          <p:nvSpPr>
            <p:cNvPr id="10" name="Rectangle 10"/>
            <p:cNvSpPr/>
            <p:nvPr/>
          </p:nvSpPr>
          <p:spPr>
            <a:xfrm>
              <a:off x="609600" y="2647950"/>
              <a:ext cx="3048000" cy="2971800"/>
            </a:xfrm>
            <a:prstGeom prst="rect">
              <a:avLst/>
            </a:prstGeom>
            <a:solidFill>
              <a:schemeClr val="lt2"/>
            </a:solidFill>
            <a:ln>
              <a:noFill/>
            </a:ln>
          </p:spPr>
        </p:sp>
        <p:sp>
          <p:nvSpPr>
            <p:cNvPr id="11" name="TextBox 11"/>
            <p:cNvSpPr txBox="1"/>
            <p:nvPr/>
          </p:nvSpPr>
          <p:spPr>
            <a:xfrm>
              <a:off x="831342" y="2845118"/>
              <a:ext cx="1697286" cy="264033"/>
            </a:xfrm>
            <a:prstGeom prst="rect">
              <a:avLst/>
            </a:prstGeom>
            <a:noFill/>
            <a:ln>
              <a:noFill/>
            </a:ln>
          </p:spPr>
          <p:txBody>
            <a:bodyPr wrap="none" lIns="0" tIns="0" rIns="0" bIns="0" anchor="t" anchorCtr="0">
              <a:spAutoFit/>
            </a:bodyPr>
            <a:lstStyle/>
            <a:p>
              <a:pPr algn="l"/>
              <a:r>
                <a:rPr lang="en-US" sz="1350" b="1" dirty="0">
                  <a:solidFill>
                    <a:schemeClr val="accent5"/>
                  </a:solidFill>
                  <a:latin typeface="+mn-lt"/>
                  <a:ea typeface="+mn-ea"/>
                  <a:cs typeface="+mn-cs"/>
                </a:rPr>
                <a:t>PAIRED PROTOCOL</a:t>
              </a:r>
            </a:p>
          </p:txBody>
        </p:sp>
        <p:sp>
          <p:nvSpPr>
            <p:cNvPr id="12" name="TextBox 12"/>
            <p:cNvSpPr txBox="1"/>
            <p:nvPr/>
          </p:nvSpPr>
          <p:spPr>
            <a:xfrm>
              <a:off x="826770" y="3148012"/>
              <a:ext cx="1803883" cy="440055"/>
            </a:xfrm>
            <a:prstGeom prst="rect">
              <a:avLst/>
            </a:prstGeom>
            <a:noFill/>
            <a:ln>
              <a:noFill/>
            </a:ln>
          </p:spPr>
          <p:txBody>
            <a:bodyPr wrap="none" lIns="0" tIns="0" rIns="0" bIns="0" anchor="t" anchorCtr="0">
              <a:spAutoFit/>
            </a:bodyPr>
            <a:lstStyle/>
            <a:p>
              <a:pPr algn="l"/>
              <a:r>
                <a:rPr lang="en-US" sz="2250" b="1" dirty="0">
                  <a:solidFill>
                    <a:schemeClr val="accent1"/>
                  </a:solidFill>
                  <a:latin typeface="Consolas"/>
                  <a:ea typeface="Consolas"/>
                  <a:cs typeface="Consolas"/>
                </a:rPr>
                <a:t>12 · 24 · 48</a:t>
              </a:r>
            </a:p>
          </p:txBody>
        </p:sp>
        <p:sp>
          <p:nvSpPr>
            <p:cNvPr id="13" name="TextBox 13"/>
            <p:cNvSpPr txBox="1"/>
            <p:nvPr/>
          </p:nvSpPr>
          <p:spPr>
            <a:xfrm>
              <a:off x="831342" y="3521392"/>
              <a:ext cx="1385830"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labels per class</a:t>
              </a:r>
            </a:p>
          </p:txBody>
        </p:sp>
        <p:sp>
          <p:nvSpPr>
            <p:cNvPr id="14" name="Line 14"/>
            <p:cNvSpPr/>
            <p:nvPr/>
          </p:nvSpPr>
          <p:spPr>
            <a:xfrm>
              <a:off x="838200" y="3886200"/>
              <a:ext cx="2590800" cy="9525"/>
            </a:xfrm>
            <a:custGeom>
              <a:avLst/>
              <a:gdLst/>
              <a:ahLst/>
              <a:cxnLst/>
              <a:rect l="l" t="t" r="r" b="b"/>
              <a:pathLst>
                <a:path w="2590800" h="9525">
                  <a:moveTo>
                    <a:pt x="0" y="0"/>
                  </a:moveTo>
                  <a:lnTo>
                    <a:pt x="2590800" y="0"/>
                  </a:lnTo>
                </a:path>
              </a:pathLst>
            </a:custGeom>
            <a:noFill/>
            <a:ln w="19050">
              <a:solidFill>
                <a:srgbClr val="C9BDA8"/>
              </a:solidFill>
            </a:ln>
          </p:spPr>
        </p:sp>
        <p:sp>
          <p:nvSpPr>
            <p:cNvPr id="15" name="TextBox 15"/>
            <p:cNvSpPr txBox="1"/>
            <p:nvPr/>
          </p:nvSpPr>
          <p:spPr>
            <a:xfrm>
              <a:off x="831723" y="4034314"/>
              <a:ext cx="2036826" cy="1316164"/>
            </a:xfrm>
            <a:prstGeom prst="rect">
              <a:avLst/>
            </a:prstGeom>
            <a:noFill/>
            <a:ln>
              <a:noFill/>
            </a:ln>
          </p:spPr>
          <p:txBody>
            <a:bodyPr wrap="none" lIns="0" tIns="0" rIns="0" bIns="0" anchor="t" anchorCtr="0">
              <a:spAutoFit/>
            </a:bodyPr>
            <a:lstStyle/>
            <a:p>
              <a:pPr algn="l">
                <a:lnSpc>
                  <a:spcPts val="2100"/>
                </a:lnSpc>
              </a:pPr>
              <a:r>
                <a:rPr lang="en-US" sz="1280" dirty="0">
                  <a:solidFill>
                    <a:schemeClr val="dk1"/>
                  </a:solidFill>
                  <a:latin typeface="+mn-lt"/>
                  <a:ea typeface="+mn-ea"/>
                  <a:cs typeface="+mn-cs"/>
                </a:rPr>
                <a:t>Subset seeds 11 · 22 · 33</a:t>
              </a:r>
              <a:br/>
              <a:r>
                <a:rPr lang="en-US" sz="1280" dirty="0">
                  <a:solidFill>
                    <a:schemeClr val="dk1"/>
                  </a:solidFill>
                  <a:latin typeface="+mn-lt"/>
                  <a:ea typeface="+mn-ea"/>
                  <a:cs typeface="+mn-cs"/>
                </a:rPr>
                <a:t>Map seeds 101 · 202 · 303</a:t>
              </a:r>
              <a:br/>
              <a:r>
                <a:rPr lang="en-US" sz="1280" dirty="0">
                  <a:solidFill>
                    <a:schemeClr val="dk1"/>
                  </a:solidFill>
                  <a:latin typeface="+mn-lt"/>
                  <a:ea typeface="+mn-ea"/>
                  <a:cs typeface="+mn-cs"/>
                </a:rPr>
                <a:t>Validation macro-F1 only</a:t>
              </a:r>
              <a:br/>
              <a:r>
                <a:rPr lang="en-US" sz="1280" dirty="0">
                  <a:solidFill>
                    <a:schemeClr val="dk1"/>
                  </a:solidFill>
                  <a:latin typeface="+mn-lt"/>
                  <a:ea typeface="+mn-ea"/>
                  <a:cs typeface="+mn-cs"/>
                </a:rPr>
                <a:t>One test evaluation per</a:t>
              </a:r>
              <a:br/>
              <a:r>
                <a:rPr lang="en-US" sz="1280" dirty="0">
                  <a:solidFill>
                    <a:schemeClr val="dk1"/>
                  </a:solidFill>
                  <a:latin typeface="+mn-lt"/>
                  <a:ea typeface="+mn-ea"/>
                  <a:cs typeface="+mn-cs"/>
                </a:rPr>
                <a:t>selected fitted pipeline</a:t>
              </a:r>
            </a:p>
          </p:txBody>
        </p:sp>
        <p:sp>
          <p:nvSpPr>
            <p:cNvPr id="16" name="TextBox 16"/>
            <p:cNvSpPr txBox="1"/>
            <p:nvPr/>
          </p:nvSpPr>
          <p:spPr>
            <a:xfrm>
              <a:off x="832485" y="5384006"/>
              <a:ext cx="2830001" cy="220028"/>
            </a:xfrm>
            <a:prstGeom prst="rect">
              <a:avLst/>
            </a:prstGeom>
            <a:noFill/>
            <a:ln>
              <a:noFill/>
            </a:ln>
          </p:spPr>
          <p:txBody>
            <a:bodyPr wrap="none" lIns="0" tIns="0" rIns="0" bIns="0" anchor="t" anchorCtr="0">
              <a:spAutoFit/>
            </a:bodyPr>
            <a:lstStyle/>
            <a:p>
              <a:pPr algn="l"/>
              <a:r>
                <a:rPr lang="en-US" sz="1120" b="1" dirty="0">
                  <a:solidFill>
                    <a:schemeClr val="accent6"/>
                  </a:solidFill>
                  <a:latin typeface="+mn-lt"/>
                  <a:ea typeface="+mn-ea"/>
                  <a:cs typeface="+mn-cs"/>
                </a:rPr>
                <a:t>MAP SEEDS AVERAGED · NEVER PICKED</a:t>
              </a:r>
            </a:p>
          </p:txBody>
        </p:sp>
      </p:grpSp>
      <p:grpSp>
        <p:nvGrpSpPr>
          <p:cNvPr id="33" name="Group 33"/>
          <p:cNvGrpSpPr/>
          <p:nvPr/>
        </p:nvGrpSpPr>
        <p:grpSpPr>
          <a:xfrm>
            <a:off x="3880485" y="2802731"/>
            <a:ext cx="3358515" cy="2817019"/>
            <a:chOff x="3880485" y="2802731"/>
            <a:chExt cx="3358515" cy="2817019"/>
          </a:xfrm>
        </p:grpSpPr>
        <p:sp>
          <p:nvSpPr>
            <p:cNvPr id="18" name="TextBox 18"/>
            <p:cNvSpPr txBox="1"/>
            <p:nvPr/>
          </p:nvSpPr>
          <p:spPr>
            <a:xfrm>
              <a:off x="3880485" y="2802731"/>
              <a:ext cx="2938729" cy="220028"/>
            </a:xfrm>
            <a:prstGeom prst="rect">
              <a:avLst/>
            </a:prstGeom>
            <a:noFill/>
            <a:ln>
              <a:noFill/>
            </a:ln>
          </p:spPr>
          <p:txBody>
            <a:bodyPr wrap="none" lIns="0" tIns="0" rIns="0" bIns="0" anchor="t" anchorCtr="0">
              <a:spAutoFit/>
            </a:bodyPr>
            <a:lstStyle/>
            <a:p>
              <a:pPr algn="l"/>
              <a:r>
                <a:rPr lang="en-US" sz="1120" b="1" dirty="0">
                  <a:solidFill>
                    <a:schemeClr val="accent6"/>
                  </a:solidFill>
                  <a:latin typeface="+mn-lt"/>
                  <a:ea typeface="+mn-ea"/>
                  <a:cs typeface="+mn-cs"/>
                </a:rPr>
                <a:t>7 FAMILIES · EQUAL-WIDTH SCHEMATIC</a:t>
              </a:r>
            </a:p>
          </p:txBody>
        </p:sp>
        <p:sp>
          <p:nvSpPr>
            <p:cNvPr id="19" name="Rectangle 19"/>
            <p:cNvSpPr/>
            <p:nvPr/>
          </p:nvSpPr>
          <p:spPr>
            <a:xfrm>
              <a:off x="3886200" y="3086100"/>
              <a:ext cx="3352800" cy="323850"/>
            </a:xfrm>
            <a:prstGeom prst="rect">
              <a:avLst/>
            </a:prstGeom>
            <a:solidFill>
              <a:schemeClr val="accent1"/>
            </a:solidFill>
            <a:ln>
              <a:noFill/>
            </a:ln>
          </p:spPr>
        </p:sp>
        <p:sp>
          <p:nvSpPr>
            <p:cNvPr id="20" name="TextBox 20"/>
            <p:cNvSpPr txBox="1"/>
            <p:nvPr/>
          </p:nvSpPr>
          <p:spPr>
            <a:xfrm>
              <a:off x="4032123" y="3177064"/>
              <a:ext cx="1733694" cy="249364"/>
            </a:xfrm>
            <a:prstGeom prst="rect">
              <a:avLst/>
            </a:prstGeom>
            <a:noFill/>
            <a:ln>
              <a:noFill/>
            </a:ln>
          </p:spPr>
          <p:txBody>
            <a:bodyPr wrap="none" lIns="0" tIns="0" rIns="0" bIns="0" anchor="t" anchorCtr="0">
              <a:spAutoFit/>
            </a:bodyPr>
            <a:lstStyle/>
            <a:p>
              <a:pPr algn="l"/>
              <a:r>
                <a:rPr lang="en-US" sz="1280" b="1" dirty="0">
                  <a:solidFill>
                    <a:srgbClr val="FFFFFF"/>
                  </a:solidFill>
                  <a:latin typeface="+mn-lt"/>
                  <a:ea typeface="+mn-ea"/>
                  <a:cs typeface="+mn-cs"/>
                </a:rPr>
                <a:t>B1 Full CLIP + linear</a:t>
              </a:r>
            </a:p>
          </p:txBody>
        </p:sp>
        <p:sp>
          <p:nvSpPr>
            <p:cNvPr id="21" name="Rectangle 21"/>
            <p:cNvSpPr/>
            <p:nvPr/>
          </p:nvSpPr>
          <p:spPr>
            <a:xfrm>
              <a:off x="3886200" y="3448050"/>
              <a:ext cx="3352800" cy="323850"/>
            </a:xfrm>
            <a:prstGeom prst="rect">
              <a:avLst/>
            </a:prstGeom>
            <a:solidFill>
              <a:srgbClr val="314552"/>
            </a:solidFill>
            <a:ln>
              <a:noFill/>
            </a:ln>
          </p:spPr>
        </p:sp>
        <p:sp>
          <p:nvSpPr>
            <p:cNvPr id="22" name="TextBox 22"/>
            <p:cNvSpPr txBox="1"/>
            <p:nvPr/>
          </p:nvSpPr>
          <p:spPr>
            <a:xfrm>
              <a:off x="4032123" y="3539014"/>
              <a:ext cx="1913183" cy="249364"/>
            </a:xfrm>
            <a:prstGeom prst="rect">
              <a:avLst/>
            </a:prstGeom>
            <a:noFill/>
            <a:ln>
              <a:noFill/>
            </a:ln>
          </p:spPr>
          <p:txBody>
            <a:bodyPr wrap="none" lIns="0" tIns="0" rIns="0" bIns="0" anchor="t" anchorCtr="0">
              <a:spAutoFit/>
            </a:bodyPr>
            <a:lstStyle/>
            <a:p>
              <a:pPr algn="l"/>
              <a:r>
                <a:rPr lang="en-US" sz="1280" dirty="0">
                  <a:solidFill>
                    <a:srgbClr val="FFFFFF"/>
                  </a:solidFill>
                  <a:latin typeface="+mn-lt"/>
                  <a:ea typeface="+mn-ea"/>
                  <a:cs typeface="+mn-cs"/>
                </a:rPr>
                <a:t>B2 Full CLIP + RBF-SVM</a:t>
              </a:r>
            </a:p>
          </p:txBody>
        </p:sp>
        <p:sp>
          <p:nvSpPr>
            <p:cNvPr id="23" name="Rectangle 23"/>
            <p:cNvSpPr/>
            <p:nvPr/>
          </p:nvSpPr>
          <p:spPr>
            <a:xfrm>
              <a:off x="3886200" y="3810000"/>
              <a:ext cx="3352800" cy="323850"/>
            </a:xfrm>
            <a:prstGeom prst="rect">
              <a:avLst/>
            </a:prstGeom>
            <a:solidFill>
              <a:schemeClr val="lt2"/>
            </a:solidFill>
            <a:ln w="9525">
              <a:solidFill>
                <a:srgbClr val="C9BDA8"/>
              </a:solidFill>
            </a:ln>
          </p:spPr>
        </p:sp>
        <p:sp>
          <p:nvSpPr>
            <p:cNvPr id="24" name="TextBox 24"/>
            <p:cNvSpPr txBox="1"/>
            <p:nvPr/>
          </p:nvSpPr>
          <p:spPr>
            <a:xfrm>
              <a:off x="4032123" y="3900964"/>
              <a:ext cx="1440296"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B3 PCA-5 + linear</a:t>
              </a:r>
            </a:p>
          </p:txBody>
        </p:sp>
        <p:sp>
          <p:nvSpPr>
            <p:cNvPr id="25" name="Rectangle 25"/>
            <p:cNvSpPr/>
            <p:nvPr/>
          </p:nvSpPr>
          <p:spPr>
            <a:xfrm>
              <a:off x="3886200" y="4171950"/>
              <a:ext cx="3352800" cy="323850"/>
            </a:xfrm>
            <a:prstGeom prst="rect">
              <a:avLst/>
            </a:prstGeom>
            <a:solidFill>
              <a:srgbClr val="E2D7C4"/>
            </a:solidFill>
            <a:ln>
              <a:noFill/>
            </a:ln>
          </p:spPr>
        </p:sp>
        <p:sp>
          <p:nvSpPr>
            <p:cNvPr id="26" name="TextBox 26"/>
            <p:cNvSpPr txBox="1"/>
            <p:nvPr/>
          </p:nvSpPr>
          <p:spPr>
            <a:xfrm>
              <a:off x="4032123" y="4262914"/>
              <a:ext cx="1715282"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B4 PCA-5 + RBF-SVM</a:t>
              </a:r>
            </a:p>
          </p:txBody>
        </p:sp>
        <p:sp>
          <p:nvSpPr>
            <p:cNvPr id="27" name="Rectangle 27"/>
            <p:cNvSpPr/>
            <p:nvPr/>
          </p:nvSpPr>
          <p:spPr>
            <a:xfrm>
              <a:off x="3886200" y="4533900"/>
              <a:ext cx="3352800" cy="323850"/>
            </a:xfrm>
            <a:prstGeom prst="rect">
              <a:avLst/>
            </a:prstGeom>
            <a:solidFill>
              <a:srgbClr val="D6C9B2"/>
            </a:solidFill>
            <a:ln>
              <a:noFill/>
            </a:ln>
          </p:spPr>
        </p:sp>
        <p:sp>
          <p:nvSpPr>
            <p:cNvPr id="28" name="TextBox 28"/>
            <p:cNvSpPr txBox="1"/>
            <p:nvPr/>
          </p:nvSpPr>
          <p:spPr>
            <a:xfrm>
              <a:off x="4032123" y="4624864"/>
              <a:ext cx="868670"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B5 RFF-15</a:t>
              </a:r>
            </a:p>
          </p:txBody>
        </p:sp>
        <p:sp>
          <p:nvSpPr>
            <p:cNvPr id="29" name="Rectangle 29"/>
            <p:cNvSpPr/>
            <p:nvPr/>
          </p:nvSpPr>
          <p:spPr>
            <a:xfrm>
              <a:off x="3886200" y="4895850"/>
              <a:ext cx="3352800" cy="323850"/>
            </a:xfrm>
            <a:prstGeom prst="rect">
              <a:avLst/>
            </a:prstGeom>
            <a:solidFill>
              <a:srgbClr val="B9D0C7"/>
            </a:solidFill>
            <a:ln>
              <a:noFill/>
            </a:ln>
          </p:spPr>
        </p:sp>
        <p:sp>
          <p:nvSpPr>
            <p:cNvPr id="30" name="TextBox 30"/>
            <p:cNvSpPr txBox="1"/>
            <p:nvPr/>
          </p:nvSpPr>
          <p:spPr>
            <a:xfrm>
              <a:off x="4032123" y="4986814"/>
              <a:ext cx="905083" cy="249364"/>
            </a:xfrm>
            <a:prstGeom prst="rect">
              <a:avLst/>
            </a:prstGeom>
            <a:noFill/>
            <a:ln>
              <a:noFill/>
            </a:ln>
          </p:spPr>
          <p:txBody>
            <a:bodyPr wrap="none" lIns="0" tIns="0" rIns="0" bIns="0" anchor="t" anchorCtr="0">
              <a:spAutoFit/>
            </a:bodyPr>
            <a:lstStyle/>
            <a:p>
              <a:pPr algn="l"/>
              <a:r>
                <a:rPr lang="en-US" sz="1280" dirty="0">
                  <a:solidFill>
                    <a:schemeClr val="accent1"/>
                  </a:solidFill>
                  <a:latin typeface="+mn-lt"/>
                  <a:ea typeface="+mn-ea"/>
                  <a:cs typeface="+mn-cs"/>
                </a:rPr>
                <a:t>B6 ELM-15</a:t>
              </a:r>
            </a:p>
          </p:txBody>
        </p:sp>
        <p:sp>
          <p:nvSpPr>
            <p:cNvPr id="31" name="Rectangle 31"/>
            <p:cNvSpPr/>
            <p:nvPr/>
          </p:nvSpPr>
          <p:spPr>
            <a:xfrm>
              <a:off x="3886200" y="5257800"/>
              <a:ext cx="3352800" cy="361950"/>
            </a:xfrm>
            <a:prstGeom prst="rect">
              <a:avLst/>
            </a:prstGeom>
            <a:solidFill>
              <a:schemeClr val="accent2"/>
            </a:solidFill>
            <a:ln>
              <a:noFill/>
            </a:ln>
          </p:spPr>
        </p:sp>
        <p:sp>
          <p:nvSpPr>
            <p:cNvPr id="32" name="TextBox 32"/>
            <p:cNvSpPr txBox="1"/>
            <p:nvPr/>
          </p:nvSpPr>
          <p:spPr>
            <a:xfrm>
              <a:off x="4032123" y="5367814"/>
              <a:ext cx="1368672" cy="249364"/>
            </a:xfrm>
            <a:prstGeom prst="rect">
              <a:avLst/>
            </a:prstGeom>
            <a:noFill/>
            <a:ln>
              <a:noFill/>
            </a:ln>
          </p:spPr>
          <p:txBody>
            <a:bodyPr wrap="none" lIns="0" tIns="0" rIns="0" bIns="0" anchor="t" anchorCtr="0">
              <a:spAutoFit/>
            </a:bodyPr>
            <a:lstStyle/>
            <a:p>
              <a:pPr algn="l"/>
              <a:r>
                <a:rPr lang="en-US" sz="1280" b="1" dirty="0">
                  <a:solidFill>
                    <a:srgbClr val="FFFFFF"/>
                  </a:solidFill>
                  <a:latin typeface="+mn-lt"/>
                  <a:ea typeface="+mn-ea"/>
                  <a:cs typeface="+mn-cs"/>
                </a:rPr>
                <a:t>Q1 Photonic-15</a:t>
              </a:r>
            </a:p>
          </p:txBody>
        </p:sp>
      </p:grpSp>
      <p:grpSp>
        <p:nvGrpSpPr>
          <p:cNvPr id="46" name="Group 46"/>
          <p:cNvGrpSpPr/>
          <p:nvPr/>
        </p:nvGrpSpPr>
        <p:grpSpPr>
          <a:xfrm>
            <a:off x="7467600" y="2647950"/>
            <a:ext cx="4171954" cy="2975134"/>
            <a:chOff x="7467600" y="2647950"/>
            <a:chExt cx="4171954" cy="2975134"/>
          </a:xfrm>
        </p:grpSpPr>
        <p:sp>
          <p:nvSpPr>
            <p:cNvPr id="34" name="Rectangle 34"/>
            <p:cNvSpPr/>
            <p:nvPr/>
          </p:nvSpPr>
          <p:spPr>
            <a:xfrm>
              <a:off x="7467600" y="2647950"/>
              <a:ext cx="4114800" cy="990600"/>
            </a:xfrm>
            <a:prstGeom prst="rect">
              <a:avLst/>
            </a:prstGeom>
            <a:solidFill>
              <a:schemeClr val="accent3"/>
            </a:solidFill>
            <a:ln>
              <a:noFill/>
            </a:ln>
          </p:spPr>
        </p:sp>
        <p:sp>
          <p:nvSpPr>
            <p:cNvPr id="35" name="TextBox 35"/>
            <p:cNvSpPr txBox="1"/>
            <p:nvPr/>
          </p:nvSpPr>
          <p:spPr>
            <a:xfrm>
              <a:off x="7689723" y="2805589"/>
              <a:ext cx="2297442" cy="249364"/>
            </a:xfrm>
            <a:prstGeom prst="rect">
              <a:avLst/>
            </a:prstGeom>
            <a:noFill/>
            <a:ln>
              <a:noFill/>
            </a:ln>
          </p:spPr>
          <p:txBody>
            <a:bodyPr wrap="none" lIns="0" tIns="0" rIns="0" bIns="0" anchor="t" anchorCtr="0">
              <a:spAutoFit/>
            </a:bodyPr>
            <a:lstStyle/>
            <a:p>
              <a:pPr algn="l"/>
              <a:r>
                <a:rPr lang="en-US" sz="1280" b="1" dirty="0">
                  <a:solidFill>
                    <a:srgbClr val="FBF7EE"/>
                  </a:solidFill>
                  <a:latin typeface="+mn-lt"/>
                  <a:ea typeface="+mn-ea"/>
                  <a:cs typeface="+mn-cs"/>
                </a:rPr>
                <a:t>PASS A · ACCURACY PARITY</a:t>
              </a:r>
            </a:p>
          </p:txBody>
        </p:sp>
        <p:sp>
          <p:nvSpPr>
            <p:cNvPr id="36" name="TextBox 36"/>
            <p:cNvSpPr txBox="1"/>
            <p:nvPr/>
          </p:nvSpPr>
          <p:spPr>
            <a:xfrm>
              <a:off x="7687437" y="3080861"/>
              <a:ext cx="3090059" cy="337376"/>
            </a:xfrm>
            <a:prstGeom prst="rect">
              <a:avLst/>
            </a:prstGeom>
            <a:noFill/>
            <a:ln>
              <a:noFill/>
            </a:ln>
          </p:spPr>
          <p:txBody>
            <a:bodyPr wrap="none" lIns="0" tIns="0" rIns="0" bIns="0" anchor="t" anchorCtr="0">
              <a:spAutoFit/>
            </a:bodyPr>
            <a:lstStyle/>
            <a:p>
              <a:pPr algn="l"/>
              <a:r>
                <a:rPr lang="en-US" sz="1720" b="1" dirty="0">
                  <a:solidFill>
                    <a:srgbClr val="FFFFFF"/>
                  </a:solidFill>
                  <a:latin typeface="+mj-lt"/>
                  <a:ea typeface="+mj-ea"/>
                  <a:cs typeface="+mj-cs"/>
                </a:rPr>
                <a:t>Q1 ≥ RBF-SVM − 0.02</a:t>
              </a:r>
            </a:p>
          </p:txBody>
        </p:sp>
        <p:sp>
          <p:nvSpPr>
            <p:cNvPr id="37" name="TextBox 37"/>
            <p:cNvSpPr txBox="1"/>
            <p:nvPr/>
          </p:nvSpPr>
          <p:spPr>
            <a:xfrm>
              <a:off x="7689723" y="3377089"/>
              <a:ext cx="2373650" cy="249364"/>
            </a:xfrm>
            <a:prstGeom prst="rect">
              <a:avLst/>
            </a:prstGeom>
            <a:noFill/>
            <a:ln>
              <a:noFill/>
            </a:ln>
          </p:spPr>
          <p:txBody>
            <a:bodyPr wrap="none" lIns="0" tIns="0" rIns="0" bIns="0" anchor="t" anchorCtr="0">
              <a:spAutoFit/>
            </a:bodyPr>
            <a:lstStyle/>
            <a:p>
              <a:pPr algn="l"/>
              <a:r>
                <a:rPr lang="en-US" sz="1280" dirty="0">
                  <a:solidFill>
                    <a:srgbClr val="FBF7EE"/>
                  </a:solidFill>
                  <a:latin typeface="+mn-lt"/>
                  <a:ea typeface="+mn-ea"/>
                  <a:cs typeface="+mn-cs"/>
                </a:rPr>
                <a:t>on at least 4 / 5 outer folds</a:t>
              </a:r>
            </a:p>
          </p:txBody>
        </p:sp>
        <p:sp>
          <p:nvSpPr>
            <p:cNvPr id="38" name="Rectangle 38"/>
            <p:cNvSpPr/>
            <p:nvPr/>
          </p:nvSpPr>
          <p:spPr>
            <a:xfrm>
              <a:off x="7467600" y="3752850"/>
              <a:ext cx="4114800" cy="1200150"/>
            </a:xfrm>
            <a:prstGeom prst="rect">
              <a:avLst/>
            </a:prstGeom>
            <a:solidFill>
              <a:schemeClr val="accent1"/>
            </a:solidFill>
            <a:ln>
              <a:noFill/>
            </a:ln>
          </p:spPr>
        </p:sp>
        <p:sp>
          <p:nvSpPr>
            <p:cNvPr id="39" name="TextBox 39"/>
            <p:cNvSpPr txBox="1"/>
            <p:nvPr/>
          </p:nvSpPr>
          <p:spPr>
            <a:xfrm>
              <a:off x="7689723" y="3910489"/>
              <a:ext cx="2622432" cy="249364"/>
            </a:xfrm>
            <a:prstGeom prst="rect">
              <a:avLst/>
            </a:prstGeom>
            <a:noFill/>
            <a:ln>
              <a:noFill/>
            </a:ln>
          </p:spPr>
          <p:txBody>
            <a:bodyPr wrap="none" lIns="0" tIns="0" rIns="0" bIns="0" anchor="t" anchorCtr="0">
              <a:spAutoFit/>
            </a:bodyPr>
            <a:lstStyle/>
            <a:p>
              <a:pPr algn="l"/>
              <a:r>
                <a:rPr lang="en-US" sz="1280" b="1" dirty="0">
                  <a:solidFill>
                    <a:srgbClr val="B9D0C7"/>
                  </a:solidFill>
                  <a:latin typeface="+mn-lt"/>
                  <a:ea typeface="+mn-ea"/>
                  <a:cs typeface="+mn-cs"/>
                </a:rPr>
                <a:t>PASS B · 2× LABEL EFFICIENCY</a:t>
              </a:r>
            </a:p>
          </p:txBody>
        </p:sp>
        <p:sp>
          <p:nvSpPr>
            <p:cNvPr id="40" name="TextBox 40"/>
            <p:cNvSpPr txBox="1"/>
            <p:nvPr/>
          </p:nvSpPr>
          <p:spPr>
            <a:xfrm>
              <a:off x="7687818" y="4193858"/>
              <a:ext cx="3951736" cy="322707"/>
            </a:xfrm>
            <a:prstGeom prst="rect">
              <a:avLst/>
            </a:prstGeom>
            <a:noFill/>
            <a:ln>
              <a:noFill/>
            </a:ln>
          </p:spPr>
          <p:txBody>
            <a:bodyPr wrap="none" lIns="0" tIns="0" rIns="0" bIns="0" anchor="t" anchorCtr="0">
              <a:spAutoFit/>
            </a:bodyPr>
            <a:lstStyle/>
            <a:p>
              <a:pPr algn="l"/>
              <a:r>
                <a:rPr lang="en-US" sz="1650" b="1" dirty="0">
                  <a:solidFill>
                    <a:srgbClr val="FFFFFF"/>
                  </a:solidFill>
                  <a:latin typeface="+mj-lt"/>
                  <a:ea typeface="+mj-ea"/>
                  <a:cs typeface="+mj-cs"/>
                </a:rPr>
                <a:t>Q1@24 ≥ RBF-SVM@48 − 0.02</a:t>
              </a:r>
            </a:p>
          </p:txBody>
        </p:sp>
        <p:sp>
          <p:nvSpPr>
            <p:cNvPr id="41" name="TextBox 41"/>
            <p:cNvSpPr txBox="1"/>
            <p:nvPr/>
          </p:nvSpPr>
          <p:spPr>
            <a:xfrm>
              <a:off x="7690104" y="4509135"/>
              <a:ext cx="2750363" cy="234696"/>
            </a:xfrm>
            <a:prstGeom prst="rect">
              <a:avLst/>
            </a:prstGeom>
            <a:noFill/>
            <a:ln>
              <a:noFill/>
            </a:ln>
          </p:spPr>
          <p:txBody>
            <a:bodyPr wrap="none" lIns="0" tIns="0" rIns="0" bIns="0" anchor="t" anchorCtr="0">
              <a:spAutoFit/>
            </a:bodyPr>
            <a:lstStyle/>
            <a:p>
              <a:pPr algn="l"/>
              <a:r>
                <a:rPr lang="en-US" sz="1200" dirty="0">
                  <a:solidFill>
                    <a:srgbClr val="FBF7EE"/>
                  </a:solidFill>
                  <a:latin typeface="+mn-lt"/>
                  <a:ea typeface="+mn-ea"/>
                  <a:cs typeface="+mn-cs"/>
                </a:rPr>
                <a:t>≥4 / 5 folds · ≤2,000 shots / image</a:t>
              </a:r>
            </a:p>
          </p:txBody>
        </p:sp>
        <p:sp>
          <p:nvSpPr>
            <p:cNvPr id="42" name="TextBox 42"/>
            <p:cNvSpPr txBox="1"/>
            <p:nvPr/>
          </p:nvSpPr>
          <p:spPr>
            <a:xfrm>
              <a:off x="7690104" y="4728210"/>
              <a:ext cx="1845716" cy="234696"/>
            </a:xfrm>
            <a:prstGeom prst="rect">
              <a:avLst/>
            </a:prstGeom>
            <a:noFill/>
            <a:ln>
              <a:noFill/>
            </a:ln>
          </p:spPr>
          <p:txBody>
            <a:bodyPr wrap="none" lIns="0" tIns="0" rIns="0" bIns="0" anchor="t" anchorCtr="0">
              <a:spAutoFit/>
            </a:bodyPr>
            <a:lstStyle/>
            <a:p>
              <a:pPr algn="l"/>
              <a:r>
                <a:rPr lang="en-US" sz="1200" dirty="0">
                  <a:solidFill>
                    <a:srgbClr val="FBF7EE"/>
                  </a:solidFill>
                  <a:latin typeface="+mn-lt"/>
                  <a:ea typeface="+mn-ea"/>
                  <a:cs typeface="+mn-cs"/>
                </a:rPr>
                <a:t>acceptance rate ≥ 0.70</a:t>
              </a:r>
            </a:p>
          </p:txBody>
        </p:sp>
        <p:sp>
          <p:nvSpPr>
            <p:cNvPr id="43" name="Rectangle 43"/>
            <p:cNvSpPr/>
            <p:nvPr/>
          </p:nvSpPr>
          <p:spPr>
            <a:xfrm>
              <a:off x="7467600" y="5067300"/>
              <a:ext cx="4114800" cy="552450"/>
            </a:xfrm>
            <a:prstGeom prst="rect">
              <a:avLst/>
            </a:prstGeom>
            <a:solidFill>
              <a:schemeClr val="accent2"/>
            </a:solidFill>
            <a:ln>
              <a:noFill/>
            </a:ln>
          </p:spPr>
        </p:sp>
        <p:sp>
          <p:nvSpPr>
            <p:cNvPr id="44" name="TextBox 44"/>
            <p:cNvSpPr txBox="1"/>
            <p:nvPr/>
          </p:nvSpPr>
          <p:spPr>
            <a:xfrm>
              <a:off x="7690104" y="5185410"/>
              <a:ext cx="2377928" cy="234696"/>
            </a:xfrm>
            <a:prstGeom prst="rect">
              <a:avLst/>
            </a:prstGeom>
            <a:noFill/>
            <a:ln>
              <a:noFill/>
            </a:ln>
          </p:spPr>
          <p:txBody>
            <a:bodyPr wrap="none" lIns="0" tIns="0" rIns="0" bIns="0" anchor="t" anchorCtr="0">
              <a:spAutoFit/>
            </a:bodyPr>
            <a:lstStyle/>
            <a:p>
              <a:pPr algn="l"/>
              <a:r>
                <a:rPr lang="en-US" sz="1200" b="1" dirty="0">
                  <a:solidFill>
                    <a:srgbClr val="FFFFFF"/>
                  </a:solidFill>
                  <a:latin typeface="+mn-lt"/>
                  <a:ea typeface="+mn-ea"/>
                  <a:cs typeface="+mn-cs"/>
                </a:rPr>
                <a:t>STOP IF NEITHER PASS HOLDS</a:t>
              </a:r>
            </a:p>
          </p:txBody>
        </p:sp>
        <p:sp>
          <p:nvSpPr>
            <p:cNvPr id="45" name="TextBox 45"/>
            <p:cNvSpPr txBox="1"/>
            <p:nvPr/>
          </p:nvSpPr>
          <p:spPr>
            <a:xfrm>
              <a:off x="7690485" y="5403056"/>
              <a:ext cx="3613386" cy="220028"/>
            </a:xfrm>
            <a:prstGeom prst="rect">
              <a:avLst/>
            </a:prstGeom>
            <a:noFill/>
            <a:ln>
              <a:noFill/>
            </a:ln>
          </p:spPr>
          <p:txBody>
            <a:bodyPr wrap="none" lIns="0" tIns="0" rIns="0" bIns="0" anchor="t" anchorCtr="0">
              <a:spAutoFit/>
            </a:bodyPr>
            <a:lstStyle/>
            <a:p>
              <a:pPr algn="l"/>
              <a:r>
                <a:rPr lang="en-US" sz="1120" dirty="0">
                  <a:solidFill>
                    <a:srgbClr val="FFFFFF"/>
                  </a:solidFill>
                  <a:latin typeface="+mn-lt"/>
                  <a:ea typeface="+mn-ea"/>
                  <a:cs typeface="+mn-cs"/>
                </a:rPr>
                <a:t>or Q1 fails both matched controls on ≥4 / 5 folds</a:t>
              </a:r>
            </a:p>
          </p:txBody>
        </p:sp>
      </p:grpSp>
      <p:grpSp>
        <p:nvGrpSpPr>
          <p:cNvPr id="49" name="Group 49"/>
          <p:cNvGrpSpPr/>
          <p:nvPr/>
        </p:nvGrpSpPr>
        <p:grpSpPr>
          <a:xfrm>
            <a:off x="603885" y="5926931"/>
            <a:ext cx="11046145" cy="420053"/>
            <a:chOff x="603885" y="5926931"/>
            <a:chExt cx="11046145" cy="420053"/>
          </a:xfrm>
        </p:grpSpPr>
        <p:sp>
          <p:nvSpPr>
            <p:cNvPr id="47" name="TextBox 47"/>
            <p:cNvSpPr txBox="1"/>
            <p:nvPr/>
          </p:nvSpPr>
          <p:spPr>
            <a:xfrm>
              <a:off x="603885" y="5926931"/>
              <a:ext cx="6974492" cy="220028"/>
            </a:xfrm>
            <a:prstGeom prst="rect">
              <a:avLst/>
            </a:prstGeom>
            <a:noFill/>
            <a:ln>
              <a:noFill/>
            </a:ln>
          </p:spPr>
          <p:txBody>
            <a:bodyPr wrap="none" lIns="0" tIns="0" rIns="0" bIns="0" anchor="t" anchorCtr="0">
              <a:spAutoFit/>
            </a:bodyPr>
            <a:lstStyle/>
            <a:p>
              <a:pPr algn="l"/>
              <a:r>
                <a:rPr lang="en-US" sz="1120" dirty="0">
                  <a:solidFill>
                    <a:srgbClr val="766E62"/>
                  </a:solidFill>
                  <a:latin typeface="+mn-lt"/>
                  <a:ea typeface="+mn-ea"/>
                  <a:cs typeface="+mn-cs"/>
                </a:rPr>
                <a:t>Matched 15-D controls: Random Fourier Features (RFF) and Extreme Learning Machine (ELM).</a:t>
              </a:r>
            </a:p>
          </p:txBody>
        </p:sp>
        <p:sp>
          <p:nvSpPr>
            <p:cNvPr id="48" name="TextBox 48"/>
            <p:cNvSpPr txBox="1"/>
            <p:nvPr/>
          </p:nvSpPr>
          <p:spPr>
            <a:xfrm>
              <a:off x="603885" y="6126956"/>
              <a:ext cx="11046145" cy="220028"/>
            </a:xfrm>
            <a:prstGeom prst="rect">
              <a:avLst/>
            </a:prstGeom>
            <a:noFill/>
            <a:ln>
              <a:noFill/>
            </a:ln>
          </p:spPr>
          <p:txBody>
            <a:bodyPr wrap="none" lIns="0" tIns="0" rIns="0" bIns="0" anchor="t" anchorCtr="0">
              <a:spAutoFit/>
            </a:bodyPr>
            <a:lstStyle/>
            <a:p>
              <a:pPr algn="l"/>
              <a:r>
                <a:rPr lang="en-US" sz="1120" dirty="0">
                  <a:solidFill>
                    <a:srgbClr val="766E62"/>
                  </a:solidFill>
                  <a:latin typeface="+mn-lt"/>
                  <a:ea typeface="+mn-ea"/>
                  <a:cs typeface="+mn-cs"/>
                </a:rPr>
                <a:t>RBF-SVM = radial-basis-function support vector machine. Resource value is pre-specified as label efficiency under shot and acceptance constraints.</a:t>
              </a:r>
            </a:p>
          </p:txBody>
        </p:sp>
      </p:grpSp>
      <p:grpSp>
        <p:nvGrpSpPr>
          <p:cNvPr id="51" name="Group 51"/>
          <p:cNvGrpSpPr/>
          <p:nvPr/>
        </p:nvGrpSpPr>
        <p:grpSpPr>
          <a:xfrm>
            <a:off x="10966723" y="6426518"/>
            <a:ext cx="622535" cy="264033"/>
            <a:chOff x="10966723" y="6426518"/>
            <a:chExt cx="622535" cy="264033"/>
          </a:xfrm>
        </p:grpSpPr>
        <p:sp>
          <p:nvSpPr>
            <p:cNvPr id="50" name="TextBox 50"/>
            <p:cNvSpPr txBox="1"/>
            <p:nvPr/>
          </p:nvSpPr>
          <p:spPr>
            <a:xfrm>
              <a:off x="10966723" y="6426518"/>
              <a:ext cx="622535" cy="264033"/>
            </a:xfrm>
            <a:prstGeom prst="rect">
              <a:avLst/>
            </a:prstGeom>
            <a:noFill/>
            <a:ln>
              <a:noFill/>
            </a:ln>
          </p:spPr>
          <p:txBody>
            <a:bodyPr wrap="none" lIns="0" tIns="0" rIns="0" bIns="0" anchor="t" anchorCtr="0">
              <a:spAutoFit/>
            </a:bodyPr>
            <a:lstStyle/>
            <a:p>
              <a:pPr algn="r"/>
              <a:r>
                <a:rPr lang="en-US" sz="1350" dirty="0">
                  <a:solidFill>
                    <a:srgbClr val="766E62"/>
                  </a:solidFill>
                  <a:latin typeface="+mn-lt"/>
                  <a:ea typeface="+mn-ea"/>
                  <a:cs typeface="+mn-cs"/>
                </a:rPr>
                <a:t>04 / 10</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76200"/>
          </a:xfrm>
          <a:prstGeom prst="rect">
            <a:avLst/>
          </a:prstGeom>
          <a:solidFill>
            <a:schemeClr val="accent3"/>
          </a:solidFill>
          <a:ln>
            <a:noFill/>
          </a:ln>
        </p:spPr>
      </p:sp>
      <p:grpSp>
        <p:nvGrpSpPr>
          <p:cNvPr id="5" name="Group 5"/>
          <p:cNvGrpSpPr/>
          <p:nvPr/>
        </p:nvGrpSpPr>
        <p:grpSpPr>
          <a:xfrm>
            <a:off x="594360" y="482918"/>
            <a:ext cx="11851958" cy="913447"/>
            <a:chOff x="594360" y="482918"/>
            <a:chExt cx="11851958" cy="913447"/>
          </a:xfrm>
        </p:grpSpPr>
        <p:sp>
          <p:nvSpPr>
            <p:cNvPr id="3" name="TextBox 3"/>
            <p:cNvSpPr txBox="1"/>
            <p:nvPr/>
          </p:nvSpPr>
          <p:spPr>
            <a:xfrm>
              <a:off x="602742" y="482918"/>
              <a:ext cx="5590520" cy="264033"/>
            </a:xfrm>
            <a:prstGeom prst="rect">
              <a:avLst/>
            </a:prstGeom>
            <a:noFill/>
            <a:ln>
              <a:noFill/>
            </a:ln>
          </p:spPr>
          <p:txBody>
            <a:bodyPr wrap="none" lIns="0" tIns="0" rIns="0" bIns="0" anchor="t" anchorCtr="0">
              <a:spAutoFit/>
            </a:bodyPr>
            <a:lstStyle/>
            <a:p>
              <a:pPr algn="l"/>
              <a:r>
                <a:rPr lang="en-US" sz="1350" b="1" spc="105" dirty="0">
                  <a:solidFill>
                    <a:schemeClr val="accent6"/>
                  </a:solidFill>
                  <a:latin typeface="+mn-lt"/>
                  <a:ea typeface="+mn-ea"/>
                  <a:cs typeface="+mn-cs"/>
                </a:rPr>
                <a:t>APPROACH · COMPLETED PILOT → PROPOSED PROJECT</a:t>
              </a:r>
            </a:p>
          </p:txBody>
        </p:sp>
        <p:sp>
          <p:nvSpPr>
            <p:cNvPr id="4" name="TextBox 4"/>
            <p:cNvSpPr txBox="1"/>
            <p:nvPr/>
          </p:nvSpPr>
          <p:spPr>
            <a:xfrm>
              <a:off x="594360" y="809625"/>
              <a:ext cx="11851958"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The 12-week project starts after the completed pilot</a:t>
              </a:r>
            </a:p>
          </p:txBody>
        </p:sp>
      </p:grpSp>
      <p:grpSp>
        <p:nvGrpSpPr>
          <p:cNvPr id="9" name="Group 9"/>
          <p:cNvGrpSpPr/>
          <p:nvPr/>
        </p:nvGrpSpPr>
        <p:grpSpPr>
          <a:xfrm>
            <a:off x="609600" y="1390650"/>
            <a:ext cx="10972800" cy="495300"/>
            <a:chOff x="609600" y="1390650"/>
            <a:chExt cx="10972800" cy="495300"/>
          </a:xfrm>
        </p:grpSpPr>
        <p:sp>
          <p:nvSpPr>
            <p:cNvPr id="6" name="Rectangle 6"/>
            <p:cNvSpPr/>
            <p:nvPr/>
          </p:nvSpPr>
          <p:spPr>
            <a:xfrm>
              <a:off x="609600" y="1390650"/>
              <a:ext cx="10972800" cy="495300"/>
            </a:xfrm>
            <a:prstGeom prst="rect">
              <a:avLst/>
            </a:prstGeom>
            <a:solidFill>
              <a:schemeClr val="accent3"/>
            </a:solidFill>
            <a:ln>
              <a:noFill/>
            </a:ln>
          </p:spPr>
        </p:sp>
        <p:sp>
          <p:nvSpPr>
            <p:cNvPr id="7" name="TextBox 7"/>
            <p:cNvSpPr txBox="1"/>
            <p:nvPr/>
          </p:nvSpPr>
          <p:spPr>
            <a:xfrm>
              <a:off x="831342" y="1559242"/>
              <a:ext cx="2927200" cy="264033"/>
            </a:xfrm>
            <a:prstGeom prst="rect">
              <a:avLst/>
            </a:prstGeom>
            <a:noFill/>
            <a:ln>
              <a:noFill/>
            </a:ln>
          </p:spPr>
          <p:txBody>
            <a:bodyPr wrap="none" lIns="0" tIns="0" rIns="0" bIns="0" anchor="t" anchorCtr="0">
              <a:spAutoFit/>
            </a:bodyPr>
            <a:lstStyle/>
            <a:p>
              <a:pPr algn="l"/>
              <a:r>
                <a:rPr lang="en-US" sz="1350" b="1" dirty="0">
                  <a:solidFill>
                    <a:srgbClr val="FFFFFF"/>
                  </a:solidFill>
                  <a:latin typeface="+mn-lt"/>
                  <a:ea typeface="+mn-ea"/>
                  <a:cs typeface="+mn-cs"/>
                </a:rPr>
                <a:t>PRE-STUDY · COMPLETED PILOT</a:t>
              </a:r>
            </a:p>
          </p:txBody>
        </p:sp>
        <p:sp>
          <p:nvSpPr>
            <p:cNvPr id="8" name="TextBox 8"/>
            <p:cNvSpPr txBox="1"/>
            <p:nvPr/>
          </p:nvSpPr>
          <p:spPr>
            <a:xfrm>
              <a:off x="3726942" y="1559242"/>
              <a:ext cx="6090095" cy="264033"/>
            </a:xfrm>
            <a:prstGeom prst="rect">
              <a:avLst/>
            </a:prstGeom>
            <a:noFill/>
            <a:ln>
              <a:noFill/>
            </a:ln>
          </p:spPr>
          <p:txBody>
            <a:bodyPr wrap="none" lIns="0" tIns="0" rIns="0" bIns="0" anchor="t" anchorCtr="0">
              <a:spAutoFit/>
            </a:bodyPr>
            <a:lstStyle/>
            <a:p>
              <a:pPr algn="l"/>
              <a:r>
                <a:rPr lang="en-US" sz="1350" dirty="0">
                  <a:solidFill>
                    <a:srgbClr val="FBF7EE"/>
                  </a:solidFill>
                  <a:latin typeface="+mn-lt"/>
                  <a:ea typeface="+mn-ea"/>
                  <a:cs typeface="+mn-cs"/>
                </a:rPr>
                <a:t>Data audit · frozen protocol · simulator verification · fold-0 result</a:t>
              </a:r>
            </a:p>
          </p:txBody>
        </p:sp>
      </p:grpSp>
      <p:grpSp>
        <p:nvGrpSpPr>
          <p:cNvPr id="66" name="Group 66"/>
          <p:cNvGrpSpPr/>
          <p:nvPr/>
        </p:nvGrpSpPr>
        <p:grpSpPr>
          <a:xfrm>
            <a:off x="609600" y="1924050"/>
            <a:ext cx="10972800" cy="3467100"/>
            <a:chOff x="609600" y="1924050"/>
            <a:chExt cx="10972800" cy="3467100"/>
          </a:xfrm>
        </p:grpSpPr>
        <p:sp>
          <p:nvSpPr>
            <p:cNvPr id="10" name="Line 10"/>
            <p:cNvSpPr/>
            <p:nvPr/>
          </p:nvSpPr>
          <p:spPr>
            <a:xfrm>
              <a:off x="1447800" y="2143125"/>
              <a:ext cx="9296400" cy="9525"/>
            </a:xfrm>
            <a:custGeom>
              <a:avLst/>
              <a:gdLst/>
              <a:ahLst/>
              <a:cxnLst/>
              <a:rect l="l" t="t" r="r" b="b"/>
              <a:pathLst>
                <a:path w="9296400" h="9525">
                  <a:moveTo>
                    <a:pt x="0" y="0"/>
                  </a:moveTo>
                  <a:lnTo>
                    <a:pt x="9296400" y="0"/>
                  </a:lnTo>
                </a:path>
              </a:pathLst>
            </a:custGeom>
            <a:noFill/>
            <a:ln w="47625">
              <a:solidFill>
                <a:srgbClr val="C9BDA8"/>
              </a:solidFill>
            </a:ln>
          </p:spPr>
        </p:sp>
        <p:sp>
          <p:nvSpPr>
            <p:cNvPr id="11" name="Ellipse 11"/>
            <p:cNvSpPr/>
            <p:nvPr/>
          </p:nvSpPr>
          <p:spPr>
            <a:xfrm>
              <a:off x="1228725" y="1924050"/>
              <a:ext cx="438150" cy="438150"/>
            </a:xfrm>
            <a:prstGeom prst="ellipse">
              <a:avLst/>
            </a:prstGeom>
            <a:solidFill>
              <a:schemeClr val="accent3"/>
            </a:solidFill>
            <a:ln>
              <a:noFill/>
            </a:ln>
          </p:spPr>
        </p:sp>
        <p:sp>
          <p:nvSpPr>
            <p:cNvPr id="12" name="TextBox 12"/>
            <p:cNvSpPr txBox="1"/>
            <p:nvPr/>
          </p:nvSpPr>
          <p:spPr>
            <a:xfrm>
              <a:off x="1283512" y="2064068"/>
              <a:ext cx="328575"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Consolas"/>
                  <a:ea typeface="Consolas"/>
                  <a:cs typeface="Consolas"/>
                </a:rPr>
                <a:t>1–2</a:t>
              </a:r>
            </a:p>
          </p:txBody>
        </p:sp>
        <p:sp>
          <p:nvSpPr>
            <p:cNvPr id="13" name="Ellipse 13"/>
            <p:cNvSpPr/>
            <p:nvPr/>
          </p:nvSpPr>
          <p:spPr>
            <a:xfrm>
              <a:off x="3057525" y="1924050"/>
              <a:ext cx="438150" cy="438150"/>
            </a:xfrm>
            <a:prstGeom prst="ellipse">
              <a:avLst/>
            </a:prstGeom>
            <a:solidFill>
              <a:schemeClr val="accent3"/>
            </a:solidFill>
            <a:ln>
              <a:noFill/>
            </a:ln>
          </p:spPr>
        </p:sp>
        <p:sp>
          <p:nvSpPr>
            <p:cNvPr id="14" name="TextBox 14"/>
            <p:cNvSpPr txBox="1"/>
            <p:nvPr/>
          </p:nvSpPr>
          <p:spPr>
            <a:xfrm>
              <a:off x="3112312" y="2064068"/>
              <a:ext cx="328575"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Consolas"/>
                  <a:ea typeface="Consolas"/>
                  <a:cs typeface="Consolas"/>
                </a:rPr>
                <a:t>3–4</a:t>
              </a:r>
            </a:p>
          </p:txBody>
        </p:sp>
        <p:sp>
          <p:nvSpPr>
            <p:cNvPr id="15" name="Ellipse 15"/>
            <p:cNvSpPr/>
            <p:nvPr/>
          </p:nvSpPr>
          <p:spPr>
            <a:xfrm>
              <a:off x="4886325" y="1924050"/>
              <a:ext cx="438150" cy="438150"/>
            </a:xfrm>
            <a:prstGeom prst="ellipse">
              <a:avLst/>
            </a:prstGeom>
            <a:solidFill>
              <a:schemeClr val="accent3"/>
            </a:solidFill>
            <a:ln>
              <a:noFill/>
            </a:ln>
          </p:spPr>
        </p:sp>
        <p:sp>
          <p:nvSpPr>
            <p:cNvPr id="16" name="TextBox 16"/>
            <p:cNvSpPr txBox="1"/>
            <p:nvPr/>
          </p:nvSpPr>
          <p:spPr>
            <a:xfrm>
              <a:off x="4941112" y="2064068"/>
              <a:ext cx="328575"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Consolas"/>
                  <a:ea typeface="Consolas"/>
                  <a:cs typeface="Consolas"/>
                </a:rPr>
                <a:t>5–6</a:t>
              </a:r>
            </a:p>
          </p:txBody>
        </p:sp>
        <p:sp>
          <p:nvSpPr>
            <p:cNvPr id="17" name="Ellipse 17"/>
            <p:cNvSpPr/>
            <p:nvPr/>
          </p:nvSpPr>
          <p:spPr>
            <a:xfrm>
              <a:off x="6715125" y="1924050"/>
              <a:ext cx="438150" cy="438150"/>
            </a:xfrm>
            <a:prstGeom prst="ellipse">
              <a:avLst/>
            </a:prstGeom>
            <a:solidFill>
              <a:schemeClr val="accent3"/>
            </a:solidFill>
            <a:ln>
              <a:noFill/>
            </a:ln>
          </p:spPr>
        </p:sp>
        <p:sp>
          <p:nvSpPr>
            <p:cNvPr id="18" name="TextBox 18"/>
            <p:cNvSpPr txBox="1"/>
            <p:nvPr/>
          </p:nvSpPr>
          <p:spPr>
            <a:xfrm>
              <a:off x="6769912" y="2064068"/>
              <a:ext cx="328575"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Consolas"/>
                  <a:ea typeface="Consolas"/>
                  <a:cs typeface="Consolas"/>
                </a:rPr>
                <a:t>7–8</a:t>
              </a:r>
            </a:p>
          </p:txBody>
        </p:sp>
        <p:sp>
          <p:nvSpPr>
            <p:cNvPr id="19" name="Ellipse 19"/>
            <p:cNvSpPr/>
            <p:nvPr/>
          </p:nvSpPr>
          <p:spPr>
            <a:xfrm>
              <a:off x="8543925" y="1924050"/>
              <a:ext cx="438150" cy="438150"/>
            </a:xfrm>
            <a:prstGeom prst="ellipse">
              <a:avLst/>
            </a:prstGeom>
            <a:solidFill>
              <a:schemeClr val="accent3"/>
            </a:solidFill>
            <a:ln>
              <a:noFill/>
            </a:ln>
          </p:spPr>
        </p:sp>
        <p:sp>
          <p:nvSpPr>
            <p:cNvPr id="20" name="TextBox 20"/>
            <p:cNvSpPr txBox="1"/>
            <p:nvPr/>
          </p:nvSpPr>
          <p:spPr>
            <a:xfrm>
              <a:off x="8546236" y="2064068"/>
              <a:ext cx="433528"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Consolas"/>
                  <a:ea typeface="Consolas"/>
                  <a:cs typeface="Consolas"/>
                </a:rPr>
                <a:t>9–10</a:t>
              </a:r>
            </a:p>
          </p:txBody>
        </p:sp>
        <p:sp>
          <p:nvSpPr>
            <p:cNvPr id="21" name="Ellipse 21"/>
            <p:cNvSpPr/>
            <p:nvPr/>
          </p:nvSpPr>
          <p:spPr>
            <a:xfrm>
              <a:off x="10372725" y="1924050"/>
              <a:ext cx="438150" cy="438150"/>
            </a:xfrm>
            <a:prstGeom prst="ellipse">
              <a:avLst/>
            </a:prstGeom>
            <a:solidFill>
              <a:schemeClr val="accent1"/>
            </a:solidFill>
            <a:ln>
              <a:noFill/>
            </a:ln>
          </p:spPr>
        </p:sp>
        <p:sp>
          <p:nvSpPr>
            <p:cNvPr id="22" name="TextBox 22"/>
            <p:cNvSpPr txBox="1"/>
            <p:nvPr/>
          </p:nvSpPr>
          <p:spPr>
            <a:xfrm>
              <a:off x="10352475" y="2080260"/>
              <a:ext cx="478650"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Consolas"/>
                  <a:ea typeface="Consolas"/>
                  <a:cs typeface="Consolas"/>
                </a:rPr>
                <a:t>11–12</a:t>
              </a:r>
            </a:p>
          </p:txBody>
        </p:sp>
        <p:sp>
          <p:nvSpPr>
            <p:cNvPr id="23" name="Rectangle 23"/>
            <p:cNvSpPr/>
            <p:nvPr/>
          </p:nvSpPr>
          <p:spPr>
            <a:xfrm>
              <a:off x="609600" y="2495550"/>
              <a:ext cx="1676400" cy="2895600"/>
            </a:xfrm>
            <a:prstGeom prst="rect">
              <a:avLst/>
            </a:prstGeom>
            <a:solidFill>
              <a:schemeClr val="lt2"/>
            </a:solidFill>
            <a:ln>
              <a:noFill/>
            </a:ln>
          </p:spPr>
        </p:sp>
        <p:sp>
          <p:nvSpPr>
            <p:cNvPr id="24" name="TextBox 24"/>
            <p:cNvSpPr txBox="1"/>
            <p:nvPr/>
          </p:nvSpPr>
          <p:spPr>
            <a:xfrm>
              <a:off x="755142" y="2664142"/>
              <a:ext cx="961354" cy="264033"/>
            </a:xfrm>
            <a:prstGeom prst="rect">
              <a:avLst/>
            </a:prstGeom>
            <a:noFill/>
            <a:ln>
              <a:noFill/>
            </a:ln>
          </p:spPr>
          <p:txBody>
            <a:bodyPr wrap="none" lIns="0" tIns="0" rIns="0" bIns="0" anchor="t" anchorCtr="0">
              <a:spAutoFit/>
            </a:bodyPr>
            <a:lstStyle/>
            <a:p>
              <a:pPr algn="l"/>
              <a:r>
                <a:rPr lang="en-US" sz="1350" b="1" dirty="0">
                  <a:solidFill>
                    <a:schemeClr val="accent5"/>
                  </a:solidFill>
                  <a:latin typeface="+mn-lt"/>
                  <a:ea typeface="+mn-ea"/>
                  <a:cs typeface="+mn-cs"/>
                </a:rPr>
                <a:t>REPLICATE</a:t>
              </a:r>
            </a:p>
          </p:txBody>
        </p:sp>
        <p:sp>
          <p:nvSpPr>
            <p:cNvPr id="25" name="TextBox 25"/>
            <p:cNvSpPr txBox="1"/>
            <p:nvPr/>
          </p:nvSpPr>
          <p:spPr>
            <a:xfrm>
              <a:off x="753237" y="2976086"/>
              <a:ext cx="1233145" cy="613600"/>
            </a:xfrm>
            <a:prstGeom prst="rect">
              <a:avLst/>
            </a:prstGeom>
            <a:noFill/>
            <a:ln>
              <a:noFill/>
            </a:ln>
          </p:spPr>
          <p:txBody>
            <a:bodyPr wrap="none" lIns="0" tIns="0" rIns="0" bIns="0" anchor="t" anchorCtr="0">
              <a:spAutoFit/>
            </a:bodyPr>
            <a:lstStyle/>
            <a:p>
              <a:pPr algn="l">
                <a:lnSpc>
                  <a:spcPts val="2175"/>
                </a:lnSpc>
              </a:pPr>
              <a:r>
                <a:rPr lang="en-US" sz="1720" b="1" dirty="0">
                  <a:solidFill>
                    <a:schemeClr val="accent1"/>
                  </a:solidFill>
                  <a:latin typeface="+mj-lt"/>
                  <a:ea typeface="+mj-ea"/>
                  <a:cs typeface="+mj-cs"/>
                </a:rPr>
                <a:t>Five-fold</a:t>
              </a:r>
              <a:br/>
              <a:r>
                <a:rPr lang="en-US" sz="1720" b="1" dirty="0">
                  <a:solidFill>
                    <a:schemeClr val="accent1"/>
                  </a:solidFill>
                  <a:latin typeface="+mj-lt"/>
                  <a:ea typeface="+mj-ea"/>
                  <a:cs typeface="+mj-cs"/>
                </a:rPr>
                <a:t>replication</a:t>
              </a:r>
            </a:p>
          </p:txBody>
        </p:sp>
        <p:sp>
          <p:nvSpPr>
            <p:cNvPr id="26" name="TextBox 26"/>
            <p:cNvSpPr txBox="1"/>
            <p:nvPr/>
          </p:nvSpPr>
          <p:spPr>
            <a:xfrm>
              <a:off x="755904" y="3747135"/>
              <a:ext cx="1051682" cy="234696"/>
            </a:xfrm>
            <a:prstGeom prst="rect">
              <a:avLst/>
            </a:prstGeom>
            <a:noFill/>
            <a:ln>
              <a:noFill/>
            </a:ln>
          </p:spPr>
          <p:txBody>
            <a:bodyPr wrap="none" lIns="0" tIns="0" rIns="0" bIns="0" anchor="t" anchorCtr="0">
              <a:spAutoFit/>
            </a:bodyPr>
            <a:lstStyle/>
            <a:p>
              <a:pPr algn="l"/>
              <a:r>
                <a:rPr lang="en-US" sz="1200" b="1" dirty="0">
                  <a:solidFill>
                    <a:schemeClr val="accent6"/>
                  </a:solidFill>
                  <a:latin typeface="+mn-lt"/>
                  <a:ea typeface="+mn-ea"/>
                  <a:cs typeface="+mn-cs"/>
                </a:rPr>
                <a:t>DELIVERABLE</a:t>
              </a:r>
            </a:p>
          </p:txBody>
        </p:sp>
        <p:sp>
          <p:nvSpPr>
            <p:cNvPr id="27" name="TextBox 27"/>
            <p:cNvSpPr txBox="1"/>
            <p:nvPr/>
          </p:nvSpPr>
          <p:spPr>
            <a:xfrm>
              <a:off x="755523" y="3996214"/>
              <a:ext cx="1319182"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Fold-level table</a:t>
              </a:r>
            </a:p>
          </p:txBody>
        </p:sp>
        <p:sp>
          <p:nvSpPr>
            <p:cNvPr id="28" name="TextBox 28"/>
            <p:cNvSpPr txBox="1"/>
            <p:nvPr/>
          </p:nvSpPr>
          <p:spPr>
            <a:xfrm>
              <a:off x="755904" y="4451985"/>
              <a:ext cx="361676" cy="234696"/>
            </a:xfrm>
            <a:prstGeom prst="rect">
              <a:avLst/>
            </a:prstGeom>
            <a:noFill/>
            <a:ln>
              <a:noFill/>
            </a:ln>
          </p:spPr>
          <p:txBody>
            <a:bodyPr wrap="none" lIns="0" tIns="0" rIns="0" bIns="0" anchor="t" anchorCtr="0">
              <a:spAutoFit/>
            </a:bodyPr>
            <a:lstStyle/>
            <a:p>
              <a:pPr algn="l"/>
              <a:r>
                <a:rPr lang="en-US" sz="1200" b="1" dirty="0">
                  <a:solidFill>
                    <a:schemeClr val="accent5"/>
                  </a:solidFill>
                  <a:latin typeface="+mn-lt"/>
                  <a:ea typeface="+mn-ea"/>
                  <a:cs typeface="+mn-cs"/>
                </a:rPr>
                <a:t>EXIT</a:t>
              </a:r>
            </a:p>
          </p:txBody>
        </p:sp>
        <p:sp>
          <p:nvSpPr>
            <p:cNvPr id="29" name="TextBox 29"/>
            <p:cNvSpPr txBox="1"/>
            <p:nvPr/>
          </p:nvSpPr>
          <p:spPr>
            <a:xfrm>
              <a:off x="755523" y="4701064"/>
              <a:ext cx="1142746" cy="487490"/>
            </a:xfrm>
            <a:prstGeom prst="rect">
              <a:avLst/>
            </a:prstGeom>
            <a:noFill/>
            <a:ln>
              <a:noFill/>
            </a:ln>
          </p:spPr>
          <p:txBody>
            <a:bodyPr wrap="none" lIns="0" tIns="0" rIns="0" bIns="0" anchor="t" anchorCtr="0">
              <a:spAutoFit/>
            </a:bodyPr>
            <a:lstStyle/>
            <a:p>
              <a:pPr algn="l">
                <a:lnSpc>
                  <a:spcPts val="1875"/>
                </a:lnSpc>
              </a:pPr>
              <a:r>
                <a:rPr lang="en-US" sz="1280" dirty="0">
                  <a:solidFill>
                    <a:schemeClr val="dk1"/>
                  </a:solidFill>
                  <a:latin typeface="+mn-lt"/>
                  <a:ea typeface="+mn-ea"/>
                  <a:cs typeface="+mn-cs"/>
                </a:rPr>
                <a:t>Ranking stable</a:t>
              </a:r>
              <a:br/>
              <a:r>
                <a:rPr lang="en-US" sz="1280" dirty="0">
                  <a:solidFill>
                    <a:schemeClr val="dk1"/>
                  </a:solidFill>
                  <a:latin typeface="+mn-lt"/>
                  <a:ea typeface="+mn-ea"/>
                  <a:cs typeface="+mn-cs"/>
                </a:rPr>
                <a:t>across folds</a:t>
              </a:r>
            </a:p>
          </p:txBody>
        </p:sp>
        <p:sp>
          <p:nvSpPr>
            <p:cNvPr id="30" name="Rectangle 30"/>
            <p:cNvSpPr/>
            <p:nvPr/>
          </p:nvSpPr>
          <p:spPr>
            <a:xfrm>
              <a:off x="2438400" y="2495550"/>
              <a:ext cx="1676400" cy="2895600"/>
            </a:xfrm>
            <a:prstGeom prst="rect">
              <a:avLst/>
            </a:prstGeom>
            <a:solidFill>
              <a:schemeClr val="accent1"/>
            </a:solidFill>
            <a:ln>
              <a:noFill/>
            </a:ln>
          </p:spPr>
        </p:sp>
        <p:sp>
          <p:nvSpPr>
            <p:cNvPr id="31" name="TextBox 31"/>
            <p:cNvSpPr txBox="1"/>
            <p:nvPr/>
          </p:nvSpPr>
          <p:spPr>
            <a:xfrm>
              <a:off x="2583942" y="2664142"/>
              <a:ext cx="679079" cy="264033"/>
            </a:xfrm>
            <a:prstGeom prst="rect">
              <a:avLst/>
            </a:prstGeom>
            <a:noFill/>
            <a:ln>
              <a:noFill/>
            </a:ln>
          </p:spPr>
          <p:txBody>
            <a:bodyPr wrap="none" lIns="0" tIns="0" rIns="0" bIns="0" anchor="t" anchorCtr="0">
              <a:spAutoFit/>
            </a:bodyPr>
            <a:lstStyle/>
            <a:p>
              <a:pPr algn="l"/>
              <a:r>
                <a:rPr lang="en-US" sz="1350" b="1" dirty="0">
                  <a:solidFill>
                    <a:srgbClr val="B9D0C7"/>
                  </a:solidFill>
                  <a:latin typeface="+mn-lt"/>
                  <a:ea typeface="+mn-ea"/>
                  <a:cs typeface="+mn-cs"/>
                </a:rPr>
                <a:t>ABLATE</a:t>
              </a:r>
            </a:p>
          </p:txBody>
        </p:sp>
        <p:sp>
          <p:nvSpPr>
            <p:cNvPr id="32" name="TextBox 32"/>
            <p:cNvSpPr txBox="1"/>
            <p:nvPr/>
          </p:nvSpPr>
          <p:spPr>
            <a:xfrm>
              <a:off x="2582418" y="2984182"/>
              <a:ext cx="1629742" cy="322707"/>
            </a:xfrm>
            <a:prstGeom prst="rect">
              <a:avLst/>
            </a:prstGeom>
            <a:noFill/>
            <a:ln>
              <a:noFill/>
            </a:ln>
          </p:spPr>
          <p:txBody>
            <a:bodyPr wrap="none" lIns="0" tIns="0" rIns="0" bIns="0" anchor="t" anchorCtr="0">
              <a:spAutoFit/>
            </a:bodyPr>
            <a:lstStyle/>
            <a:p>
              <a:pPr algn="l"/>
              <a:r>
                <a:rPr lang="en-US" sz="1650" b="1" dirty="0">
                  <a:solidFill>
                    <a:srgbClr val="FFFFFF"/>
                  </a:solidFill>
                  <a:latin typeface="+mj-lt"/>
                  <a:ea typeface="+mj-ea"/>
                  <a:cs typeface="+mj-cs"/>
                </a:rPr>
                <a:t>PCA · circuit</a:t>
              </a:r>
            </a:p>
          </p:txBody>
        </p:sp>
        <p:sp>
          <p:nvSpPr>
            <p:cNvPr id="33" name="TextBox 33"/>
            <p:cNvSpPr txBox="1"/>
            <p:nvPr/>
          </p:nvSpPr>
          <p:spPr>
            <a:xfrm>
              <a:off x="2583180" y="3276600"/>
              <a:ext cx="1460221" cy="293370"/>
            </a:xfrm>
            <a:prstGeom prst="rect">
              <a:avLst/>
            </a:prstGeom>
            <a:noFill/>
            <a:ln>
              <a:noFill/>
            </a:ln>
          </p:spPr>
          <p:txBody>
            <a:bodyPr wrap="none" lIns="0" tIns="0" rIns="0" bIns="0" anchor="t" anchorCtr="0">
              <a:spAutoFit/>
            </a:bodyPr>
            <a:lstStyle/>
            <a:p>
              <a:pPr algn="l"/>
              <a:r>
                <a:rPr lang="en-US" sz="1500" b="1" dirty="0">
                  <a:solidFill>
                    <a:srgbClr val="FFFFFF"/>
                  </a:solidFill>
                  <a:latin typeface="+mj-lt"/>
                  <a:ea typeface="+mj-ea"/>
                  <a:cs typeface="+mj-cs"/>
                </a:rPr>
                <a:t>measurement</a:t>
              </a:r>
            </a:p>
          </p:txBody>
        </p:sp>
        <p:sp>
          <p:nvSpPr>
            <p:cNvPr id="34" name="TextBox 34"/>
            <p:cNvSpPr txBox="1"/>
            <p:nvPr/>
          </p:nvSpPr>
          <p:spPr>
            <a:xfrm>
              <a:off x="2584704" y="3747135"/>
              <a:ext cx="1051682" cy="234696"/>
            </a:xfrm>
            <a:prstGeom prst="rect">
              <a:avLst/>
            </a:prstGeom>
            <a:noFill/>
            <a:ln>
              <a:noFill/>
            </a:ln>
          </p:spPr>
          <p:txBody>
            <a:bodyPr wrap="none" lIns="0" tIns="0" rIns="0" bIns="0" anchor="t" anchorCtr="0">
              <a:spAutoFit/>
            </a:bodyPr>
            <a:lstStyle/>
            <a:p>
              <a:pPr algn="l"/>
              <a:r>
                <a:rPr lang="en-US" sz="1200" b="1" dirty="0">
                  <a:solidFill>
                    <a:srgbClr val="B9D0C7"/>
                  </a:solidFill>
                  <a:latin typeface="+mn-lt"/>
                  <a:ea typeface="+mn-ea"/>
                  <a:cs typeface="+mn-cs"/>
                </a:rPr>
                <a:t>DELIVERABLE</a:t>
              </a:r>
            </a:p>
          </p:txBody>
        </p:sp>
        <p:sp>
          <p:nvSpPr>
            <p:cNvPr id="35" name="TextBox 35"/>
            <p:cNvSpPr txBox="1"/>
            <p:nvPr/>
          </p:nvSpPr>
          <p:spPr>
            <a:xfrm>
              <a:off x="2584323" y="3996214"/>
              <a:ext cx="1301881" cy="249364"/>
            </a:xfrm>
            <a:prstGeom prst="rect">
              <a:avLst/>
            </a:prstGeom>
            <a:noFill/>
            <a:ln>
              <a:noFill/>
            </a:ln>
          </p:spPr>
          <p:txBody>
            <a:bodyPr wrap="none" lIns="0" tIns="0" rIns="0" bIns="0" anchor="t" anchorCtr="0">
              <a:spAutoFit/>
            </a:bodyPr>
            <a:lstStyle/>
            <a:p>
              <a:pPr algn="l"/>
              <a:r>
                <a:rPr lang="en-US" sz="1280" dirty="0">
                  <a:solidFill>
                    <a:srgbClr val="FBF7EE"/>
                  </a:solidFill>
                  <a:latin typeface="+mn-lt"/>
                  <a:ea typeface="+mn-ea"/>
                  <a:cs typeface="+mn-cs"/>
                </a:rPr>
                <a:t>Ablation matrix</a:t>
              </a:r>
            </a:p>
          </p:txBody>
        </p:sp>
        <p:sp>
          <p:nvSpPr>
            <p:cNvPr id="36" name="TextBox 36"/>
            <p:cNvSpPr txBox="1"/>
            <p:nvPr/>
          </p:nvSpPr>
          <p:spPr>
            <a:xfrm>
              <a:off x="2584704" y="4451985"/>
              <a:ext cx="361676" cy="234696"/>
            </a:xfrm>
            <a:prstGeom prst="rect">
              <a:avLst/>
            </a:prstGeom>
            <a:noFill/>
            <a:ln>
              <a:noFill/>
            </a:ln>
          </p:spPr>
          <p:txBody>
            <a:bodyPr wrap="none" lIns="0" tIns="0" rIns="0" bIns="0" anchor="t" anchorCtr="0">
              <a:spAutoFit/>
            </a:bodyPr>
            <a:lstStyle/>
            <a:p>
              <a:pPr algn="l"/>
              <a:r>
                <a:rPr lang="en-US" sz="1200" b="1" dirty="0">
                  <a:solidFill>
                    <a:srgbClr val="B9D0C7"/>
                  </a:solidFill>
                  <a:latin typeface="+mn-lt"/>
                  <a:ea typeface="+mn-ea"/>
                  <a:cs typeface="+mn-cs"/>
                </a:rPr>
                <a:t>EXIT</a:t>
              </a:r>
            </a:p>
          </p:txBody>
        </p:sp>
        <p:sp>
          <p:nvSpPr>
            <p:cNvPr id="37" name="TextBox 37"/>
            <p:cNvSpPr txBox="1"/>
            <p:nvPr/>
          </p:nvSpPr>
          <p:spPr>
            <a:xfrm>
              <a:off x="2584323" y="4701064"/>
              <a:ext cx="1394714" cy="487490"/>
            </a:xfrm>
            <a:prstGeom prst="rect">
              <a:avLst/>
            </a:prstGeom>
            <a:noFill/>
            <a:ln>
              <a:noFill/>
            </a:ln>
          </p:spPr>
          <p:txBody>
            <a:bodyPr wrap="none" lIns="0" tIns="0" rIns="0" bIns="0" anchor="t" anchorCtr="0">
              <a:spAutoFit/>
            </a:bodyPr>
            <a:lstStyle/>
            <a:p>
              <a:pPr algn="l">
                <a:lnSpc>
                  <a:spcPts val="1875"/>
                </a:lnSpc>
              </a:pPr>
              <a:r>
                <a:rPr lang="en-US" sz="1280" dirty="0">
                  <a:solidFill>
                    <a:srgbClr val="FBF7EE"/>
                  </a:solidFill>
                  <a:latin typeface="+mn-lt"/>
                  <a:ea typeface="+mn-ea"/>
                  <a:cs typeface="+mn-cs"/>
                </a:rPr>
                <a:t>Candidate beats</a:t>
              </a:r>
              <a:br/>
              <a:r>
                <a:rPr lang="en-US" sz="1280" dirty="0">
                  <a:solidFill>
                    <a:srgbClr val="FBF7EE"/>
                  </a:solidFill>
                  <a:latin typeface="+mn-lt"/>
                  <a:ea typeface="+mn-ea"/>
                  <a:cs typeface="+mn-cs"/>
                </a:rPr>
                <a:t>matched controls</a:t>
              </a:r>
            </a:p>
          </p:txBody>
        </p:sp>
        <p:sp>
          <p:nvSpPr>
            <p:cNvPr id="38" name="Rectangle 38"/>
            <p:cNvSpPr/>
            <p:nvPr/>
          </p:nvSpPr>
          <p:spPr>
            <a:xfrm>
              <a:off x="4267200" y="2495550"/>
              <a:ext cx="1676400" cy="2895600"/>
            </a:xfrm>
            <a:prstGeom prst="rect">
              <a:avLst/>
            </a:prstGeom>
            <a:solidFill>
              <a:schemeClr val="lt2"/>
            </a:solidFill>
            <a:ln>
              <a:noFill/>
            </a:ln>
          </p:spPr>
        </p:sp>
        <p:sp>
          <p:nvSpPr>
            <p:cNvPr id="39" name="TextBox 39"/>
            <p:cNvSpPr txBox="1"/>
            <p:nvPr/>
          </p:nvSpPr>
          <p:spPr>
            <a:xfrm>
              <a:off x="4412742" y="2664142"/>
              <a:ext cx="558104" cy="264033"/>
            </a:xfrm>
            <a:prstGeom prst="rect">
              <a:avLst/>
            </a:prstGeom>
            <a:noFill/>
            <a:ln>
              <a:noFill/>
            </a:ln>
          </p:spPr>
          <p:txBody>
            <a:bodyPr wrap="none" lIns="0" tIns="0" rIns="0" bIns="0" anchor="t" anchorCtr="0">
              <a:spAutoFit/>
            </a:bodyPr>
            <a:lstStyle/>
            <a:p>
              <a:pPr algn="l"/>
              <a:r>
                <a:rPr lang="en-US" sz="1350" b="1" dirty="0">
                  <a:solidFill>
                    <a:schemeClr val="accent5"/>
                  </a:solidFill>
                  <a:latin typeface="+mn-lt"/>
                  <a:ea typeface="+mn-ea"/>
                  <a:cs typeface="+mn-cs"/>
                </a:rPr>
                <a:t>NOISE</a:t>
              </a:r>
            </a:p>
          </p:txBody>
        </p:sp>
        <p:sp>
          <p:nvSpPr>
            <p:cNvPr id="40" name="TextBox 40"/>
            <p:cNvSpPr txBox="1"/>
            <p:nvPr/>
          </p:nvSpPr>
          <p:spPr>
            <a:xfrm>
              <a:off x="4410837" y="2976086"/>
              <a:ext cx="1359294" cy="613600"/>
            </a:xfrm>
            <a:prstGeom prst="rect">
              <a:avLst/>
            </a:prstGeom>
            <a:noFill/>
            <a:ln>
              <a:noFill/>
            </a:ln>
          </p:spPr>
          <p:txBody>
            <a:bodyPr wrap="none" lIns="0" tIns="0" rIns="0" bIns="0" anchor="t" anchorCtr="0">
              <a:spAutoFit/>
            </a:bodyPr>
            <a:lstStyle/>
            <a:p>
              <a:pPr algn="l">
                <a:lnSpc>
                  <a:spcPts val="2175"/>
                </a:lnSpc>
              </a:pPr>
              <a:r>
                <a:rPr lang="en-US" sz="1720" b="1" dirty="0">
                  <a:solidFill>
                    <a:schemeClr val="accent1"/>
                  </a:solidFill>
                  <a:latin typeface="+mj-lt"/>
                  <a:ea typeface="+mj-ea"/>
                  <a:cs typeface="+mj-cs"/>
                </a:rPr>
                <a:t>Loss · drift</a:t>
              </a:r>
              <a:br/>
              <a:r>
                <a:rPr lang="en-US" sz="1720" b="1" dirty="0">
                  <a:solidFill>
                    <a:schemeClr val="accent1"/>
                  </a:solidFill>
                  <a:latin typeface="+mj-lt"/>
                  <a:ea typeface="+mj-ea"/>
                  <a:cs typeface="+mj-cs"/>
                </a:rPr>
                <a:t>detectors</a:t>
              </a:r>
            </a:p>
          </p:txBody>
        </p:sp>
        <p:sp>
          <p:nvSpPr>
            <p:cNvPr id="41" name="TextBox 41"/>
            <p:cNvSpPr txBox="1"/>
            <p:nvPr/>
          </p:nvSpPr>
          <p:spPr>
            <a:xfrm>
              <a:off x="4413504" y="3747135"/>
              <a:ext cx="1051682" cy="234696"/>
            </a:xfrm>
            <a:prstGeom prst="rect">
              <a:avLst/>
            </a:prstGeom>
            <a:noFill/>
            <a:ln>
              <a:noFill/>
            </a:ln>
          </p:spPr>
          <p:txBody>
            <a:bodyPr wrap="none" lIns="0" tIns="0" rIns="0" bIns="0" anchor="t" anchorCtr="0">
              <a:spAutoFit/>
            </a:bodyPr>
            <a:lstStyle/>
            <a:p>
              <a:pPr algn="l"/>
              <a:r>
                <a:rPr lang="en-US" sz="1200" b="1" dirty="0">
                  <a:solidFill>
                    <a:schemeClr val="accent6"/>
                  </a:solidFill>
                  <a:latin typeface="+mn-lt"/>
                  <a:ea typeface="+mn-ea"/>
                  <a:cs typeface="+mn-cs"/>
                </a:rPr>
                <a:t>DELIVERABLE</a:t>
              </a:r>
            </a:p>
          </p:txBody>
        </p:sp>
        <p:sp>
          <p:nvSpPr>
            <p:cNvPr id="42" name="TextBox 42"/>
            <p:cNvSpPr txBox="1"/>
            <p:nvPr/>
          </p:nvSpPr>
          <p:spPr>
            <a:xfrm>
              <a:off x="4413123" y="3996214"/>
              <a:ext cx="1586555"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Robustness curves</a:t>
              </a:r>
            </a:p>
          </p:txBody>
        </p:sp>
        <p:sp>
          <p:nvSpPr>
            <p:cNvPr id="43" name="TextBox 43"/>
            <p:cNvSpPr txBox="1"/>
            <p:nvPr/>
          </p:nvSpPr>
          <p:spPr>
            <a:xfrm>
              <a:off x="4413504" y="4451985"/>
              <a:ext cx="361676" cy="234696"/>
            </a:xfrm>
            <a:prstGeom prst="rect">
              <a:avLst/>
            </a:prstGeom>
            <a:noFill/>
            <a:ln>
              <a:noFill/>
            </a:ln>
          </p:spPr>
          <p:txBody>
            <a:bodyPr wrap="none" lIns="0" tIns="0" rIns="0" bIns="0" anchor="t" anchorCtr="0">
              <a:spAutoFit/>
            </a:bodyPr>
            <a:lstStyle/>
            <a:p>
              <a:pPr algn="l"/>
              <a:r>
                <a:rPr lang="en-US" sz="1200" b="1" dirty="0">
                  <a:solidFill>
                    <a:schemeClr val="accent5"/>
                  </a:solidFill>
                  <a:latin typeface="+mn-lt"/>
                  <a:ea typeface="+mn-ea"/>
                  <a:cs typeface="+mn-cs"/>
                </a:rPr>
                <a:t>EXIT</a:t>
              </a:r>
            </a:p>
          </p:txBody>
        </p:sp>
        <p:sp>
          <p:nvSpPr>
            <p:cNvPr id="44" name="TextBox 44"/>
            <p:cNvSpPr txBox="1"/>
            <p:nvPr/>
          </p:nvSpPr>
          <p:spPr>
            <a:xfrm>
              <a:off x="4413123" y="4701064"/>
              <a:ext cx="1370330" cy="487490"/>
            </a:xfrm>
            <a:prstGeom prst="rect">
              <a:avLst/>
            </a:prstGeom>
            <a:noFill/>
            <a:ln>
              <a:noFill/>
            </a:ln>
          </p:spPr>
          <p:txBody>
            <a:bodyPr wrap="none" lIns="0" tIns="0" rIns="0" bIns="0" anchor="t" anchorCtr="0">
              <a:spAutoFit/>
            </a:bodyPr>
            <a:lstStyle/>
            <a:p>
              <a:pPr algn="l">
                <a:lnSpc>
                  <a:spcPts val="1875"/>
                </a:lnSpc>
              </a:pPr>
              <a:r>
                <a:rPr lang="en-US" sz="1280" dirty="0">
                  <a:solidFill>
                    <a:schemeClr val="dk1"/>
                  </a:solidFill>
                  <a:latin typeface="+mn-lt"/>
                  <a:ea typeface="+mn-ea"/>
                  <a:cs typeface="+mn-cs"/>
                </a:rPr>
                <a:t>No collapse under</a:t>
              </a:r>
              <a:br/>
              <a:r>
                <a:rPr lang="en-US" sz="1280" dirty="0">
                  <a:solidFill>
                    <a:schemeClr val="dk1"/>
                  </a:solidFill>
                  <a:latin typeface="+mn-lt"/>
                  <a:ea typeface="+mn-ea"/>
                  <a:cs typeface="+mn-cs"/>
                </a:rPr>
                <a:t>credible noise</a:t>
              </a:r>
            </a:p>
          </p:txBody>
        </p:sp>
        <p:sp>
          <p:nvSpPr>
            <p:cNvPr id="45" name="Rectangle 45"/>
            <p:cNvSpPr/>
            <p:nvPr/>
          </p:nvSpPr>
          <p:spPr>
            <a:xfrm>
              <a:off x="6096000" y="2495550"/>
              <a:ext cx="1676400" cy="2895600"/>
            </a:xfrm>
            <a:prstGeom prst="rect">
              <a:avLst/>
            </a:prstGeom>
            <a:solidFill>
              <a:schemeClr val="accent1"/>
            </a:solidFill>
            <a:ln>
              <a:noFill/>
            </a:ln>
          </p:spPr>
        </p:sp>
        <p:sp>
          <p:nvSpPr>
            <p:cNvPr id="46" name="TextBox 46"/>
            <p:cNvSpPr txBox="1"/>
            <p:nvPr/>
          </p:nvSpPr>
          <p:spPr>
            <a:xfrm>
              <a:off x="6241542" y="2664142"/>
              <a:ext cx="679079" cy="264033"/>
            </a:xfrm>
            <a:prstGeom prst="rect">
              <a:avLst/>
            </a:prstGeom>
            <a:noFill/>
            <a:ln>
              <a:noFill/>
            </a:ln>
          </p:spPr>
          <p:txBody>
            <a:bodyPr wrap="none" lIns="0" tIns="0" rIns="0" bIns="0" anchor="t" anchorCtr="0">
              <a:spAutoFit/>
            </a:bodyPr>
            <a:lstStyle/>
            <a:p>
              <a:pPr algn="l"/>
              <a:r>
                <a:rPr lang="en-US" sz="1350" b="1" dirty="0">
                  <a:solidFill>
                    <a:srgbClr val="B9D0C7"/>
                  </a:solidFill>
                  <a:latin typeface="+mn-lt"/>
                  <a:ea typeface="+mn-ea"/>
                  <a:cs typeface="+mn-cs"/>
                </a:rPr>
                <a:t>FREEZE</a:t>
              </a:r>
            </a:p>
          </p:txBody>
        </p:sp>
        <p:sp>
          <p:nvSpPr>
            <p:cNvPr id="47" name="TextBox 47"/>
            <p:cNvSpPr txBox="1"/>
            <p:nvPr/>
          </p:nvSpPr>
          <p:spPr>
            <a:xfrm>
              <a:off x="6239637" y="2976086"/>
              <a:ext cx="1095527" cy="613600"/>
            </a:xfrm>
            <a:prstGeom prst="rect">
              <a:avLst/>
            </a:prstGeom>
            <a:noFill/>
            <a:ln>
              <a:noFill/>
            </a:ln>
          </p:spPr>
          <p:txBody>
            <a:bodyPr wrap="none" lIns="0" tIns="0" rIns="0" bIns="0" anchor="t" anchorCtr="0">
              <a:spAutoFit/>
            </a:bodyPr>
            <a:lstStyle/>
            <a:p>
              <a:pPr algn="l">
                <a:lnSpc>
                  <a:spcPts val="2175"/>
                </a:lnSpc>
              </a:pPr>
              <a:r>
                <a:rPr lang="en-US" sz="1720" b="1" dirty="0">
                  <a:solidFill>
                    <a:srgbClr val="FFFFFF"/>
                  </a:solidFill>
                  <a:latin typeface="+mj-lt"/>
                  <a:ea typeface="+mj-ea"/>
                  <a:cs typeface="+mj-cs"/>
                </a:rPr>
                <a:t>Hardware</a:t>
              </a:r>
              <a:br/>
              <a:r>
                <a:rPr lang="en-US" sz="1720" b="1" dirty="0">
                  <a:solidFill>
                    <a:srgbClr val="FFFFFF"/>
                  </a:solidFill>
                  <a:latin typeface="+mj-lt"/>
                  <a:ea typeface="+mj-ea"/>
                  <a:cs typeface="+mj-cs"/>
                </a:rPr>
                <a:t>candidate</a:t>
              </a:r>
            </a:p>
          </p:txBody>
        </p:sp>
        <p:sp>
          <p:nvSpPr>
            <p:cNvPr id="48" name="TextBox 48"/>
            <p:cNvSpPr txBox="1"/>
            <p:nvPr/>
          </p:nvSpPr>
          <p:spPr>
            <a:xfrm>
              <a:off x="6242304" y="3747135"/>
              <a:ext cx="1051682" cy="234696"/>
            </a:xfrm>
            <a:prstGeom prst="rect">
              <a:avLst/>
            </a:prstGeom>
            <a:noFill/>
            <a:ln>
              <a:noFill/>
            </a:ln>
          </p:spPr>
          <p:txBody>
            <a:bodyPr wrap="none" lIns="0" tIns="0" rIns="0" bIns="0" anchor="t" anchorCtr="0">
              <a:spAutoFit/>
            </a:bodyPr>
            <a:lstStyle/>
            <a:p>
              <a:pPr algn="l"/>
              <a:r>
                <a:rPr lang="en-US" sz="1200" b="1" dirty="0">
                  <a:solidFill>
                    <a:srgbClr val="B9D0C7"/>
                  </a:solidFill>
                  <a:latin typeface="+mn-lt"/>
                  <a:ea typeface="+mn-ea"/>
                  <a:cs typeface="+mn-cs"/>
                </a:rPr>
                <a:t>DELIVERABLE</a:t>
              </a:r>
            </a:p>
          </p:txBody>
        </p:sp>
        <p:sp>
          <p:nvSpPr>
            <p:cNvPr id="49" name="TextBox 49"/>
            <p:cNvSpPr txBox="1"/>
            <p:nvPr/>
          </p:nvSpPr>
          <p:spPr>
            <a:xfrm>
              <a:off x="6241923" y="3996214"/>
              <a:ext cx="1354199" cy="249364"/>
            </a:xfrm>
            <a:prstGeom prst="rect">
              <a:avLst/>
            </a:prstGeom>
            <a:noFill/>
            <a:ln>
              <a:noFill/>
            </a:ln>
          </p:spPr>
          <p:txBody>
            <a:bodyPr wrap="none" lIns="0" tIns="0" rIns="0" bIns="0" anchor="t" anchorCtr="0">
              <a:spAutoFit/>
            </a:bodyPr>
            <a:lstStyle/>
            <a:p>
              <a:pPr algn="l"/>
              <a:r>
                <a:rPr lang="en-US" sz="1280" dirty="0">
                  <a:solidFill>
                    <a:srgbClr val="FBF7EE"/>
                  </a:solidFill>
                  <a:latin typeface="+mn-lt"/>
                  <a:ea typeface="+mn-ea"/>
                  <a:cs typeface="+mn-cs"/>
                </a:rPr>
                <a:t>Frozen run spec</a:t>
              </a:r>
            </a:p>
          </p:txBody>
        </p:sp>
        <p:sp>
          <p:nvSpPr>
            <p:cNvPr id="50" name="TextBox 50"/>
            <p:cNvSpPr txBox="1"/>
            <p:nvPr/>
          </p:nvSpPr>
          <p:spPr>
            <a:xfrm>
              <a:off x="6242304" y="4451985"/>
              <a:ext cx="361676" cy="234696"/>
            </a:xfrm>
            <a:prstGeom prst="rect">
              <a:avLst/>
            </a:prstGeom>
            <a:noFill/>
            <a:ln>
              <a:noFill/>
            </a:ln>
          </p:spPr>
          <p:txBody>
            <a:bodyPr wrap="none" lIns="0" tIns="0" rIns="0" bIns="0" anchor="t" anchorCtr="0">
              <a:spAutoFit/>
            </a:bodyPr>
            <a:lstStyle/>
            <a:p>
              <a:pPr algn="l"/>
              <a:r>
                <a:rPr lang="en-US" sz="1200" b="1" dirty="0">
                  <a:solidFill>
                    <a:srgbClr val="B9D0C7"/>
                  </a:solidFill>
                  <a:latin typeface="+mn-lt"/>
                  <a:ea typeface="+mn-ea"/>
                  <a:cs typeface="+mn-cs"/>
                </a:rPr>
                <a:t>EXIT</a:t>
              </a:r>
            </a:p>
          </p:txBody>
        </p:sp>
        <p:sp>
          <p:nvSpPr>
            <p:cNvPr id="51" name="TextBox 51"/>
            <p:cNvSpPr txBox="1"/>
            <p:nvPr/>
          </p:nvSpPr>
          <p:spPr>
            <a:xfrm>
              <a:off x="6242304" y="4709160"/>
              <a:ext cx="1414272" cy="472821"/>
            </a:xfrm>
            <a:prstGeom prst="rect">
              <a:avLst/>
            </a:prstGeom>
            <a:noFill/>
            <a:ln>
              <a:noFill/>
            </a:ln>
          </p:spPr>
          <p:txBody>
            <a:bodyPr wrap="none" lIns="0" tIns="0" rIns="0" bIns="0" anchor="t" anchorCtr="0">
              <a:spAutoFit/>
            </a:bodyPr>
            <a:lstStyle/>
            <a:p>
              <a:pPr algn="l">
                <a:lnSpc>
                  <a:spcPts val="1875"/>
                </a:lnSpc>
              </a:pPr>
              <a:r>
                <a:rPr lang="en-US" sz="1200" dirty="0">
                  <a:solidFill>
                    <a:srgbClr val="FBF7EE"/>
                  </a:solidFill>
                  <a:latin typeface="+mn-lt"/>
                  <a:ea typeface="+mn-ea"/>
                  <a:cs typeface="+mn-cs"/>
                </a:rPr>
                <a:t>Shots · calibration</a:t>
              </a:r>
              <a:br/>
              <a:r>
                <a:rPr lang="en-US" sz="1200" dirty="0">
                  <a:solidFill>
                    <a:srgbClr val="FBF7EE"/>
                  </a:solidFill>
                  <a:latin typeface="+mn-lt"/>
                  <a:ea typeface="+mn-ea"/>
                  <a:cs typeface="+mn-cs"/>
                </a:rPr>
                <a:t>metadata locked</a:t>
              </a:r>
            </a:p>
          </p:txBody>
        </p:sp>
        <p:sp>
          <p:nvSpPr>
            <p:cNvPr id="52" name="Rectangle 52"/>
            <p:cNvSpPr/>
            <p:nvPr/>
          </p:nvSpPr>
          <p:spPr>
            <a:xfrm>
              <a:off x="7924800" y="2495550"/>
              <a:ext cx="1676400" cy="2895600"/>
            </a:xfrm>
            <a:prstGeom prst="rect">
              <a:avLst/>
            </a:prstGeom>
            <a:solidFill>
              <a:schemeClr val="lt2"/>
            </a:solidFill>
            <a:ln w="28575">
              <a:solidFill>
                <a:schemeClr val="accent2"/>
              </a:solidFill>
              <a:custDash>
                <a:ds d="333333" sp="233333"/>
              </a:custDash>
            </a:ln>
          </p:spPr>
        </p:sp>
        <p:sp>
          <p:nvSpPr>
            <p:cNvPr id="53" name="TextBox 53"/>
            <p:cNvSpPr txBox="1"/>
            <p:nvPr/>
          </p:nvSpPr>
          <p:spPr>
            <a:xfrm>
              <a:off x="8070342" y="2664142"/>
              <a:ext cx="890786" cy="264033"/>
            </a:xfrm>
            <a:prstGeom prst="rect">
              <a:avLst/>
            </a:prstGeom>
            <a:noFill/>
            <a:ln>
              <a:noFill/>
            </a:ln>
          </p:spPr>
          <p:txBody>
            <a:bodyPr wrap="none" lIns="0" tIns="0" rIns="0" bIns="0" anchor="t" anchorCtr="0">
              <a:spAutoFit/>
            </a:bodyPr>
            <a:lstStyle/>
            <a:p>
              <a:pPr algn="l"/>
              <a:r>
                <a:rPr lang="en-US" sz="1350" b="1" dirty="0">
                  <a:solidFill>
                    <a:schemeClr val="accent5"/>
                  </a:solidFill>
                  <a:latin typeface="+mn-lt"/>
                  <a:ea typeface="+mn-ea"/>
                  <a:cs typeface="+mn-cs"/>
                </a:rPr>
                <a:t>QPU GATE</a:t>
              </a:r>
            </a:p>
          </p:txBody>
        </p:sp>
        <p:sp>
          <p:nvSpPr>
            <p:cNvPr id="54" name="TextBox 54"/>
            <p:cNvSpPr txBox="1"/>
            <p:nvPr/>
          </p:nvSpPr>
          <p:spPr>
            <a:xfrm>
              <a:off x="8068437" y="2976086"/>
              <a:ext cx="1645996" cy="613600"/>
            </a:xfrm>
            <a:prstGeom prst="rect">
              <a:avLst/>
            </a:prstGeom>
            <a:noFill/>
            <a:ln>
              <a:noFill/>
            </a:ln>
          </p:spPr>
          <p:txBody>
            <a:bodyPr wrap="none" lIns="0" tIns="0" rIns="0" bIns="0" anchor="t" anchorCtr="0">
              <a:spAutoFit/>
            </a:bodyPr>
            <a:lstStyle/>
            <a:p>
              <a:pPr algn="l">
                <a:lnSpc>
                  <a:spcPts val="2175"/>
                </a:lnSpc>
              </a:pPr>
              <a:r>
                <a:rPr lang="en-US" sz="1720" b="1" dirty="0">
                  <a:solidFill>
                    <a:schemeClr val="accent1"/>
                  </a:solidFill>
                  <a:latin typeface="+mj-lt"/>
                  <a:ea typeface="+mj-ea"/>
                  <a:cs typeface="+mj-cs"/>
                </a:rPr>
                <a:t>Remote subset</a:t>
              </a:r>
              <a:br/>
              <a:r>
                <a:rPr lang="en-US" sz="1720" b="1" dirty="0">
                  <a:solidFill>
                    <a:schemeClr val="accent1"/>
                  </a:solidFill>
                  <a:latin typeface="+mj-lt"/>
                  <a:ea typeface="+mj-ea"/>
                  <a:cs typeface="+mj-cs"/>
                </a:rPr>
                <a:t>raw counts</a:t>
              </a:r>
            </a:p>
          </p:txBody>
        </p:sp>
        <p:sp>
          <p:nvSpPr>
            <p:cNvPr id="55" name="TextBox 55"/>
            <p:cNvSpPr txBox="1"/>
            <p:nvPr/>
          </p:nvSpPr>
          <p:spPr>
            <a:xfrm>
              <a:off x="8071104" y="3747135"/>
              <a:ext cx="1051682" cy="234696"/>
            </a:xfrm>
            <a:prstGeom prst="rect">
              <a:avLst/>
            </a:prstGeom>
            <a:noFill/>
            <a:ln>
              <a:noFill/>
            </a:ln>
          </p:spPr>
          <p:txBody>
            <a:bodyPr wrap="none" lIns="0" tIns="0" rIns="0" bIns="0" anchor="t" anchorCtr="0">
              <a:spAutoFit/>
            </a:bodyPr>
            <a:lstStyle/>
            <a:p>
              <a:pPr algn="l"/>
              <a:r>
                <a:rPr lang="en-US" sz="1200" b="1" dirty="0">
                  <a:solidFill>
                    <a:schemeClr val="accent6"/>
                  </a:solidFill>
                  <a:latin typeface="+mn-lt"/>
                  <a:ea typeface="+mn-ea"/>
                  <a:cs typeface="+mn-cs"/>
                </a:rPr>
                <a:t>DELIVERABLE</a:t>
              </a:r>
            </a:p>
          </p:txBody>
        </p:sp>
        <p:sp>
          <p:nvSpPr>
            <p:cNvPr id="56" name="TextBox 56"/>
            <p:cNvSpPr txBox="1"/>
            <p:nvPr/>
          </p:nvSpPr>
          <p:spPr>
            <a:xfrm>
              <a:off x="8070723" y="3996214"/>
              <a:ext cx="1456863"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Calibrated result</a:t>
              </a:r>
            </a:p>
          </p:txBody>
        </p:sp>
        <p:sp>
          <p:nvSpPr>
            <p:cNvPr id="57" name="TextBox 57"/>
            <p:cNvSpPr txBox="1"/>
            <p:nvPr/>
          </p:nvSpPr>
          <p:spPr>
            <a:xfrm>
              <a:off x="8071104" y="4451985"/>
              <a:ext cx="361676" cy="234696"/>
            </a:xfrm>
            <a:prstGeom prst="rect">
              <a:avLst/>
            </a:prstGeom>
            <a:noFill/>
            <a:ln>
              <a:noFill/>
            </a:ln>
          </p:spPr>
          <p:txBody>
            <a:bodyPr wrap="none" lIns="0" tIns="0" rIns="0" bIns="0" anchor="t" anchorCtr="0">
              <a:spAutoFit/>
            </a:bodyPr>
            <a:lstStyle/>
            <a:p>
              <a:pPr algn="l"/>
              <a:r>
                <a:rPr lang="en-US" sz="1200" b="1" dirty="0">
                  <a:solidFill>
                    <a:schemeClr val="accent5"/>
                  </a:solidFill>
                  <a:latin typeface="+mn-lt"/>
                  <a:ea typeface="+mn-ea"/>
                  <a:cs typeface="+mn-cs"/>
                </a:rPr>
                <a:t>EXIT</a:t>
              </a:r>
            </a:p>
          </p:txBody>
        </p:sp>
        <p:sp>
          <p:nvSpPr>
            <p:cNvPr id="58" name="TextBox 58"/>
            <p:cNvSpPr txBox="1"/>
            <p:nvPr/>
          </p:nvSpPr>
          <p:spPr>
            <a:xfrm>
              <a:off x="8070723" y="4701064"/>
              <a:ext cx="1321562" cy="487490"/>
            </a:xfrm>
            <a:prstGeom prst="rect">
              <a:avLst/>
            </a:prstGeom>
            <a:noFill/>
            <a:ln>
              <a:noFill/>
            </a:ln>
          </p:spPr>
          <p:txBody>
            <a:bodyPr wrap="none" lIns="0" tIns="0" rIns="0" bIns="0" anchor="t" anchorCtr="0">
              <a:spAutoFit/>
            </a:bodyPr>
            <a:lstStyle/>
            <a:p>
              <a:pPr algn="l">
                <a:lnSpc>
                  <a:spcPts val="1875"/>
                </a:lnSpc>
              </a:pPr>
              <a:r>
                <a:rPr lang="en-US" sz="1280" dirty="0">
                  <a:solidFill>
                    <a:schemeClr val="dk1"/>
                  </a:solidFill>
                  <a:latin typeface="+mn-lt"/>
                  <a:ea typeface="+mn-ea"/>
                  <a:cs typeface="+mn-cs"/>
                </a:rPr>
                <a:t>Run only after</a:t>
              </a:r>
              <a:br/>
              <a:r>
                <a:rPr lang="en-US" sz="1280" dirty="0">
                  <a:solidFill>
                    <a:schemeClr val="dk1"/>
                  </a:solidFill>
                  <a:latin typeface="+mn-lt"/>
                  <a:ea typeface="+mn-ea"/>
                  <a:cs typeface="+mn-cs"/>
                </a:rPr>
                <a:t>prior gates pass</a:t>
              </a:r>
            </a:p>
          </p:txBody>
        </p:sp>
        <p:sp>
          <p:nvSpPr>
            <p:cNvPr id="59" name="Rectangle 59"/>
            <p:cNvSpPr/>
            <p:nvPr/>
          </p:nvSpPr>
          <p:spPr>
            <a:xfrm>
              <a:off x="9753600" y="2495550"/>
              <a:ext cx="1828800" cy="2895600"/>
            </a:xfrm>
            <a:prstGeom prst="rect">
              <a:avLst/>
            </a:prstGeom>
            <a:solidFill>
              <a:schemeClr val="accent3"/>
            </a:solidFill>
            <a:ln>
              <a:noFill/>
            </a:ln>
          </p:spPr>
        </p:sp>
        <p:sp>
          <p:nvSpPr>
            <p:cNvPr id="60" name="TextBox 60"/>
            <p:cNvSpPr txBox="1"/>
            <p:nvPr/>
          </p:nvSpPr>
          <p:spPr>
            <a:xfrm>
              <a:off x="9899142" y="2664142"/>
              <a:ext cx="628673" cy="264033"/>
            </a:xfrm>
            <a:prstGeom prst="rect">
              <a:avLst/>
            </a:prstGeom>
            <a:noFill/>
            <a:ln>
              <a:noFill/>
            </a:ln>
          </p:spPr>
          <p:txBody>
            <a:bodyPr wrap="none" lIns="0" tIns="0" rIns="0" bIns="0" anchor="t" anchorCtr="0">
              <a:spAutoFit/>
            </a:bodyPr>
            <a:lstStyle/>
            <a:p>
              <a:pPr algn="l"/>
              <a:r>
                <a:rPr lang="en-US" sz="1350" b="1" dirty="0">
                  <a:solidFill>
                    <a:srgbClr val="FBF7EE"/>
                  </a:solidFill>
                  <a:latin typeface="+mn-lt"/>
                  <a:ea typeface="+mn-ea"/>
                  <a:cs typeface="+mn-cs"/>
                </a:rPr>
                <a:t>DECIDE</a:t>
              </a:r>
            </a:p>
          </p:txBody>
        </p:sp>
        <p:sp>
          <p:nvSpPr>
            <p:cNvPr id="61" name="TextBox 61"/>
            <p:cNvSpPr txBox="1"/>
            <p:nvPr/>
          </p:nvSpPr>
          <p:spPr>
            <a:xfrm>
              <a:off x="9897237" y="2976086"/>
              <a:ext cx="1347826" cy="613600"/>
            </a:xfrm>
            <a:prstGeom prst="rect">
              <a:avLst/>
            </a:prstGeom>
            <a:noFill/>
            <a:ln>
              <a:noFill/>
            </a:ln>
          </p:spPr>
          <p:txBody>
            <a:bodyPr wrap="none" lIns="0" tIns="0" rIns="0" bIns="0" anchor="t" anchorCtr="0">
              <a:spAutoFit/>
            </a:bodyPr>
            <a:lstStyle/>
            <a:p>
              <a:pPr algn="l">
                <a:lnSpc>
                  <a:spcPts val="2175"/>
                </a:lnSpc>
              </a:pPr>
              <a:r>
                <a:rPr lang="en-US" sz="1720" b="1" dirty="0">
                  <a:solidFill>
                    <a:srgbClr val="FFFFFF"/>
                  </a:solidFill>
                  <a:latin typeface="+mj-lt"/>
                  <a:ea typeface="+mj-ea"/>
                  <a:cs typeface="+mj-cs"/>
                </a:rPr>
                <a:t>Harder data</a:t>
              </a:r>
              <a:br/>
              <a:r>
                <a:rPr lang="en-US" sz="1720" b="1" dirty="0">
                  <a:solidFill>
                    <a:srgbClr val="FFFFFF"/>
                  </a:solidFill>
                  <a:latin typeface="+mj-lt"/>
                  <a:ea typeface="+mj-ea"/>
                  <a:cs typeface="+mj-cs"/>
                </a:rPr>
                <a:t>replication</a:t>
              </a:r>
            </a:p>
          </p:txBody>
        </p:sp>
        <p:sp>
          <p:nvSpPr>
            <p:cNvPr id="62" name="TextBox 62"/>
            <p:cNvSpPr txBox="1"/>
            <p:nvPr/>
          </p:nvSpPr>
          <p:spPr>
            <a:xfrm>
              <a:off x="9899904" y="3747135"/>
              <a:ext cx="1051682" cy="234696"/>
            </a:xfrm>
            <a:prstGeom prst="rect">
              <a:avLst/>
            </a:prstGeom>
            <a:noFill/>
            <a:ln>
              <a:noFill/>
            </a:ln>
          </p:spPr>
          <p:txBody>
            <a:bodyPr wrap="none" lIns="0" tIns="0" rIns="0" bIns="0" anchor="t" anchorCtr="0">
              <a:spAutoFit/>
            </a:bodyPr>
            <a:lstStyle/>
            <a:p>
              <a:pPr algn="l"/>
              <a:r>
                <a:rPr lang="en-US" sz="1200" b="1" dirty="0">
                  <a:solidFill>
                    <a:srgbClr val="FBF7EE"/>
                  </a:solidFill>
                  <a:latin typeface="+mn-lt"/>
                  <a:ea typeface="+mn-ea"/>
                  <a:cs typeface="+mn-cs"/>
                </a:rPr>
                <a:t>DELIVERABLE</a:t>
              </a:r>
            </a:p>
          </p:txBody>
        </p:sp>
        <p:sp>
          <p:nvSpPr>
            <p:cNvPr id="63" name="TextBox 63"/>
            <p:cNvSpPr txBox="1"/>
            <p:nvPr/>
          </p:nvSpPr>
          <p:spPr>
            <a:xfrm>
              <a:off x="9899523" y="3996214"/>
              <a:ext cx="1190214" cy="249364"/>
            </a:xfrm>
            <a:prstGeom prst="rect">
              <a:avLst/>
            </a:prstGeom>
            <a:noFill/>
            <a:ln>
              <a:noFill/>
            </a:ln>
          </p:spPr>
          <p:txBody>
            <a:bodyPr wrap="none" lIns="0" tIns="0" rIns="0" bIns="0" anchor="t" anchorCtr="0">
              <a:spAutoFit/>
            </a:bodyPr>
            <a:lstStyle/>
            <a:p>
              <a:pPr algn="l"/>
              <a:r>
                <a:rPr lang="en-US" sz="1280" dirty="0">
                  <a:solidFill>
                    <a:srgbClr val="FFFFFF"/>
                  </a:solidFill>
                  <a:latin typeface="+mn-lt"/>
                  <a:ea typeface="+mn-ea"/>
                  <a:cs typeface="+mn-cs"/>
                </a:rPr>
                <a:t>Decision memo</a:t>
              </a:r>
            </a:p>
          </p:txBody>
        </p:sp>
        <p:sp>
          <p:nvSpPr>
            <p:cNvPr id="64" name="TextBox 64"/>
            <p:cNvSpPr txBox="1"/>
            <p:nvPr/>
          </p:nvSpPr>
          <p:spPr>
            <a:xfrm>
              <a:off x="9899904" y="4451985"/>
              <a:ext cx="361676" cy="234696"/>
            </a:xfrm>
            <a:prstGeom prst="rect">
              <a:avLst/>
            </a:prstGeom>
            <a:noFill/>
            <a:ln>
              <a:noFill/>
            </a:ln>
          </p:spPr>
          <p:txBody>
            <a:bodyPr wrap="none" lIns="0" tIns="0" rIns="0" bIns="0" anchor="t" anchorCtr="0">
              <a:spAutoFit/>
            </a:bodyPr>
            <a:lstStyle/>
            <a:p>
              <a:pPr algn="l"/>
              <a:r>
                <a:rPr lang="en-US" sz="1200" b="1" dirty="0">
                  <a:solidFill>
                    <a:srgbClr val="FBF7EE"/>
                  </a:solidFill>
                  <a:latin typeface="+mn-lt"/>
                  <a:ea typeface="+mn-ea"/>
                  <a:cs typeface="+mn-cs"/>
                </a:rPr>
                <a:t>EXIT</a:t>
              </a:r>
            </a:p>
          </p:txBody>
        </p:sp>
        <p:sp>
          <p:nvSpPr>
            <p:cNvPr id="65" name="TextBox 65"/>
            <p:cNvSpPr txBox="1"/>
            <p:nvPr/>
          </p:nvSpPr>
          <p:spPr>
            <a:xfrm>
              <a:off x="9899523" y="4701064"/>
              <a:ext cx="1467866" cy="487490"/>
            </a:xfrm>
            <a:prstGeom prst="rect">
              <a:avLst/>
            </a:prstGeom>
            <a:noFill/>
            <a:ln>
              <a:noFill/>
            </a:ln>
          </p:spPr>
          <p:txBody>
            <a:bodyPr wrap="none" lIns="0" tIns="0" rIns="0" bIns="0" anchor="t" anchorCtr="0">
              <a:spAutoFit/>
            </a:bodyPr>
            <a:lstStyle/>
            <a:p>
              <a:pPr algn="l">
                <a:lnSpc>
                  <a:spcPts val="1875"/>
                </a:lnSpc>
              </a:pPr>
              <a:r>
                <a:rPr lang="en-US" sz="1280" dirty="0">
                  <a:solidFill>
                    <a:srgbClr val="FFFFFF"/>
                  </a:solidFill>
                  <a:latin typeface="+mn-lt"/>
                  <a:ea typeface="+mn-ea"/>
                  <a:cs typeface="+mn-cs"/>
                </a:rPr>
                <a:t>Utility evidence</a:t>
              </a:r>
              <a:br/>
              <a:r>
                <a:rPr lang="en-US" sz="1280" dirty="0">
                  <a:solidFill>
                    <a:srgbClr val="FFFFFF"/>
                  </a:solidFill>
                  <a:latin typeface="+mn-lt"/>
                  <a:ea typeface="+mn-ea"/>
                  <a:cs typeface="+mn-cs"/>
                </a:rPr>
                <a:t>or disciplined stop</a:t>
              </a:r>
            </a:p>
          </p:txBody>
        </p:sp>
      </p:grpSp>
      <p:grpSp>
        <p:nvGrpSpPr>
          <p:cNvPr id="69" name="Group 69"/>
          <p:cNvGrpSpPr/>
          <p:nvPr/>
        </p:nvGrpSpPr>
        <p:grpSpPr>
          <a:xfrm>
            <a:off x="609600" y="5562600"/>
            <a:ext cx="10972800" cy="495300"/>
            <a:chOff x="609600" y="5562600"/>
            <a:chExt cx="10972800" cy="495300"/>
          </a:xfrm>
        </p:grpSpPr>
        <p:sp>
          <p:nvSpPr>
            <p:cNvPr id="67" name="Rectangle 67"/>
            <p:cNvSpPr/>
            <p:nvPr/>
          </p:nvSpPr>
          <p:spPr>
            <a:xfrm>
              <a:off x="609600" y="5562600"/>
              <a:ext cx="10972800" cy="495300"/>
            </a:xfrm>
            <a:prstGeom prst="rect">
              <a:avLst/>
            </a:prstGeom>
            <a:solidFill>
              <a:schemeClr val="lt2"/>
            </a:solidFill>
            <a:ln>
              <a:noFill/>
            </a:ln>
          </p:spPr>
        </p:sp>
        <p:sp>
          <p:nvSpPr>
            <p:cNvPr id="68" name="TextBox 68"/>
            <p:cNvSpPr txBox="1"/>
            <p:nvPr/>
          </p:nvSpPr>
          <p:spPr>
            <a:xfrm>
              <a:off x="1897153" y="5715000"/>
              <a:ext cx="8397694" cy="293370"/>
            </a:xfrm>
            <a:prstGeom prst="rect">
              <a:avLst/>
            </a:prstGeom>
            <a:noFill/>
            <a:ln>
              <a:noFill/>
            </a:ln>
          </p:spPr>
          <p:txBody>
            <a:bodyPr wrap="none" lIns="0" tIns="0" rIns="0" bIns="0" anchor="t" anchorCtr="0">
              <a:spAutoFit/>
            </a:bodyPr>
            <a:lstStyle/>
            <a:p>
              <a:pPr algn="ctr"/>
              <a:r>
                <a:rPr lang="en-US" sz="1500" b="1" dirty="0">
                  <a:solidFill>
                    <a:schemeClr val="accent1"/>
                  </a:solidFill>
                  <a:latin typeface="+mn-lt"/>
                  <a:ea typeface="+mn-ea"/>
                  <a:cs typeface="+mn-cs"/>
                </a:rPr>
                <a:t>The 12-week clock begins with five-fold replication—not work already completed.</a:t>
              </a:r>
            </a:p>
          </p:txBody>
        </p:sp>
      </p:grpSp>
      <p:grpSp>
        <p:nvGrpSpPr>
          <p:cNvPr id="71" name="Group 71"/>
          <p:cNvGrpSpPr/>
          <p:nvPr/>
        </p:nvGrpSpPr>
        <p:grpSpPr>
          <a:xfrm>
            <a:off x="10966723" y="6426518"/>
            <a:ext cx="622535" cy="264033"/>
            <a:chOff x="10966723" y="6426518"/>
            <a:chExt cx="622535" cy="264033"/>
          </a:xfrm>
        </p:grpSpPr>
        <p:sp>
          <p:nvSpPr>
            <p:cNvPr id="70" name="TextBox 70"/>
            <p:cNvSpPr txBox="1"/>
            <p:nvPr/>
          </p:nvSpPr>
          <p:spPr>
            <a:xfrm>
              <a:off x="10966723" y="6426518"/>
              <a:ext cx="622535" cy="264033"/>
            </a:xfrm>
            <a:prstGeom prst="rect">
              <a:avLst/>
            </a:prstGeom>
            <a:noFill/>
            <a:ln>
              <a:noFill/>
            </a:ln>
          </p:spPr>
          <p:txBody>
            <a:bodyPr wrap="none" lIns="0" tIns="0" rIns="0" bIns="0" anchor="t" anchorCtr="0">
              <a:spAutoFit/>
            </a:bodyPr>
            <a:lstStyle/>
            <a:p>
              <a:pPr algn="r"/>
              <a:r>
                <a:rPr lang="en-US" sz="1350" dirty="0">
                  <a:solidFill>
                    <a:srgbClr val="766E62"/>
                  </a:solidFill>
                  <a:latin typeface="+mn-lt"/>
                  <a:ea typeface="+mn-ea"/>
                  <a:cs typeface="+mn-cs"/>
                </a:rPr>
                <a:t>05 / 10</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76200"/>
          </a:xfrm>
          <a:prstGeom prst="rect">
            <a:avLst/>
          </a:prstGeom>
          <a:solidFill>
            <a:schemeClr val="accent3"/>
          </a:solidFill>
          <a:ln>
            <a:noFill/>
          </a:ln>
        </p:spPr>
      </p:sp>
      <p:grpSp>
        <p:nvGrpSpPr>
          <p:cNvPr id="5" name="Group 5"/>
          <p:cNvGrpSpPr/>
          <p:nvPr/>
        </p:nvGrpSpPr>
        <p:grpSpPr>
          <a:xfrm>
            <a:off x="594360" y="482918"/>
            <a:ext cx="12362021" cy="913447"/>
            <a:chOff x="594360" y="482918"/>
            <a:chExt cx="12362021" cy="913447"/>
          </a:xfrm>
        </p:grpSpPr>
        <p:sp>
          <p:nvSpPr>
            <p:cNvPr id="3" name="TextBox 3"/>
            <p:cNvSpPr txBox="1"/>
            <p:nvPr/>
          </p:nvSpPr>
          <p:spPr>
            <a:xfrm>
              <a:off x="602742" y="482918"/>
              <a:ext cx="4085425" cy="264033"/>
            </a:xfrm>
            <a:prstGeom prst="rect">
              <a:avLst/>
            </a:prstGeom>
            <a:noFill/>
            <a:ln>
              <a:noFill/>
            </a:ln>
          </p:spPr>
          <p:txBody>
            <a:bodyPr wrap="none" lIns="0" tIns="0" rIns="0" bIns="0" anchor="t" anchorCtr="0">
              <a:spAutoFit/>
            </a:bodyPr>
            <a:lstStyle/>
            <a:p>
              <a:pPr algn="l"/>
              <a:r>
                <a:rPr lang="en-US" sz="1350" b="1" spc="105" dirty="0">
                  <a:solidFill>
                    <a:schemeClr val="accent6"/>
                  </a:solidFill>
                  <a:latin typeface="+mn-lt"/>
                  <a:ea typeface="+mn-ea"/>
                  <a:cs typeface="+mn-cs"/>
                </a:rPr>
                <a:t>COMPLETED PILOT · PRIMARY EVIDENCE</a:t>
              </a:r>
            </a:p>
          </p:txBody>
        </p:sp>
        <p:sp>
          <p:nvSpPr>
            <p:cNvPr id="4" name="TextBox 4"/>
            <p:cNvSpPr txBox="1"/>
            <p:nvPr/>
          </p:nvSpPr>
          <p:spPr>
            <a:xfrm>
              <a:off x="594360" y="809625"/>
              <a:ext cx="12362021"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The pilot shows useful signal—not competitive advantage</a:t>
              </a:r>
            </a:p>
          </p:txBody>
        </p:sp>
      </p:grpSp>
      <p:grpSp>
        <p:nvGrpSpPr>
          <p:cNvPr id="8" name="Group 8"/>
          <p:cNvGrpSpPr/>
          <p:nvPr/>
        </p:nvGrpSpPr>
        <p:grpSpPr>
          <a:xfrm>
            <a:off x="609600" y="1504950"/>
            <a:ext cx="7086600" cy="4286250"/>
            <a:chOff x="609600" y="1504950"/>
            <a:chExt cx="7086600" cy="4286250"/>
          </a:xfrm>
        </p:grpSpPr>
        <p:sp>
          <p:nvSpPr>
            <p:cNvPr id="6" name="Rectangle 6"/>
            <p:cNvSpPr/>
            <p:nvPr/>
          </p:nvSpPr>
          <p:spPr>
            <a:xfrm>
              <a:off x="609600" y="1504950"/>
              <a:ext cx="7086600" cy="4286250"/>
            </a:xfrm>
            <a:prstGeom prst="rect">
              <a:avLst/>
            </a:prstGeom>
            <a:solidFill>
              <a:srgbClr val="FFFFFF"/>
            </a:solidFill>
            <a:ln>
              <a:noFill/>
            </a:ln>
          </p:spPr>
        </p:sp>
        <p:pic>
          <p:nvPicPr>
            <p:cNvPr id="7" name="Image 7"/>
            <p:cNvPicPr>
              <a:picLocks noChangeAspect="1"/>
            </p:cNvPicPr>
            <p:nvPr/>
          </p:nvPicPr>
          <p:blipFill>
            <a:blip r:embed="rId2"/>
            <a:stretch>
              <a:fillRect/>
            </a:stretch>
          </p:blipFill>
          <p:spPr>
            <a:xfrm>
              <a:off x="742950" y="1785577"/>
              <a:ext cx="6819900" cy="3667845"/>
            </a:xfrm>
            <a:prstGeom prst="rect">
              <a:avLst/>
            </a:prstGeom>
          </p:spPr>
        </p:pic>
      </p:grpSp>
      <p:grpSp>
        <p:nvGrpSpPr>
          <p:cNvPr id="21" name="Group 21"/>
          <p:cNvGrpSpPr/>
          <p:nvPr/>
        </p:nvGrpSpPr>
        <p:grpSpPr>
          <a:xfrm>
            <a:off x="7951470" y="1683068"/>
            <a:ext cx="3630930" cy="4128896"/>
            <a:chOff x="7951470" y="1683068"/>
            <a:chExt cx="3630930" cy="4128896"/>
          </a:xfrm>
        </p:grpSpPr>
        <p:sp>
          <p:nvSpPr>
            <p:cNvPr id="9" name="TextBox 9"/>
            <p:cNvSpPr txBox="1"/>
            <p:nvPr/>
          </p:nvSpPr>
          <p:spPr>
            <a:xfrm>
              <a:off x="7956042" y="1683068"/>
              <a:ext cx="1757774" cy="264033"/>
            </a:xfrm>
            <a:prstGeom prst="rect">
              <a:avLst/>
            </a:prstGeom>
            <a:noFill/>
            <a:ln>
              <a:noFill/>
            </a:ln>
          </p:spPr>
          <p:txBody>
            <a:bodyPr wrap="none" lIns="0" tIns="0" rIns="0" bIns="0" anchor="t" anchorCtr="0">
              <a:spAutoFit/>
            </a:bodyPr>
            <a:lstStyle/>
            <a:p>
              <a:pPr algn="l"/>
              <a:r>
                <a:rPr lang="en-US" sz="1350" b="1" dirty="0">
                  <a:solidFill>
                    <a:schemeClr val="accent5"/>
                  </a:solidFill>
                  <a:latin typeface="+mn-lt"/>
                  <a:ea typeface="+mn-ea"/>
                  <a:cs typeface="+mn-cs"/>
                </a:rPr>
                <a:t>Q1 · PHOTONIC-15</a:t>
              </a:r>
            </a:p>
          </p:txBody>
        </p:sp>
        <p:sp>
          <p:nvSpPr>
            <p:cNvPr id="10" name="TextBox 10"/>
            <p:cNvSpPr txBox="1"/>
            <p:nvPr/>
          </p:nvSpPr>
          <p:spPr>
            <a:xfrm>
              <a:off x="7951470" y="2033588"/>
              <a:ext cx="2487668" cy="440055"/>
            </a:xfrm>
            <a:prstGeom prst="rect">
              <a:avLst/>
            </a:prstGeom>
            <a:noFill/>
            <a:ln>
              <a:noFill/>
            </a:ln>
          </p:spPr>
          <p:txBody>
            <a:bodyPr wrap="none" lIns="0" tIns="0" rIns="0" bIns="0" anchor="t" anchorCtr="0">
              <a:spAutoFit/>
            </a:bodyPr>
            <a:lstStyle/>
            <a:p>
              <a:pPr algn="l"/>
              <a:r>
                <a:rPr lang="en-US" sz="2250" b="1" dirty="0">
                  <a:solidFill>
                    <a:schemeClr val="accent1"/>
                  </a:solidFill>
                  <a:latin typeface="Consolas"/>
                  <a:ea typeface="Consolas"/>
                  <a:cs typeface="Consolas"/>
                </a:rPr>
                <a:t>0.7812 → 0.7886</a:t>
              </a:r>
            </a:p>
          </p:txBody>
        </p:sp>
        <p:sp>
          <p:nvSpPr>
            <p:cNvPr id="11" name="TextBox 11"/>
            <p:cNvSpPr txBox="1"/>
            <p:nvPr/>
          </p:nvSpPr>
          <p:spPr>
            <a:xfrm>
              <a:off x="7951470" y="2414588"/>
              <a:ext cx="1342725" cy="440055"/>
            </a:xfrm>
            <a:prstGeom prst="rect">
              <a:avLst/>
            </a:prstGeom>
            <a:noFill/>
            <a:ln>
              <a:noFill/>
            </a:ln>
          </p:spPr>
          <p:txBody>
            <a:bodyPr wrap="none" lIns="0" tIns="0" rIns="0" bIns="0" anchor="t" anchorCtr="0">
              <a:spAutoFit/>
            </a:bodyPr>
            <a:lstStyle/>
            <a:p>
              <a:pPr algn="l"/>
              <a:r>
                <a:rPr lang="en-US" sz="2250" b="1" dirty="0">
                  <a:solidFill>
                    <a:schemeClr val="accent5"/>
                  </a:solidFill>
                  <a:latin typeface="Consolas"/>
                  <a:ea typeface="Consolas"/>
                  <a:cs typeface="Consolas"/>
                </a:rPr>
                <a:t>→ 0.8708</a:t>
              </a:r>
            </a:p>
          </p:txBody>
        </p:sp>
        <p:sp>
          <p:nvSpPr>
            <p:cNvPr id="12" name="TextBox 12"/>
            <p:cNvSpPr txBox="1"/>
            <p:nvPr/>
          </p:nvSpPr>
          <p:spPr>
            <a:xfrm>
              <a:off x="7956042" y="2787968"/>
              <a:ext cx="2458079"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12 · 24 · 48 labels per class</a:t>
              </a:r>
            </a:p>
          </p:txBody>
        </p:sp>
        <p:sp>
          <p:nvSpPr>
            <p:cNvPr id="13" name="Line 13"/>
            <p:cNvSpPr/>
            <p:nvPr/>
          </p:nvSpPr>
          <p:spPr>
            <a:xfrm>
              <a:off x="7962900" y="3162300"/>
              <a:ext cx="3619500" cy="9525"/>
            </a:xfrm>
            <a:custGeom>
              <a:avLst/>
              <a:gdLst/>
              <a:ahLst/>
              <a:cxnLst/>
              <a:rect l="l" t="t" r="r" b="b"/>
              <a:pathLst>
                <a:path w="3619500" h="9525">
                  <a:moveTo>
                    <a:pt x="0" y="0"/>
                  </a:moveTo>
                  <a:lnTo>
                    <a:pt x="3619500" y="0"/>
                  </a:lnTo>
                </a:path>
              </a:pathLst>
            </a:custGeom>
            <a:noFill/>
            <a:ln w="19050">
              <a:solidFill>
                <a:srgbClr val="C9BDA8"/>
              </a:solidFill>
            </a:ln>
          </p:spPr>
        </p:sp>
        <p:sp>
          <p:nvSpPr>
            <p:cNvPr id="14" name="TextBox 14"/>
            <p:cNvSpPr txBox="1"/>
            <p:nvPr/>
          </p:nvSpPr>
          <p:spPr>
            <a:xfrm>
              <a:off x="7956042" y="3378518"/>
              <a:ext cx="2211431" cy="264033"/>
            </a:xfrm>
            <a:prstGeom prst="rect">
              <a:avLst/>
            </a:prstGeom>
            <a:noFill/>
            <a:ln>
              <a:noFill/>
            </a:ln>
          </p:spPr>
          <p:txBody>
            <a:bodyPr wrap="none" lIns="0" tIns="0" rIns="0" bIns="0" anchor="t" anchorCtr="0">
              <a:spAutoFit/>
            </a:bodyPr>
            <a:lstStyle/>
            <a:p>
              <a:pPr algn="l"/>
              <a:r>
                <a:rPr lang="en-US" sz="1350" b="1" dirty="0">
                  <a:solidFill>
                    <a:schemeClr val="accent6"/>
                  </a:solidFill>
                  <a:latin typeface="+mn-lt"/>
                  <a:ea typeface="+mn-ea"/>
                  <a:cs typeface="+mn-cs"/>
                </a:rPr>
                <a:t>B1 · FULL CLIP + LINEAR</a:t>
              </a:r>
            </a:p>
          </p:txBody>
        </p:sp>
        <p:sp>
          <p:nvSpPr>
            <p:cNvPr id="15" name="TextBox 15"/>
            <p:cNvSpPr txBox="1"/>
            <p:nvPr/>
          </p:nvSpPr>
          <p:spPr>
            <a:xfrm>
              <a:off x="7951470" y="3729038"/>
              <a:ext cx="2487668" cy="440055"/>
            </a:xfrm>
            <a:prstGeom prst="rect">
              <a:avLst/>
            </a:prstGeom>
            <a:noFill/>
            <a:ln>
              <a:noFill/>
            </a:ln>
          </p:spPr>
          <p:txBody>
            <a:bodyPr wrap="none" lIns="0" tIns="0" rIns="0" bIns="0" anchor="t" anchorCtr="0">
              <a:spAutoFit/>
            </a:bodyPr>
            <a:lstStyle/>
            <a:p>
              <a:pPr algn="l"/>
              <a:r>
                <a:rPr lang="en-US" sz="2250" b="1" dirty="0">
                  <a:solidFill>
                    <a:schemeClr val="accent1"/>
                  </a:solidFill>
                  <a:latin typeface="Consolas"/>
                  <a:ea typeface="Consolas"/>
                  <a:cs typeface="Consolas"/>
                </a:rPr>
                <a:t>0.9242 → 0.9638</a:t>
              </a:r>
            </a:p>
          </p:txBody>
        </p:sp>
        <p:sp>
          <p:nvSpPr>
            <p:cNvPr id="16" name="TextBox 16"/>
            <p:cNvSpPr txBox="1"/>
            <p:nvPr/>
          </p:nvSpPr>
          <p:spPr>
            <a:xfrm>
              <a:off x="7951470" y="4110038"/>
              <a:ext cx="1342725" cy="440055"/>
            </a:xfrm>
            <a:prstGeom prst="rect">
              <a:avLst/>
            </a:prstGeom>
            <a:noFill/>
            <a:ln>
              <a:noFill/>
            </a:ln>
          </p:spPr>
          <p:txBody>
            <a:bodyPr wrap="none" lIns="0" tIns="0" rIns="0" bIns="0" anchor="t" anchorCtr="0">
              <a:spAutoFit/>
            </a:bodyPr>
            <a:lstStyle/>
            <a:p>
              <a:pPr algn="l"/>
              <a:r>
                <a:rPr lang="en-US" sz="2250" b="1" dirty="0">
                  <a:solidFill>
                    <a:schemeClr val="accent6"/>
                  </a:solidFill>
                  <a:latin typeface="Consolas"/>
                  <a:ea typeface="Consolas"/>
                  <a:cs typeface="Consolas"/>
                </a:rPr>
                <a:t>→ 0.9852</a:t>
              </a:r>
            </a:p>
          </p:txBody>
        </p:sp>
        <p:sp>
          <p:nvSpPr>
            <p:cNvPr id="17" name="Line 17"/>
            <p:cNvSpPr/>
            <p:nvPr/>
          </p:nvSpPr>
          <p:spPr>
            <a:xfrm>
              <a:off x="7962900" y="4610100"/>
              <a:ext cx="3619500" cy="9525"/>
            </a:xfrm>
            <a:custGeom>
              <a:avLst/>
              <a:gdLst/>
              <a:ahLst/>
              <a:cxnLst/>
              <a:rect l="l" t="t" r="r" b="b"/>
              <a:pathLst>
                <a:path w="3619500" h="9525">
                  <a:moveTo>
                    <a:pt x="0" y="0"/>
                  </a:moveTo>
                  <a:lnTo>
                    <a:pt x="3619500" y="0"/>
                  </a:lnTo>
                </a:path>
              </a:pathLst>
            </a:custGeom>
            <a:noFill/>
            <a:ln w="19050">
              <a:solidFill>
                <a:srgbClr val="C9BDA8"/>
              </a:solidFill>
            </a:ln>
          </p:spPr>
        </p:sp>
        <p:sp>
          <p:nvSpPr>
            <p:cNvPr id="18" name="Rectangle 18"/>
            <p:cNvSpPr/>
            <p:nvPr/>
          </p:nvSpPr>
          <p:spPr>
            <a:xfrm>
              <a:off x="7962900" y="4857750"/>
              <a:ext cx="3619500" cy="933450"/>
            </a:xfrm>
            <a:prstGeom prst="rect">
              <a:avLst/>
            </a:prstGeom>
            <a:solidFill>
              <a:schemeClr val="accent1"/>
            </a:solidFill>
            <a:ln>
              <a:noFill/>
            </a:ln>
          </p:spPr>
        </p:sp>
        <p:sp>
          <p:nvSpPr>
            <p:cNvPr id="19" name="TextBox 19"/>
            <p:cNvSpPr txBox="1"/>
            <p:nvPr/>
          </p:nvSpPr>
          <p:spPr>
            <a:xfrm>
              <a:off x="8184642" y="4997768"/>
              <a:ext cx="1344442" cy="264033"/>
            </a:xfrm>
            <a:prstGeom prst="rect">
              <a:avLst/>
            </a:prstGeom>
            <a:noFill/>
            <a:ln>
              <a:noFill/>
            </a:ln>
          </p:spPr>
          <p:txBody>
            <a:bodyPr wrap="none" lIns="0" tIns="0" rIns="0" bIns="0" anchor="t" anchorCtr="0">
              <a:spAutoFit/>
            </a:bodyPr>
            <a:lstStyle/>
            <a:p>
              <a:pPr algn="l"/>
              <a:r>
                <a:rPr lang="en-US" sz="1350" b="1" dirty="0">
                  <a:solidFill>
                    <a:srgbClr val="B9D0C7"/>
                  </a:solidFill>
                  <a:latin typeface="+mn-lt"/>
                  <a:ea typeface="+mn-ea"/>
                  <a:cs typeface="+mn-cs"/>
                </a:rPr>
                <a:t>PILOT VERDICT</a:t>
              </a:r>
            </a:p>
          </p:txBody>
        </p:sp>
        <p:sp>
          <p:nvSpPr>
            <p:cNvPr id="20" name="TextBox 20"/>
            <p:cNvSpPr txBox="1"/>
            <p:nvPr/>
          </p:nvSpPr>
          <p:spPr>
            <a:xfrm>
              <a:off x="8183118" y="5251132"/>
              <a:ext cx="2261044" cy="560832"/>
            </a:xfrm>
            <a:prstGeom prst="rect">
              <a:avLst/>
            </a:prstGeom>
            <a:noFill/>
            <a:ln>
              <a:noFill/>
            </a:ln>
          </p:spPr>
          <p:txBody>
            <a:bodyPr wrap="none" lIns="0" tIns="0" rIns="0" bIns="0" anchor="t" anchorCtr="0">
              <a:spAutoFit/>
            </a:bodyPr>
            <a:lstStyle/>
            <a:p>
              <a:pPr algn="l">
                <a:lnSpc>
                  <a:spcPts val="1875"/>
                </a:lnSpc>
              </a:pPr>
              <a:r>
                <a:rPr lang="en-US" sz="1650" b="1" dirty="0">
                  <a:solidFill>
                    <a:srgbClr val="FFFFFF"/>
                  </a:solidFill>
                  <a:latin typeface="+mj-lt"/>
                  <a:ea typeface="+mj-ea"/>
                  <a:cs typeface="+mj-cs"/>
                </a:rPr>
                <a:t>Learns signal;</a:t>
              </a:r>
              <a:br/>
              <a:r>
                <a:rPr lang="en-US" sz="1650" b="1" dirty="0">
                  <a:solidFill>
                    <a:srgbClr val="FFFFFF"/>
                  </a:solidFill>
                  <a:latin typeface="+mj-lt"/>
                  <a:ea typeface="+mj-ea"/>
                  <a:cs typeface="+mj-cs"/>
                </a:rPr>
                <a:t>not competitive yet.</a:t>
              </a:r>
            </a:p>
          </p:txBody>
        </p:sp>
      </p:grpSp>
      <p:grpSp>
        <p:nvGrpSpPr>
          <p:cNvPr id="23" name="Group 23"/>
          <p:cNvGrpSpPr/>
          <p:nvPr/>
        </p:nvGrpSpPr>
        <p:grpSpPr>
          <a:xfrm>
            <a:off x="602742" y="6045518"/>
            <a:ext cx="7921395" cy="264033"/>
            <a:chOff x="602742" y="6045518"/>
            <a:chExt cx="7921395" cy="264033"/>
          </a:xfrm>
        </p:grpSpPr>
        <p:sp>
          <p:nvSpPr>
            <p:cNvPr id="22" name="TextBox 22"/>
            <p:cNvSpPr txBox="1"/>
            <p:nvPr/>
          </p:nvSpPr>
          <p:spPr>
            <a:xfrm>
              <a:off x="602742" y="6045518"/>
              <a:ext cx="7921395" cy="264033"/>
            </a:xfrm>
            <a:prstGeom prst="rect">
              <a:avLst/>
            </a:prstGeom>
            <a:noFill/>
            <a:ln>
              <a:noFill/>
            </a:ln>
          </p:spPr>
          <p:txBody>
            <a:bodyPr wrap="none" lIns="0" tIns="0" rIns="0" bIns="0" anchor="t" anchorCtr="0">
              <a:spAutoFit/>
            </a:bodyPr>
            <a:lstStyle/>
            <a:p>
              <a:pPr algn="l"/>
              <a:r>
                <a:rPr lang="en-US" sz="1350" dirty="0">
                  <a:solidFill>
                    <a:srgbClr val="766E62"/>
                  </a:solidFill>
                  <a:latin typeface="+mn-lt"/>
                  <a:ea typeface="+mn-ea"/>
                  <a:cs typeface="+mn-cs"/>
                </a:rPr>
                <a:t>Mean ± sample SD across three subset seeds · one outer fold · source: main_results.csv</a:t>
              </a:r>
            </a:p>
          </p:txBody>
        </p:sp>
      </p:grpSp>
      <p:grpSp>
        <p:nvGrpSpPr>
          <p:cNvPr id="25" name="Group 25"/>
          <p:cNvGrpSpPr/>
          <p:nvPr/>
        </p:nvGrpSpPr>
        <p:grpSpPr>
          <a:xfrm>
            <a:off x="10966723" y="6426518"/>
            <a:ext cx="622535" cy="264033"/>
            <a:chOff x="10966723" y="6426518"/>
            <a:chExt cx="622535" cy="264033"/>
          </a:xfrm>
        </p:grpSpPr>
        <p:sp>
          <p:nvSpPr>
            <p:cNvPr id="24" name="TextBox 24"/>
            <p:cNvSpPr txBox="1"/>
            <p:nvPr/>
          </p:nvSpPr>
          <p:spPr>
            <a:xfrm>
              <a:off x="10966723" y="6426518"/>
              <a:ext cx="622535" cy="264033"/>
            </a:xfrm>
            <a:prstGeom prst="rect">
              <a:avLst/>
            </a:prstGeom>
            <a:noFill/>
            <a:ln>
              <a:noFill/>
            </a:ln>
          </p:spPr>
          <p:txBody>
            <a:bodyPr wrap="none" lIns="0" tIns="0" rIns="0" bIns="0" anchor="t" anchorCtr="0">
              <a:spAutoFit/>
            </a:bodyPr>
            <a:lstStyle/>
            <a:p>
              <a:pPr algn="r"/>
              <a:r>
                <a:rPr lang="en-US" sz="1350" dirty="0">
                  <a:solidFill>
                    <a:srgbClr val="766E62"/>
                  </a:solidFill>
                  <a:latin typeface="+mn-lt"/>
                  <a:ea typeface="+mn-ea"/>
                  <a:cs typeface="+mn-cs"/>
                </a:rPr>
                <a:t>06 / 10</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76200"/>
          </a:xfrm>
          <a:prstGeom prst="rect">
            <a:avLst/>
          </a:prstGeom>
          <a:solidFill>
            <a:schemeClr val="accent3"/>
          </a:solidFill>
          <a:ln>
            <a:noFill/>
          </a:ln>
        </p:spPr>
      </p:sp>
      <p:grpSp>
        <p:nvGrpSpPr>
          <p:cNvPr id="5" name="Group 5"/>
          <p:cNvGrpSpPr/>
          <p:nvPr/>
        </p:nvGrpSpPr>
        <p:grpSpPr>
          <a:xfrm>
            <a:off x="595122" y="482918"/>
            <a:ext cx="11637032" cy="900303"/>
            <a:chOff x="595122" y="482918"/>
            <a:chExt cx="11637032" cy="900303"/>
          </a:xfrm>
        </p:grpSpPr>
        <p:sp>
          <p:nvSpPr>
            <p:cNvPr id="3" name="TextBox 3"/>
            <p:cNvSpPr txBox="1"/>
            <p:nvPr/>
          </p:nvSpPr>
          <p:spPr>
            <a:xfrm>
              <a:off x="602742" y="482918"/>
              <a:ext cx="4714570" cy="264033"/>
            </a:xfrm>
            <a:prstGeom prst="rect">
              <a:avLst/>
            </a:prstGeom>
            <a:noFill/>
            <a:ln>
              <a:noFill/>
            </a:ln>
          </p:spPr>
          <p:txBody>
            <a:bodyPr wrap="none" lIns="0" tIns="0" rIns="0" bIns="0" anchor="t" anchorCtr="0">
              <a:spAutoFit/>
            </a:bodyPr>
            <a:lstStyle/>
            <a:p>
              <a:pPr algn="l"/>
              <a:r>
                <a:rPr lang="en-US" sz="1350" b="1" spc="105" dirty="0">
                  <a:solidFill>
                    <a:schemeClr val="accent6"/>
                  </a:solidFill>
                  <a:latin typeface="+mn-lt"/>
                  <a:ea typeface="+mn-ea"/>
                  <a:cs typeface="+mn-cs"/>
                </a:rPr>
                <a:t>DIAGNOSIS · REPRESENTATION AND CONTROLS</a:t>
              </a:r>
            </a:p>
          </p:txBody>
        </p:sp>
        <p:sp>
          <p:nvSpPr>
            <p:cNvPr id="4" name="TextBox 4"/>
            <p:cNvSpPr txBox="1"/>
            <p:nvPr/>
          </p:nvSpPr>
          <p:spPr>
            <a:xfrm>
              <a:off x="595122" y="825818"/>
              <a:ext cx="11637032" cy="557403"/>
            </a:xfrm>
            <a:prstGeom prst="rect">
              <a:avLst/>
            </a:prstGeom>
            <a:noFill/>
            <a:ln>
              <a:noFill/>
            </a:ln>
          </p:spPr>
          <p:txBody>
            <a:bodyPr wrap="none" lIns="0" tIns="0" rIns="0" bIns="0" anchor="t" anchorCtr="0">
              <a:spAutoFit/>
            </a:bodyPr>
            <a:lstStyle/>
            <a:p>
              <a:pPr algn="l"/>
              <a:r>
                <a:rPr lang="en-US" sz="2850" b="1" dirty="0">
                  <a:solidFill>
                    <a:schemeClr val="accent1"/>
                  </a:solidFill>
                  <a:latin typeface="+mj-lt"/>
                  <a:ea typeface="+mj-ea"/>
                  <a:cs typeface="+mj-cs"/>
                </a:rPr>
                <a:t>Compression—not photonics alone—explains the shortfall</a:t>
              </a:r>
            </a:p>
          </p:txBody>
        </p:sp>
      </p:grpSp>
      <p:grpSp>
        <p:nvGrpSpPr>
          <p:cNvPr id="8" name="Group 8"/>
          <p:cNvGrpSpPr/>
          <p:nvPr/>
        </p:nvGrpSpPr>
        <p:grpSpPr>
          <a:xfrm>
            <a:off x="609600" y="1504950"/>
            <a:ext cx="6896100" cy="3829050"/>
            <a:chOff x="609600" y="1504950"/>
            <a:chExt cx="6896100" cy="3829050"/>
          </a:xfrm>
        </p:grpSpPr>
        <p:sp>
          <p:nvSpPr>
            <p:cNvPr id="6" name="Rectangle 6"/>
            <p:cNvSpPr/>
            <p:nvPr/>
          </p:nvSpPr>
          <p:spPr>
            <a:xfrm>
              <a:off x="609600" y="1504950"/>
              <a:ext cx="6896100" cy="3829050"/>
            </a:xfrm>
            <a:prstGeom prst="rect">
              <a:avLst/>
            </a:prstGeom>
            <a:solidFill>
              <a:srgbClr val="FFFFFF"/>
            </a:solidFill>
            <a:ln>
              <a:noFill/>
            </a:ln>
          </p:spPr>
        </p:sp>
        <p:pic>
          <p:nvPicPr>
            <p:cNvPr id="7" name="Image 7"/>
            <p:cNvPicPr>
              <a:picLocks noChangeAspect="1"/>
            </p:cNvPicPr>
            <p:nvPr/>
          </p:nvPicPr>
          <p:blipFill>
            <a:blip r:embed="rId2"/>
            <a:stretch>
              <a:fillRect/>
            </a:stretch>
          </p:blipFill>
          <p:spPr>
            <a:xfrm>
              <a:off x="742950" y="1627254"/>
              <a:ext cx="6629400" cy="3565392"/>
            </a:xfrm>
            <a:prstGeom prst="rect">
              <a:avLst/>
            </a:prstGeom>
          </p:spPr>
        </p:pic>
      </p:grpSp>
      <p:grpSp>
        <p:nvGrpSpPr>
          <p:cNvPr id="22" name="Group 22"/>
          <p:cNvGrpSpPr/>
          <p:nvPr/>
        </p:nvGrpSpPr>
        <p:grpSpPr>
          <a:xfrm>
            <a:off x="7761732" y="1664018"/>
            <a:ext cx="3820668" cy="3673316"/>
            <a:chOff x="7761732" y="1664018"/>
            <a:chExt cx="3820668" cy="3673316"/>
          </a:xfrm>
        </p:grpSpPr>
        <p:sp>
          <p:nvSpPr>
            <p:cNvPr id="9" name="TextBox 9"/>
            <p:cNvSpPr txBox="1"/>
            <p:nvPr/>
          </p:nvSpPr>
          <p:spPr>
            <a:xfrm>
              <a:off x="7765542" y="1664018"/>
              <a:ext cx="2987688" cy="264033"/>
            </a:xfrm>
            <a:prstGeom prst="rect">
              <a:avLst/>
            </a:prstGeom>
            <a:noFill/>
            <a:ln>
              <a:noFill/>
            </a:ln>
          </p:spPr>
          <p:txBody>
            <a:bodyPr wrap="none" lIns="0" tIns="0" rIns="0" bIns="0" anchor="t" anchorCtr="0">
              <a:spAutoFit/>
            </a:bodyPr>
            <a:lstStyle/>
            <a:p>
              <a:pPr algn="l"/>
              <a:r>
                <a:rPr lang="en-US" sz="1350" b="1" dirty="0">
                  <a:solidFill>
                    <a:schemeClr val="accent5"/>
                  </a:solidFill>
                  <a:latin typeface="+mn-lt"/>
                  <a:ea typeface="+mn-ea"/>
                  <a:cs typeface="+mn-cs"/>
                </a:rPr>
                <a:t>FULL → PCA-5 PENALTY · B1 − B3</a:t>
              </a:r>
            </a:p>
          </p:txBody>
        </p:sp>
        <p:sp>
          <p:nvSpPr>
            <p:cNvPr id="10" name="TextBox 10"/>
            <p:cNvSpPr txBox="1"/>
            <p:nvPr/>
          </p:nvSpPr>
          <p:spPr>
            <a:xfrm>
              <a:off x="7761732" y="1983105"/>
              <a:ext cx="3642749"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Consolas"/>
                  <a:ea typeface="Consolas"/>
                  <a:cs typeface="Consolas"/>
                </a:rPr>
                <a:t>+.1018 · +.0993 · +.0713</a:t>
              </a:r>
            </a:p>
          </p:txBody>
        </p:sp>
        <p:sp>
          <p:nvSpPr>
            <p:cNvPr id="11" name="TextBox 11"/>
            <p:cNvSpPr txBox="1"/>
            <p:nvPr/>
          </p:nvSpPr>
          <p:spPr>
            <a:xfrm>
              <a:off x="7766304" y="2346960"/>
              <a:ext cx="1587246" cy="234696"/>
            </a:xfrm>
            <a:prstGeom prst="rect">
              <a:avLst/>
            </a:prstGeom>
            <a:noFill/>
            <a:ln>
              <a:noFill/>
            </a:ln>
          </p:spPr>
          <p:txBody>
            <a:bodyPr wrap="none" lIns="0" tIns="0" rIns="0" bIns="0" anchor="t" anchorCtr="0">
              <a:spAutoFit/>
            </a:bodyPr>
            <a:lstStyle/>
            <a:p>
              <a:pPr algn="l"/>
              <a:r>
                <a:rPr lang="en-US" sz="1200" dirty="0">
                  <a:solidFill>
                    <a:srgbClr val="766E62"/>
                  </a:solidFill>
                  <a:latin typeface="+mn-lt"/>
                  <a:ea typeface="+mn-ea"/>
                  <a:cs typeface="+mn-cs"/>
                </a:rPr>
                <a:t>budgets 12 · 24 · 48</a:t>
              </a:r>
            </a:p>
          </p:txBody>
        </p:sp>
        <p:sp>
          <p:nvSpPr>
            <p:cNvPr id="12" name="Rectangle 12"/>
            <p:cNvSpPr/>
            <p:nvPr/>
          </p:nvSpPr>
          <p:spPr>
            <a:xfrm>
              <a:off x="7772400" y="2724150"/>
              <a:ext cx="3810000" cy="704850"/>
            </a:xfrm>
            <a:prstGeom prst="rect">
              <a:avLst/>
            </a:prstGeom>
            <a:solidFill>
              <a:schemeClr val="accent3"/>
            </a:solidFill>
            <a:ln>
              <a:noFill/>
            </a:ln>
          </p:spPr>
        </p:sp>
        <p:sp>
          <p:nvSpPr>
            <p:cNvPr id="13" name="TextBox 13"/>
            <p:cNvSpPr txBox="1"/>
            <p:nvPr/>
          </p:nvSpPr>
          <p:spPr>
            <a:xfrm>
              <a:off x="7994142" y="2864168"/>
              <a:ext cx="840379" cy="264033"/>
            </a:xfrm>
            <a:prstGeom prst="rect">
              <a:avLst/>
            </a:prstGeom>
            <a:noFill/>
            <a:ln>
              <a:noFill/>
            </a:ln>
          </p:spPr>
          <p:txBody>
            <a:bodyPr wrap="none" lIns="0" tIns="0" rIns="0" bIns="0" anchor="t" anchorCtr="0">
              <a:spAutoFit/>
            </a:bodyPr>
            <a:lstStyle/>
            <a:p>
              <a:pPr algn="l"/>
              <a:r>
                <a:rPr lang="en-US" sz="1350" b="1" dirty="0">
                  <a:solidFill>
                    <a:srgbClr val="FBF7EE"/>
                  </a:solidFill>
                  <a:latin typeface="+mn-lt"/>
                  <a:ea typeface="+mn-ea"/>
                  <a:cs typeface="+mn-cs"/>
                </a:rPr>
                <a:t>Q1 − RFF</a:t>
              </a:r>
            </a:p>
          </p:txBody>
        </p:sp>
        <p:sp>
          <p:nvSpPr>
            <p:cNvPr id="14" name="TextBox 14"/>
            <p:cNvSpPr txBox="1"/>
            <p:nvPr/>
          </p:nvSpPr>
          <p:spPr>
            <a:xfrm>
              <a:off x="7992237" y="3118961"/>
              <a:ext cx="2983635" cy="337376"/>
            </a:xfrm>
            <a:prstGeom prst="rect">
              <a:avLst/>
            </a:prstGeom>
            <a:noFill/>
            <a:ln>
              <a:noFill/>
            </a:ln>
          </p:spPr>
          <p:txBody>
            <a:bodyPr wrap="none" lIns="0" tIns="0" rIns="0" bIns="0" anchor="t" anchorCtr="0">
              <a:spAutoFit/>
            </a:bodyPr>
            <a:lstStyle/>
            <a:p>
              <a:pPr algn="l"/>
              <a:r>
                <a:rPr lang="en-US" sz="1720" b="1" dirty="0">
                  <a:solidFill>
                    <a:srgbClr val="FFFFFF"/>
                  </a:solidFill>
                  <a:latin typeface="Consolas"/>
                  <a:ea typeface="Consolas"/>
                  <a:cs typeface="Consolas"/>
                </a:rPr>
                <a:t>+.3133 · +.2238 · +.2307</a:t>
              </a:r>
            </a:p>
          </p:txBody>
        </p:sp>
        <p:sp>
          <p:nvSpPr>
            <p:cNvPr id="15" name="Rectangle 15"/>
            <p:cNvSpPr/>
            <p:nvPr/>
          </p:nvSpPr>
          <p:spPr>
            <a:xfrm>
              <a:off x="7772400" y="3562350"/>
              <a:ext cx="3810000" cy="704850"/>
            </a:xfrm>
            <a:prstGeom prst="rect">
              <a:avLst/>
            </a:prstGeom>
            <a:solidFill>
              <a:schemeClr val="accent2"/>
            </a:solidFill>
            <a:ln>
              <a:noFill/>
            </a:ln>
          </p:spPr>
        </p:sp>
        <p:sp>
          <p:nvSpPr>
            <p:cNvPr id="16" name="TextBox 16"/>
            <p:cNvSpPr txBox="1"/>
            <p:nvPr/>
          </p:nvSpPr>
          <p:spPr>
            <a:xfrm>
              <a:off x="7994142" y="3702368"/>
              <a:ext cx="880704" cy="264033"/>
            </a:xfrm>
            <a:prstGeom prst="rect">
              <a:avLst/>
            </a:prstGeom>
            <a:noFill/>
            <a:ln>
              <a:noFill/>
            </a:ln>
          </p:spPr>
          <p:txBody>
            <a:bodyPr wrap="none" lIns="0" tIns="0" rIns="0" bIns="0" anchor="t" anchorCtr="0">
              <a:spAutoFit/>
            </a:bodyPr>
            <a:lstStyle/>
            <a:p>
              <a:pPr algn="l"/>
              <a:r>
                <a:rPr lang="en-US" sz="1350" b="1" dirty="0">
                  <a:solidFill>
                    <a:srgbClr val="FFFFFF"/>
                  </a:solidFill>
                  <a:latin typeface="+mn-lt"/>
                  <a:ea typeface="+mn-ea"/>
                  <a:cs typeface="+mn-cs"/>
                </a:rPr>
                <a:t>Q1 − ELM</a:t>
              </a:r>
            </a:p>
          </p:txBody>
        </p:sp>
        <p:sp>
          <p:nvSpPr>
            <p:cNvPr id="17" name="TextBox 17"/>
            <p:cNvSpPr txBox="1"/>
            <p:nvPr/>
          </p:nvSpPr>
          <p:spPr>
            <a:xfrm>
              <a:off x="7992237" y="3957161"/>
              <a:ext cx="2983635" cy="337376"/>
            </a:xfrm>
            <a:prstGeom prst="rect">
              <a:avLst/>
            </a:prstGeom>
            <a:noFill/>
            <a:ln>
              <a:noFill/>
            </a:ln>
          </p:spPr>
          <p:txBody>
            <a:bodyPr wrap="none" lIns="0" tIns="0" rIns="0" bIns="0" anchor="t" anchorCtr="0">
              <a:spAutoFit/>
            </a:bodyPr>
            <a:lstStyle/>
            <a:p>
              <a:pPr algn="l"/>
              <a:r>
                <a:rPr lang="en-US" sz="1720" b="1" dirty="0">
                  <a:solidFill>
                    <a:srgbClr val="FFFFFF"/>
                  </a:solidFill>
                  <a:latin typeface="Consolas"/>
                  <a:ea typeface="Consolas"/>
                  <a:cs typeface="Consolas"/>
                </a:rPr>
                <a:t>−.0166 · −.0432 · −.0215</a:t>
              </a:r>
            </a:p>
          </p:txBody>
        </p:sp>
        <p:sp>
          <p:nvSpPr>
            <p:cNvPr id="18" name="Rectangle 18"/>
            <p:cNvSpPr/>
            <p:nvPr/>
          </p:nvSpPr>
          <p:spPr>
            <a:xfrm>
              <a:off x="7772400" y="4400550"/>
              <a:ext cx="3810000" cy="933450"/>
            </a:xfrm>
            <a:prstGeom prst="rect">
              <a:avLst/>
            </a:prstGeom>
            <a:solidFill>
              <a:schemeClr val="accent1"/>
            </a:solidFill>
            <a:ln>
              <a:noFill/>
            </a:ln>
          </p:spPr>
        </p:sp>
        <p:sp>
          <p:nvSpPr>
            <p:cNvPr id="19" name="TextBox 19"/>
            <p:cNvSpPr txBox="1"/>
            <p:nvPr/>
          </p:nvSpPr>
          <p:spPr>
            <a:xfrm>
              <a:off x="7994142" y="4540568"/>
              <a:ext cx="1939237" cy="264033"/>
            </a:xfrm>
            <a:prstGeom prst="rect">
              <a:avLst/>
            </a:prstGeom>
            <a:noFill/>
            <a:ln>
              <a:noFill/>
            </a:ln>
          </p:spPr>
          <p:txBody>
            <a:bodyPr wrap="none" lIns="0" tIns="0" rIns="0" bIns="0" anchor="t" anchorCtr="0">
              <a:spAutoFit/>
            </a:bodyPr>
            <a:lstStyle/>
            <a:p>
              <a:pPr algn="l"/>
              <a:r>
                <a:rPr lang="en-US" sz="1350" b="1" dirty="0">
                  <a:solidFill>
                    <a:srgbClr val="FFFFFF"/>
                  </a:solidFill>
                  <a:latin typeface="+mn-lt"/>
                  <a:ea typeface="+mn-ea"/>
                  <a:cs typeface="+mn-cs"/>
                </a:rPr>
                <a:t>Q1 − PCA-5 RBF-SVM</a:t>
              </a:r>
            </a:p>
          </p:txBody>
        </p:sp>
        <p:sp>
          <p:nvSpPr>
            <p:cNvPr id="20" name="TextBox 20"/>
            <p:cNvSpPr txBox="1"/>
            <p:nvPr/>
          </p:nvSpPr>
          <p:spPr>
            <a:xfrm>
              <a:off x="7992237" y="4795361"/>
              <a:ext cx="2983635" cy="337376"/>
            </a:xfrm>
            <a:prstGeom prst="rect">
              <a:avLst/>
            </a:prstGeom>
            <a:noFill/>
            <a:ln>
              <a:noFill/>
            </a:ln>
          </p:spPr>
          <p:txBody>
            <a:bodyPr wrap="none" lIns="0" tIns="0" rIns="0" bIns="0" anchor="t" anchorCtr="0">
              <a:spAutoFit/>
            </a:bodyPr>
            <a:lstStyle/>
            <a:p>
              <a:pPr algn="l"/>
              <a:r>
                <a:rPr lang="en-US" sz="1720" b="1" dirty="0">
                  <a:solidFill>
                    <a:srgbClr val="FFFFFF"/>
                  </a:solidFill>
                  <a:latin typeface="Consolas"/>
                  <a:ea typeface="Consolas"/>
                  <a:cs typeface="Consolas"/>
                </a:rPr>
                <a:t>−.0507 · −.0558 · −.0534</a:t>
              </a:r>
            </a:p>
          </p:txBody>
        </p:sp>
        <p:sp>
          <p:nvSpPr>
            <p:cNvPr id="21" name="TextBox 21"/>
            <p:cNvSpPr txBox="1"/>
            <p:nvPr/>
          </p:nvSpPr>
          <p:spPr>
            <a:xfrm>
              <a:off x="7995285" y="5117306"/>
              <a:ext cx="3419539" cy="220028"/>
            </a:xfrm>
            <a:prstGeom prst="rect">
              <a:avLst/>
            </a:prstGeom>
            <a:noFill/>
            <a:ln>
              <a:noFill/>
            </a:ln>
          </p:spPr>
          <p:txBody>
            <a:bodyPr wrap="none" lIns="0" tIns="0" rIns="0" bIns="0" anchor="t" anchorCtr="0">
              <a:spAutoFit/>
            </a:bodyPr>
            <a:lstStyle/>
            <a:p>
              <a:pPr algn="l"/>
              <a:r>
                <a:rPr lang="en-US" sz="1120" dirty="0">
                  <a:solidFill>
                    <a:srgbClr val="B9D0C7"/>
                  </a:solidFill>
                  <a:latin typeface="+mn-lt"/>
                  <a:ea typeface="+mn-ea"/>
                  <a:cs typeface="+mn-cs"/>
                </a:rPr>
                <a:t>Only win: locked matched RFF-15 comparator.</a:t>
              </a:r>
            </a:p>
          </p:txBody>
        </p:sp>
      </p:grpSp>
      <p:grpSp>
        <p:nvGrpSpPr>
          <p:cNvPr id="25" name="Group 25"/>
          <p:cNvGrpSpPr/>
          <p:nvPr/>
        </p:nvGrpSpPr>
        <p:grpSpPr>
          <a:xfrm>
            <a:off x="609600" y="5524500"/>
            <a:ext cx="10972800" cy="590550"/>
            <a:chOff x="609600" y="5524500"/>
            <a:chExt cx="10972800" cy="590550"/>
          </a:xfrm>
        </p:grpSpPr>
        <p:sp>
          <p:nvSpPr>
            <p:cNvPr id="23" name="Rectangle 23"/>
            <p:cNvSpPr/>
            <p:nvPr/>
          </p:nvSpPr>
          <p:spPr>
            <a:xfrm>
              <a:off x="609600" y="5524500"/>
              <a:ext cx="10972800" cy="590550"/>
            </a:xfrm>
            <a:prstGeom prst="rect">
              <a:avLst/>
            </a:prstGeom>
            <a:solidFill>
              <a:schemeClr val="lt2"/>
            </a:solidFill>
            <a:ln>
              <a:noFill/>
            </a:ln>
          </p:spPr>
        </p:sp>
        <p:sp>
          <p:nvSpPr>
            <p:cNvPr id="24" name="TextBox 24"/>
            <p:cNvSpPr txBox="1"/>
            <p:nvPr/>
          </p:nvSpPr>
          <p:spPr>
            <a:xfrm>
              <a:off x="1896908" y="5734050"/>
              <a:ext cx="8398183" cy="293370"/>
            </a:xfrm>
            <a:prstGeom prst="rect">
              <a:avLst/>
            </a:prstGeom>
            <a:noFill/>
            <a:ln>
              <a:noFill/>
            </a:ln>
          </p:spPr>
          <p:txBody>
            <a:bodyPr wrap="none" lIns="0" tIns="0" rIns="0" bIns="0" anchor="t" anchorCtr="0">
              <a:spAutoFit/>
            </a:bodyPr>
            <a:lstStyle/>
            <a:p>
              <a:pPr algn="ctr"/>
              <a:r>
                <a:rPr lang="en-US" sz="1500" b="1" dirty="0">
                  <a:solidFill>
                    <a:schemeClr val="accent1"/>
                  </a:solidFill>
                  <a:latin typeface="+mn-lt"/>
                  <a:ea typeface="+mn-ea"/>
                  <a:cs typeface="+mn-cs"/>
                </a:rPr>
                <a:t>Separate information lost in PCA-5 from the value added by the photonic circuit.</a:t>
              </a:r>
            </a:p>
          </p:txBody>
        </p:sp>
      </p:grpSp>
      <p:grpSp>
        <p:nvGrpSpPr>
          <p:cNvPr id="27" name="Group 27"/>
          <p:cNvGrpSpPr/>
          <p:nvPr/>
        </p:nvGrpSpPr>
        <p:grpSpPr>
          <a:xfrm>
            <a:off x="603504" y="6156960"/>
            <a:ext cx="7303399" cy="234696"/>
            <a:chOff x="603504" y="6156960"/>
            <a:chExt cx="7303399" cy="234696"/>
          </a:xfrm>
        </p:grpSpPr>
        <p:sp>
          <p:nvSpPr>
            <p:cNvPr id="26" name="TextBox 26"/>
            <p:cNvSpPr txBox="1"/>
            <p:nvPr/>
          </p:nvSpPr>
          <p:spPr>
            <a:xfrm>
              <a:off x="603504" y="6156960"/>
              <a:ext cx="7303399" cy="234696"/>
            </a:xfrm>
            <a:prstGeom prst="rect">
              <a:avLst/>
            </a:prstGeom>
            <a:noFill/>
            <a:ln>
              <a:noFill/>
            </a:ln>
          </p:spPr>
          <p:txBody>
            <a:bodyPr wrap="none" lIns="0" tIns="0" rIns="0" bIns="0" anchor="t" anchorCtr="0">
              <a:spAutoFit/>
            </a:bodyPr>
            <a:lstStyle/>
            <a:p>
              <a:pPr algn="l"/>
              <a:r>
                <a:rPr lang="en-US" sz="1200" dirty="0">
                  <a:solidFill>
                    <a:srgbClr val="766E62"/>
                  </a:solidFill>
                  <a:latin typeface="+mn-lt"/>
                  <a:ea typeface="+mn-ea"/>
                  <a:cs typeface="+mn-cs"/>
                </a:rPr>
                <a:t>Source: compression.csv · paired_differences.csv · subset-paired descriptive differences</a:t>
              </a:r>
            </a:p>
          </p:txBody>
        </p:sp>
      </p:grpSp>
      <p:grpSp>
        <p:nvGrpSpPr>
          <p:cNvPr id="29" name="Group 29"/>
          <p:cNvGrpSpPr/>
          <p:nvPr/>
        </p:nvGrpSpPr>
        <p:grpSpPr>
          <a:xfrm>
            <a:off x="10966723" y="6426518"/>
            <a:ext cx="622535" cy="264033"/>
            <a:chOff x="10966723" y="6426518"/>
            <a:chExt cx="622535" cy="264033"/>
          </a:xfrm>
        </p:grpSpPr>
        <p:sp>
          <p:nvSpPr>
            <p:cNvPr id="28" name="TextBox 28"/>
            <p:cNvSpPr txBox="1"/>
            <p:nvPr/>
          </p:nvSpPr>
          <p:spPr>
            <a:xfrm>
              <a:off x="10966723" y="6426518"/>
              <a:ext cx="622535" cy="264033"/>
            </a:xfrm>
            <a:prstGeom prst="rect">
              <a:avLst/>
            </a:prstGeom>
            <a:noFill/>
            <a:ln>
              <a:noFill/>
            </a:ln>
          </p:spPr>
          <p:txBody>
            <a:bodyPr wrap="none" lIns="0" tIns="0" rIns="0" bIns="0" anchor="t" anchorCtr="0">
              <a:spAutoFit/>
            </a:bodyPr>
            <a:lstStyle/>
            <a:p>
              <a:pPr algn="r"/>
              <a:r>
                <a:rPr lang="en-US" sz="1350" dirty="0">
                  <a:solidFill>
                    <a:srgbClr val="766E62"/>
                  </a:solidFill>
                  <a:latin typeface="+mn-lt"/>
                  <a:ea typeface="+mn-ea"/>
                  <a:cs typeface="+mn-cs"/>
                </a:rPr>
                <a:t>07 / 10</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76200"/>
          </a:xfrm>
          <a:prstGeom prst="rect">
            <a:avLst/>
          </a:prstGeom>
          <a:solidFill>
            <a:schemeClr val="accent3"/>
          </a:solidFill>
          <a:ln>
            <a:noFill/>
          </a:ln>
        </p:spPr>
      </p:sp>
      <p:grpSp>
        <p:nvGrpSpPr>
          <p:cNvPr id="5" name="Group 5"/>
          <p:cNvGrpSpPr/>
          <p:nvPr/>
        </p:nvGrpSpPr>
        <p:grpSpPr>
          <a:xfrm>
            <a:off x="595122" y="482918"/>
            <a:ext cx="12128718" cy="900303"/>
            <a:chOff x="595122" y="482918"/>
            <a:chExt cx="12128718" cy="900303"/>
          </a:xfrm>
        </p:grpSpPr>
        <p:sp>
          <p:nvSpPr>
            <p:cNvPr id="3" name="TextBox 3"/>
            <p:cNvSpPr txBox="1"/>
            <p:nvPr/>
          </p:nvSpPr>
          <p:spPr>
            <a:xfrm>
              <a:off x="602742" y="482918"/>
              <a:ext cx="4241124" cy="264033"/>
            </a:xfrm>
            <a:prstGeom prst="rect">
              <a:avLst/>
            </a:prstGeom>
            <a:noFill/>
            <a:ln>
              <a:noFill/>
            </a:ln>
          </p:spPr>
          <p:txBody>
            <a:bodyPr wrap="none" lIns="0" tIns="0" rIns="0" bIns="0" anchor="t" anchorCtr="0">
              <a:spAutoFit/>
            </a:bodyPr>
            <a:lstStyle/>
            <a:p>
              <a:pPr algn="l"/>
              <a:r>
                <a:rPr lang="en-US" sz="1350" b="1" spc="105" dirty="0">
                  <a:solidFill>
                    <a:schemeClr val="accent6"/>
                  </a:solidFill>
                  <a:latin typeface="+mn-lt"/>
                  <a:ea typeface="+mn-ea"/>
                  <a:cs typeface="+mn-cs"/>
                </a:rPr>
                <a:t>STRESS TEST · FINITE-SHOT FEASIBILITY</a:t>
              </a:r>
            </a:p>
          </p:txBody>
        </p:sp>
        <p:sp>
          <p:nvSpPr>
            <p:cNvPr id="4" name="TextBox 4"/>
            <p:cNvSpPr txBox="1"/>
            <p:nvPr/>
          </p:nvSpPr>
          <p:spPr>
            <a:xfrm>
              <a:off x="595122" y="825818"/>
              <a:ext cx="12128718" cy="557403"/>
            </a:xfrm>
            <a:prstGeom prst="rect">
              <a:avLst/>
            </a:prstGeom>
            <a:noFill/>
            <a:ln>
              <a:noFill/>
            </a:ln>
          </p:spPr>
          <p:txBody>
            <a:bodyPr wrap="none" lIns="0" tIns="0" rIns="0" bIns="0" anchor="t" anchorCtr="0">
              <a:spAutoFit/>
            </a:bodyPr>
            <a:lstStyle/>
            <a:p>
              <a:pPr algn="l"/>
              <a:r>
                <a:rPr lang="en-US" sz="2850" b="1" dirty="0">
                  <a:solidFill>
                    <a:schemeClr val="accent1"/>
                  </a:solidFill>
                  <a:latin typeface="+mj-lt"/>
                  <a:ea typeface="+mj-ea"/>
                  <a:cs typeface="+mj-cs"/>
                </a:rPr>
                <a:t>Finite-shot sampling is stable; accuracy does not recover</a:t>
              </a:r>
            </a:p>
          </p:txBody>
        </p:sp>
      </p:grpSp>
      <p:grpSp>
        <p:nvGrpSpPr>
          <p:cNvPr id="12" name="Group 12"/>
          <p:cNvGrpSpPr/>
          <p:nvPr/>
        </p:nvGrpSpPr>
        <p:grpSpPr>
          <a:xfrm>
            <a:off x="609600" y="1504950"/>
            <a:ext cx="6667500" cy="4095750"/>
            <a:chOff x="609600" y="1504950"/>
            <a:chExt cx="6667500" cy="4095750"/>
          </a:xfrm>
        </p:grpSpPr>
        <p:sp>
          <p:nvSpPr>
            <p:cNvPr id="6" name="Rectangle 6"/>
            <p:cNvSpPr/>
            <p:nvPr/>
          </p:nvSpPr>
          <p:spPr>
            <a:xfrm>
              <a:off x="609600" y="1504950"/>
              <a:ext cx="6667500" cy="4095750"/>
            </a:xfrm>
            <a:prstGeom prst="rect">
              <a:avLst/>
            </a:prstGeom>
            <a:solidFill>
              <a:srgbClr val="FFFFFF"/>
            </a:solidFill>
            <a:ln>
              <a:noFill/>
            </a:ln>
          </p:spPr>
        </p:sp>
        <p:pic>
          <p:nvPicPr>
            <p:cNvPr id="7" name="Image 7"/>
            <p:cNvPicPr>
              <a:picLocks noChangeAspect="1"/>
            </p:cNvPicPr>
            <p:nvPr/>
          </p:nvPicPr>
          <p:blipFill>
            <a:blip r:embed="rId2"/>
            <a:stretch>
              <a:fillRect/>
            </a:stretch>
          </p:blipFill>
          <p:spPr>
            <a:xfrm>
              <a:off x="762000" y="1701446"/>
              <a:ext cx="6362700" cy="3702759"/>
            </a:xfrm>
            <a:prstGeom prst="rect">
              <a:avLst/>
            </a:prstGeom>
          </p:spPr>
        </p:pic>
        <p:sp>
          <p:nvSpPr>
            <p:cNvPr id="8" name="Rectangle 8"/>
            <p:cNvSpPr/>
            <p:nvPr/>
          </p:nvSpPr>
          <p:spPr>
            <a:xfrm>
              <a:off x="4762500" y="2228850"/>
              <a:ext cx="1200150" cy="238125"/>
            </a:xfrm>
            <a:prstGeom prst="rect">
              <a:avLst/>
            </a:prstGeom>
            <a:solidFill>
              <a:srgbClr val="FFFFFF">
                <a:alpha val="92000"/>
              </a:srgbClr>
            </a:solidFill>
            <a:ln>
              <a:noFill/>
            </a:ln>
          </p:spPr>
        </p:sp>
        <p:sp>
          <p:nvSpPr>
            <p:cNvPr id="9" name="TextBox 9"/>
            <p:cNvSpPr txBox="1"/>
            <p:nvPr/>
          </p:nvSpPr>
          <p:spPr>
            <a:xfrm>
              <a:off x="4832604" y="2280285"/>
              <a:ext cx="872460" cy="234696"/>
            </a:xfrm>
            <a:prstGeom prst="rect">
              <a:avLst/>
            </a:prstGeom>
            <a:noFill/>
            <a:ln>
              <a:noFill/>
            </a:ln>
          </p:spPr>
          <p:txBody>
            <a:bodyPr wrap="none" lIns="0" tIns="0" rIns="0" bIns="0" anchor="t" anchorCtr="0">
              <a:spAutoFit/>
            </a:bodyPr>
            <a:lstStyle/>
            <a:p>
              <a:pPr algn="l"/>
              <a:r>
                <a:rPr lang="en-US" sz="1200" b="1" dirty="0">
                  <a:solidFill>
                    <a:schemeClr val="accent6"/>
                  </a:solidFill>
                  <a:latin typeface="+mn-lt"/>
                  <a:ea typeface="+mn-ea"/>
                  <a:cs typeface="+mn-cs"/>
                </a:rPr>
                <a:t>MACRO-F1</a:t>
              </a:r>
            </a:p>
          </p:txBody>
        </p:sp>
        <p:sp>
          <p:nvSpPr>
            <p:cNvPr id="10" name="Rectangle 10"/>
            <p:cNvSpPr/>
            <p:nvPr/>
          </p:nvSpPr>
          <p:spPr>
            <a:xfrm>
              <a:off x="4762500" y="2533650"/>
              <a:ext cx="1600200" cy="238125"/>
            </a:xfrm>
            <a:prstGeom prst="rect">
              <a:avLst/>
            </a:prstGeom>
            <a:solidFill>
              <a:srgbClr val="FFFFFF">
                <a:alpha val="92000"/>
              </a:srgbClr>
            </a:solidFill>
            <a:ln>
              <a:noFill/>
            </a:ln>
          </p:spPr>
        </p:sp>
        <p:sp>
          <p:nvSpPr>
            <p:cNvPr id="11" name="TextBox 11"/>
            <p:cNvSpPr txBox="1"/>
            <p:nvPr/>
          </p:nvSpPr>
          <p:spPr>
            <a:xfrm>
              <a:off x="4832604" y="2585085"/>
              <a:ext cx="1445971" cy="234696"/>
            </a:xfrm>
            <a:prstGeom prst="rect">
              <a:avLst/>
            </a:prstGeom>
            <a:noFill/>
            <a:ln>
              <a:noFill/>
            </a:ln>
          </p:spPr>
          <p:txBody>
            <a:bodyPr wrap="none" lIns="0" tIns="0" rIns="0" bIns="0" anchor="t" anchorCtr="0">
              <a:spAutoFit/>
            </a:bodyPr>
            <a:lstStyle/>
            <a:p>
              <a:pPr algn="l"/>
              <a:r>
                <a:rPr lang="en-US" sz="1200" b="1" dirty="0">
                  <a:solidFill>
                    <a:schemeClr val="accent5"/>
                  </a:solidFill>
                  <a:latin typeface="+mn-lt"/>
                  <a:ea typeface="+mn-ea"/>
                  <a:cs typeface="+mn-cs"/>
                </a:rPr>
                <a:t>ACCEPTANCE RATE</a:t>
              </a:r>
            </a:p>
          </p:txBody>
        </p:sp>
      </p:grpSp>
      <p:grpSp>
        <p:nvGrpSpPr>
          <p:cNvPr id="29" name="Group 29"/>
          <p:cNvGrpSpPr/>
          <p:nvPr/>
        </p:nvGrpSpPr>
        <p:grpSpPr>
          <a:xfrm>
            <a:off x="7533132" y="1673542"/>
            <a:ext cx="4498086" cy="3927158"/>
            <a:chOff x="7533132" y="1673542"/>
            <a:chExt cx="4498086" cy="3927158"/>
          </a:xfrm>
        </p:grpSpPr>
        <p:sp>
          <p:nvSpPr>
            <p:cNvPr id="13" name="TextBox 13"/>
            <p:cNvSpPr txBox="1"/>
            <p:nvPr/>
          </p:nvSpPr>
          <p:spPr>
            <a:xfrm>
              <a:off x="7536942" y="1673542"/>
              <a:ext cx="3209475" cy="264033"/>
            </a:xfrm>
            <a:prstGeom prst="rect">
              <a:avLst/>
            </a:prstGeom>
            <a:noFill/>
            <a:ln>
              <a:noFill/>
            </a:ln>
          </p:spPr>
          <p:txBody>
            <a:bodyPr wrap="none" lIns="0" tIns="0" rIns="0" bIns="0" anchor="t" anchorCtr="0">
              <a:spAutoFit/>
            </a:bodyPr>
            <a:lstStyle/>
            <a:p>
              <a:pPr algn="l"/>
              <a:r>
                <a:rPr lang="en-US" sz="1350" b="1" dirty="0">
                  <a:solidFill>
                    <a:schemeClr val="accent5"/>
                  </a:solidFill>
                  <a:latin typeface="+mn-lt"/>
                  <a:ea typeface="+mn-ea"/>
                  <a:cs typeface="+mn-cs"/>
                </a:rPr>
                <a:t>MACRO-F1 · 15 EVALUATIONS EACH</a:t>
              </a:r>
            </a:p>
          </p:txBody>
        </p:sp>
        <p:sp>
          <p:nvSpPr>
            <p:cNvPr id="14" name="TextBox 14"/>
            <p:cNvSpPr txBox="1"/>
            <p:nvPr/>
          </p:nvSpPr>
          <p:spPr>
            <a:xfrm>
              <a:off x="7533132" y="2030730"/>
              <a:ext cx="511117"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Consolas"/>
                  <a:ea typeface="Consolas"/>
                  <a:cs typeface="Consolas"/>
                </a:rPr>
                <a:t>500</a:t>
              </a:r>
            </a:p>
          </p:txBody>
        </p:sp>
        <p:sp>
          <p:nvSpPr>
            <p:cNvPr id="15" name="TextBox 15"/>
            <p:cNvSpPr txBox="1"/>
            <p:nvPr/>
          </p:nvSpPr>
          <p:spPr>
            <a:xfrm>
              <a:off x="8771382" y="2030730"/>
              <a:ext cx="2056790" cy="410718"/>
            </a:xfrm>
            <a:prstGeom prst="rect">
              <a:avLst/>
            </a:prstGeom>
            <a:noFill/>
            <a:ln>
              <a:noFill/>
            </a:ln>
          </p:spPr>
          <p:txBody>
            <a:bodyPr wrap="none" lIns="0" tIns="0" rIns="0" bIns="0" anchor="t" anchorCtr="0">
              <a:spAutoFit/>
            </a:bodyPr>
            <a:lstStyle/>
            <a:p>
              <a:pPr algn="l"/>
              <a:r>
                <a:rPr lang="en-US" sz="2100" dirty="0">
                  <a:solidFill>
                    <a:schemeClr val="dk1"/>
                  </a:solidFill>
                  <a:latin typeface="Consolas"/>
                  <a:ea typeface="Consolas"/>
                  <a:cs typeface="Consolas"/>
                </a:rPr>
                <a:t>0.7662 ± .0322</a:t>
              </a:r>
            </a:p>
          </p:txBody>
        </p:sp>
        <p:sp>
          <p:nvSpPr>
            <p:cNvPr id="16" name="TextBox 16"/>
            <p:cNvSpPr txBox="1"/>
            <p:nvPr/>
          </p:nvSpPr>
          <p:spPr>
            <a:xfrm>
              <a:off x="7533132" y="2449830"/>
              <a:ext cx="837638"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Consolas"/>
                  <a:ea typeface="Consolas"/>
                  <a:cs typeface="Consolas"/>
                </a:rPr>
                <a:t>2,000</a:t>
              </a:r>
            </a:p>
          </p:txBody>
        </p:sp>
        <p:sp>
          <p:nvSpPr>
            <p:cNvPr id="17" name="TextBox 17"/>
            <p:cNvSpPr txBox="1"/>
            <p:nvPr/>
          </p:nvSpPr>
          <p:spPr>
            <a:xfrm>
              <a:off x="8771382" y="2449830"/>
              <a:ext cx="2056790" cy="410718"/>
            </a:xfrm>
            <a:prstGeom prst="rect">
              <a:avLst/>
            </a:prstGeom>
            <a:noFill/>
            <a:ln>
              <a:noFill/>
            </a:ln>
          </p:spPr>
          <p:txBody>
            <a:bodyPr wrap="none" lIns="0" tIns="0" rIns="0" bIns="0" anchor="t" anchorCtr="0">
              <a:spAutoFit/>
            </a:bodyPr>
            <a:lstStyle/>
            <a:p>
              <a:pPr algn="l"/>
              <a:r>
                <a:rPr lang="en-US" sz="2100" dirty="0">
                  <a:solidFill>
                    <a:schemeClr val="dk1"/>
                  </a:solidFill>
                  <a:latin typeface="Consolas"/>
                  <a:ea typeface="Consolas"/>
                  <a:cs typeface="Consolas"/>
                </a:rPr>
                <a:t>0.7739 ± .0308</a:t>
              </a:r>
            </a:p>
          </p:txBody>
        </p:sp>
        <p:sp>
          <p:nvSpPr>
            <p:cNvPr id="18" name="TextBox 18"/>
            <p:cNvSpPr txBox="1"/>
            <p:nvPr/>
          </p:nvSpPr>
          <p:spPr>
            <a:xfrm>
              <a:off x="7533132" y="2868930"/>
              <a:ext cx="837638"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Consolas"/>
                  <a:ea typeface="Consolas"/>
                  <a:cs typeface="Consolas"/>
                </a:rPr>
                <a:t>8,000</a:t>
              </a:r>
            </a:p>
          </p:txBody>
        </p:sp>
        <p:sp>
          <p:nvSpPr>
            <p:cNvPr id="19" name="TextBox 19"/>
            <p:cNvSpPr txBox="1"/>
            <p:nvPr/>
          </p:nvSpPr>
          <p:spPr>
            <a:xfrm>
              <a:off x="8771382" y="2868930"/>
              <a:ext cx="2056790" cy="410718"/>
            </a:xfrm>
            <a:prstGeom prst="rect">
              <a:avLst/>
            </a:prstGeom>
            <a:noFill/>
            <a:ln>
              <a:noFill/>
            </a:ln>
          </p:spPr>
          <p:txBody>
            <a:bodyPr wrap="none" lIns="0" tIns="0" rIns="0" bIns="0" anchor="t" anchorCtr="0">
              <a:spAutoFit/>
            </a:bodyPr>
            <a:lstStyle/>
            <a:p>
              <a:pPr algn="l"/>
              <a:r>
                <a:rPr lang="en-US" sz="2100" dirty="0">
                  <a:solidFill>
                    <a:schemeClr val="dk1"/>
                  </a:solidFill>
                  <a:latin typeface="Consolas"/>
                  <a:ea typeface="Consolas"/>
                  <a:cs typeface="Consolas"/>
                </a:rPr>
                <a:t>0.7725 ± .0363</a:t>
              </a:r>
            </a:p>
          </p:txBody>
        </p:sp>
        <p:sp>
          <p:nvSpPr>
            <p:cNvPr id="20" name="Rectangle 20"/>
            <p:cNvSpPr/>
            <p:nvPr/>
          </p:nvSpPr>
          <p:spPr>
            <a:xfrm>
              <a:off x="7543800" y="3333750"/>
              <a:ext cx="4038600" cy="704850"/>
            </a:xfrm>
            <a:prstGeom prst="rect">
              <a:avLst/>
            </a:prstGeom>
            <a:solidFill>
              <a:schemeClr val="accent3"/>
            </a:solidFill>
            <a:ln>
              <a:noFill/>
            </a:ln>
          </p:spPr>
        </p:sp>
        <p:sp>
          <p:nvSpPr>
            <p:cNvPr id="21" name="TextBox 21"/>
            <p:cNvSpPr txBox="1"/>
            <p:nvPr/>
          </p:nvSpPr>
          <p:spPr>
            <a:xfrm>
              <a:off x="7762494" y="3418522"/>
              <a:ext cx="2610776" cy="381381"/>
            </a:xfrm>
            <a:prstGeom prst="rect">
              <a:avLst/>
            </a:prstGeom>
            <a:noFill/>
            <a:ln>
              <a:noFill/>
            </a:ln>
          </p:spPr>
          <p:txBody>
            <a:bodyPr wrap="none" lIns="0" tIns="0" rIns="0" bIns="0" anchor="t" anchorCtr="0">
              <a:spAutoFit/>
            </a:bodyPr>
            <a:lstStyle/>
            <a:p>
              <a:pPr algn="l"/>
              <a:r>
                <a:rPr lang="en-US" sz="1950" b="1" dirty="0">
                  <a:solidFill>
                    <a:srgbClr val="FFFFFF"/>
                  </a:solidFill>
                  <a:latin typeface="Consolas"/>
                  <a:ea typeface="Consolas"/>
                  <a:cs typeface="Consolas"/>
                </a:rPr>
                <a:t>acceptance ≈ 0.754</a:t>
              </a:r>
            </a:p>
          </p:txBody>
        </p:sp>
        <p:sp>
          <p:nvSpPr>
            <p:cNvPr id="22" name="TextBox 22"/>
            <p:cNvSpPr txBox="1"/>
            <p:nvPr/>
          </p:nvSpPr>
          <p:spPr>
            <a:xfrm>
              <a:off x="7765542" y="3759518"/>
              <a:ext cx="2430818" cy="264033"/>
            </a:xfrm>
            <a:prstGeom prst="rect">
              <a:avLst/>
            </a:prstGeom>
            <a:noFill/>
            <a:ln>
              <a:noFill/>
            </a:ln>
          </p:spPr>
          <p:txBody>
            <a:bodyPr wrap="none" lIns="0" tIns="0" rIns="0" bIns="0" anchor="t" anchorCtr="0">
              <a:spAutoFit/>
            </a:bodyPr>
            <a:lstStyle/>
            <a:p>
              <a:pPr algn="l"/>
              <a:r>
                <a:rPr lang="en-US" sz="1350" dirty="0">
                  <a:solidFill>
                    <a:srgbClr val="FBF7EE"/>
                  </a:solidFill>
                  <a:latin typeface="+mn-lt"/>
                  <a:ea typeface="+mn-ea"/>
                  <a:cs typeface="+mn-cs"/>
                </a:rPr>
                <a:t>0 zero-acceptance failures</a:t>
              </a:r>
            </a:p>
          </p:txBody>
        </p:sp>
        <p:sp>
          <p:nvSpPr>
            <p:cNvPr id="23" name="Rectangle 23"/>
            <p:cNvSpPr/>
            <p:nvPr/>
          </p:nvSpPr>
          <p:spPr>
            <a:xfrm>
              <a:off x="7543800" y="4210050"/>
              <a:ext cx="1905000" cy="1390650"/>
            </a:xfrm>
            <a:prstGeom prst="rect">
              <a:avLst/>
            </a:prstGeom>
            <a:solidFill>
              <a:schemeClr val="lt2"/>
            </a:solidFill>
            <a:ln>
              <a:noFill/>
            </a:ln>
          </p:spPr>
        </p:sp>
        <p:sp>
          <p:nvSpPr>
            <p:cNvPr id="24" name="TextBox 24"/>
            <p:cNvSpPr txBox="1"/>
            <p:nvPr/>
          </p:nvSpPr>
          <p:spPr>
            <a:xfrm>
              <a:off x="7765542" y="4369118"/>
              <a:ext cx="679079" cy="264033"/>
            </a:xfrm>
            <a:prstGeom prst="rect">
              <a:avLst/>
            </a:prstGeom>
            <a:noFill/>
            <a:ln>
              <a:noFill/>
            </a:ln>
          </p:spPr>
          <p:txBody>
            <a:bodyPr wrap="none" lIns="0" tIns="0" rIns="0" bIns="0" anchor="t" anchorCtr="0">
              <a:spAutoFit/>
            </a:bodyPr>
            <a:lstStyle/>
            <a:p>
              <a:pPr algn="l"/>
              <a:r>
                <a:rPr lang="en-US" sz="1350" b="1" dirty="0">
                  <a:solidFill>
                    <a:schemeClr val="accent6"/>
                  </a:solidFill>
                  <a:latin typeface="+mn-lt"/>
                  <a:ea typeface="+mn-ea"/>
                  <a:cs typeface="+mn-cs"/>
                </a:rPr>
                <a:t>TESTED</a:t>
              </a:r>
            </a:p>
          </p:txBody>
        </p:sp>
        <p:sp>
          <p:nvSpPr>
            <p:cNvPr id="25" name="TextBox 25"/>
            <p:cNvSpPr txBox="1"/>
            <p:nvPr/>
          </p:nvSpPr>
          <p:spPr>
            <a:xfrm>
              <a:off x="7765542" y="4712018"/>
              <a:ext cx="1822514" cy="778383"/>
            </a:xfrm>
            <a:prstGeom prst="rect">
              <a:avLst/>
            </a:prstGeom>
            <a:noFill/>
            <a:ln>
              <a:noFill/>
            </a:ln>
          </p:spPr>
          <p:txBody>
            <a:bodyPr wrap="none" lIns="0" tIns="0" rIns="0" bIns="0" anchor="t" anchorCtr="0">
              <a:spAutoFit/>
            </a:bodyPr>
            <a:lstStyle/>
            <a:p>
              <a:pPr algn="l">
                <a:lnSpc>
                  <a:spcPts val="2025"/>
                </a:lnSpc>
              </a:pPr>
              <a:r>
                <a:rPr lang="en-US" sz="1350" dirty="0">
                  <a:solidFill>
                    <a:schemeClr val="dk1"/>
                  </a:solidFill>
                  <a:latin typeface="+mn-lt"/>
                  <a:ea typeface="+mn-ea"/>
                  <a:cs typeface="+mn-cs"/>
                </a:rPr>
                <a:t>Shot sampling</a:t>
              </a:r>
              <a:br/>
              <a:r>
                <a:rPr lang="en-US" sz="1350" dirty="0">
                  <a:solidFill>
                    <a:schemeClr val="dk1"/>
                  </a:solidFill>
                  <a:latin typeface="+mn-lt"/>
                  <a:ea typeface="+mn-ea"/>
                  <a:cs typeface="+mn-cs"/>
                </a:rPr>
                <a:t>Acceptance</a:t>
              </a:r>
              <a:br/>
              <a:r>
                <a:rPr lang="en-US" sz="1350" dirty="0">
                  <a:solidFill>
                    <a:schemeClr val="dk1"/>
                  </a:solidFill>
                  <a:latin typeface="+mn-lt"/>
                  <a:ea typeface="+mn-ea"/>
                  <a:cs typeface="+mn-cs"/>
                </a:rPr>
                <a:t>Ideal-trained readout</a:t>
              </a:r>
            </a:p>
          </p:txBody>
        </p:sp>
        <p:sp>
          <p:nvSpPr>
            <p:cNvPr id="26" name="Rectangle 26"/>
            <p:cNvSpPr/>
            <p:nvPr/>
          </p:nvSpPr>
          <p:spPr>
            <a:xfrm>
              <a:off x="9601200" y="4210050"/>
              <a:ext cx="1981200" cy="1390650"/>
            </a:xfrm>
            <a:prstGeom prst="rect">
              <a:avLst/>
            </a:prstGeom>
            <a:solidFill>
              <a:srgbClr val="E8C2B4"/>
            </a:solidFill>
            <a:ln>
              <a:noFill/>
            </a:ln>
          </p:spPr>
        </p:sp>
        <p:sp>
          <p:nvSpPr>
            <p:cNvPr id="27" name="TextBox 27"/>
            <p:cNvSpPr txBox="1"/>
            <p:nvPr/>
          </p:nvSpPr>
          <p:spPr>
            <a:xfrm>
              <a:off x="9822942" y="4369118"/>
              <a:ext cx="1505742" cy="264033"/>
            </a:xfrm>
            <a:prstGeom prst="rect">
              <a:avLst/>
            </a:prstGeom>
            <a:noFill/>
            <a:ln>
              <a:noFill/>
            </a:ln>
          </p:spPr>
          <p:txBody>
            <a:bodyPr wrap="none" lIns="0" tIns="0" rIns="0" bIns="0" anchor="t" anchorCtr="0">
              <a:spAutoFit/>
            </a:bodyPr>
            <a:lstStyle/>
            <a:p>
              <a:pPr algn="l"/>
              <a:r>
                <a:rPr lang="en-US" sz="1350" b="1" dirty="0">
                  <a:solidFill>
                    <a:schemeClr val="accent5"/>
                  </a:solidFill>
                  <a:latin typeface="+mn-lt"/>
                  <a:ea typeface="+mn-ea"/>
                  <a:cs typeface="+mn-cs"/>
                </a:rPr>
                <a:t>NOT YET TESTED</a:t>
              </a:r>
            </a:p>
          </p:txBody>
        </p:sp>
        <p:sp>
          <p:nvSpPr>
            <p:cNvPr id="28" name="TextBox 28"/>
            <p:cNvSpPr txBox="1"/>
            <p:nvPr/>
          </p:nvSpPr>
          <p:spPr>
            <a:xfrm>
              <a:off x="9822942" y="4712018"/>
              <a:ext cx="2208276" cy="778383"/>
            </a:xfrm>
            <a:prstGeom prst="rect">
              <a:avLst/>
            </a:prstGeom>
            <a:noFill/>
            <a:ln>
              <a:noFill/>
            </a:ln>
          </p:spPr>
          <p:txBody>
            <a:bodyPr wrap="none" lIns="0" tIns="0" rIns="0" bIns="0" anchor="t" anchorCtr="0">
              <a:spAutoFit/>
            </a:bodyPr>
            <a:lstStyle/>
            <a:p>
              <a:pPr algn="l">
                <a:lnSpc>
                  <a:spcPts val="2025"/>
                </a:lnSpc>
              </a:pPr>
              <a:r>
                <a:rPr lang="en-US" sz="1350" dirty="0">
                  <a:solidFill>
                    <a:schemeClr val="dk1"/>
                  </a:solidFill>
                  <a:latin typeface="+mn-lt"/>
                  <a:ea typeface="+mn-ea"/>
                  <a:cs typeface="+mn-cs"/>
                </a:rPr>
                <a:t>Loss · phase drift</a:t>
              </a:r>
              <a:br/>
              <a:r>
                <a:rPr lang="en-US" sz="1350" dirty="0">
                  <a:solidFill>
                    <a:schemeClr val="dk1"/>
                  </a:solidFill>
                  <a:latin typeface="+mn-lt"/>
                  <a:ea typeface="+mn-ea"/>
                  <a:cs typeface="+mn-cs"/>
                </a:rPr>
                <a:t>Distinguishability</a:t>
              </a:r>
              <a:br/>
              <a:r>
                <a:rPr lang="en-US" sz="1350" dirty="0">
                  <a:solidFill>
                    <a:schemeClr val="dk1"/>
                  </a:solidFill>
                  <a:latin typeface="+mn-lt"/>
                  <a:ea typeface="+mn-ea"/>
                  <a:cs typeface="+mn-cs"/>
                </a:rPr>
                <a:t>Detectors · noise training</a:t>
              </a:r>
            </a:p>
          </p:txBody>
        </p:sp>
      </p:grpSp>
      <p:grpSp>
        <p:nvGrpSpPr>
          <p:cNvPr id="31" name="Group 31"/>
          <p:cNvGrpSpPr/>
          <p:nvPr/>
        </p:nvGrpSpPr>
        <p:grpSpPr>
          <a:xfrm>
            <a:off x="603504" y="6061710"/>
            <a:ext cx="8848649" cy="234696"/>
            <a:chOff x="603504" y="6061710"/>
            <a:chExt cx="8848649" cy="234696"/>
          </a:xfrm>
        </p:grpSpPr>
        <p:sp>
          <p:nvSpPr>
            <p:cNvPr id="30" name="TextBox 30"/>
            <p:cNvSpPr txBox="1"/>
            <p:nvPr/>
          </p:nvSpPr>
          <p:spPr>
            <a:xfrm>
              <a:off x="603504" y="6061710"/>
              <a:ext cx="8848649" cy="234696"/>
            </a:xfrm>
            <a:prstGeom prst="rect">
              <a:avLst/>
            </a:prstGeom>
            <a:noFill/>
            <a:ln>
              <a:noFill/>
            </a:ln>
          </p:spPr>
          <p:txBody>
            <a:bodyPr wrap="none" lIns="0" tIns="0" rIns="0" bIns="0" anchor="t" anchorCtr="0">
              <a:spAutoFit/>
            </a:bodyPr>
            <a:lstStyle/>
            <a:p>
              <a:pPr algn="l"/>
              <a:r>
                <a:rPr lang="en-US" sz="1200" dirty="0">
                  <a:solidFill>
                    <a:srgbClr val="766E62"/>
                  </a:solidFill>
                  <a:latin typeface="+mn-lt"/>
                  <a:ea typeface="+mn-ea"/>
                  <a:cs typeface="+mn-cs"/>
                </a:rPr>
                <a:t>45 evaluations = 3 map seeds × 5 sampling seeds × 3 shot levels · same outer test fold · source: finite_shot.csv</a:t>
              </a:r>
            </a:p>
          </p:txBody>
        </p:sp>
      </p:grpSp>
      <p:grpSp>
        <p:nvGrpSpPr>
          <p:cNvPr id="33" name="Group 33"/>
          <p:cNvGrpSpPr/>
          <p:nvPr/>
        </p:nvGrpSpPr>
        <p:grpSpPr>
          <a:xfrm>
            <a:off x="10966723" y="6426518"/>
            <a:ext cx="622535" cy="264033"/>
            <a:chOff x="10966723" y="6426518"/>
            <a:chExt cx="622535" cy="264033"/>
          </a:xfrm>
        </p:grpSpPr>
        <p:sp>
          <p:nvSpPr>
            <p:cNvPr id="32" name="TextBox 32"/>
            <p:cNvSpPr txBox="1"/>
            <p:nvPr/>
          </p:nvSpPr>
          <p:spPr>
            <a:xfrm>
              <a:off x="10966723" y="6426518"/>
              <a:ext cx="622535" cy="264033"/>
            </a:xfrm>
            <a:prstGeom prst="rect">
              <a:avLst/>
            </a:prstGeom>
            <a:noFill/>
            <a:ln>
              <a:noFill/>
            </a:ln>
          </p:spPr>
          <p:txBody>
            <a:bodyPr wrap="none" lIns="0" tIns="0" rIns="0" bIns="0" anchor="t" anchorCtr="0">
              <a:spAutoFit/>
            </a:bodyPr>
            <a:lstStyle/>
            <a:p>
              <a:pPr algn="r"/>
              <a:r>
                <a:rPr lang="en-US" sz="1350" dirty="0">
                  <a:solidFill>
                    <a:srgbClr val="766E62"/>
                  </a:solidFill>
                  <a:latin typeface="+mn-lt"/>
                  <a:ea typeface="+mn-ea"/>
                  <a:cs typeface="+mn-cs"/>
                </a:rPr>
                <a:t>08 / 10</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76200"/>
          </a:xfrm>
          <a:prstGeom prst="rect">
            <a:avLst/>
          </a:prstGeom>
          <a:solidFill>
            <a:schemeClr val="accent3"/>
          </a:solidFill>
          <a:ln>
            <a:noFill/>
          </a:ln>
        </p:spPr>
      </p:sp>
      <p:grpSp>
        <p:nvGrpSpPr>
          <p:cNvPr id="5" name="Group 5"/>
          <p:cNvGrpSpPr/>
          <p:nvPr/>
        </p:nvGrpSpPr>
        <p:grpSpPr>
          <a:xfrm>
            <a:off x="594360" y="482918"/>
            <a:ext cx="11194032" cy="913447"/>
            <a:chOff x="594360" y="482918"/>
            <a:chExt cx="11194032" cy="913447"/>
          </a:xfrm>
        </p:grpSpPr>
        <p:sp>
          <p:nvSpPr>
            <p:cNvPr id="3" name="TextBox 3"/>
            <p:cNvSpPr txBox="1"/>
            <p:nvPr/>
          </p:nvSpPr>
          <p:spPr>
            <a:xfrm>
              <a:off x="602742" y="482918"/>
              <a:ext cx="4140685" cy="264033"/>
            </a:xfrm>
            <a:prstGeom prst="rect">
              <a:avLst/>
            </a:prstGeom>
            <a:noFill/>
            <a:ln>
              <a:noFill/>
            </a:ln>
          </p:spPr>
          <p:txBody>
            <a:bodyPr wrap="none" lIns="0" tIns="0" rIns="0" bIns="0" anchor="t" anchorCtr="0">
              <a:spAutoFit/>
            </a:bodyPr>
            <a:lstStyle/>
            <a:p>
              <a:pPr algn="l"/>
              <a:r>
                <a:rPr lang="en-US" sz="1350" b="1" spc="105" dirty="0">
                  <a:solidFill>
                    <a:schemeClr val="accent6"/>
                  </a:solidFill>
                  <a:latin typeface="+mn-lt"/>
                  <a:ea typeface="+mn-ea"/>
                  <a:cs typeface="+mn-cs"/>
                </a:rPr>
                <a:t>CURRENT VERDICT · EVIDENCE BOUNDARY</a:t>
              </a:r>
            </a:p>
          </p:txBody>
        </p:sp>
        <p:sp>
          <p:nvSpPr>
            <p:cNvPr id="4" name="TextBox 4"/>
            <p:cNvSpPr txBox="1"/>
            <p:nvPr/>
          </p:nvSpPr>
          <p:spPr>
            <a:xfrm>
              <a:off x="594360" y="809625"/>
              <a:ext cx="11194032"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Technically feasible; practical utility remains open</a:t>
              </a:r>
            </a:p>
          </p:txBody>
        </p:sp>
      </p:grpSp>
      <p:grpSp>
        <p:nvGrpSpPr>
          <p:cNvPr id="18" name="Group 18"/>
          <p:cNvGrpSpPr/>
          <p:nvPr/>
        </p:nvGrpSpPr>
        <p:grpSpPr>
          <a:xfrm>
            <a:off x="609600" y="1504950"/>
            <a:ext cx="10972800" cy="2266950"/>
            <a:chOff x="609600" y="1504950"/>
            <a:chExt cx="10972800" cy="2266950"/>
          </a:xfrm>
        </p:grpSpPr>
        <p:sp>
          <p:nvSpPr>
            <p:cNvPr id="6" name="Rectangle 6"/>
            <p:cNvSpPr/>
            <p:nvPr/>
          </p:nvSpPr>
          <p:spPr>
            <a:xfrm>
              <a:off x="609600" y="1504950"/>
              <a:ext cx="3352800" cy="2266950"/>
            </a:xfrm>
            <a:prstGeom prst="rect">
              <a:avLst/>
            </a:prstGeom>
            <a:solidFill>
              <a:schemeClr val="accent3"/>
            </a:solidFill>
            <a:ln>
              <a:noFill/>
            </a:ln>
          </p:spPr>
        </p:sp>
        <p:sp>
          <p:nvSpPr>
            <p:cNvPr id="7" name="TextBox 7"/>
            <p:cNvSpPr txBox="1"/>
            <p:nvPr/>
          </p:nvSpPr>
          <p:spPr>
            <a:xfrm>
              <a:off x="831342" y="1702118"/>
              <a:ext cx="719404" cy="264033"/>
            </a:xfrm>
            <a:prstGeom prst="rect">
              <a:avLst/>
            </a:prstGeom>
            <a:noFill/>
            <a:ln>
              <a:noFill/>
            </a:ln>
          </p:spPr>
          <p:txBody>
            <a:bodyPr wrap="none" lIns="0" tIns="0" rIns="0" bIns="0" anchor="t" anchorCtr="0">
              <a:spAutoFit/>
            </a:bodyPr>
            <a:lstStyle/>
            <a:p>
              <a:pPr algn="l"/>
              <a:r>
                <a:rPr lang="en-US" sz="1350" b="1" dirty="0">
                  <a:solidFill>
                    <a:srgbClr val="FBF7EE"/>
                  </a:solidFill>
                  <a:latin typeface="+mn-lt"/>
                  <a:ea typeface="+mn-ea"/>
                  <a:cs typeface="+mn-cs"/>
                </a:rPr>
                <a:t>PROVEN</a:t>
              </a:r>
            </a:p>
          </p:txBody>
        </p:sp>
        <p:sp>
          <p:nvSpPr>
            <p:cNvPr id="8" name="TextBox 8"/>
            <p:cNvSpPr txBox="1"/>
            <p:nvPr/>
          </p:nvSpPr>
          <p:spPr>
            <a:xfrm>
              <a:off x="826770" y="2005012"/>
              <a:ext cx="3351356"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mj-lt"/>
                  <a:ea typeface="+mj-ea"/>
                  <a:cs typeface="+mj-cs"/>
                </a:rPr>
                <a:t>Technical feasibility</a:t>
              </a:r>
            </a:p>
          </p:txBody>
        </p:sp>
        <p:sp>
          <p:nvSpPr>
            <p:cNvPr id="9" name="TextBox 9"/>
            <p:cNvSpPr txBox="1"/>
            <p:nvPr/>
          </p:nvSpPr>
          <p:spPr>
            <a:xfrm>
              <a:off x="830580" y="2495550"/>
              <a:ext cx="2129790" cy="883920"/>
            </a:xfrm>
            <a:prstGeom prst="rect">
              <a:avLst/>
            </a:prstGeom>
            <a:noFill/>
            <a:ln>
              <a:noFill/>
            </a:ln>
          </p:spPr>
          <p:txBody>
            <a:bodyPr wrap="none" lIns="0" tIns="0" rIns="0" bIns="0" anchor="t" anchorCtr="0">
              <a:spAutoFit/>
            </a:bodyPr>
            <a:lstStyle/>
            <a:p>
              <a:pPr algn="l">
                <a:lnSpc>
                  <a:spcPts val="2325"/>
                </a:lnSpc>
              </a:pPr>
              <a:r>
                <a:rPr lang="en-US" sz="1500" dirty="0">
                  <a:solidFill>
                    <a:srgbClr val="FBF7EE"/>
                  </a:solidFill>
                  <a:latin typeface="+mn-lt"/>
                  <a:ea typeface="+mn-ea"/>
                  <a:cs typeface="+mn-cs"/>
                </a:rPr>
                <a:t>Executable pipeline</a:t>
              </a:r>
              <a:br/>
              <a:r>
                <a:rPr lang="en-US" sz="1500" dirty="0">
                  <a:solidFill>
                    <a:srgbClr val="FBF7EE"/>
                  </a:solidFill>
                  <a:latin typeface="+mn-lt"/>
                  <a:ea typeface="+mn-ea"/>
                  <a:cs typeface="+mn-cs"/>
                </a:rPr>
                <a:t>Simulator semantics</a:t>
              </a:r>
              <a:br/>
              <a:r>
                <a:rPr lang="en-US" sz="1500" dirty="0">
                  <a:solidFill>
                    <a:srgbClr val="FBF7EE"/>
                  </a:solidFill>
                  <a:latin typeface="+mn-lt"/>
                  <a:ea typeface="+mn-ea"/>
                  <a:cs typeface="+mn-cs"/>
                </a:rPr>
                <a:t>Reproducible artifacts</a:t>
              </a:r>
            </a:p>
          </p:txBody>
        </p:sp>
        <p:sp>
          <p:nvSpPr>
            <p:cNvPr id="10" name="Rectangle 10"/>
            <p:cNvSpPr/>
            <p:nvPr/>
          </p:nvSpPr>
          <p:spPr>
            <a:xfrm>
              <a:off x="4191000" y="1504950"/>
              <a:ext cx="3352800" cy="2266950"/>
            </a:xfrm>
            <a:prstGeom prst="rect">
              <a:avLst/>
            </a:prstGeom>
            <a:solidFill>
              <a:srgbClr val="7BA39A"/>
            </a:solidFill>
            <a:ln>
              <a:noFill/>
            </a:ln>
          </p:spPr>
        </p:sp>
        <p:sp>
          <p:nvSpPr>
            <p:cNvPr id="11" name="TextBox 11"/>
            <p:cNvSpPr txBox="1"/>
            <p:nvPr/>
          </p:nvSpPr>
          <p:spPr>
            <a:xfrm>
              <a:off x="4412742" y="1702118"/>
              <a:ext cx="1949318"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PARTIALLY ANSWERED</a:t>
              </a:r>
            </a:p>
          </p:txBody>
        </p:sp>
        <p:sp>
          <p:nvSpPr>
            <p:cNvPr id="12" name="TextBox 12"/>
            <p:cNvSpPr txBox="1"/>
            <p:nvPr/>
          </p:nvSpPr>
          <p:spPr>
            <a:xfrm>
              <a:off x="4408170" y="2005012"/>
              <a:ext cx="2881194" cy="440055"/>
            </a:xfrm>
            <a:prstGeom prst="rect">
              <a:avLst/>
            </a:prstGeom>
            <a:noFill/>
            <a:ln>
              <a:noFill/>
            </a:ln>
          </p:spPr>
          <p:txBody>
            <a:bodyPr wrap="none" lIns="0" tIns="0" rIns="0" bIns="0" anchor="t" anchorCtr="0">
              <a:spAutoFit/>
            </a:bodyPr>
            <a:lstStyle/>
            <a:p>
              <a:pPr algn="l"/>
              <a:r>
                <a:rPr lang="en-US" sz="2250" b="1" dirty="0">
                  <a:solidFill>
                    <a:schemeClr val="accent1"/>
                  </a:solidFill>
                  <a:latin typeface="+mj-lt"/>
                  <a:ea typeface="+mj-ea"/>
                  <a:cs typeface="+mj-cs"/>
                </a:rPr>
                <a:t>Application signal</a:t>
              </a:r>
            </a:p>
          </p:txBody>
        </p:sp>
        <p:sp>
          <p:nvSpPr>
            <p:cNvPr id="13" name="TextBox 13"/>
            <p:cNvSpPr txBox="1"/>
            <p:nvPr/>
          </p:nvSpPr>
          <p:spPr>
            <a:xfrm>
              <a:off x="4411980" y="2495550"/>
              <a:ext cx="2186940" cy="883920"/>
            </a:xfrm>
            <a:prstGeom prst="rect">
              <a:avLst/>
            </a:prstGeom>
            <a:noFill/>
            <a:ln>
              <a:noFill/>
            </a:ln>
          </p:spPr>
          <p:txBody>
            <a:bodyPr wrap="none" lIns="0" tIns="0" rIns="0" bIns="0" anchor="t" anchorCtr="0">
              <a:spAutoFit/>
            </a:bodyPr>
            <a:lstStyle/>
            <a:p>
              <a:pPr algn="l">
                <a:lnSpc>
                  <a:spcPts val="2325"/>
                </a:lnSpc>
              </a:pPr>
              <a:r>
                <a:rPr lang="en-US" sz="1500" dirty="0">
                  <a:solidFill>
                    <a:schemeClr val="accent1"/>
                  </a:solidFill>
                  <a:latin typeface="+mn-lt"/>
                  <a:ea typeface="+mn-ea"/>
                  <a:cs typeface="+mn-cs"/>
                </a:rPr>
                <a:t>Learning with labels</a:t>
              </a:r>
              <a:br/>
              <a:r>
                <a:rPr lang="en-US" sz="1500" dirty="0">
                  <a:solidFill>
                    <a:schemeClr val="accent1"/>
                  </a:solidFill>
                  <a:latin typeface="+mn-lt"/>
                  <a:ea typeface="+mn-ea"/>
                  <a:cs typeface="+mn-cs"/>
                </a:rPr>
                <a:t>Paired one-fold ranking</a:t>
              </a:r>
              <a:br/>
              <a:r>
                <a:rPr lang="en-US" sz="1500" dirty="0">
                  <a:solidFill>
                    <a:schemeClr val="accent1"/>
                  </a:solidFill>
                  <a:latin typeface="+mn-lt"/>
                  <a:ea typeface="+mn-ea"/>
                  <a:cs typeface="+mn-cs"/>
                </a:rPr>
                <a:t>Finite-shot sampling</a:t>
              </a:r>
            </a:p>
          </p:txBody>
        </p:sp>
        <p:sp>
          <p:nvSpPr>
            <p:cNvPr id="14" name="Rectangle 14"/>
            <p:cNvSpPr/>
            <p:nvPr/>
          </p:nvSpPr>
          <p:spPr>
            <a:xfrm>
              <a:off x="7772400" y="1504950"/>
              <a:ext cx="3810000" cy="2266950"/>
            </a:xfrm>
            <a:prstGeom prst="rect">
              <a:avLst/>
            </a:prstGeom>
            <a:solidFill>
              <a:srgbClr val="E8C2B4"/>
            </a:solidFill>
            <a:ln>
              <a:noFill/>
            </a:ln>
          </p:spPr>
        </p:sp>
        <p:sp>
          <p:nvSpPr>
            <p:cNvPr id="15" name="TextBox 15"/>
            <p:cNvSpPr txBox="1"/>
            <p:nvPr/>
          </p:nvSpPr>
          <p:spPr>
            <a:xfrm>
              <a:off x="7994142" y="1702118"/>
              <a:ext cx="1162980" cy="264033"/>
            </a:xfrm>
            <a:prstGeom prst="rect">
              <a:avLst/>
            </a:prstGeom>
            <a:noFill/>
            <a:ln>
              <a:noFill/>
            </a:ln>
          </p:spPr>
          <p:txBody>
            <a:bodyPr wrap="none" lIns="0" tIns="0" rIns="0" bIns="0" anchor="t" anchorCtr="0">
              <a:spAutoFit/>
            </a:bodyPr>
            <a:lstStyle/>
            <a:p>
              <a:pPr algn="l"/>
              <a:r>
                <a:rPr lang="en-US" sz="1350" b="1" dirty="0">
                  <a:solidFill>
                    <a:schemeClr val="accent5"/>
                  </a:solidFill>
                  <a:latin typeface="+mn-lt"/>
                  <a:ea typeface="+mn-ea"/>
                  <a:cs typeface="+mn-cs"/>
                </a:rPr>
                <a:t>UNANSWERED</a:t>
              </a:r>
            </a:p>
          </p:txBody>
        </p:sp>
        <p:sp>
          <p:nvSpPr>
            <p:cNvPr id="16" name="TextBox 16"/>
            <p:cNvSpPr txBox="1"/>
            <p:nvPr/>
          </p:nvSpPr>
          <p:spPr>
            <a:xfrm>
              <a:off x="7989570" y="2005012"/>
              <a:ext cx="2696119" cy="440055"/>
            </a:xfrm>
            <a:prstGeom prst="rect">
              <a:avLst/>
            </a:prstGeom>
            <a:noFill/>
            <a:ln>
              <a:noFill/>
            </a:ln>
          </p:spPr>
          <p:txBody>
            <a:bodyPr wrap="none" lIns="0" tIns="0" rIns="0" bIns="0" anchor="t" anchorCtr="0">
              <a:spAutoFit/>
            </a:bodyPr>
            <a:lstStyle/>
            <a:p>
              <a:pPr algn="l"/>
              <a:r>
                <a:rPr lang="en-US" sz="2250" b="1" dirty="0">
                  <a:solidFill>
                    <a:schemeClr val="accent1"/>
                  </a:solidFill>
                  <a:latin typeface="+mj-lt"/>
                  <a:ea typeface="+mj-ea"/>
                  <a:cs typeface="+mj-cs"/>
                </a:rPr>
                <a:t>Practical utility</a:t>
              </a:r>
            </a:p>
          </p:txBody>
        </p:sp>
        <p:sp>
          <p:nvSpPr>
            <p:cNvPr id="17" name="TextBox 17"/>
            <p:cNvSpPr txBox="1"/>
            <p:nvPr/>
          </p:nvSpPr>
          <p:spPr>
            <a:xfrm>
              <a:off x="7993380" y="2495550"/>
              <a:ext cx="2567940" cy="883920"/>
            </a:xfrm>
            <a:prstGeom prst="rect">
              <a:avLst/>
            </a:prstGeom>
            <a:noFill/>
            <a:ln>
              <a:noFill/>
            </a:ln>
          </p:spPr>
          <p:txBody>
            <a:bodyPr wrap="none" lIns="0" tIns="0" rIns="0" bIns="0" anchor="t" anchorCtr="0">
              <a:spAutoFit/>
            </a:bodyPr>
            <a:lstStyle/>
            <a:p>
              <a:pPr algn="l">
                <a:lnSpc>
                  <a:spcPts val="2325"/>
                </a:lnSpc>
              </a:pPr>
              <a:r>
                <a:rPr lang="en-US" sz="1500" dirty="0">
                  <a:solidFill>
                    <a:schemeClr val="dk1"/>
                  </a:solidFill>
                  <a:latin typeface="+mn-lt"/>
                  <a:ea typeface="+mn-ea"/>
                  <a:cs typeface="+mn-cs"/>
                </a:rPr>
                <a:t>Five-fold generalization</a:t>
              </a:r>
              <a:br/>
              <a:r>
                <a:rPr lang="en-US" sz="1500" dirty="0">
                  <a:solidFill>
                    <a:schemeClr val="dk1"/>
                  </a:solidFill>
                  <a:latin typeface="+mn-lt"/>
                  <a:ea typeface="+mn-ea"/>
                  <a:cs typeface="+mn-cs"/>
                </a:rPr>
                <a:t>Realistic photonic noise</a:t>
              </a:r>
              <a:br/>
              <a:r>
                <a:rPr lang="en-US" sz="1500" dirty="0">
                  <a:solidFill>
                    <a:schemeClr val="dk1"/>
                  </a:solidFill>
                  <a:latin typeface="+mn-lt"/>
                  <a:ea typeface="+mn-ea"/>
                  <a:cs typeface="+mn-cs"/>
                </a:rPr>
                <a:t>Remote hardware execution</a:t>
              </a:r>
            </a:p>
          </p:txBody>
        </p:sp>
      </p:grpSp>
      <p:grpSp>
        <p:nvGrpSpPr>
          <p:cNvPr id="34" name="Group 34"/>
          <p:cNvGrpSpPr/>
          <p:nvPr/>
        </p:nvGrpSpPr>
        <p:grpSpPr>
          <a:xfrm>
            <a:off x="609600" y="4057650"/>
            <a:ext cx="10972800" cy="1733550"/>
            <a:chOff x="609600" y="4057650"/>
            <a:chExt cx="10972800" cy="1733550"/>
          </a:xfrm>
        </p:grpSpPr>
        <p:sp>
          <p:nvSpPr>
            <p:cNvPr id="19" name="Rectangle 19"/>
            <p:cNvSpPr/>
            <p:nvPr/>
          </p:nvSpPr>
          <p:spPr>
            <a:xfrm>
              <a:off x="609600" y="4057650"/>
              <a:ext cx="3352800" cy="1733550"/>
            </a:xfrm>
            <a:prstGeom prst="rect">
              <a:avLst/>
            </a:prstGeom>
            <a:solidFill>
              <a:schemeClr val="lt2"/>
            </a:solidFill>
            <a:ln>
              <a:noFill/>
            </a:ln>
          </p:spPr>
        </p:sp>
        <p:sp>
          <p:nvSpPr>
            <p:cNvPr id="20" name="TextBox 20"/>
            <p:cNvSpPr txBox="1"/>
            <p:nvPr/>
          </p:nvSpPr>
          <p:spPr>
            <a:xfrm>
              <a:off x="831723" y="4253389"/>
              <a:ext cx="2479054" cy="249364"/>
            </a:xfrm>
            <a:prstGeom prst="rect">
              <a:avLst/>
            </a:prstGeom>
            <a:noFill/>
            <a:ln>
              <a:noFill/>
            </a:ln>
          </p:spPr>
          <p:txBody>
            <a:bodyPr wrap="none" lIns="0" tIns="0" rIns="0" bIns="0" anchor="t" anchorCtr="0">
              <a:spAutoFit/>
            </a:bodyPr>
            <a:lstStyle/>
            <a:p>
              <a:pPr algn="l"/>
              <a:r>
                <a:rPr lang="en-US" sz="1280" b="1" dirty="0">
                  <a:solidFill>
                    <a:schemeClr val="accent6"/>
                  </a:solidFill>
                  <a:latin typeface="+mn-lt"/>
                  <a:ea typeface="+mn-ea"/>
                  <a:cs typeface="+mn-cs"/>
                </a:rPr>
                <a:t>OPENCLIP EMBEDDINGS · CPU</a:t>
              </a:r>
            </a:p>
          </p:txBody>
        </p:sp>
        <p:sp>
          <p:nvSpPr>
            <p:cNvPr id="21" name="TextBox 21"/>
            <p:cNvSpPr txBox="1"/>
            <p:nvPr/>
          </p:nvSpPr>
          <p:spPr>
            <a:xfrm>
              <a:off x="820674" y="4637722"/>
              <a:ext cx="1790631" cy="674751"/>
            </a:xfrm>
            <a:prstGeom prst="rect">
              <a:avLst/>
            </a:prstGeom>
            <a:noFill/>
            <a:ln>
              <a:noFill/>
            </a:ln>
          </p:spPr>
          <p:txBody>
            <a:bodyPr wrap="none" lIns="0" tIns="0" rIns="0" bIns="0" anchor="t" anchorCtr="0">
              <a:spAutoFit/>
            </a:bodyPr>
            <a:lstStyle/>
            <a:p>
              <a:pPr algn="l"/>
              <a:r>
                <a:rPr lang="en-US" sz="3450" b="1" dirty="0">
                  <a:solidFill>
                    <a:schemeClr val="accent1"/>
                  </a:solidFill>
                  <a:latin typeface="Consolas"/>
                  <a:ea typeface="Consolas"/>
                  <a:cs typeface="Consolas"/>
                </a:rPr>
                <a:t>96.57 s</a:t>
              </a:r>
            </a:p>
          </p:txBody>
        </p:sp>
        <p:sp>
          <p:nvSpPr>
            <p:cNvPr id="22" name="TextBox 22"/>
            <p:cNvSpPr txBox="1"/>
            <p:nvPr/>
          </p:nvSpPr>
          <p:spPr>
            <a:xfrm>
              <a:off x="831342" y="5245418"/>
              <a:ext cx="2218957"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One cached feature pass</a:t>
              </a:r>
            </a:p>
          </p:txBody>
        </p:sp>
        <p:sp>
          <p:nvSpPr>
            <p:cNvPr id="23" name="TextBox 23"/>
            <p:cNvSpPr txBox="1"/>
            <p:nvPr/>
          </p:nvSpPr>
          <p:spPr>
            <a:xfrm>
              <a:off x="832104" y="5509260"/>
              <a:ext cx="2731618" cy="234696"/>
            </a:xfrm>
            <a:prstGeom prst="rect">
              <a:avLst/>
            </a:prstGeom>
            <a:noFill/>
            <a:ln>
              <a:noFill/>
            </a:ln>
          </p:spPr>
          <p:txBody>
            <a:bodyPr wrap="none" lIns="0" tIns="0" rIns="0" bIns="0" anchor="t" anchorCtr="0">
              <a:spAutoFit/>
            </a:bodyPr>
            <a:lstStyle/>
            <a:p>
              <a:pPr algn="l"/>
              <a:r>
                <a:rPr lang="en-US" sz="1200" dirty="0">
                  <a:solidFill>
                    <a:srgbClr val="766E62"/>
                  </a:solidFill>
                  <a:latin typeface="+mn-lt"/>
                  <a:ea typeface="+mn-ea"/>
                  <a:cs typeface="+mn-cs"/>
                </a:rPr>
                <a:t>Reused across every model family.</a:t>
              </a:r>
            </a:p>
          </p:txBody>
        </p:sp>
        <p:sp>
          <p:nvSpPr>
            <p:cNvPr id="24" name="Rectangle 24"/>
            <p:cNvSpPr/>
            <p:nvPr/>
          </p:nvSpPr>
          <p:spPr>
            <a:xfrm>
              <a:off x="4191000" y="4057650"/>
              <a:ext cx="3352800" cy="1733550"/>
            </a:xfrm>
            <a:prstGeom prst="rect">
              <a:avLst/>
            </a:prstGeom>
            <a:solidFill>
              <a:srgbClr val="B9D0C7"/>
            </a:solidFill>
            <a:ln>
              <a:noFill/>
            </a:ln>
          </p:spPr>
        </p:sp>
        <p:sp>
          <p:nvSpPr>
            <p:cNvPr id="25" name="TextBox 25"/>
            <p:cNvSpPr txBox="1"/>
            <p:nvPr/>
          </p:nvSpPr>
          <p:spPr>
            <a:xfrm>
              <a:off x="4413123" y="4253389"/>
              <a:ext cx="2154064" cy="249364"/>
            </a:xfrm>
            <a:prstGeom prst="rect">
              <a:avLst/>
            </a:prstGeom>
            <a:noFill/>
            <a:ln>
              <a:noFill/>
            </a:ln>
          </p:spPr>
          <p:txBody>
            <a:bodyPr wrap="none" lIns="0" tIns="0" rIns="0" bIns="0" anchor="t" anchorCtr="0">
              <a:spAutoFit/>
            </a:bodyPr>
            <a:lstStyle/>
            <a:p>
              <a:pPr algn="l"/>
              <a:r>
                <a:rPr lang="en-US" sz="1280" b="1" dirty="0">
                  <a:solidFill>
                    <a:schemeClr val="accent1"/>
                  </a:solidFill>
                  <a:latin typeface="+mn-lt"/>
                  <a:ea typeface="+mn-ea"/>
                  <a:cs typeface="+mn-cs"/>
                </a:rPr>
                <a:t>PILOT MODEL GRID · CPU</a:t>
              </a:r>
            </a:p>
          </p:txBody>
        </p:sp>
        <p:sp>
          <p:nvSpPr>
            <p:cNvPr id="26" name="TextBox 26"/>
            <p:cNvSpPr txBox="1"/>
            <p:nvPr/>
          </p:nvSpPr>
          <p:spPr>
            <a:xfrm>
              <a:off x="4402074" y="4637722"/>
              <a:ext cx="1790631" cy="674751"/>
            </a:xfrm>
            <a:prstGeom prst="rect">
              <a:avLst/>
            </a:prstGeom>
            <a:noFill/>
            <a:ln>
              <a:noFill/>
            </a:ln>
          </p:spPr>
          <p:txBody>
            <a:bodyPr wrap="none" lIns="0" tIns="0" rIns="0" bIns="0" anchor="t" anchorCtr="0">
              <a:spAutoFit/>
            </a:bodyPr>
            <a:lstStyle/>
            <a:p>
              <a:pPr algn="l"/>
              <a:r>
                <a:rPr lang="en-US" sz="3450" b="1" dirty="0">
                  <a:solidFill>
                    <a:schemeClr val="accent1"/>
                  </a:solidFill>
                  <a:latin typeface="Consolas"/>
                  <a:ea typeface="Consolas"/>
                  <a:cs typeface="Consolas"/>
                </a:rPr>
                <a:t>≈59.9 s</a:t>
              </a:r>
            </a:p>
          </p:txBody>
        </p:sp>
        <p:sp>
          <p:nvSpPr>
            <p:cNvPr id="27" name="TextBox 27"/>
            <p:cNvSpPr txBox="1"/>
            <p:nvPr/>
          </p:nvSpPr>
          <p:spPr>
            <a:xfrm>
              <a:off x="4412742" y="5245418"/>
              <a:ext cx="2754387" cy="264033"/>
            </a:xfrm>
            <a:prstGeom prst="rect">
              <a:avLst/>
            </a:prstGeom>
            <a:noFill/>
            <a:ln>
              <a:noFill/>
            </a:ln>
          </p:spPr>
          <p:txBody>
            <a:bodyPr wrap="none" lIns="0" tIns="0" rIns="0" bIns="0" anchor="t" anchorCtr="0">
              <a:spAutoFit/>
            </a:bodyPr>
            <a:lstStyle/>
            <a:p>
              <a:pPr algn="l"/>
              <a:r>
                <a:rPr lang="en-US" sz="1350" dirty="0">
                  <a:solidFill>
                    <a:schemeClr val="accent1"/>
                  </a:solidFill>
                  <a:latin typeface="+mn-lt"/>
                  <a:ea typeface="+mn-ea"/>
                  <a:cs typeface="+mn-cs"/>
                </a:rPr>
                <a:t>Broader validation is tractable</a:t>
              </a:r>
            </a:p>
          </p:txBody>
        </p:sp>
        <p:sp>
          <p:nvSpPr>
            <p:cNvPr id="28" name="TextBox 28"/>
            <p:cNvSpPr txBox="1"/>
            <p:nvPr/>
          </p:nvSpPr>
          <p:spPr>
            <a:xfrm>
              <a:off x="4413504" y="5509260"/>
              <a:ext cx="2699243" cy="234696"/>
            </a:xfrm>
            <a:prstGeom prst="rect">
              <a:avLst/>
            </a:prstGeom>
            <a:noFill/>
            <a:ln>
              <a:noFill/>
            </a:ln>
          </p:spPr>
          <p:txBody>
            <a:bodyPr wrap="none" lIns="0" tIns="0" rIns="0" bIns="0" anchor="t" anchorCtr="0">
              <a:spAutoFit/>
            </a:bodyPr>
            <a:lstStyle/>
            <a:p>
              <a:pPr algn="l"/>
              <a:r>
                <a:rPr lang="en-US" sz="1200" dirty="0">
                  <a:solidFill>
                    <a:schemeClr val="accent1"/>
                  </a:solidFill>
                  <a:latin typeface="+mn-lt"/>
                  <a:ea typeface="+mn-ea"/>
                  <a:cs typeface="+mn-cs"/>
                </a:rPr>
                <a:t>Five folds fit the project window.</a:t>
              </a:r>
            </a:p>
          </p:txBody>
        </p:sp>
        <p:sp>
          <p:nvSpPr>
            <p:cNvPr id="29" name="Rectangle 29"/>
            <p:cNvSpPr/>
            <p:nvPr/>
          </p:nvSpPr>
          <p:spPr>
            <a:xfrm>
              <a:off x="7772400" y="4057650"/>
              <a:ext cx="3810000" cy="1733550"/>
            </a:xfrm>
            <a:prstGeom prst="rect">
              <a:avLst/>
            </a:prstGeom>
            <a:solidFill>
              <a:schemeClr val="accent1"/>
            </a:solidFill>
            <a:ln>
              <a:noFill/>
            </a:ln>
          </p:spPr>
        </p:sp>
        <p:sp>
          <p:nvSpPr>
            <p:cNvPr id="30" name="TextBox 30"/>
            <p:cNvSpPr txBox="1"/>
            <p:nvPr/>
          </p:nvSpPr>
          <p:spPr>
            <a:xfrm>
              <a:off x="7994523" y="4253389"/>
              <a:ext cx="1895984" cy="249364"/>
            </a:xfrm>
            <a:prstGeom prst="rect">
              <a:avLst/>
            </a:prstGeom>
            <a:noFill/>
            <a:ln>
              <a:noFill/>
            </a:ln>
          </p:spPr>
          <p:txBody>
            <a:bodyPr wrap="none" lIns="0" tIns="0" rIns="0" bIns="0" anchor="t" anchorCtr="0">
              <a:spAutoFit/>
            </a:bodyPr>
            <a:lstStyle/>
            <a:p>
              <a:pPr algn="l"/>
              <a:r>
                <a:rPr lang="en-US" sz="1280" b="1" dirty="0">
                  <a:solidFill>
                    <a:srgbClr val="B9D0C7"/>
                  </a:solidFill>
                  <a:latin typeface="+mn-lt"/>
                  <a:ea typeface="+mn-ea"/>
                  <a:cs typeface="+mn-cs"/>
                </a:rPr>
                <a:t>DECISION CONSTRAINT</a:t>
              </a:r>
            </a:p>
          </p:txBody>
        </p:sp>
        <p:sp>
          <p:nvSpPr>
            <p:cNvPr id="31" name="TextBox 31"/>
            <p:cNvSpPr txBox="1"/>
            <p:nvPr/>
          </p:nvSpPr>
          <p:spPr>
            <a:xfrm>
              <a:off x="7990332" y="4583430"/>
              <a:ext cx="2782481" cy="410718"/>
            </a:xfrm>
            <a:prstGeom prst="rect">
              <a:avLst/>
            </a:prstGeom>
            <a:noFill/>
            <a:ln>
              <a:noFill/>
            </a:ln>
          </p:spPr>
          <p:txBody>
            <a:bodyPr wrap="none" lIns="0" tIns="0" rIns="0" bIns="0" anchor="t" anchorCtr="0">
              <a:spAutoFit/>
            </a:bodyPr>
            <a:lstStyle/>
            <a:p>
              <a:pPr algn="l"/>
              <a:r>
                <a:rPr lang="en-US" sz="2100" b="1" dirty="0">
                  <a:solidFill>
                    <a:srgbClr val="FFFFFF"/>
                  </a:solidFill>
                  <a:latin typeface="+mj-lt"/>
                  <a:ea typeface="+mj-ea"/>
                  <a:cs typeface="+mj-cs"/>
                </a:rPr>
                <a:t>Scientific validity</a:t>
              </a:r>
            </a:p>
          </p:txBody>
        </p:sp>
        <p:sp>
          <p:nvSpPr>
            <p:cNvPr id="32" name="TextBox 32"/>
            <p:cNvSpPr txBox="1"/>
            <p:nvPr/>
          </p:nvSpPr>
          <p:spPr>
            <a:xfrm>
              <a:off x="7993761" y="4999196"/>
              <a:ext cx="3323717" cy="545402"/>
            </a:xfrm>
            <a:prstGeom prst="rect">
              <a:avLst/>
            </a:prstGeom>
            <a:noFill/>
            <a:ln>
              <a:noFill/>
            </a:ln>
          </p:spPr>
          <p:txBody>
            <a:bodyPr wrap="none" lIns="0" tIns="0" rIns="0" bIns="0" anchor="t" anchorCtr="0">
              <a:spAutoFit/>
            </a:bodyPr>
            <a:lstStyle/>
            <a:p>
              <a:pPr algn="l">
                <a:lnSpc>
                  <a:spcPts val="2100"/>
                </a:lnSpc>
              </a:pPr>
              <a:r>
                <a:rPr lang="en-US" sz="1420" dirty="0">
                  <a:solidFill>
                    <a:srgbClr val="FBF7EE"/>
                  </a:solidFill>
                  <a:latin typeface="+mn-lt"/>
                  <a:ea typeface="+mn-ea"/>
                  <a:cs typeface="+mn-cs"/>
                </a:rPr>
                <a:t>One outer fold · small validation cells</a:t>
              </a:r>
              <a:br/>
              <a:r>
                <a:rPr lang="en-US" sz="1420" dirty="0">
                  <a:solidFill>
                    <a:srgbClr val="FBF7EE"/>
                  </a:solidFill>
                  <a:latin typeface="+mn-lt"/>
                  <a:ea typeface="+mn-ea"/>
                  <a:cs typeface="+mn-cs"/>
                </a:rPr>
                <a:t>ideal optics · B1 near ceiling</a:t>
              </a:r>
            </a:p>
          </p:txBody>
        </p:sp>
        <p:sp>
          <p:nvSpPr>
            <p:cNvPr id="33" name="TextBox 33"/>
            <p:cNvSpPr txBox="1"/>
            <p:nvPr/>
          </p:nvSpPr>
          <p:spPr>
            <a:xfrm>
              <a:off x="7994523" y="5501164"/>
              <a:ext cx="2890071" cy="249364"/>
            </a:xfrm>
            <a:prstGeom prst="rect">
              <a:avLst/>
            </a:prstGeom>
            <a:noFill/>
            <a:ln>
              <a:noFill/>
            </a:ln>
          </p:spPr>
          <p:txBody>
            <a:bodyPr wrap="none" lIns="0" tIns="0" rIns="0" bIns="0" anchor="t" anchorCtr="0">
              <a:spAutoFit/>
            </a:bodyPr>
            <a:lstStyle/>
            <a:p>
              <a:pPr algn="l"/>
              <a:r>
                <a:rPr lang="en-US" sz="1280" b="1" dirty="0">
                  <a:solidFill>
                    <a:srgbClr val="F18B6C"/>
                  </a:solidFill>
                  <a:latin typeface="+mn-lt"/>
                  <a:ea typeface="+mn-ea"/>
                  <a:cs typeface="+mn-cs"/>
                </a:rPr>
                <a:t>RUNTIME IS NOT THE BOTTLENECK</a:t>
              </a:r>
            </a:p>
          </p:txBody>
        </p:sp>
      </p:grpSp>
      <p:grpSp>
        <p:nvGrpSpPr>
          <p:cNvPr id="36" name="Group 36"/>
          <p:cNvGrpSpPr/>
          <p:nvPr/>
        </p:nvGrpSpPr>
        <p:grpSpPr>
          <a:xfrm>
            <a:off x="602742" y="6045518"/>
            <a:ext cx="6274727" cy="264033"/>
            <a:chOff x="602742" y="6045518"/>
            <a:chExt cx="6274727" cy="264033"/>
          </a:xfrm>
        </p:grpSpPr>
        <p:sp>
          <p:nvSpPr>
            <p:cNvPr id="35" name="TextBox 35"/>
            <p:cNvSpPr txBox="1"/>
            <p:nvPr/>
          </p:nvSpPr>
          <p:spPr>
            <a:xfrm>
              <a:off x="602742" y="6045518"/>
              <a:ext cx="6274727" cy="264033"/>
            </a:xfrm>
            <a:prstGeom prst="rect">
              <a:avLst/>
            </a:prstGeom>
            <a:noFill/>
            <a:ln>
              <a:noFill/>
            </a:ln>
          </p:spPr>
          <p:txBody>
            <a:bodyPr wrap="none" lIns="0" tIns="0" rIns="0" bIns="0" anchor="t" anchorCtr="0">
              <a:spAutoFit/>
            </a:bodyPr>
            <a:lstStyle/>
            <a:p>
              <a:pPr algn="l"/>
              <a:r>
                <a:rPr lang="en-US" sz="1350" dirty="0">
                  <a:solidFill>
                    <a:srgbClr val="766E62"/>
                  </a:solidFill>
                  <a:latin typeface="+mn-lt"/>
                  <a:ea typeface="+mn-ea"/>
                  <a:cs typeface="+mn-cs"/>
                </a:rPr>
                <a:t>Local CPU profile · no loss, phase drift, detector noise, or QPU queue</a:t>
              </a:r>
            </a:p>
          </p:txBody>
        </p:sp>
      </p:grpSp>
      <p:grpSp>
        <p:nvGrpSpPr>
          <p:cNvPr id="38" name="Group 38"/>
          <p:cNvGrpSpPr/>
          <p:nvPr/>
        </p:nvGrpSpPr>
        <p:grpSpPr>
          <a:xfrm>
            <a:off x="10966723" y="6426518"/>
            <a:ext cx="622535" cy="264033"/>
            <a:chOff x="10966723" y="6426518"/>
            <a:chExt cx="622535" cy="264033"/>
          </a:xfrm>
        </p:grpSpPr>
        <p:sp>
          <p:nvSpPr>
            <p:cNvPr id="37" name="TextBox 37"/>
            <p:cNvSpPr txBox="1"/>
            <p:nvPr/>
          </p:nvSpPr>
          <p:spPr>
            <a:xfrm>
              <a:off x="10966723" y="6426518"/>
              <a:ext cx="622535" cy="264033"/>
            </a:xfrm>
            <a:prstGeom prst="rect">
              <a:avLst/>
            </a:prstGeom>
            <a:noFill/>
            <a:ln>
              <a:noFill/>
            </a:ln>
          </p:spPr>
          <p:txBody>
            <a:bodyPr wrap="none" lIns="0" tIns="0" rIns="0" bIns="0" anchor="t" anchorCtr="0">
              <a:spAutoFit/>
            </a:bodyPr>
            <a:lstStyle/>
            <a:p>
              <a:pPr algn="r"/>
              <a:r>
                <a:rPr lang="en-US" sz="1350" dirty="0">
                  <a:solidFill>
                    <a:srgbClr val="766E62"/>
                  </a:solidFill>
                  <a:latin typeface="+mn-lt"/>
                  <a:ea typeface="+mn-ea"/>
                  <a:cs typeface="+mn-cs"/>
                </a:rPr>
                <a:t>09 / 10</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76200"/>
          </a:xfrm>
          <a:prstGeom prst="rect">
            <a:avLst/>
          </a:prstGeom>
          <a:solidFill>
            <a:schemeClr val="accent3"/>
          </a:solidFill>
          <a:ln>
            <a:noFill/>
          </a:ln>
        </p:spPr>
      </p:sp>
      <p:grpSp>
        <p:nvGrpSpPr>
          <p:cNvPr id="5" name="Group 5"/>
          <p:cNvGrpSpPr/>
          <p:nvPr/>
        </p:nvGrpSpPr>
        <p:grpSpPr>
          <a:xfrm>
            <a:off x="594360" y="482918"/>
            <a:ext cx="10300884" cy="913447"/>
            <a:chOff x="594360" y="482918"/>
            <a:chExt cx="10300884" cy="913447"/>
          </a:xfrm>
        </p:grpSpPr>
        <p:sp>
          <p:nvSpPr>
            <p:cNvPr id="3" name="TextBox 3"/>
            <p:cNvSpPr txBox="1"/>
            <p:nvPr/>
          </p:nvSpPr>
          <p:spPr>
            <a:xfrm>
              <a:off x="602742" y="482918"/>
              <a:ext cx="5464691" cy="264033"/>
            </a:xfrm>
            <a:prstGeom prst="rect">
              <a:avLst/>
            </a:prstGeom>
            <a:noFill/>
            <a:ln>
              <a:noFill/>
            </a:ln>
          </p:spPr>
          <p:txBody>
            <a:bodyPr wrap="none" lIns="0" tIns="0" rIns="0" bIns="0" anchor="t" anchorCtr="0">
              <a:spAutoFit/>
            </a:bodyPr>
            <a:lstStyle/>
            <a:p>
              <a:pPr algn="l"/>
              <a:r>
                <a:rPr lang="en-US" sz="1350" b="1" spc="105" dirty="0">
                  <a:solidFill>
                    <a:schemeClr val="accent6"/>
                  </a:solidFill>
                  <a:latin typeface="+mn-lt"/>
                  <a:ea typeface="+mn-ea"/>
                  <a:cs typeface="+mn-cs"/>
                </a:rPr>
                <a:t>RECOMMENDATION · ANSWER TO THE RESEARCH TEAM</a:t>
              </a:r>
            </a:p>
          </p:txBody>
        </p:sp>
        <p:sp>
          <p:nvSpPr>
            <p:cNvPr id="4" name="TextBox 4"/>
            <p:cNvSpPr txBox="1"/>
            <p:nvPr/>
          </p:nvSpPr>
          <p:spPr>
            <a:xfrm>
              <a:off x="594360" y="809625"/>
              <a:ext cx="10300884"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Continue only through a decision-changing test</a:t>
              </a:r>
            </a:p>
          </p:txBody>
        </p:sp>
      </p:grpSp>
      <p:grpSp>
        <p:nvGrpSpPr>
          <p:cNvPr id="18" name="Group 18"/>
          <p:cNvGrpSpPr/>
          <p:nvPr/>
        </p:nvGrpSpPr>
        <p:grpSpPr>
          <a:xfrm>
            <a:off x="609600" y="1562100"/>
            <a:ext cx="6109724" cy="3905250"/>
            <a:chOff x="609600" y="1562100"/>
            <a:chExt cx="6109724" cy="3905250"/>
          </a:xfrm>
        </p:grpSpPr>
        <p:sp>
          <p:nvSpPr>
            <p:cNvPr id="6" name="Rectangle 6"/>
            <p:cNvSpPr/>
            <p:nvPr/>
          </p:nvSpPr>
          <p:spPr>
            <a:xfrm>
              <a:off x="609600" y="1562100"/>
              <a:ext cx="5715000" cy="1104900"/>
            </a:xfrm>
            <a:prstGeom prst="rect">
              <a:avLst/>
            </a:prstGeom>
            <a:solidFill>
              <a:schemeClr val="lt2"/>
            </a:solidFill>
            <a:ln>
              <a:noFill/>
            </a:ln>
          </p:spPr>
        </p:sp>
        <p:sp>
          <p:nvSpPr>
            <p:cNvPr id="7" name="TextBox 7"/>
            <p:cNvSpPr txBox="1"/>
            <p:nvPr/>
          </p:nvSpPr>
          <p:spPr>
            <a:xfrm>
              <a:off x="831342" y="1740218"/>
              <a:ext cx="1888830" cy="264033"/>
            </a:xfrm>
            <a:prstGeom prst="rect">
              <a:avLst/>
            </a:prstGeom>
            <a:noFill/>
            <a:ln>
              <a:noFill/>
            </a:ln>
          </p:spPr>
          <p:txBody>
            <a:bodyPr wrap="none" lIns="0" tIns="0" rIns="0" bIns="0" anchor="t" anchorCtr="0">
              <a:spAutoFit/>
            </a:bodyPr>
            <a:lstStyle/>
            <a:p>
              <a:pPr algn="l"/>
              <a:r>
                <a:rPr lang="en-US" sz="1350" b="1" dirty="0">
                  <a:solidFill>
                    <a:schemeClr val="accent5"/>
                  </a:solidFill>
                  <a:latin typeface="+mn-lt"/>
                  <a:ea typeface="+mn-ea"/>
                  <a:cs typeface="+mn-cs"/>
                </a:rPr>
                <a:t>WHICH APPLICATION?</a:t>
              </a:r>
            </a:p>
          </p:txBody>
        </p:sp>
        <p:sp>
          <p:nvSpPr>
            <p:cNvPr id="8" name="TextBox 8"/>
            <p:cNvSpPr txBox="1"/>
            <p:nvPr/>
          </p:nvSpPr>
          <p:spPr>
            <a:xfrm>
              <a:off x="827532" y="2040255"/>
              <a:ext cx="5891792"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j-lt"/>
                  <a:ea typeface="+mj-ea"/>
                  <a:cs typeface="+mj-cs"/>
                </a:rPr>
                <a:t>Few-label industrial defect inspection</a:t>
              </a:r>
            </a:p>
          </p:txBody>
        </p:sp>
        <p:sp>
          <p:nvSpPr>
            <p:cNvPr id="9" name="TextBox 9"/>
            <p:cNvSpPr txBox="1"/>
            <p:nvPr/>
          </p:nvSpPr>
          <p:spPr>
            <a:xfrm>
              <a:off x="831342" y="2378392"/>
              <a:ext cx="2785205"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with a fixed photonic reservoir</a:t>
              </a:r>
            </a:p>
          </p:txBody>
        </p:sp>
        <p:sp>
          <p:nvSpPr>
            <p:cNvPr id="10" name="Rectangle 10"/>
            <p:cNvSpPr/>
            <p:nvPr/>
          </p:nvSpPr>
          <p:spPr>
            <a:xfrm>
              <a:off x="609600" y="2819400"/>
              <a:ext cx="5715000" cy="1104900"/>
            </a:xfrm>
            <a:prstGeom prst="rect">
              <a:avLst/>
            </a:prstGeom>
            <a:solidFill>
              <a:schemeClr val="accent3"/>
            </a:solidFill>
            <a:ln>
              <a:noFill/>
            </a:ln>
          </p:spPr>
        </p:sp>
        <p:sp>
          <p:nvSpPr>
            <p:cNvPr id="11" name="TextBox 11"/>
            <p:cNvSpPr txBox="1"/>
            <p:nvPr/>
          </p:nvSpPr>
          <p:spPr>
            <a:xfrm>
              <a:off x="831342" y="2997518"/>
              <a:ext cx="1404930" cy="264033"/>
            </a:xfrm>
            <a:prstGeom prst="rect">
              <a:avLst/>
            </a:prstGeom>
            <a:noFill/>
            <a:ln>
              <a:noFill/>
            </a:ln>
          </p:spPr>
          <p:txBody>
            <a:bodyPr wrap="none" lIns="0" tIns="0" rIns="0" bIns="0" anchor="t" anchorCtr="0">
              <a:spAutoFit/>
            </a:bodyPr>
            <a:lstStyle/>
            <a:p>
              <a:pPr algn="l"/>
              <a:r>
                <a:rPr lang="en-US" sz="1350" b="1" dirty="0">
                  <a:solidFill>
                    <a:srgbClr val="B9D0C7"/>
                  </a:solidFill>
                  <a:latin typeface="+mn-lt"/>
                  <a:ea typeface="+mn-ea"/>
                  <a:cs typeface="+mn-cs"/>
                </a:rPr>
                <a:t>WHY THIS IDEA?</a:t>
              </a:r>
            </a:p>
          </p:txBody>
        </p:sp>
        <p:sp>
          <p:nvSpPr>
            <p:cNvPr id="12" name="TextBox 12"/>
            <p:cNvSpPr txBox="1"/>
            <p:nvPr/>
          </p:nvSpPr>
          <p:spPr>
            <a:xfrm>
              <a:off x="829056" y="3329940"/>
              <a:ext cx="5872243"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mj-lt"/>
                  <a:ea typeface="+mj-ea"/>
                  <a:cs typeface="+mj-cs"/>
                </a:rPr>
                <a:t>Real label scarcity · compact phase encoding</a:t>
              </a:r>
            </a:p>
          </p:txBody>
        </p:sp>
        <p:sp>
          <p:nvSpPr>
            <p:cNvPr id="13" name="TextBox 13"/>
            <p:cNvSpPr txBox="1"/>
            <p:nvPr/>
          </p:nvSpPr>
          <p:spPr>
            <a:xfrm>
              <a:off x="831342" y="3635692"/>
              <a:ext cx="3257721" cy="264033"/>
            </a:xfrm>
            <a:prstGeom prst="rect">
              <a:avLst/>
            </a:prstGeom>
            <a:noFill/>
            <a:ln>
              <a:noFill/>
            </a:ln>
          </p:spPr>
          <p:txBody>
            <a:bodyPr wrap="none" lIns="0" tIns="0" rIns="0" bIns="0" anchor="t" anchorCtr="0">
              <a:spAutoFit/>
            </a:bodyPr>
            <a:lstStyle/>
            <a:p>
              <a:pPr algn="l"/>
              <a:r>
                <a:rPr lang="en-US" sz="1350" dirty="0">
                  <a:solidFill>
                    <a:srgbClr val="FBF7EE"/>
                  </a:solidFill>
                  <a:latin typeface="+mn-lt"/>
                  <a:ea typeface="+mn-ea"/>
                  <a:cs typeface="+mn-cs"/>
                </a:rPr>
                <a:t>measurable evidence within 12 weeks</a:t>
              </a:r>
            </a:p>
          </p:txBody>
        </p:sp>
        <p:sp>
          <p:nvSpPr>
            <p:cNvPr id="14" name="Rectangle 14"/>
            <p:cNvSpPr/>
            <p:nvPr/>
          </p:nvSpPr>
          <p:spPr>
            <a:xfrm>
              <a:off x="609600" y="4076700"/>
              <a:ext cx="5715000" cy="1390650"/>
            </a:xfrm>
            <a:prstGeom prst="rect">
              <a:avLst/>
            </a:prstGeom>
            <a:solidFill>
              <a:srgbClr val="7BA39A"/>
            </a:solidFill>
            <a:ln>
              <a:noFill/>
            </a:ln>
          </p:spPr>
        </p:sp>
        <p:sp>
          <p:nvSpPr>
            <p:cNvPr id="15" name="TextBox 15"/>
            <p:cNvSpPr txBox="1"/>
            <p:nvPr/>
          </p:nvSpPr>
          <p:spPr>
            <a:xfrm>
              <a:off x="831342" y="4254818"/>
              <a:ext cx="1576311"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CURRENT VERDICT</a:t>
              </a:r>
            </a:p>
          </p:txBody>
        </p:sp>
        <p:sp>
          <p:nvSpPr>
            <p:cNvPr id="16" name="TextBox 16"/>
            <p:cNvSpPr txBox="1"/>
            <p:nvPr/>
          </p:nvSpPr>
          <p:spPr>
            <a:xfrm>
              <a:off x="827913" y="4486751"/>
              <a:ext cx="3333788" cy="691324"/>
            </a:xfrm>
            <a:prstGeom prst="rect">
              <a:avLst/>
            </a:prstGeom>
            <a:noFill/>
            <a:ln>
              <a:noFill/>
            </a:ln>
          </p:spPr>
          <p:txBody>
            <a:bodyPr wrap="none" lIns="0" tIns="0" rIns="0" bIns="0" anchor="t" anchorCtr="0">
              <a:spAutoFit/>
            </a:bodyPr>
            <a:lstStyle/>
            <a:p>
              <a:pPr algn="l">
                <a:lnSpc>
                  <a:spcPts val="2325"/>
                </a:lnSpc>
              </a:pPr>
              <a:r>
                <a:rPr lang="en-US" sz="2020" b="1" dirty="0">
                  <a:solidFill>
                    <a:schemeClr val="accent1"/>
                  </a:solidFill>
                  <a:latin typeface="+mj-lt"/>
                  <a:ea typeface="+mj-ea"/>
                  <a:cs typeface="+mj-cs"/>
                </a:rPr>
                <a:t>Technically feasible and</a:t>
              </a:r>
              <a:br/>
              <a:r>
                <a:rPr lang="en-US" sz="2020" b="1" dirty="0">
                  <a:solidFill>
                    <a:schemeClr val="accent1"/>
                  </a:solidFill>
                  <a:latin typeface="+mj-lt"/>
                  <a:ea typeface="+mj-ea"/>
                  <a:cs typeface="+mj-cs"/>
                </a:rPr>
                <a:t>scientifically interesting</a:t>
              </a:r>
            </a:p>
          </p:txBody>
        </p:sp>
        <p:sp>
          <p:nvSpPr>
            <p:cNvPr id="17" name="TextBox 17"/>
            <p:cNvSpPr txBox="1"/>
            <p:nvPr/>
          </p:nvSpPr>
          <p:spPr>
            <a:xfrm>
              <a:off x="831723" y="5196364"/>
              <a:ext cx="3989302" cy="249364"/>
            </a:xfrm>
            <a:prstGeom prst="rect">
              <a:avLst/>
            </a:prstGeom>
            <a:noFill/>
            <a:ln>
              <a:noFill/>
            </a:ln>
          </p:spPr>
          <p:txBody>
            <a:bodyPr wrap="none" lIns="0" tIns="0" rIns="0" bIns="0" anchor="t" anchorCtr="0">
              <a:spAutoFit/>
            </a:bodyPr>
            <a:lstStyle/>
            <a:p>
              <a:pPr algn="l"/>
              <a:r>
                <a:rPr lang="en-US" sz="1280" b="1" dirty="0">
                  <a:solidFill>
                    <a:schemeClr val="accent1"/>
                  </a:solidFill>
                  <a:latin typeface="+mn-lt"/>
                  <a:ea typeface="+mn-ea"/>
                  <a:cs typeface="+mn-cs"/>
                </a:rPr>
                <a:t>NO DEMONSTRATED PRACTICAL ADVANTAGE YET</a:t>
              </a:r>
            </a:p>
          </p:txBody>
        </p:sp>
      </p:grpSp>
      <p:grpSp>
        <p:nvGrpSpPr>
          <p:cNvPr id="30" name="Group 30"/>
          <p:cNvGrpSpPr/>
          <p:nvPr/>
        </p:nvGrpSpPr>
        <p:grpSpPr>
          <a:xfrm>
            <a:off x="6598044" y="1562100"/>
            <a:ext cx="5072849" cy="3905250"/>
            <a:chOff x="6598044" y="1562100"/>
            <a:chExt cx="5072849" cy="3905250"/>
          </a:xfrm>
        </p:grpSpPr>
        <p:sp>
          <p:nvSpPr>
            <p:cNvPr id="19" name="Rectangle 19"/>
            <p:cNvSpPr/>
            <p:nvPr/>
          </p:nvSpPr>
          <p:spPr>
            <a:xfrm>
              <a:off x="6629400" y="1562100"/>
              <a:ext cx="4953000" cy="1847850"/>
            </a:xfrm>
            <a:prstGeom prst="rect">
              <a:avLst/>
            </a:prstGeom>
            <a:solidFill>
              <a:schemeClr val="accent1"/>
            </a:solidFill>
            <a:ln>
              <a:noFill/>
            </a:ln>
          </p:spPr>
        </p:sp>
        <p:sp>
          <p:nvSpPr>
            <p:cNvPr id="20" name="TextBox 20"/>
            <p:cNvSpPr txBox="1"/>
            <p:nvPr/>
          </p:nvSpPr>
          <p:spPr>
            <a:xfrm>
              <a:off x="6889242" y="1759268"/>
              <a:ext cx="1667043" cy="264033"/>
            </a:xfrm>
            <a:prstGeom prst="rect">
              <a:avLst/>
            </a:prstGeom>
            <a:noFill/>
            <a:ln>
              <a:noFill/>
            </a:ln>
          </p:spPr>
          <p:txBody>
            <a:bodyPr wrap="none" lIns="0" tIns="0" rIns="0" bIns="0" anchor="t" anchorCtr="0">
              <a:spAutoFit/>
            </a:bodyPr>
            <a:lstStyle/>
            <a:p>
              <a:pPr algn="l"/>
              <a:r>
                <a:rPr lang="en-US" sz="1350" b="1" dirty="0">
                  <a:solidFill>
                    <a:srgbClr val="B9D0C7"/>
                  </a:solidFill>
                  <a:latin typeface="+mn-lt"/>
                  <a:ea typeface="+mn-ea"/>
                  <a:cs typeface="+mn-cs"/>
                </a:rPr>
                <a:t>CONTINUE ONLY IF</a:t>
              </a:r>
            </a:p>
          </p:txBody>
        </p:sp>
        <p:sp>
          <p:nvSpPr>
            <p:cNvPr id="21" name="TextBox 21"/>
            <p:cNvSpPr txBox="1"/>
            <p:nvPr/>
          </p:nvSpPr>
          <p:spPr>
            <a:xfrm>
              <a:off x="6886575" y="2093119"/>
              <a:ext cx="4784318" cy="366712"/>
            </a:xfrm>
            <a:prstGeom prst="rect">
              <a:avLst/>
            </a:prstGeom>
            <a:noFill/>
            <a:ln>
              <a:noFill/>
            </a:ln>
          </p:spPr>
          <p:txBody>
            <a:bodyPr wrap="none" lIns="0" tIns="0" rIns="0" bIns="0" anchor="t" anchorCtr="0">
              <a:spAutoFit/>
            </a:bodyPr>
            <a:lstStyle/>
            <a:p>
              <a:pPr algn="l"/>
              <a:r>
                <a:rPr lang="en-US" sz="1880" b="1" dirty="0">
                  <a:solidFill>
                    <a:srgbClr val="FFFFFF"/>
                  </a:solidFill>
                  <a:latin typeface="+mj-lt"/>
                  <a:ea typeface="+mj-ea"/>
                  <a:cs typeface="+mj-cs"/>
                </a:rPr>
                <a:t>Pass A · gap ≤ 0.02 on ≥4 / 5 folds</a:t>
              </a:r>
            </a:p>
          </p:txBody>
        </p:sp>
        <p:sp>
          <p:nvSpPr>
            <p:cNvPr id="22" name="TextBox 22"/>
            <p:cNvSpPr txBox="1"/>
            <p:nvPr/>
          </p:nvSpPr>
          <p:spPr>
            <a:xfrm>
              <a:off x="6886575" y="2483644"/>
              <a:ext cx="4184010" cy="366712"/>
            </a:xfrm>
            <a:prstGeom prst="rect">
              <a:avLst/>
            </a:prstGeom>
            <a:noFill/>
            <a:ln>
              <a:noFill/>
            </a:ln>
          </p:spPr>
          <p:txBody>
            <a:bodyPr wrap="none" lIns="0" tIns="0" rIns="0" bIns="0" anchor="t" anchorCtr="0">
              <a:spAutoFit/>
            </a:bodyPr>
            <a:lstStyle/>
            <a:p>
              <a:pPr algn="l"/>
              <a:r>
                <a:rPr lang="en-US" sz="1880" b="1" dirty="0">
                  <a:solidFill>
                    <a:srgbClr val="FFFFFF"/>
                  </a:solidFill>
                  <a:latin typeface="+mj-lt"/>
                  <a:ea typeface="+mj-ea"/>
                  <a:cs typeface="+mj-cs"/>
                </a:rPr>
                <a:t>or Pass B · 2× label efficiency</a:t>
              </a:r>
            </a:p>
          </p:txBody>
        </p:sp>
        <p:sp>
          <p:nvSpPr>
            <p:cNvPr id="23" name="TextBox 23"/>
            <p:cNvSpPr txBox="1"/>
            <p:nvPr/>
          </p:nvSpPr>
          <p:spPr>
            <a:xfrm>
              <a:off x="6889242" y="2959418"/>
              <a:ext cx="3684803" cy="264033"/>
            </a:xfrm>
            <a:prstGeom prst="rect">
              <a:avLst/>
            </a:prstGeom>
            <a:noFill/>
            <a:ln>
              <a:noFill/>
            </a:ln>
          </p:spPr>
          <p:txBody>
            <a:bodyPr wrap="none" lIns="0" tIns="0" rIns="0" bIns="0" anchor="t" anchorCtr="0">
              <a:spAutoFit/>
            </a:bodyPr>
            <a:lstStyle/>
            <a:p>
              <a:pPr algn="l"/>
              <a:r>
                <a:rPr lang="en-US" sz="1350" dirty="0">
                  <a:solidFill>
                    <a:srgbClr val="FBF7EE"/>
                  </a:solidFill>
                  <a:latin typeface="+mn-lt"/>
                  <a:ea typeface="+mn-ea"/>
                  <a:cs typeface="+mn-cs"/>
                </a:rPr>
                <a:t>≤2,000 shots / image · acceptance ≥ 0.70</a:t>
              </a:r>
            </a:p>
          </p:txBody>
        </p:sp>
        <p:sp>
          <p:nvSpPr>
            <p:cNvPr id="24" name="Rectangle 24"/>
            <p:cNvSpPr/>
            <p:nvPr/>
          </p:nvSpPr>
          <p:spPr>
            <a:xfrm>
              <a:off x="6629400" y="3562350"/>
              <a:ext cx="4953000" cy="1143000"/>
            </a:xfrm>
            <a:prstGeom prst="rect">
              <a:avLst/>
            </a:prstGeom>
            <a:solidFill>
              <a:schemeClr val="accent2"/>
            </a:solidFill>
            <a:ln>
              <a:noFill/>
            </a:ln>
          </p:spPr>
        </p:sp>
        <p:sp>
          <p:nvSpPr>
            <p:cNvPr id="25" name="TextBox 25"/>
            <p:cNvSpPr txBox="1"/>
            <p:nvPr/>
          </p:nvSpPr>
          <p:spPr>
            <a:xfrm>
              <a:off x="6889242" y="3740468"/>
              <a:ext cx="1535986" cy="264033"/>
            </a:xfrm>
            <a:prstGeom prst="rect">
              <a:avLst/>
            </a:prstGeom>
            <a:noFill/>
            <a:ln>
              <a:noFill/>
            </a:ln>
          </p:spPr>
          <p:txBody>
            <a:bodyPr wrap="none" lIns="0" tIns="0" rIns="0" bIns="0" anchor="t" anchorCtr="0">
              <a:spAutoFit/>
            </a:bodyPr>
            <a:lstStyle/>
            <a:p>
              <a:pPr algn="l"/>
              <a:r>
                <a:rPr lang="en-US" sz="1350" b="1" dirty="0">
                  <a:solidFill>
                    <a:srgbClr val="FFFFFF"/>
                  </a:solidFill>
                  <a:latin typeface="+mn-lt"/>
                  <a:ea typeface="+mn-ea"/>
                  <a:cs typeface="+mn-cs"/>
                </a:rPr>
                <a:t>STOP CONDITION</a:t>
              </a:r>
            </a:p>
          </p:txBody>
        </p:sp>
        <p:sp>
          <p:nvSpPr>
            <p:cNvPr id="26" name="TextBox 26"/>
            <p:cNvSpPr txBox="1"/>
            <p:nvPr/>
          </p:nvSpPr>
          <p:spPr>
            <a:xfrm>
              <a:off x="6886575" y="4055269"/>
              <a:ext cx="2551476" cy="366712"/>
            </a:xfrm>
            <a:prstGeom prst="rect">
              <a:avLst/>
            </a:prstGeom>
            <a:noFill/>
            <a:ln>
              <a:noFill/>
            </a:ln>
          </p:spPr>
          <p:txBody>
            <a:bodyPr wrap="none" lIns="0" tIns="0" rIns="0" bIns="0" anchor="t" anchorCtr="0">
              <a:spAutoFit/>
            </a:bodyPr>
            <a:lstStyle/>
            <a:p>
              <a:pPr algn="l"/>
              <a:r>
                <a:rPr lang="en-US" sz="1880" b="1" dirty="0">
                  <a:solidFill>
                    <a:srgbClr val="FFFFFF"/>
                  </a:solidFill>
                  <a:latin typeface="+mj-lt"/>
                  <a:ea typeface="+mj-ea"/>
                  <a:cs typeface="+mj-cs"/>
                </a:rPr>
                <a:t>Neither pass holds</a:t>
              </a:r>
            </a:p>
          </p:txBody>
        </p:sp>
        <p:sp>
          <p:nvSpPr>
            <p:cNvPr id="27" name="TextBox 27"/>
            <p:cNvSpPr txBox="1"/>
            <p:nvPr/>
          </p:nvSpPr>
          <p:spPr>
            <a:xfrm>
              <a:off x="6889242" y="4426268"/>
              <a:ext cx="3763405" cy="264033"/>
            </a:xfrm>
            <a:prstGeom prst="rect">
              <a:avLst/>
            </a:prstGeom>
            <a:noFill/>
            <a:ln>
              <a:noFill/>
            </a:ln>
          </p:spPr>
          <p:txBody>
            <a:bodyPr wrap="none" lIns="0" tIns="0" rIns="0" bIns="0" anchor="t" anchorCtr="0">
              <a:spAutoFit/>
            </a:bodyPr>
            <a:lstStyle/>
            <a:p>
              <a:pPr algn="l"/>
              <a:r>
                <a:rPr lang="en-US" sz="1350" b="1" dirty="0">
                  <a:solidFill>
                    <a:srgbClr val="FFFFFF"/>
                  </a:solidFill>
                  <a:latin typeface="+mn-lt"/>
                  <a:ea typeface="+mn-ea"/>
                  <a:cs typeface="+mn-cs"/>
                </a:rPr>
                <a:t>or matched controls win on ≥4 / 5 folds.</a:t>
              </a:r>
            </a:p>
          </p:txBody>
        </p:sp>
        <p:sp>
          <p:nvSpPr>
            <p:cNvPr id="28" name="Rectangle 28"/>
            <p:cNvSpPr/>
            <p:nvPr/>
          </p:nvSpPr>
          <p:spPr>
            <a:xfrm>
              <a:off x="6629400" y="4857750"/>
              <a:ext cx="4953000" cy="609600"/>
            </a:xfrm>
            <a:prstGeom prst="rect">
              <a:avLst/>
            </a:prstGeom>
            <a:solidFill>
              <a:schemeClr val="lt2"/>
            </a:solidFill>
            <a:ln>
              <a:noFill/>
            </a:ln>
          </p:spPr>
        </p:sp>
        <p:sp>
          <p:nvSpPr>
            <p:cNvPr id="29" name="TextBox 29"/>
            <p:cNvSpPr txBox="1"/>
            <p:nvPr/>
          </p:nvSpPr>
          <p:spPr>
            <a:xfrm>
              <a:off x="6598044" y="5076825"/>
              <a:ext cx="5015711" cy="293370"/>
            </a:xfrm>
            <a:prstGeom prst="rect">
              <a:avLst/>
            </a:prstGeom>
            <a:noFill/>
            <a:ln>
              <a:noFill/>
            </a:ln>
          </p:spPr>
          <p:txBody>
            <a:bodyPr wrap="none" lIns="0" tIns="0" rIns="0" bIns="0" anchor="t" anchorCtr="0">
              <a:spAutoFit/>
            </a:bodyPr>
            <a:lstStyle/>
            <a:p>
              <a:pPr algn="ctr"/>
              <a:r>
                <a:rPr lang="en-US" sz="1500" b="1" dirty="0">
                  <a:solidFill>
                    <a:schemeClr val="accent1"/>
                  </a:solidFill>
                  <a:latin typeface="+mn-lt"/>
                  <a:ea typeface="+mn-ea"/>
                  <a:cs typeface="+mn-cs"/>
                </a:rPr>
                <a:t>Evidence first · hardware only after gates pass</a:t>
              </a:r>
            </a:p>
          </p:txBody>
        </p:sp>
      </p:grpSp>
      <p:grpSp>
        <p:nvGrpSpPr>
          <p:cNvPr id="34" name="Group 34"/>
          <p:cNvGrpSpPr/>
          <p:nvPr/>
        </p:nvGrpSpPr>
        <p:grpSpPr>
          <a:xfrm>
            <a:off x="609600" y="5734050"/>
            <a:ext cx="10972800" cy="514350"/>
            <a:chOff x="609600" y="5734050"/>
            <a:chExt cx="10972800" cy="514350"/>
          </a:xfrm>
        </p:grpSpPr>
        <p:grpSp>
          <p:nvGrpSpPr>
            <p:cNvPr id="33" name="Group 33"/>
            <p:cNvGrpSpPr/>
            <p:nvPr/>
          </p:nvGrpSpPr>
          <p:grpSpPr>
            <a:xfrm>
              <a:off x="609600" y="5734050"/>
              <a:ext cx="10972800" cy="514350"/>
              <a:chOff x="609600" y="5734050"/>
              <a:chExt cx="10972800" cy="514350"/>
            </a:xfrm>
          </p:grpSpPr>
          <p:sp>
            <p:nvSpPr>
              <p:cNvPr id="31" name="Rectangle 31">
                <a:hlinkClick r:id="rId2"/>
              </p:cNvPr>
              <p:cNvSpPr/>
              <p:nvPr/>
            </p:nvSpPr>
            <p:spPr>
              <a:xfrm>
                <a:off x="609600" y="5734050"/>
                <a:ext cx="10972800" cy="514350"/>
              </a:xfrm>
              <a:prstGeom prst="rect">
                <a:avLst/>
              </a:prstGeom>
              <a:solidFill>
                <a:schemeClr val="accent3"/>
              </a:solidFill>
              <a:ln>
                <a:noFill/>
              </a:ln>
            </p:spPr>
          </p:sp>
          <p:sp>
            <p:nvSpPr>
              <p:cNvPr id="32" name="TextBox 32">
                <a:hlinkClick r:id="rId2"/>
              </p:cNvPr>
              <p:cNvSpPr txBox="1"/>
              <p:nvPr/>
            </p:nvSpPr>
            <p:spPr>
              <a:xfrm>
                <a:off x="831342" y="5912168"/>
                <a:ext cx="6630353" cy="264033"/>
              </a:xfrm>
              <a:prstGeom prst="rect">
                <a:avLst/>
              </a:prstGeom>
              <a:noFill/>
              <a:ln>
                <a:noFill/>
              </a:ln>
            </p:spPr>
            <p:txBody>
              <a:bodyPr wrap="none" lIns="0" tIns="0" rIns="0" bIns="0" anchor="t" anchorCtr="0">
                <a:spAutoFit/>
              </a:bodyPr>
              <a:lstStyle/>
              <a:p>
                <a:pPr algn="l"/>
                <a:r>
                  <a:rPr lang="en-US" sz="1350" b="1" dirty="0">
                    <a:solidFill>
                      <a:srgbClr val="FFFFFF"/>
                    </a:solidFill>
                    <a:latin typeface="+mn-lt"/>
                    <a:ea typeface="+mn-ea"/>
                    <a:cs typeface="+mn-cs"/>
                  </a:rPr>
                  <a:t>Repository · github.com/MonsieurNam/Quanova_Photonic_Defect_QML</a:t>
                </a:r>
              </a:p>
            </p:txBody>
          </p:sp>
        </p:grpSp>
      </p:grpSp>
      <p:grpSp>
        <p:nvGrpSpPr>
          <p:cNvPr id="36" name="Group 36"/>
          <p:cNvGrpSpPr/>
          <p:nvPr/>
        </p:nvGrpSpPr>
        <p:grpSpPr>
          <a:xfrm>
            <a:off x="10966723" y="6426518"/>
            <a:ext cx="622535" cy="264033"/>
            <a:chOff x="10966723" y="6426518"/>
            <a:chExt cx="622535" cy="264033"/>
          </a:xfrm>
        </p:grpSpPr>
        <p:sp>
          <p:nvSpPr>
            <p:cNvPr id="35" name="TextBox 35"/>
            <p:cNvSpPr txBox="1"/>
            <p:nvPr/>
          </p:nvSpPr>
          <p:spPr>
            <a:xfrm>
              <a:off x="10966723" y="6426518"/>
              <a:ext cx="622535" cy="264033"/>
            </a:xfrm>
            <a:prstGeom prst="rect">
              <a:avLst/>
            </a:prstGeom>
            <a:noFill/>
            <a:ln>
              <a:noFill/>
            </a:ln>
          </p:spPr>
          <p:txBody>
            <a:bodyPr wrap="none" lIns="0" tIns="0" rIns="0" bIns="0" anchor="t" anchorCtr="0">
              <a:spAutoFit/>
            </a:bodyPr>
            <a:lstStyle/>
            <a:p>
              <a:pPr algn="r"/>
              <a:r>
                <a:rPr lang="en-US" sz="1350" dirty="0">
                  <a:solidFill>
                    <a:srgbClr val="766E62"/>
                  </a:solidFill>
                  <a:latin typeface="+mn-lt"/>
                  <a:ea typeface="+mn-ea"/>
                  <a:cs typeface="+mn-cs"/>
                </a:rPr>
                <a:t>10 / 10</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quanova_interview_case_study">
  <a:themeElements>
    <a:clrScheme name="quanova_interview_case_study">
      <a:dk1>
        <a:srgbClr val="222222"/>
      </a:dk1>
      <a:lt1>
        <a:srgbClr val="FBF7EE"/>
      </a:lt1>
      <a:dk2>
        <a:srgbClr val="1F497D"/>
      </a:dk2>
      <a:lt2>
        <a:srgbClr val="EFE6D5"/>
      </a:lt2>
      <a:accent1>
        <a:srgbClr val="1C2D38"/>
      </a:accent1>
      <a:accent2>
        <a:srgbClr val="D84924"/>
      </a:accent2>
      <a:accent3>
        <a:srgbClr val="2D7A78"/>
      </a:accent3>
      <a:accent4>
        <a:srgbClr val="1C2D38"/>
      </a:accent4>
      <a:accent5>
        <a:srgbClr val="9B2D17"/>
      </a:accent5>
      <a:accent6>
        <a:srgbClr val="1B5756"/>
      </a:accent6>
      <a:hlink>
        <a:srgbClr val="D84924"/>
      </a:hlink>
      <a:folHlink>
        <a:srgbClr val="2D7A78"/>
      </a:folHlink>
    </a:clrScheme>
    <a:fontScheme name="quanova_interview_case_study">
      <a:majorFont>
        <a:latin typeface="Georgia"/>
        <a:ea typeface="SimSun"/>
        <a:cs typeface="Georgia"/>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quanova_interview_case_study">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quanova_interview_case_study">
  <a:themeElements>
    <a:clrScheme name="quanova_interview_case_study">
      <a:dk1>
        <a:srgbClr val="222222"/>
      </a:dk1>
      <a:lt1>
        <a:srgbClr val="FBF7EE"/>
      </a:lt1>
      <a:dk2>
        <a:srgbClr val="1F497D"/>
      </a:dk2>
      <a:lt2>
        <a:srgbClr val="EFE6D5"/>
      </a:lt2>
      <a:accent1>
        <a:srgbClr val="1C2D38"/>
      </a:accent1>
      <a:accent2>
        <a:srgbClr val="D84924"/>
      </a:accent2>
      <a:accent3>
        <a:srgbClr val="2D7A78"/>
      </a:accent3>
      <a:accent4>
        <a:srgbClr val="1C2D38"/>
      </a:accent4>
      <a:accent5>
        <a:srgbClr val="9B2D17"/>
      </a:accent5>
      <a:accent6>
        <a:srgbClr val="1B5756"/>
      </a:accent6>
      <a:hlink>
        <a:srgbClr val="D84924"/>
      </a:hlink>
      <a:folHlink>
        <a:srgbClr val="2D7A78"/>
      </a:folHlink>
    </a:clrScheme>
    <a:fontScheme name="quanova_interview_case_study">
      <a:majorFont>
        <a:latin typeface="Georgia"/>
        <a:ea typeface="SimSun"/>
        <a:cs typeface="Georgia"/>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quanova_interview_case_study">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en-US</dc:language>
  <cp:lastModifiedBy/>
  <cp:revision>1</cp:revision>
  <dcterms:created xsi:type="dcterms:W3CDTF">2026-09-12T07:41:12Z</dcterms:created>
  <dcterms:modified xsi:type="dcterms:W3CDTF">2026-09-12T07:41:12Z</dcterms:modified>
  <cp:category/>
  <cp:contentStatus/>
</cp:coreProperties>
</file>