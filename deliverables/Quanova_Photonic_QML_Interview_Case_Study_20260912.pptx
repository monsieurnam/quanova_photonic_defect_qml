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I am Nguyen Ngo Nhat Nam. I would investigate few-label industrial defect inspection with a fixed photonic reservoir. Expert labels are costly, interference offers a compact nonlinear map, and the question can be tested in twelve weeks with public data, matched controls, and a simulator-to-hardware path. My completed pilot reached 0.8708 macro-F1 at forty-eight labels per class. That demonstrates useful signal in simulation, not practical or quantum advantage. The choice matters only if the constraint is real and the test is measurable.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operational constraint is label scarcity: inspection images may be plentiful, while reliable labels require expert time. NEU-CLS provides 1,800 audited images across six balanced defect classes, so the study can begin without proprietary collection. The exact duplicate pair Pa_101 and Pa_105 remains in one group, and the pilot test fold has sixty images per class with no overlap. The application therefore has a real need, accessible evidence, and a measurable failure condition. Now I will show where photonics enters.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frozen OpenCLIP encoder produces an embedding. Train-only principal component analysis reduces it to five phase values. A fixed six-mode, two-photon circuit maps them to fifteen postselected probabilities for a linear readout. Only the readout is trained, which isolates the feature map. Perceval is the primary simulation path; MerLin reproduces the ideal probabilities to machine precision through a separate code path, not external replication. Remote QPU execution remains untested and conditional on access and prior gates. A runnable simulation is only a starting point, so I need a rule that can reject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From the same PCA-five input, can Q1 beat matched fifteen-dimensional controls and approach B4, the PCA-five RBF-SVM? RFF means random Fourier features; ELM means extreme learning machine. I preregister two pass routes. Pass A: at forty-eight labels per class, Q1 is within 0.02 macro-F1 of B4 on at least four of five folds. Pass B: Q1 at twenty-four labels reaches B4 at forty-eight labels within 0.02 on four folds, using at most two thousand shots per image and acceptance of at least 0.70. I stop if neither passes, or Q1 loses to both RFF-15 and ELM-15 on four folds. These gates define the proposed project; the pilot is already complete.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pilot is pre-study evidence and does not consume the project clock. Weeks one and two replicate five outer folds. Weeks three and four ablate PCA, circuit, and measurement choices. Weeks five and six add realistic photonic noise. Weeks seven and eight freeze one hardware candidate and its resource definitions. Weeks nine and ten run a remote subset only if prior gates pass. Weeks eleven and twelve use harder data or independent replication and produce the decision memo. Here is what the pilot actually found.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Q1 rises from 0.7812 to 0.7886 and then 0.8708 as the label budget grows. The full OpenCLIP linear baseline starts at 0.9242 and reaches 0.9852. Each point averages three subset seeds, but every point reuses one outer test fold. The correct conclusion is limited: Q1 contains useful class information in this simulation pilot, while the current map is not competitive with the full representation. The controlled comparison shows where that gap comes from.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PCA-five costs the linear baseline about 0.07 to 0.10 macro-F1, accounting for most of the gap to the full representation. Within the compressed setting, Q1 beats the locked RFF-15 comparator by 0.22 to 0.31. It still trails ELM by about 0.02 to 0.04 and PCA-five RBF-SVM by about 0.05 to 0.06, so map choice explains the remaining shortfall. I would therefore vary representation size and circuit design separately. Before proposing hardware, I also tested whether sampling is stable.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At twenty-four labels per class on outer fold zero, Q1 stays near 0.77 from five hundred to eight thousand shots. Each level has three map seeds by five sampling seeds; all forty-five evaluations share that fold. Acceptance is near 0.754 with no failures. Increasing shots does not recover accuracy, so sampling noise is not the main limitation in this range. Loss, drift, distinguishability, detector effects, and noise-aware training remain untested. These results define the evidence boundary.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demonstrated result is simulation-pipeline feasibility: the code executes, two implementation paths agree, and the artifacts are reproducible. Application signal is only partly answered because the ranking comes from one outer fold. Hardware feasibility remains untested because realistic noise and remote execution are unfinished. Local computation is not the bottleneck: embedding extraction took 96.57 seconds and the pilot model grid about 59.9 seconds. The bottleneck is scientific validity across folds, noise, and calibrated hardware. That boundary leads to a conditional recommendation.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My recommendation is conditional. Few-label defect inspection fits a useful Quandela simulator-to-hardware study, and the pilot shows that the simulation workflow is executable. It has not demonstrated practical or hardware advantage. B4 is the PCA-five RBF-SVM reference. I continue only if Pass A at forty-eight labels or Pass B for twofold label efficiency holds. The shot and acceptance constraints belong only to Pass B. If neither passes, or Q1 loses to RFF-15 and ELM-15 on at least four folds, I report simulation feasibility without utility and stop before spending QPU time. Thank you.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quanova_interview_case_stu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quanova_interview_case_stu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7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5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50" kern="1200">
          <a:solidFill>
            <a:schemeClr val="tx1"/>
          </a:solidFill>
          <a:latin typeface="+mn-lt"/>
          <a:ea typeface="+mn-ea"/>
          <a:cs typeface="+mn-cs"/>
        </a:defRPr>
      </a:lvl9pPr>
    </p:bodyStyle>
    <p:otherStyle>
      <a:defPPr>
        <a:defRPr lang="en-US"/>
      </a:defPPr>
      <a:lvl1pPr marL="0" algn="l" defTabSz="457200" rtl="0" eaLnBrk="1" latinLnBrk="0" hangingPunct="1">
        <a:defRPr sz="1700" kern="1200">
          <a:solidFill>
            <a:schemeClr val="tx1"/>
          </a:solidFill>
          <a:latin typeface="+mn-lt"/>
          <a:ea typeface="+mn-ea"/>
          <a:cs typeface="+mn-cs"/>
        </a:defRPr>
      </a:lvl1pPr>
      <a:lvl2pPr marL="457200" algn="l" defTabSz="457200" rtl="0" eaLnBrk="1" latinLnBrk="0" hangingPunct="1">
        <a:defRPr sz="1600" kern="1200">
          <a:solidFill>
            <a:schemeClr val="tx1"/>
          </a:solidFill>
          <a:latin typeface="+mn-lt"/>
          <a:ea typeface="+mn-ea"/>
          <a:cs typeface="+mn-cs"/>
        </a:defRPr>
      </a:lvl2pPr>
      <a:lvl3pPr marL="914400" algn="l" defTabSz="457200" rtl="0" eaLnBrk="1" latinLnBrk="0" hangingPunct="1">
        <a:defRPr sz="1500" kern="1200">
          <a:solidFill>
            <a:schemeClr val="tx1"/>
          </a:solidFill>
          <a:latin typeface="+mn-lt"/>
          <a:ea typeface="+mn-ea"/>
          <a:cs typeface="+mn-cs"/>
        </a:defRPr>
      </a:lvl3pPr>
      <a:lvl4pPr marL="1371600" algn="l" defTabSz="457200" rtl="0" eaLnBrk="1" latinLnBrk="0" hangingPunct="1">
        <a:defRPr sz="1400" kern="1200">
          <a:solidFill>
            <a:schemeClr val="tx1"/>
          </a:solidFill>
          <a:latin typeface="+mn-lt"/>
          <a:ea typeface="+mn-ea"/>
          <a:cs typeface="+mn-cs"/>
        </a:defRPr>
      </a:lvl4pPr>
      <a:lvl5pPr marL="1828800" algn="l" defTabSz="457200" rtl="0" eaLnBrk="1" latinLnBrk="0" hangingPunct="1">
        <a:defRPr sz="13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4284d2cc43e5ab5.png"/>
  <Relationship Id="rId3" Type="http://schemas.openxmlformats.org/officeDocument/2006/relationships/image" Target="../media/image_e293769c30b47a18.png"/>
  <Relationship Id="rId4" Type="http://schemas.openxmlformats.org/officeDocument/2006/relationships/image" Target="../media/image_dcc98b48f2678b03.png"/>
  <Relationship Id="rId5" Type="http://schemas.openxmlformats.org/officeDocument/2006/relationships/image" Target="../media/image_7a56227ed108e195.png"/>
  <Relationship Id="rId6" Type="http://schemas.openxmlformats.org/officeDocument/2006/relationships/image" Target="../media/image_a33fe4ec7588815e.png"/>
  <Relationship Id="rId7" Type="http://schemas.openxmlformats.org/officeDocument/2006/relationships/image" Target="../media/image_490aee84795026a0.png"/>
  <Relationship Id="rId8"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c1ad9f9fb591a58.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eadcb3794033427.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df4d430b28f2d68.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github.com/MonsieurNam/Quanova_Photonic_Defect_QML" TargetMode="External"/>
  <Relationship Id="rId3"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7" name="Group 7"/>
          <p:cNvGrpSpPr/>
          <p:nvPr/>
        </p:nvGrpSpPr>
        <p:grpSpPr>
          <a:xfrm>
            <a:off x="593598" y="501968"/>
            <a:ext cx="9000125" cy="2060638"/>
            <a:chOff x="593598" y="501968"/>
            <a:chExt cx="9000125" cy="2060638"/>
          </a:xfrm>
        </p:grpSpPr>
        <p:sp>
          <p:nvSpPr>
            <p:cNvPr id="3" name="TextBox 3"/>
            <p:cNvSpPr txBox="1"/>
            <p:nvPr/>
          </p:nvSpPr>
          <p:spPr>
            <a:xfrm>
              <a:off x="602742" y="501968"/>
              <a:ext cx="3929352"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QUANDELA · APPLICATION CASE STUDY</a:t>
              </a:r>
            </a:p>
          </p:txBody>
        </p:sp>
        <p:sp>
          <p:nvSpPr>
            <p:cNvPr id="4" name="TextBox 4"/>
            <p:cNvSpPr txBox="1"/>
            <p:nvPr/>
          </p:nvSpPr>
          <p:spPr>
            <a:xfrm>
              <a:off x="593598" y="860108"/>
              <a:ext cx="9000125" cy="1130427"/>
            </a:xfrm>
            <a:prstGeom prst="rect">
              <a:avLst/>
            </a:prstGeom>
            <a:noFill/>
            <a:ln>
              <a:noFill/>
            </a:ln>
          </p:spPr>
          <p:txBody>
            <a:bodyPr wrap="none" lIns="0" tIns="0" rIns="0" bIns="0" anchor="t" anchorCtr="0">
              <a:spAutoFit/>
            </a:bodyPr>
            <a:lstStyle/>
            <a:p>
              <a:pPr algn="l">
                <a:lnSpc>
                  <a:spcPts val="4050"/>
                </a:lnSpc>
              </a:pPr>
              <a:r>
                <a:rPr lang="en-US" sz="3150" b="1" dirty="0">
                  <a:solidFill>
                    <a:schemeClr val="accent1"/>
                  </a:solidFill>
                  <a:latin typeface="+mj-lt"/>
                  <a:ea typeface="+mj-ea"/>
                  <a:cs typeface="+mj-cs"/>
                </a:rPr>
                <a:t>I would investigate few-label industrial</a:t>
              </a:r>
              <a:br/>
              <a:r>
                <a:rPr lang="en-US" sz="3150" b="1" dirty="0">
                  <a:solidFill>
                    <a:schemeClr val="accent1"/>
                  </a:solidFill>
                  <a:latin typeface="+mj-lt"/>
                  <a:ea typeface="+mj-ea"/>
                  <a:cs typeface="+mj-cs"/>
                </a:rPr>
                <a:t>defect inspection with a photonic reservoir</a:t>
              </a:r>
            </a:p>
          </p:txBody>
        </p:sp>
        <p:sp>
          <p:nvSpPr>
            <p:cNvPr id="5" name="TextBox 5"/>
            <p:cNvSpPr txBox="1"/>
            <p:nvPr/>
          </p:nvSpPr>
          <p:spPr>
            <a:xfrm>
              <a:off x="600837" y="1966436"/>
              <a:ext cx="8523432"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A measurable 12-week path from public data to a conditional hardware test</a:t>
              </a:r>
            </a:p>
          </p:txBody>
        </p:sp>
        <p:sp>
          <p:nvSpPr>
            <p:cNvPr id="6" name="TextBox 6"/>
            <p:cNvSpPr txBox="1"/>
            <p:nvPr/>
          </p:nvSpPr>
          <p:spPr>
            <a:xfrm>
              <a:off x="603504" y="2327910"/>
              <a:ext cx="8416585" cy="234696"/>
            </a:xfrm>
            <a:prstGeom prst="rect">
              <a:avLst/>
            </a:prstGeom>
            <a:noFill/>
            <a:ln>
              <a:noFill/>
            </a:ln>
          </p:spPr>
          <p:txBody>
            <a:bodyPr wrap="none" lIns="0" tIns="0" rIns="0" bIns="0" anchor="t" anchorCtr="0">
              <a:spAutoFit/>
            </a:bodyPr>
            <a:lstStyle/>
            <a:p>
              <a:pPr algn="l"/>
              <a:r>
                <a:rPr lang="en-US" sz="1200" b="1" spc="38" dirty="0">
                  <a:solidFill>
                    <a:schemeClr val="accent6"/>
                  </a:solidFill>
                  <a:latin typeface="+mn-lt"/>
                  <a:ea typeface="+mn-ea"/>
                  <a:cs typeface="+mn-cs"/>
                </a:rPr>
                <a:t>NGUYEN NGO NHAT NAM · R&amp;D QUANTUM OPTICS ENGINEER CANDIDATE · 15 SEP 2026 · 15:30 GMT+7</a:t>
              </a:r>
            </a:p>
          </p:txBody>
        </p:sp>
      </p:grpSp>
      <p:grpSp>
        <p:nvGrpSpPr>
          <p:cNvPr id="20" name="Group 20"/>
          <p:cNvGrpSpPr/>
          <p:nvPr/>
        </p:nvGrpSpPr>
        <p:grpSpPr>
          <a:xfrm>
            <a:off x="609600" y="2724150"/>
            <a:ext cx="11140457" cy="1695450"/>
            <a:chOff x="609600" y="2724150"/>
            <a:chExt cx="11140457" cy="1695450"/>
          </a:xfrm>
        </p:grpSpPr>
        <p:sp>
          <p:nvSpPr>
            <p:cNvPr id="8" name="Rectangle 8"/>
            <p:cNvSpPr/>
            <p:nvPr/>
          </p:nvSpPr>
          <p:spPr>
            <a:xfrm>
              <a:off x="609600" y="2724150"/>
              <a:ext cx="3429000" cy="1695450"/>
            </a:xfrm>
            <a:prstGeom prst="rect">
              <a:avLst/>
            </a:prstGeom>
            <a:solidFill>
              <a:schemeClr val="lt2"/>
            </a:solidFill>
            <a:ln>
              <a:noFill/>
            </a:ln>
          </p:spPr>
        </p:sp>
        <p:sp>
          <p:nvSpPr>
            <p:cNvPr id="9" name="TextBox 9"/>
            <p:cNvSpPr txBox="1"/>
            <p:nvPr/>
          </p:nvSpPr>
          <p:spPr>
            <a:xfrm>
              <a:off x="831342" y="2911792"/>
              <a:ext cx="2029968"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REAL INDUSTRIAL NEED</a:t>
              </a:r>
            </a:p>
          </p:txBody>
        </p:sp>
        <p:sp>
          <p:nvSpPr>
            <p:cNvPr id="10" name="TextBox 10"/>
            <p:cNvSpPr txBox="1"/>
            <p:nvPr/>
          </p:nvSpPr>
          <p:spPr>
            <a:xfrm>
              <a:off x="826770" y="3176588"/>
              <a:ext cx="3423285"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Scarce expert labels</a:t>
              </a:r>
            </a:p>
          </p:txBody>
        </p:sp>
        <p:sp>
          <p:nvSpPr>
            <p:cNvPr id="11" name="TextBox 11"/>
            <p:cNvSpPr txBox="1"/>
            <p:nvPr/>
          </p:nvSpPr>
          <p:spPr>
            <a:xfrm>
              <a:off x="830580" y="3609975"/>
              <a:ext cx="3225165"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Quality inspection needs useful</a:t>
              </a:r>
              <a:br/>
              <a:r>
                <a:rPr lang="en-US" sz="1500" dirty="0">
                  <a:solidFill>
                    <a:schemeClr val="dk1"/>
                  </a:solidFill>
                  <a:latin typeface="+mn-lt"/>
                  <a:ea typeface="+mn-ea"/>
                  <a:cs typeface="+mn-cs"/>
                </a:rPr>
                <a:t>accuracy from small labelled sets.</a:t>
              </a:r>
            </a:p>
          </p:txBody>
        </p:sp>
        <p:sp>
          <p:nvSpPr>
            <p:cNvPr id="12" name="Rectangle 12"/>
            <p:cNvSpPr/>
            <p:nvPr/>
          </p:nvSpPr>
          <p:spPr>
            <a:xfrm>
              <a:off x="4267200" y="2724150"/>
              <a:ext cx="3429000" cy="1695450"/>
            </a:xfrm>
            <a:prstGeom prst="rect">
              <a:avLst/>
            </a:prstGeom>
            <a:solidFill>
              <a:schemeClr val="accent1"/>
            </a:solidFill>
            <a:ln>
              <a:noFill/>
            </a:ln>
          </p:spPr>
        </p:sp>
        <p:sp>
          <p:nvSpPr>
            <p:cNvPr id="13" name="TextBox 13"/>
            <p:cNvSpPr txBox="1"/>
            <p:nvPr/>
          </p:nvSpPr>
          <p:spPr>
            <a:xfrm>
              <a:off x="4488942" y="2911792"/>
              <a:ext cx="1273874"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PHOTONIC FIT</a:t>
              </a:r>
            </a:p>
          </p:txBody>
        </p:sp>
        <p:sp>
          <p:nvSpPr>
            <p:cNvPr id="14" name="TextBox 14"/>
            <p:cNvSpPr txBox="1"/>
            <p:nvPr/>
          </p:nvSpPr>
          <p:spPr>
            <a:xfrm>
              <a:off x="4484370" y="3176588"/>
              <a:ext cx="3221472" cy="440055"/>
            </a:xfrm>
            <a:prstGeom prst="rect">
              <a:avLst/>
            </a:prstGeom>
            <a:noFill/>
            <a:ln>
              <a:noFill/>
            </a:ln>
          </p:spPr>
          <p:txBody>
            <a:bodyPr wrap="none" lIns="0" tIns="0" rIns="0" bIns="0" anchor="t" anchorCtr="0">
              <a:spAutoFit/>
            </a:bodyPr>
            <a:lstStyle/>
            <a:p>
              <a:pPr algn="l"/>
              <a:r>
                <a:rPr lang="en-US" sz="2250" b="1" dirty="0">
                  <a:solidFill>
                    <a:srgbClr val="FBF7EE"/>
                  </a:solidFill>
                  <a:latin typeface="+mj-lt"/>
                  <a:ea typeface="+mj-ea"/>
                  <a:cs typeface="+mj-cs"/>
                </a:rPr>
                <a:t>Fixed nonlinear map</a:t>
              </a:r>
            </a:p>
          </p:txBody>
        </p:sp>
        <p:sp>
          <p:nvSpPr>
            <p:cNvPr id="15" name="TextBox 15"/>
            <p:cNvSpPr txBox="1"/>
            <p:nvPr/>
          </p:nvSpPr>
          <p:spPr>
            <a:xfrm>
              <a:off x="4488180" y="3609975"/>
              <a:ext cx="3196590"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BF7EE"/>
                  </a:solidFill>
                  <a:latin typeface="+mn-lt"/>
                  <a:ea typeface="+mn-ea"/>
                  <a:cs typeface="+mn-cs"/>
                </a:rPr>
                <a:t>Interference transforms compact</a:t>
              </a:r>
              <a:br/>
              <a:r>
                <a:rPr lang="en-US" sz="1500" dirty="0">
                  <a:solidFill>
                    <a:srgbClr val="FBF7EE"/>
                  </a:solidFill>
                  <a:latin typeface="+mn-lt"/>
                  <a:ea typeface="+mn-ea"/>
                  <a:cs typeface="+mn-cs"/>
                </a:rPr>
                <a:t>phase-encoded image features.</a:t>
              </a:r>
            </a:p>
          </p:txBody>
        </p:sp>
        <p:sp>
          <p:nvSpPr>
            <p:cNvPr id="16" name="Rectangle 16"/>
            <p:cNvSpPr/>
            <p:nvPr/>
          </p:nvSpPr>
          <p:spPr>
            <a:xfrm>
              <a:off x="7924800" y="2724150"/>
              <a:ext cx="3657600" cy="1695450"/>
            </a:xfrm>
            <a:prstGeom prst="rect">
              <a:avLst/>
            </a:prstGeom>
            <a:solidFill>
              <a:schemeClr val="lt2"/>
            </a:solidFill>
            <a:ln>
              <a:noFill/>
            </a:ln>
          </p:spPr>
        </p:sp>
        <p:sp>
          <p:nvSpPr>
            <p:cNvPr id="17" name="TextBox 17"/>
            <p:cNvSpPr txBox="1"/>
            <p:nvPr/>
          </p:nvSpPr>
          <p:spPr>
            <a:xfrm>
              <a:off x="8146542" y="2911792"/>
              <a:ext cx="1334361"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12-WEEK TEST</a:t>
              </a:r>
            </a:p>
          </p:txBody>
        </p:sp>
        <p:sp>
          <p:nvSpPr>
            <p:cNvPr id="18" name="TextBox 18"/>
            <p:cNvSpPr txBox="1"/>
            <p:nvPr/>
          </p:nvSpPr>
          <p:spPr>
            <a:xfrm>
              <a:off x="8141970" y="3176588"/>
              <a:ext cx="3608087"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Decision-ready result</a:t>
              </a:r>
            </a:p>
          </p:txBody>
        </p:sp>
        <p:sp>
          <p:nvSpPr>
            <p:cNvPr id="19" name="TextBox 19"/>
            <p:cNvSpPr txBox="1"/>
            <p:nvPr/>
          </p:nvSpPr>
          <p:spPr>
            <a:xfrm>
              <a:off x="8145780" y="3609975"/>
              <a:ext cx="2910840"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Public data · matched controls</a:t>
              </a:r>
              <a:br/>
              <a:r>
                <a:rPr lang="en-US" sz="1500" dirty="0">
                  <a:solidFill>
                    <a:schemeClr val="dk1"/>
                  </a:solidFill>
                  <a:latin typeface="+mn-lt"/>
                  <a:ea typeface="+mn-ea"/>
                  <a:cs typeface="+mn-cs"/>
                </a:rPr>
                <a:t>simulator → conditional QPU run</a:t>
              </a:r>
            </a:p>
          </p:txBody>
        </p:sp>
      </p:grpSp>
      <p:grpSp>
        <p:nvGrpSpPr>
          <p:cNvPr id="28" name="Group 28"/>
          <p:cNvGrpSpPr/>
          <p:nvPr/>
        </p:nvGrpSpPr>
        <p:grpSpPr>
          <a:xfrm>
            <a:off x="609600" y="4762500"/>
            <a:ext cx="10972800" cy="1352550"/>
            <a:chOff x="609600" y="4762500"/>
            <a:chExt cx="10972800" cy="1352550"/>
          </a:xfrm>
        </p:grpSpPr>
        <p:sp>
          <p:nvSpPr>
            <p:cNvPr id="21" name="Rectangle 21"/>
            <p:cNvSpPr/>
            <p:nvPr/>
          </p:nvSpPr>
          <p:spPr>
            <a:xfrm>
              <a:off x="609600" y="4762500"/>
              <a:ext cx="10972800" cy="1352550"/>
            </a:xfrm>
            <a:prstGeom prst="rect">
              <a:avLst/>
            </a:prstGeom>
            <a:solidFill>
              <a:schemeClr val="accent3"/>
            </a:solidFill>
            <a:ln>
              <a:noFill/>
            </a:ln>
          </p:spPr>
        </p:sp>
        <p:sp>
          <p:nvSpPr>
            <p:cNvPr id="22" name="TextBox 22"/>
            <p:cNvSpPr txBox="1"/>
            <p:nvPr/>
          </p:nvSpPr>
          <p:spPr>
            <a:xfrm>
              <a:off x="831342" y="4950142"/>
              <a:ext cx="2765900"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COMPLETED DE-RISKING PILOT</a:t>
              </a:r>
            </a:p>
          </p:txBody>
        </p:sp>
        <p:sp>
          <p:nvSpPr>
            <p:cNvPr id="23" name="TextBox 23"/>
            <p:cNvSpPr txBox="1"/>
            <p:nvPr/>
          </p:nvSpPr>
          <p:spPr>
            <a:xfrm>
              <a:off x="819912" y="5288280"/>
              <a:ext cx="2671145" cy="704088"/>
            </a:xfrm>
            <a:prstGeom prst="rect">
              <a:avLst/>
            </a:prstGeom>
            <a:noFill/>
            <a:ln>
              <a:noFill/>
            </a:ln>
          </p:spPr>
          <p:txBody>
            <a:bodyPr wrap="none" lIns="0" tIns="0" rIns="0" bIns="0" anchor="t" anchorCtr="0">
              <a:spAutoFit/>
            </a:bodyPr>
            <a:lstStyle/>
            <a:p>
              <a:pPr algn="l"/>
              <a:r>
                <a:rPr lang="en-US" sz="3600" b="1" dirty="0">
                  <a:solidFill>
                    <a:srgbClr val="FFFFFF"/>
                  </a:solidFill>
                  <a:latin typeface="Consolas"/>
                  <a:ea typeface="Consolas"/>
                  <a:cs typeface="Consolas"/>
                </a:rPr>
                <a:t>Q1 0.8708</a:t>
              </a:r>
            </a:p>
          </p:txBody>
        </p:sp>
        <p:sp>
          <p:nvSpPr>
            <p:cNvPr id="24" name="TextBox 24"/>
            <p:cNvSpPr txBox="1"/>
            <p:nvPr/>
          </p:nvSpPr>
          <p:spPr>
            <a:xfrm>
              <a:off x="3440430" y="5429250"/>
              <a:ext cx="2992012" cy="293370"/>
            </a:xfrm>
            <a:prstGeom prst="rect">
              <a:avLst/>
            </a:prstGeom>
            <a:noFill/>
            <a:ln>
              <a:noFill/>
            </a:ln>
          </p:spPr>
          <p:txBody>
            <a:bodyPr wrap="none" lIns="0" tIns="0" rIns="0" bIns="0" anchor="t" anchorCtr="0">
              <a:spAutoFit/>
            </a:bodyPr>
            <a:lstStyle/>
            <a:p>
              <a:pPr algn="l"/>
              <a:r>
                <a:rPr lang="en-US" sz="1500" dirty="0">
                  <a:solidFill>
                    <a:srgbClr val="FBF7EE"/>
                  </a:solidFill>
                  <a:latin typeface="+mn-lt"/>
                  <a:ea typeface="+mn-ea"/>
                  <a:cs typeface="+mn-cs"/>
                </a:rPr>
                <a:t>macro-F1 · 48 labels per class</a:t>
              </a:r>
            </a:p>
          </p:txBody>
        </p:sp>
        <p:sp>
          <p:nvSpPr>
            <p:cNvPr id="25" name="Line 25"/>
            <p:cNvSpPr/>
            <p:nvPr/>
          </p:nvSpPr>
          <p:spPr>
            <a:xfrm>
              <a:off x="6572250" y="4972050"/>
              <a:ext cx="9525" cy="933450"/>
            </a:xfrm>
            <a:custGeom>
              <a:avLst/>
              <a:gdLst/>
              <a:ahLst/>
              <a:cxnLst/>
              <a:rect l="l" t="t" r="r" b="b"/>
              <a:pathLst>
                <a:path w="9525" h="933450">
                  <a:moveTo>
                    <a:pt x="0" y="0"/>
                  </a:moveTo>
                  <a:lnTo>
                    <a:pt x="0" y="933450"/>
                  </a:lnTo>
                </a:path>
              </a:pathLst>
            </a:custGeom>
            <a:noFill/>
            <a:ln w="19050">
              <a:solidFill>
                <a:srgbClr val="B9D0C7"/>
              </a:solidFill>
            </a:ln>
          </p:spPr>
        </p:sp>
        <p:sp>
          <p:nvSpPr>
            <p:cNvPr id="26" name="TextBox 26"/>
            <p:cNvSpPr txBox="1"/>
            <p:nvPr/>
          </p:nvSpPr>
          <p:spPr>
            <a:xfrm>
              <a:off x="6867906" y="5044440"/>
              <a:ext cx="4165342"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Useful signal; no advantage yet</a:t>
              </a:r>
            </a:p>
          </p:txBody>
        </p:sp>
        <p:sp>
          <p:nvSpPr>
            <p:cNvPr id="27" name="TextBox 27"/>
            <p:cNvSpPr txBox="1"/>
            <p:nvPr/>
          </p:nvSpPr>
          <p:spPr>
            <a:xfrm>
              <a:off x="6870192" y="5454968"/>
              <a:ext cx="4385691" cy="502158"/>
            </a:xfrm>
            <a:prstGeom prst="rect">
              <a:avLst/>
            </a:prstGeom>
            <a:noFill/>
            <a:ln>
              <a:noFill/>
            </a:ln>
          </p:spPr>
          <p:txBody>
            <a:bodyPr wrap="none" lIns="0" tIns="0" rIns="0" bIns="0" anchor="t" anchorCtr="0">
              <a:spAutoFit/>
            </a:bodyPr>
            <a:lstStyle/>
            <a:p>
              <a:pPr algn="l">
                <a:lnSpc>
                  <a:spcPts val="1875"/>
                </a:lnSpc>
              </a:pPr>
              <a:r>
                <a:rPr lang="en-US" sz="1350" dirty="0">
                  <a:solidFill>
                    <a:srgbClr val="FBF7EE"/>
                  </a:solidFill>
                  <a:latin typeface="+mn-lt"/>
                  <a:ea typeface="+mn-ea"/>
                  <a:cs typeface="+mn-cs"/>
                </a:rPr>
                <a:t>Evidence informs the next test; it does not support</a:t>
              </a:r>
              <a:br/>
              <a:r>
                <a:rPr lang="en-US" sz="1350" dirty="0">
                  <a:solidFill>
                    <a:srgbClr val="FBF7EE"/>
                  </a:solidFill>
                  <a:latin typeface="+mn-lt"/>
                  <a:ea typeface="+mn-ea"/>
                  <a:cs typeface="+mn-cs"/>
                </a:rPr>
                <a:t>a quantum-advantage claim.</a:t>
              </a:r>
            </a:p>
          </p:txBody>
        </p:sp>
      </p:grpSp>
      <p:grpSp>
        <p:nvGrpSpPr>
          <p:cNvPr id="30" name="Group 30"/>
          <p:cNvGrpSpPr/>
          <p:nvPr/>
        </p:nvGrpSpPr>
        <p:grpSpPr>
          <a:xfrm>
            <a:off x="10966723" y="6426518"/>
            <a:ext cx="622535" cy="264033"/>
            <a:chOff x="10966723" y="6426518"/>
            <a:chExt cx="622535" cy="264033"/>
          </a:xfrm>
        </p:grpSpPr>
        <p:sp>
          <p:nvSpPr>
            <p:cNvPr id="29" name="TextBox 29"/>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01 / 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9656765" cy="913447"/>
            <a:chOff x="594360" y="482918"/>
            <a:chExt cx="9656765" cy="913447"/>
          </a:xfrm>
        </p:grpSpPr>
        <p:sp>
          <p:nvSpPr>
            <p:cNvPr id="3" name="TextBox 3"/>
            <p:cNvSpPr txBox="1"/>
            <p:nvPr/>
          </p:nvSpPr>
          <p:spPr>
            <a:xfrm>
              <a:off x="602742" y="482918"/>
              <a:ext cx="5781317"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WHY THIS APPLICATION · REAL NEED, MEASURABLE TEST</a:t>
              </a:r>
            </a:p>
          </p:txBody>
        </p:sp>
        <p:sp>
          <p:nvSpPr>
            <p:cNvPr id="4" name="TextBox 4"/>
            <p:cNvSpPr txBox="1"/>
            <p:nvPr/>
          </p:nvSpPr>
          <p:spPr>
            <a:xfrm>
              <a:off x="594360" y="809625"/>
              <a:ext cx="965676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Why this is a good 12-week feasibility study</a:t>
              </a:r>
            </a:p>
          </p:txBody>
        </p:sp>
      </p:grpSp>
      <p:grpSp>
        <p:nvGrpSpPr>
          <p:cNvPr id="18" name="Group 18"/>
          <p:cNvGrpSpPr/>
          <p:nvPr/>
        </p:nvGrpSpPr>
        <p:grpSpPr>
          <a:xfrm>
            <a:off x="685800" y="1466850"/>
            <a:ext cx="10067925" cy="1419606"/>
            <a:chOff x="685800" y="1466850"/>
            <a:chExt cx="10067925" cy="1419606"/>
          </a:xfrm>
        </p:grpSpPr>
        <p:pic>
          <p:nvPicPr>
            <p:cNvPr id="6" name="Image 6"/>
            <p:cNvPicPr>
              <a:picLocks noChangeAspect="1"/>
            </p:cNvPicPr>
            <p:nvPr/>
          </p:nvPicPr>
          <p:blipFill>
            <a:blip r:embed="rId2"/>
            <a:stretch>
              <a:fillRect/>
            </a:stretch>
          </p:blipFill>
          <p:spPr>
            <a:xfrm>
              <a:off x="685800" y="1466850"/>
              <a:ext cx="1066800" cy="1066800"/>
            </a:xfrm>
            <a:prstGeom prst="rect">
              <a:avLst/>
            </a:prstGeom>
          </p:spPr>
        </p:pic>
        <p:sp>
          <p:nvSpPr>
            <p:cNvPr id="7" name="TextBox 7"/>
            <p:cNvSpPr txBox="1"/>
            <p:nvPr/>
          </p:nvSpPr>
          <p:spPr>
            <a:xfrm>
              <a:off x="919973" y="2651760"/>
              <a:ext cx="59845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Crazing</a:t>
              </a:r>
            </a:p>
          </p:txBody>
        </p:sp>
        <p:pic>
          <p:nvPicPr>
            <p:cNvPr id="8" name="Image 8"/>
            <p:cNvPicPr>
              <a:picLocks noChangeAspect="1"/>
            </p:cNvPicPr>
            <p:nvPr/>
          </p:nvPicPr>
          <p:blipFill>
            <a:blip r:embed="rId3"/>
            <a:stretch>
              <a:fillRect/>
            </a:stretch>
          </p:blipFill>
          <p:spPr>
            <a:xfrm>
              <a:off x="2486025" y="1466850"/>
              <a:ext cx="1066800" cy="1066800"/>
            </a:xfrm>
            <a:prstGeom prst="rect">
              <a:avLst/>
            </a:prstGeom>
          </p:spPr>
        </p:pic>
        <p:sp>
          <p:nvSpPr>
            <p:cNvPr id="9" name="TextBox 9"/>
            <p:cNvSpPr txBox="1"/>
            <p:nvPr/>
          </p:nvSpPr>
          <p:spPr>
            <a:xfrm>
              <a:off x="2671953" y="2651760"/>
              <a:ext cx="694944"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Inclusion</a:t>
              </a:r>
            </a:p>
          </p:txBody>
        </p:sp>
        <p:pic>
          <p:nvPicPr>
            <p:cNvPr id="10" name="Image 10"/>
            <p:cNvPicPr>
              <a:picLocks noChangeAspect="1"/>
            </p:cNvPicPr>
            <p:nvPr/>
          </p:nvPicPr>
          <p:blipFill>
            <a:blip r:embed="rId4"/>
            <a:stretch>
              <a:fillRect/>
            </a:stretch>
          </p:blipFill>
          <p:spPr>
            <a:xfrm>
              <a:off x="4286250" y="1466850"/>
              <a:ext cx="1066800" cy="1066800"/>
            </a:xfrm>
            <a:prstGeom prst="rect">
              <a:avLst/>
            </a:prstGeom>
          </p:spPr>
        </p:pic>
        <p:sp>
          <p:nvSpPr>
            <p:cNvPr id="11" name="TextBox 11"/>
            <p:cNvSpPr txBox="1"/>
            <p:nvPr/>
          </p:nvSpPr>
          <p:spPr>
            <a:xfrm>
              <a:off x="4500067" y="2651760"/>
              <a:ext cx="639166"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Patches</a:t>
              </a:r>
            </a:p>
          </p:txBody>
        </p:sp>
        <p:pic>
          <p:nvPicPr>
            <p:cNvPr id="12" name="Image 12"/>
            <p:cNvPicPr>
              <a:picLocks noChangeAspect="1"/>
            </p:cNvPicPr>
            <p:nvPr/>
          </p:nvPicPr>
          <p:blipFill>
            <a:blip r:embed="rId5"/>
            <a:stretch>
              <a:fillRect/>
            </a:stretch>
          </p:blipFill>
          <p:spPr>
            <a:xfrm>
              <a:off x="6086475" y="1466850"/>
              <a:ext cx="1066800" cy="1066800"/>
            </a:xfrm>
            <a:prstGeom prst="rect">
              <a:avLst/>
            </a:prstGeom>
          </p:spPr>
        </p:pic>
        <p:sp>
          <p:nvSpPr>
            <p:cNvPr id="13" name="TextBox 13"/>
            <p:cNvSpPr txBox="1"/>
            <p:nvPr/>
          </p:nvSpPr>
          <p:spPr>
            <a:xfrm>
              <a:off x="6029688" y="2651760"/>
              <a:ext cx="118037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Pitted surface</a:t>
              </a:r>
            </a:p>
          </p:txBody>
        </p:sp>
        <p:pic>
          <p:nvPicPr>
            <p:cNvPr id="14" name="Image 14"/>
            <p:cNvPicPr>
              <a:picLocks noChangeAspect="1"/>
            </p:cNvPicPr>
            <p:nvPr/>
          </p:nvPicPr>
          <p:blipFill>
            <a:blip r:embed="rId6"/>
            <a:stretch>
              <a:fillRect/>
            </a:stretch>
          </p:blipFill>
          <p:spPr>
            <a:xfrm>
              <a:off x="7886700" y="1466850"/>
              <a:ext cx="1066800" cy="1066800"/>
            </a:xfrm>
            <a:prstGeom prst="rect">
              <a:avLst/>
            </a:prstGeom>
          </p:spPr>
        </p:pic>
        <p:sp>
          <p:nvSpPr>
            <p:cNvPr id="15" name="TextBox 15"/>
            <p:cNvSpPr txBox="1"/>
            <p:nvPr/>
          </p:nvSpPr>
          <p:spPr>
            <a:xfrm>
              <a:off x="7846138" y="2651760"/>
              <a:ext cx="1147924"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Rolled-in scale</a:t>
              </a:r>
            </a:p>
          </p:txBody>
        </p:sp>
        <p:pic>
          <p:nvPicPr>
            <p:cNvPr id="16" name="Image 16"/>
            <p:cNvPicPr>
              <a:picLocks noChangeAspect="1"/>
            </p:cNvPicPr>
            <p:nvPr/>
          </p:nvPicPr>
          <p:blipFill>
            <a:blip r:embed="rId7"/>
            <a:stretch>
              <a:fillRect/>
            </a:stretch>
          </p:blipFill>
          <p:spPr>
            <a:xfrm>
              <a:off x="9686925" y="1466850"/>
              <a:ext cx="1066800" cy="1066800"/>
            </a:xfrm>
            <a:prstGeom prst="rect">
              <a:avLst/>
            </a:prstGeom>
          </p:spPr>
        </p:pic>
        <p:sp>
          <p:nvSpPr>
            <p:cNvPr id="17" name="TextBox 17"/>
            <p:cNvSpPr txBox="1"/>
            <p:nvPr/>
          </p:nvSpPr>
          <p:spPr>
            <a:xfrm>
              <a:off x="9811893" y="2651760"/>
              <a:ext cx="816864"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Scratches</a:t>
              </a:r>
            </a:p>
          </p:txBody>
        </p:sp>
      </p:grpSp>
      <p:grpSp>
        <p:nvGrpSpPr>
          <p:cNvPr id="31" name="Group 31"/>
          <p:cNvGrpSpPr/>
          <p:nvPr/>
        </p:nvGrpSpPr>
        <p:grpSpPr>
          <a:xfrm>
            <a:off x="609600" y="3219450"/>
            <a:ext cx="10972800" cy="2381250"/>
            <a:chOff x="609600" y="3219450"/>
            <a:chExt cx="10972800" cy="2381250"/>
          </a:xfrm>
        </p:grpSpPr>
        <p:sp>
          <p:nvSpPr>
            <p:cNvPr id="19" name="Rectangle 19"/>
            <p:cNvSpPr/>
            <p:nvPr/>
          </p:nvSpPr>
          <p:spPr>
            <a:xfrm>
              <a:off x="609600" y="3219450"/>
              <a:ext cx="3352800" cy="2381250"/>
            </a:xfrm>
            <a:prstGeom prst="rect">
              <a:avLst/>
            </a:prstGeom>
            <a:solidFill>
              <a:schemeClr val="lt2"/>
            </a:solidFill>
            <a:ln>
              <a:noFill/>
            </a:ln>
          </p:spPr>
        </p:sp>
        <p:sp>
          <p:nvSpPr>
            <p:cNvPr id="20" name="TextBox 20"/>
            <p:cNvSpPr txBox="1"/>
            <p:nvPr/>
          </p:nvSpPr>
          <p:spPr>
            <a:xfrm>
              <a:off x="831342" y="3416618"/>
              <a:ext cx="96135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REAL NEED</a:t>
              </a:r>
            </a:p>
          </p:txBody>
        </p:sp>
        <p:sp>
          <p:nvSpPr>
            <p:cNvPr id="21" name="TextBox 21"/>
            <p:cNvSpPr txBox="1"/>
            <p:nvPr/>
          </p:nvSpPr>
          <p:spPr>
            <a:xfrm>
              <a:off x="826770" y="3709988"/>
              <a:ext cx="3423285"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Labels are expensive</a:t>
              </a:r>
            </a:p>
          </p:txBody>
        </p:sp>
        <p:sp>
          <p:nvSpPr>
            <p:cNvPr id="22" name="TextBox 22"/>
            <p:cNvSpPr txBox="1"/>
            <p:nvPr/>
          </p:nvSpPr>
          <p:spPr>
            <a:xfrm>
              <a:off x="830580" y="4181475"/>
              <a:ext cx="3282315" cy="912495"/>
            </a:xfrm>
            <a:prstGeom prst="rect">
              <a:avLst/>
            </a:prstGeom>
            <a:noFill/>
            <a:ln>
              <a:noFill/>
            </a:ln>
          </p:spPr>
          <p:txBody>
            <a:bodyPr wrap="none" lIns="0" tIns="0" rIns="0" bIns="0" anchor="t" anchorCtr="0">
              <a:spAutoFit/>
            </a:bodyPr>
            <a:lstStyle/>
            <a:p>
              <a:pPr algn="l">
                <a:lnSpc>
                  <a:spcPts val="2175"/>
                </a:lnSpc>
              </a:pPr>
              <a:r>
                <a:rPr lang="en-US" sz="1500" dirty="0">
                  <a:solidFill>
                    <a:schemeClr val="dk1"/>
                  </a:solidFill>
                  <a:latin typeface="+mn-lt"/>
                  <a:ea typeface="+mn-ea"/>
                  <a:cs typeface="+mn-cs"/>
                </a:rPr>
                <a:t>The target is useful accuracy from</a:t>
              </a:r>
              <a:br/>
              <a:r>
                <a:rPr lang="en-US" sz="1500" dirty="0">
                  <a:solidFill>
                    <a:schemeClr val="dk1"/>
                  </a:solidFill>
                  <a:latin typeface="+mn-lt"/>
                  <a:ea typeface="+mn-ea"/>
                  <a:cs typeface="+mn-cs"/>
                </a:rPr>
                <a:t>12 · 24 · 48 labels per class.</a:t>
              </a:r>
            </a:p>
            <a:p>
              <a:pPr algn="l">
                <a:lnSpc>
                  <a:spcPts val="2175"/>
                </a:lnSpc>
                <a:spcBef>
                  <a:spcPts val="525"/>
                </a:spcBef>
              </a:pPr>
              <a:r>
                <a:rPr lang="en-US" sz="1500" b="1" dirty="0">
                  <a:solidFill>
                    <a:schemeClr val="accent3"/>
                  </a:solidFill>
                  <a:latin typeface="+mn-lt"/>
                  <a:ea typeface="+mn-ea"/>
                  <a:cs typeface="+mn-cs"/>
                </a:rPr>
                <a:t>Sample efficiency is measurable.</a:t>
              </a:r>
            </a:p>
          </p:txBody>
        </p:sp>
        <p:sp>
          <p:nvSpPr>
            <p:cNvPr id="23" name="Rectangle 23"/>
            <p:cNvSpPr/>
            <p:nvPr/>
          </p:nvSpPr>
          <p:spPr>
            <a:xfrm>
              <a:off x="4191000" y="3219450"/>
              <a:ext cx="3352800" cy="2381250"/>
            </a:xfrm>
            <a:prstGeom prst="rect">
              <a:avLst/>
            </a:prstGeom>
            <a:solidFill>
              <a:schemeClr val="accent1"/>
            </a:solidFill>
            <a:ln>
              <a:noFill/>
            </a:ln>
          </p:spPr>
        </p:sp>
        <p:sp>
          <p:nvSpPr>
            <p:cNvPr id="24" name="TextBox 24"/>
            <p:cNvSpPr txBox="1"/>
            <p:nvPr/>
          </p:nvSpPr>
          <p:spPr>
            <a:xfrm>
              <a:off x="4412742" y="3416618"/>
              <a:ext cx="2110618"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TRACTABLE BENCHMARK</a:t>
              </a:r>
            </a:p>
          </p:txBody>
        </p:sp>
        <p:sp>
          <p:nvSpPr>
            <p:cNvPr id="25" name="TextBox 25"/>
            <p:cNvSpPr txBox="1"/>
            <p:nvPr/>
          </p:nvSpPr>
          <p:spPr>
            <a:xfrm>
              <a:off x="4408170" y="3709988"/>
              <a:ext cx="202651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Consolas"/>
                  <a:ea typeface="Consolas"/>
                  <a:cs typeface="Consolas"/>
                </a:rPr>
                <a:t>1,800 images</a:t>
              </a:r>
            </a:p>
          </p:txBody>
        </p:sp>
        <p:sp>
          <p:nvSpPr>
            <p:cNvPr id="26" name="TextBox 26"/>
            <p:cNvSpPr txBox="1"/>
            <p:nvPr/>
          </p:nvSpPr>
          <p:spPr>
            <a:xfrm>
              <a:off x="4411980" y="4181475"/>
              <a:ext cx="2945606" cy="912495"/>
            </a:xfrm>
            <a:prstGeom prst="rect">
              <a:avLst/>
            </a:prstGeom>
            <a:noFill/>
            <a:ln>
              <a:noFill/>
            </a:ln>
          </p:spPr>
          <p:txBody>
            <a:bodyPr wrap="none" lIns="0" tIns="0" rIns="0" bIns="0" anchor="t" anchorCtr="0">
              <a:spAutoFit/>
            </a:bodyPr>
            <a:lstStyle/>
            <a:p>
              <a:pPr algn="l">
                <a:lnSpc>
                  <a:spcPts val="2175"/>
                </a:lnSpc>
              </a:pPr>
              <a:r>
                <a:rPr lang="en-US" sz="1500" dirty="0">
                  <a:solidFill>
                    <a:srgbClr val="FBF7EE"/>
                  </a:solidFill>
                  <a:latin typeface="+mn-lt"/>
                  <a:ea typeface="+mn-ea"/>
                  <a:cs typeface="+mn-cs"/>
                </a:rPr>
                <a:t>Six balanced defect classes</a:t>
              </a:r>
              <a:br/>
              <a:r>
                <a:rPr lang="en-US" sz="1500" dirty="0">
                  <a:solidFill>
                    <a:srgbClr val="FBF7EE"/>
                  </a:solidFill>
                  <a:latin typeface="+mn-lt"/>
                  <a:ea typeface="+mn-ea"/>
                  <a:cs typeface="+mn-cs"/>
                </a:rPr>
                <a:t>300 images per class</a:t>
              </a:r>
            </a:p>
            <a:p>
              <a:pPr algn="l">
                <a:lnSpc>
                  <a:spcPts val="2175"/>
                </a:lnSpc>
                <a:spcBef>
                  <a:spcPts val="525"/>
                </a:spcBef>
              </a:pPr>
              <a:r>
                <a:rPr lang="en-US" sz="1500" b="1" dirty="0">
                  <a:solidFill>
                    <a:srgbClr val="FBF7EE"/>
                  </a:solidFill>
                  <a:latin typeface="+mn-lt"/>
                  <a:ea typeface="+mn-ea"/>
                  <a:cs typeface="+mn-cs"/>
                </a:rPr>
                <a:t>Public data · macro-F1 target</a:t>
              </a:r>
            </a:p>
          </p:txBody>
        </p:sp>
        <p:sp>
          <p:nvSpPr>
            <p:cNvPr id="27" name="Rectangle 27"/>
            <p:cNvSpPr/>
            <p:nvPr/>
          </p:nvSpPr>
          <p:spPr>
            <a:xfrm>
              <a:off x="7772400" y="3219450"/>
              <a:ext cx="3810000" cy="2381250"/>
            </a:xfrm>
            <a:prstGeom prst="rect">
              <a:avLst/>
            </a:prstGeom>
            <a:solidFill>
              <a:schemeClr val="lt2"/>
            </a:solidFill>
            <a:ln>
              <a:noFill/>
            </a:ln>
          </p:spPr>
        </p:sp>
        <p:sp>
          <p:nvSpPr>
            <p:cNvPr id="28" name="TextBox 28"/>
            <p:cNvSpPr txBox="1"/>
            <p:nvPr/>
          </p:nvSpPr>
          <p:spPr>
            <a:xfrm>
              <a:off x="7994142" y="3416618"/>
              <a:ext cx="224167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LEAKAGE-SAFE EVIDENCE</a:t>
              </a:r>
            </a:p>
          </p:txBody>
        </p:sp>
        <p:sp>
          <p:nvSpPr>
            <p:cNvPr id="29" name="TextBox 29"/>
            <p:cNvSpPr txBox="1"/>
            <p:nvPr/>
          </p:nvSpPr>
          <p:spPr>
            <a:xfrm>
              <a:off x="7989570" y="3709988"/>
              <a:ext cx="3306541"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One duplicate group</a:t>
              </a:r>
            </a:p>
          </p:txBody>
        </p:sp>
        <p:sp>
          <p:nvSpPr>
            <p:cNvPr id="30" name="TextBox 30"/>
            <p:cNvSpPr txBox="1"/>
            <p:nvPr/>
          </p:nvSpPr>
          <p:spPr>
            <a:xfrm>
              <a:off x="7993380" y="4181475"/>
              <a:ext cx="3348990" cy="912495"/>
            </a:xfrm>
            <a:prstGeom prst="rect">
              <a:avLst/>
            </a:prstGeom>
            <a:noFill/>
            <a:ln>
              <a:noFill/>
            </a:ln>
          </p:spPr>
          <p:txBody>
            <a:bodyPr wrap="none" lIns="0" tIns="0" rIns="0" bIns="0" anchor="t" anchorCtr="0">
              <a:spAutoFit/>
            </a:bodyPr>
            <a:lstStyle/>
            <a:p>
              <a:pPr algn="l">
                <a:lnSpc>
                  <a:spcPts val="2175"/>
                </a:lnSpc>
              </a:pPr>
              <a:r>
                <a:rPr lang="en-US" sz="1500" dirty="0">
                  <a:solidFill>
                    <a:schemeClr val="dk1"/>
                  </a:solidFill>
                  <a:latin typeface="+mn-lt"/>
                  <a:ea typeface="+mn-ea"/>
                  <a:cs typeface="+mn-cs"/>
                </a:rPr>
                <a:t>Pa_101 · Pa_105 never cross splits.</a:t>
              </a:r>
              <a:br/>
              <a:r>
                <a:rPr lang="en-US" sz="1500" dirty="0">
                  <a:solidFill>
                    <a:schemeClr val="dk1"/>
                  </a:solidFill>
                  <a:latin typeface="+mn-lt"/>
                  <a:ea typeface="+mn-ea"/>
                  <a:cs typeface="+mn-cs"/>
                </a:rPr>
                <a:t>Fold 0: 60 test images per class.</a:t>
              </a:r>
            </a:p>
            <a:p>
              <a:pPr algn="l">
                <a:lnSpc>
                  <a:spcPts val="2175"/>
                </a:lnSpc>
                <a:spcBef>
                  <a:spcPts val="525"/>
                </a:spcBef>
              </a:pPr>
              <a:r>
                <a:rPr lang="en-US" sz="1500" b="1" dirty="0">
                  <a:solidFill>
                    <a:schemeClr val="accent3"/>
                  </a:solidFill>
                  <a:latin typeface="+mn-lt"/>
                  <a:ea typeface="+mn-ea"/>
                  <a:cs typeface="+mn-cs"/>
                </a:rPr>
                <a:t>Real need · data · decision metric</a:t>
              </a:r>
            </a:p>
          </p:txBody>
        </p:sp>
      </p:grpSp>
      <p:grpSp>
        <p:nvGrpSpPr>
          <p:cNvPr id="33" name="Group 33"/>
          <p:cNvGrpSpPr/>
          <p:nvPr/>
        </p:nvGrpSpPr>
        <p:grpSpPr>
          <a:xfrm>
            <a:off x="602742" y="6045518"/>
            <a:ext cx="5090556" cy="264033"/>
            <a:chOff x="602742" y="6045518"/>
            <a:chExt cx="5090556" cy="264033"/>
          </a:xfrm>
        </p:grpSpPr>
        <p:sp>
          <p:nvSpPr>
            <p:cNvPr id="32" name="TextBox 32"/>
            <p:cNvSpPr txBox="1"/>
            <p:nvPr/>
          </p:nvSpPr>
          <p:spPr>
            <a:xfrm>
              <a:off x="602742" y="6045518"/>
              <a:ext cx="5090556" cy="264033"/>
            </a:xfrm>
            <a:prstGeom prst="rect">
              <a:avLst/>
            </a:prstGeom>
            <a:noFill/>
            <a:ln>
              <a:noFill/>
            </a:ln>
          </p:spPr>
          <p:txBody>
            <a:bodyPr wrap="none" lIns="0" tIns="0" rIns="0" bIns="0" anchor="t" anchorCtr="0">
              <a:spAutoFit/>
            </a:bodyPr>
            <a:lstStyle/>
            <a:p>
              <a:pPr algn="l"/>
              <a:r>
                <a:rPr lang="en-US" sz="1350" dirty="0">
                  <a:solidFill>
                    <a:srgbClr val="766E62"/>
                  </a:solidFill>
                  <a:latin typeface="+mn-lt"/>
                  <a:ea typeface="+mn-ea"/>
                  <a:cs typeface="+mn-cs"/>
                </a:rPr>
                <a:t>Source: dataset_audit.csv · frozen experiment protocol</a:t>
              </a:r>
            </a:p>
          </p:txBody>
        </p:sp>
      </p:grpSp>
      <p:grpSp>
        <p:nvGrpSpPr>
          <p:cNvPr id="35" name="Group 35"/>
          <p:cNvGrpSpPr/>
          <p:nvPr/>
        </p:nvGrpSpPr>
        <p:grpSpPr>
          <a:xfrm>
            <a:off x="10966723" y="6426518"/>
            <a:ext cx="622535" cy="264033"/>
            <a:chOff x="10966723" y="6426518"/>
            <a:chExt cx="622535" cy="264033"/>
          </a:xfrm>
        </p:grpSpPr>
        <p:sp>
          <p:nvSpPr>
            <p:cNvPr id="34" name="TextBox 34"/>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02 / 10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5122" y="482918"/>
            <a:ext cx="10821871" cy="890777"/>
            <a:chOff x="595122" y="482918"/>
            <a:chExt cx="10821871" cy="890777"/>
          </a:xfrm>
        </p:grpSpPr>
        <p:sp>
          <p:nvSpPr>
            <p:cNvPr id="3" name="TextBox 3"/>
            <p:cNvSpPr txBox="1"/>
            <p:nvPr/>
          </p:nvSpPr>
          <p:spPr>
            <a:xfrm>
              <a:off x="602742" y="482918"/>
              <a:ext cx="5147691"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WHY QUANDELA · SIMULATOR-TO-HARDWARE PATH</a:t>
              </a:r>
            </a:p>
          </p:txBody>
        </p:sp>
        <p:sp>
          <p:nvSpPr>
            <p:cNvPr id="4" name="TextBox 4"/>
            <p:cNvSpPr txBox="1"/>
            <p:nvPr/>
          </p:nvSpPr>
          <p:spPr>
            <a:xfrm>
              <a:off x="595122" y="816292"/>
              <a:ext cx="10821871" cy="557403"/>
            </a:xfrm>
            <a:prstGeom prst="rect">
              <a:avLst/>
            </a:prstGeom>
            <a:noFill/>
            <a:ln>
              <a:noFill/>
            </a:ln>
          </p:spPr>
          <p:txBody>
            <a:bodyPr wrap="none" lIns="0" tIns="0" rIns="0" bIns="0" anchor="t" anchorCtr="0">
              <a:spAutoFit/>
            </a:bodyPr>
            <a:lstStyle/>
            <a:p>
              <a:pPr algn="l"/>
              <a:r>
                <a:rPr lang="en-US" sz="2850" b="1" dirty="0">
                  <a:solidFill>
                    <a:schemeClr val="accent1"/>
                  </a:solidFill>
                  <a:latin typeface="+mj-lt"/>
                  <a:ea typeface="+mj-ea"/>
                  <a:cs typeface="+mj-cs"/>
                </a:rPr>
                <a:t>A small reservoir fits Quandela’s path to hardware</a:t>
              </a:r>
            </a:p>
          </p:txBody>
        </p:sp>
      </p:grpSp>
      <p:grpSp>
        <p:nvGrpSpPr>
          <p:cNvPr id="31" name="Group 31"/>
          <p:cNvGrpSpPr/>
          <p:nvPr/>
        </p:nvGrpSpPr>
        <p:grpSpPr>
          <a:xfrm>
            <a:off x="609600" y="1466850"/>
            <a:ext cx="10972800" cy="1562100"/>
            <a:chOff x="609600" y="1466850"/>
            <a:chExt cx="10972800" cy="1562100"/>
          </a:xfrm>
        </p:grpSpPr>
        <p:sp>
          <p:nvSpPr>
            <p:cNvPr id="6" name="Rectangle 6"/>
            <p:cNvSpPr/>
            <p:nvPr/>
          </p:nvSpPr>
          <p:spPr>
            <a:xfrm>
              <a:off x="609600" y="1657350"/>
              <a:ext cx="1581150" cy="1162050"/>
            </a:xfrm>
            <a:prstGeom prst="rect">
              <a:avLst/>
            </a:prstGeom>
            <a:solidFill>
              <a:schemeClr val="lt2"/>
            </a:solidFill>
            <a:ln>
              <a:noFill/>
            </a:ln>
          </p:spPr>
        </p:sp>
        <p:sp>
          <p:nvSpPr>
            <p:cNvPr id="7" name="TextBox 7"/>
            <p:cNvSpPr txBox="1"/>
            <p:nvPr/>
          </p:nvSpPr>
          <p:spPr>
            <a:xfrm>
              <a:off x="1040473" y="1835468"/>
              <a:ext cx="719404" cy="264033"/>
            </a:xfrm>
            <a:prstGeom prst="rect">
              <a:avLst/>
            </a:prstGeom>
            <a:noFill/>
            <a:ln>
              <a:noFill/>
            </a:ln>
          </p:spPr>
          <p:txBody>
            <a:bodyPr wrap="none" lIns="0" tIns="0" rIns="0" bIns="0" anchor="t" anchorCtr="0">
              <a:spAutoFit/>
            </a:bodyPr>
            <a:lstStyle/>
            <a:p>
              <a:pPr algn="ctr"/>
              <a:r>
                <a:rPr lang="en-US" sz="1350" b="1" dirty="0">
                  <a:solidFill>
                    <a:schemeClr val="accent6"/>
                  </a:solidFill>
                  <a:latin typeface="+mn-lt"/>
                  <a:ea typeface="+mn-ea"/>
                  <a:cs typeface="+mn-cs"/>
                </a:rPr>
                <a:t>FROZEN</a:t>
              </a:r>
            </a:p>
          </p:txBody>
        </p:sp>
        <p:sp>
          <p:nvSpPr>
            <p:cNvPr id="8" name="TextBox 8"/>
            <p:cNvSpPr txBox="1"/>
            <p:nvPr/>
          </p:nvSpPr>
          <p:spPr>
            <a:xfrm>
              <a:off x="843911" y="2156936"/>
              <a:ext cx="1112529" cy="337376"/>
            </a:xfrm>
            <a:prstGeom prst="rect">
              <a:avLst/>
            </a:prstGeom>
            <a:noFill/>
            <a:ln>
              <a:noFill/>
            </a:ln>
          </p:spPr>
          <p:txBody>
            <a:bodyPr wrap="none" lIns="0" tIns="0" rIns="0" bIns="0" anchor="t" anchorCtr="0">
              <a:spAutoFit/>
            </a:bodyPr>
            <a:lstStyle/>
            <a:p>
              <a:pPr algn="ctr"/>
              <a:r>
                <a:rPr lang="en-US" sz="1720" b="1" dirty="0">
                  <a:solidFill>
                    <a:schemeClr val="accent1"/>
                  </a:solidFill>
                  <a:latin typeface="+mn-lt"/>
                  <a:ea typeface="+mn-ea"/>
                  <a:cs typeface="+mn-cs"/>
                </a:rPr>
                <a:t>OpenCLIP</a:t>
              </a:r>
            </a:p>
          </p:txBody>
        </p:sp>
        <p:sp>
          <p:nvSpPr>
            <p:cNvPr id="9" name="TextBox 9"/>
            <p:cNvSpPr txBox="1"/>
            <p:nvPr/>
          </p:nvSpPr>
          <p:spPr>
            <a:xfrm>
              <a:off x="785424" y="2483168"/>
              <a:ext cx="1229502"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ViT-B/32 · L2</a:t>
              </a:r>
            </a:p>
          </p:txBody>
        </p:sp>
        <p:sp>
          <p:nvSpPr>
            <p:cNvPr id="10" name="Freeform 10"/>
            <p:cNvSpPr/>
            <p:nvPr/>
          </p:nvSpPr>
          <p:spPr>
            <a:xfrm>
              <a:off x="2190750" y="2143125"/>
              <a:ext cx="381000" cy="190500"/>
            </a:xfrm>
            <a:custGeom>
              <a:avLst/>
              <a:gdLst/>
              <a:ahLst/>
              <a:cxnLst/>
              <a:rect l="l" t="t" r="r" b="b"/>
              <a:pathLst>
                <a:path w="381000" h="190500">
                  <a:moveTo>
                    <a:pt x="0" y="95250"/>
                  </a:moveTo>
                  <a:lnTo>
                    <a:pt x="381000" y="95250"/>
                  </a:lnTo>
                  <a:moveTo>
                    <a:pt x="285750" y="0"/>
                  </a:moveTo>
                  <a:lnTo>
                    <a:pt x="381000" y="95250"/>
                  </a:lnTo>
                  <a:lnTo>
                    <a:pt x="285750" y="190500"/>
                  </a:lnTo>
                </a:path>
              </a:pathLst>
            </a:custGeom>
            <a:noFill/>
            <a:ln w="38100">
              <a:solidFill>
                <a:schemeClr val="accent1"/>
              </a:solidFill>
            </a:ln>
          </p:spPr>
        </p:sp>
        <p:sp>
          <p:nvSpPr>
            <p:cNvPr id="11" name="Rectangle 11"/>
            <p:cNvSpPr/>
            <p:nvPr/>
          </p:nvSpPr>
          <p:spPr>
            <a:xfrm>
              <a:off x="2571750" y="1657350"/>
              <a:ext cx="1581150" cy="1162050"/>
            </a:xfrm>
            <a:prstGeom prst="rect">
              <a:avLst/>
            </a:prstGeom>
            <a:solidFill>
              <a:schemeClr val="lt1"/>
            </a:solidFill>
            <a:ln w="19050">
              <a:solidFill>
                <a:schemeClr val="accent1"/>
              </a:solidFill>
            </a:ln>
          </p:spPr>
        </p:sp>
        <p:sp>
          <p:nvSpPr>
            <p:cNvPr id="12" name="TextBox 12"/>
            <p:cNvSpPr txBox="1"/>
            <p:nvPr/>
          </p:nvSpPr>
          <p:spPr>
            <a:xfrm>
              <a:off x="2831241" y="1835468"/>
              <a:ext cx="1062167" cy="264033"/>
            </a:xfrm>
            <a:prstGeom prst="rect">
              <a:avLst/>
            </a:prstGeom>
            <a:noFill/>
            <a:ln>
              <a:noFill/>
            </a:ln>
          </p:spPr>
          <p:txBody>
            <a:bodyPr wrap="none" lIns="0" tIns="0" rIns="0" bIns="0" anchor="t" anchorCtr="0">
              <a:spAutoFit/>
            </a:bodyPr>
            <a:lstStyle/>
            <a:p>
              <a:pPr algn="ctr"/>
              <a:r>
                <a:rPr lang="en-US" sz="1350" b="1" dirty="0">
                  <a:solidFill>
                    <a:schemeClr val="accent5"/>
                  </a:solidFill>
                  <a:latin typeface="+mn-lt"/>
                  <a:ea typeface="+mn-ea"/>
                  <a:cs typeface="+mn-cs"/>
                </a:rPr>
                <a:t>TRAIN ONLY</a:t>
              </a:r>
            </a:p>
          </p:txBody>
        </p:sp>
        <p:sp>
          <p:nvSpPr>
            <p:cNvPr id="13" name="TextBox 13"/>
            <p:cNvSpPr txBox="1"/>
            <p:nvPr/>
          </p:nvSpPr>
          <p:spPr>
            <a:xfrm>
              <a:off x="3000345" y="2156936"/>
              <a:ext cx="723961" cy="337376"/>
            </a:xfrm>
            <a:prstGeom prst="rect">
              <a:avLst/>
            </a:prstGeom>
            <a:noFill/>
            <a:ln>
              <a:noFill/>
            </a:ln>
          </p:spPr>
          <p:txBody>
            <a:bodyPr wrap="none" lIns="0" tIns="0" rIns="0" bIns="0" anchor="t" anchorCtr="0">
              <a:spAutoFit/>
            </a:bodyPr>
            <a:lstStyle/>
            <a:p>
              <a:pPr algn="ctr"/>
              <a:r>
                <a:rPr lang="en-US" sz="1720" b="1" dirty="0">
                  <a:solidFill>
                    <a:schemeClr val="accent1"/>
                  </a:solidFill>
                  <a:latin typeface="+mn-lt"/>
                  <a:ea typeface="+mn-ea"/>
                  <a:cs typeface="+mn-cs"/>
                </a:rPr>
                <a:t>PCA-5</a:t>
              </a:r>
            </a:p>
          </p:txBody>
        </p:sp>
        <p:sp>
          <p:nvSpPr>
            <p:cNvPr id="14" name="TextBox 14"/>
            <p:cNvSpPr txBox="1"/>
            <p:nvPr/>
          </p:nvSpPr>
          <p:spPr>
            <a:xfrm>
              <a:off x="2701214" y="2483168"/>
              <a:ext cx="1322222" cy="264033"/>
            </a:xfrm>
            <a:prstGeom prst="rect">
              <a:avLst/>
            </a:prstGeom>
            <a:noFill/>
            <a:ln>
              <a:noFill/>
            </a:ln>
          </p:spPr>
          <p:txBody>
            <a:bodyPr wrap="none" lIns="0" tIns="0" rIns="0" bIns="0" anchor="t" anchorCtr="0">
              <a:spAutoFit/>
            </a:bodyPr>
            <a:lstStyle/>
            <a:p>
              <a:pPr algn="ctr"/>
              <a:r>
                <a:rPr lang="el-GR" sz="1350" dirty="0">
                  <a:solidFill>
                    <a:schemeClr val="dk1"/>
                  </a:solidFill>
                  <a:latin typeface="+mn-lt"/>
                  <a:ea typeface="+mn-ea"/>
                  <a:cs typeface="+mn-cs"/>
                </a:rPr>
                <a:t>phases [−π, π]</a:t>
              </a:r>
            </a:p>
          </p:txBody>
        </p:sp>
        <p:sp>
          <p:nvSpPr>
            <p:cNvPr id="15" name="Freeform 15"/>
            <p:cNvSpPr/>
            <p:nvPr/>
          </p:nvSpPr>
          <p:spPr>
            <a:xfrm>
              <a:off x="4152900" y="2143125"/>
              <a:ext cx="381000" cy="190500"/>
            </a:xfrm>
            <a:custGeom>
              <a:avLst/>
              <a:gdLst/>
              <a:ahLst/>
              <a:cxnLst/>
              <a:rect l="l" t="t" r="r" b="b"/>
              <a:pathLst>
                <a:path w="381000" h="190500">
                  <a:moveTo>
                    <a:pt x="0" y="95250"/>
                  </a:moveTo>
                  <a:lnTo>
                    <a:pt x="381000" y="95250"/>
                  </a:lnTo>
                  <a:moveTo>
                    <a:pt x="285750" y="0"/>
                  </a:moveTo>
                  <a:lnTo>
                    <a:pt x="381000" y="95250"/>
                  </a:lnTo>
                  <a:lnTo>
                    <a:pt x="285750" y="190500"/>
                  </a:lnTo>
                </a:path>
              </a:pathLst>
            </a:custGeom>
            <a:noFill/>
            <a:ln w="38100">
              <a:solidFill>
                <a:schemeClr val="accent1"/>
              </a:solidFill>
            </a:ln>
          </p:spPr>
        </p:sp>
        <p:sp>
          <p:nvSpPr>
            <p:cNvPr id="16" name="Rectangle 16"/>
            <p:cNvSpPr/>
            <p:nvPr/>
          </p:nvSpPr>
          <p:spPr>
            <a:xfrm>
              <a:off x="4533900" y="1466850"/>
              <a:ext cx="2628900" cy="1562100"/>
            </a:xfrm>
            <a:prstGeom prst="rect">
              <a:avLst/>
            </a:prstGeom>
            <a:solidFill>
              <a:schemeClr val="accent1"/>
            </a:solidFill>
            <a:ln>
              <a:noFill/>
            </a:ln>
          </p:spPr>
        </p:sp>
        <p:sp>
          <p:nvSpPr>
            <p:cNvPr id="17" name="TextBox 17"/>
            <p:cNvSpPr txBox="1"/>
            <p:nvPr/>
          </p:nvSpPr>
          <p:spPr>
            <a:xfrm>
              <a:off x="4808163" y="1664018"/>
              <a:ext cx="2080374" cy="264033"/>
            </a:xfrm>
            <a:prstGeom prst="rect">
              <a:avLst/>
            </a:prstGeom>
            <a:noFill/>
            <a:ln>
              <a:noFill/>
            </a:ln>
          </p:spPr>
          <p:txBody>
            <a:bodyPr wrap="none" lIns="0" tIns="0" rIns="0" bIns="0" anchor="t" anchorCtr="0">
              <a:spAutoFit/>
            </a:bodyPr>
            <a:lstStyle/>
            <a:p>
              <a:pPr algn="ctr"/>
              <a:r>
                <a:rPr lang="en-US" sz="1350" b="1" dirty="0">
                  <a:solidFill>
                    <a:srgbClr val="B9D0C7"/>
                  </a:solidFill>
                  <a:latin typeface="+mn-lt"/>
                  <a:ea typeface="+mn-ea"/>
                  <a:cs typeface="+mn-cs"/>
                </a:rPr>
                <a:t>6 MODES · 2 PHOTONS</a:t>
              </a:r>
            </a:p>
          </p:txBody>
        </p:sp>
        <p:sp>
          <p:nvSpPr>
            <p:cNvPr id="18" name="TextBox 18"/>
            <p:cNvSpPr txBox="1"/>
            <p:nvPr/>
          </p:nvSpPr>
          <p:spPr>
            <a:xfrm>
              <a:off x="4671212" y="2017395"/>
              <a:ext cx="2354275" cy="469392"/>
            </a:xfrm>
            <a:prstGeom prst="rect">
              <a:avLst/>
            </a:prstGeom>
            <a:noFill/>
            <a:ln>
              <a:noFill/>
            </a:ln>
          </p:spPr>
          <p:txBody>
            <a:bodyPr wrap="none" lIns="0" tIns="0" rIns="0" bIns="0" anchor="t" anchorCtr="0">
              <a:spAutoFit/>
            </a:bodyPr>
            <a:lstStyle/>
            <a:p>
              <a:pPr algn="ctr"/>
              <a:r>
                <a:rPr lang="en-US" sz="2400" b="1" dirty="0">
                  <a:solidFill>
                    <a:srgbClr val="FFFFFF"/>
                  </a:solidFill>
                  <a:latin typeface="+mj-lt"/>
                  <a:ea typeface="+mj-ea"/>
                  <a:cs typeface="+mj-cs"/>
                </a:rPr>
                <a:t>U · D(x) · U</a:t>
              </a:r>
            </a:p>
          </p:txBody>
        </p:sp>
        <p:sp>
          <p:nvSpPr>
            <p:cNvPr id="19" name="TextBox 19"/>
            <p:cNvSpPr txBox="1"/>
            <p:nvPr/>
          </p:nvSpPr>
          <p:spPr>
            <a:xfrm>
              <a:off x="4687462" y="2454592"/>
              <a:ext cx="2321776" cy="264033"/>
            </a:xfrm>
            <a:prstGeom prst="rect">
              <a:avLst/>
            </a:prstGeom>
            <a:noFill/>
            <a:ln>
              <a:noFill/>
            </a:ln>
          </p:spPr>
          <p:txBody>
            <a:bodyPr wrap="none" lIns="0" tIns="0" rIns="0" bIns="0" anchor="t" anchorCtr="0">
              <a:spAutoFit/>
            </a:bodyPr>
            <a:lstStyle/>
            <a:p>
              <a:pPr algn="ctr"/>
              <a:r>
                <a:rPr lang="en-US" sz="1350" dirty="0">
                  <a:solidFill>
                    <a:srgbClr val="FBF7EE"/>
                  </a:solidFill>
                  <a:latin typeface="+mn-lt"/>
                  <a:ea typeface="+mn-ea"/>
                  <a:cs typeface="+mn-cs"/>
                </a:rPr>
                <a:t>occupation [1,0,1,0,0,0]</a:t>
              </a:r>
            </a:p>
          </p:txBody>
        </p:sp>
        <p:sp>
          <p:nvSpPr>
            <p:cNvPr id="20" name="TextBox 20"/>
            <p:cNvSpPr txBox="1"/>
            <p:nvPr/>
          </p:nvSpPr>
          <p:spPr>
            <a:xfrm>
              <a:off x="4522804" y="2718435"/>
              <a:ext cx="2651092" cy="234696"/>
            </a:xfrm>
            <a:prstGeom prst="rect">
              <a:avLst/>
            </a:prstGeom>
            <a:noFill/>
            <a:ln>
              <a:noFill/>
            </a:ln>
          </p:spPr>
          <p:txBody>
            <a:bodyPr wrap="none" lIns="0" tIns="0" rIns="0" bIns="0" anchor="t" anchorCtr="0">
              <a:spAutoFit/>
            </a:bodyPr>
            <a:lstStyle/>
            <a:p>
              <a:pPr algn="ctr"/>
              <a:r>
                <a:rPr lang="en-US" sz="1200" dirty="0">
                  <a:solidFill>
                    <a:srgbClr val="B9D0C7"/>
                  </a:solidFill>
                  <a:latin typeface="+mn-lt"/>
                  <a:ea typeface="+mn-ea"/>
                  <a:cs typeface="+mn-cs"/>
                </a:rPr>
                <a:t>fixed U · image-dependent phases</a:t>
              </a:r>
            </a:p>
          </p:txBody>
        </p:sp>
        <p:sp>
          <p:nvSpPr>
            <p:cNvPr id="21" name="Freeform 21"/>
            <p:cNvSpPr/>
            <p:nvPr/>
          </p:nvSpPr>
          <p:spPr>
            <a:xfrm>
              <a:off x="7162800" y="2143125"/>
              <a:ext cx="381000" cy="190500"/>
            </a:xfrm>
            <a:custGeom>
              <a:avLst/>
              <a:gdLst/>
              <a:ahLst/>
              <a:cxnLst/>
              <a:rect l="l" t="t" r="r" b="b"/>
              <a:pathLst>
                <a:path w="381000" h="190500">
                  <a:moveTo>
                    <a:pt x="0" y="95250"/>
                  </a:moveTo>
                  <a:lnTo>
                    <a:pt x="381000" y="95250"/>
                  </a:lnTo>
                  <a:moveTo>
                    <a:pt x="285750" y="0"/>
                  </a:moveTo>
                  <a:lnTo>
                    <a:pt x="381000" y="95250"/>
                  </a:lnTo>
                  <a:lnTo>
                    <a:pt x="285750" y="190500"/>
                  </a:lnTo>
                </a:path>
              </a:pathLst>
            </a:custGeom>
            <a:noFill/>
            <a:ln w="38100">
              <a:solidFill>
                <a:schemeClr val="accent1"/>
              </a:solidFill>
            </a:ln>
          </p:spPr>
        </p:sp>
        <p:sp>
          <p:nvSpPr>
            <p:cNvPr id="22" name="Rectangle 22"/>
            <p:cNvSpPr/>
            <p:nvPr/>
          </p:nvSpPr>
          <p:spPr>
            <a:xfrm>
              <a:off x="7543800" y="1657350"/>
              <a:ext cx="1695450" cy="1162050"/>
            </a:xfrm>
            <a:prstGeom prst="rect">
              <a:avLst/>
            </a:prstGeom>
            <a:solidFill>
              <a:schemeClr val="lt2"/>
            </a:solidFill>
            <a:ln>
              <a:noFill/>
            </a:ln>
          </p:spPr>
        </p:sp>
        <p:sp>
          <p:nvSpPr>
            <p:cNvPr id="23" name="TextBox 23"/>
            <p:cNvSpPr txBox="1"/>
            <p:nvPr/>
          </p:nvSpPr>
          <p:spPr>
            <a:xfrm>
              <a:off x="7810035" y="1835468"/>
              <a:ext cx="1162980" cy="264033"/>
            </a:xfrm>
            <a:prstGeom prst="rect">
              <a:avLst/>
            </a:prstGeom>
            <a:noFill/>
            <a:ln>
              <a:noFill/>
            </a:ln>
          </p:spPr>
          <p:txBody>
            <a:bodyPr wrap="none" lIns="0" tIns="0" rIns="0" bIns="0" anchor="t" anchorCtr="0">
              <a:spAutoFit/>
            </a:bodyPr>
            <a:lstStyle/>
            <a:p>
              <a:pPr algn="ctr"/>
              <a:r>
                <a:rPr lang="en-US" sz="1350" b="1" dirty="0">
                  <a:solidFill>
                    <a:schemeClr val="accent6"/>
                  </a:solidFill>
                  <a:latin typeface="+mn-lt"/>
                  <a:ea typeface="+mn-ea"/>
                  <a:cs typeface="+mn-cs"/>
                </a:rPr>
                <a:t>POSTSELECT</a:t>
              </a:r>
            </a:p>
          </p:txBody>
        </p:sp>
        <p:sp>
          <p:nvSpPr>
            <p:cNvPr id="24" name="TextBox 24"/>
            <p:cNvSpPr txBox="1"/>
            <p:nvPr/>
          </p:nvSpPr>
          <p:spPr>
            <a:xfrm>
              <a:off x="7847378" y="2100262"/>
              <a:ext cx="1088293" cy="440055"/>
            </a:xfrm>
            <a:prstGeom prst="rect">
              <a:avLst/>
            </a:prstGeom>
            <a:noFill/>
            <a:ln>
              <a:noFill/>
            </a:ln>
          </p:spPr>
          <p:txBody>
            <a:bodyPr wrap="none" lIns="0" tIns="0" rIns="0" bIns="0" anchor="t" anchorCtr="0">
              <a:spAutoFit/>
            </a:bodyPr>
            <a:lstStyle/>
            <a:p>
              <a:pPr algn="ctr"/>
              <a:r>
                <a:rPr lang="en-US" sz="2250" b="1" dirty="0">
                  <a:solidFill>
                    <a:schemeClr val="accent1"/>
                  </a:solidFill>
                  <a:latin typeface="Consolas"/>
                  <a:ea typeface="Consolas"/>
                  <a:cs typeface="Consolas"/>
                </a:rPr>
                <a:t>21 → 15</a:t>
              </a:r>
            </a:p>
          </p:txBody>
        </p:sp>
        <p:sp>
          <p:nvSpPr>
            <p:cNvPr id="25" name="TextBox 25"/>
            <p:cNvSpPr txBox="1"/>
            <p:nvPr/>
          </p:nvSpPr>
          <p:spPr>
            <a:xfrm>
              <a:off x="7595477" y="2483168"/>
              <a:ext cx="1592097" cy="264033"/>
            </a:xfrm>
            <a:prstGeom prst="rect">
              <a:avLst/>
            </a:prstGeom>
            <a:noFill/>
            <a:ln>
              <a:noFill/>
            </a:ln>
          </p:spPr>
          <p:txBody>
            <a:bodyPr wrap="none" lIns="0" tIns="0" rIns="0" bIns="0" anchor="t" anchorCtr="0">
              <a:spAutoFit/>
            </a:bodyPr>
            <a:lstStyle/>
            <a:p>
              <a:pPr algn="ctr"/>
              <a:r>
                <a:rPr lang="en-US" sz="1350" dirty="0">
                  <a:solidFill>
                    <a:schemeClr val="dk1"/>
                  </a:solidFill>
                  <a:latin typeface="+mn-lt"/>
                  <a:ea typeface="+mn-ea"/>
                  <a:cs typeface="+mn-cs"/>
                </a:rPr>
                <a:t>conditional P(n|x)</a:t>
              </a:r>
            </a:p>
          </p:txBody>
        </p:sp>
        <p:sp>
          <p:nvSpPr>
            <p:cNvPr id="26" name="Freeform 26"/>
            <p:cNvSpPr/>
            <p:nvPr/>
          </p:nvSpPr>
          <p:spPr>
            <a:xfrm>
              <a:off x="9239250" y="2143125"/>
              <a:ext cx="381000" cy="190500"/>
            </a:xfrm>
            <a:custGeom>
              <a:avLst/>
              <a:gdLst/>
              <a:ahLst/>
              <a:cxnLst/>
              <a:rect l="l" t="t" r="r" b="b"/>
              <a:pathLst>
                <a:path w="381000" h="190500">
                  <a:moveTo>
                    <a:pt x="0" y="95250"/>
                  </a:moveTo>
                  <a:lnTo>
                    <a:pt x="381000" y="95250"/>
                  </a:lnTo>
                  <a:moveTo>
                    <a:pt x="285750" y="0"/>
                  </a:moveTo>
                  <a:lnTo>
                    <a:pt x="381000" y="95250"/>
                  </a:lnTo>
                  <a:lnTo>
                    <a:pt x="285750" y="190500"/>
                  </a:lnTo>
                </a:path>
              </a:pathLst>
            </a:custGeom>
            <a:noFill/>
            <a:ln w="38100">
              <a:solidFill>
                <a:schemeClr val="accent1"/>
              </a:solidFill>
            </a:ln>
          </p:spPr>
        </p:sp>
        <p:sp>
          <p:nvSpPr>
            <p:cNvPr id="27" name="Rectangle 27"/>
            <p:cNvSpPr/>
            <p:nvPr/>
          </p:nvSpPr>
          <p:spPr>
            <a:xfrm>
              <a:off x="9620250" y="1657350"/>
              <a:ext cx="1962150" cy="1162050"/>
            </a:xfrm>
            <a:prstGeom prst="rect">
              <a:avLst/>
            </a:prstGeom>
            <a:solidFill>
              <a:schemeClr val="accent3"/>
            </a:solidFill>
            <a:ln>
              <a:noFill/>
            </a:ln>
          </p:spPr>
        </p:sp>
        <p:sp>
          <p:nvSpPr>
            <p:cNvPr id="28" name="TextBox 28"/>
            <p:cNvSpPr txBox="1"/>
            <p:nvPr/>
          </p:nvSpPr>
          <p:spPr>
            <a:xfrm>
              <a:off x="9682113" y="1911668"/>
              <a:ext cx="1838424" cy="264033"/>
            </a:xfrm>
            <a:prstGeom prst="rect">
              <a:avLst/>
            </a:prstGeom>
            <a:noFill/>
            <a:ln>
              <a:noFill/>
            </a:ln>
          </p:spPr>
          <p:txBody>
            <a:bodyPr wrap="none" lIns="0" tIns="0" rIns="0" bIns="0" anchor="t" anchorCtr="0">
              <a:spAutoFit/>
            </a:bodyPr>
            <a:lstStyle/>
            <a:p>
              <a:pPr algn="ctr"/>
              <a:r>
                <a:rPr lang="en-US" sz="1350" b="1" dirty="0">
                  <a:solidFill>
                    <a:srgbClr val="FBF7EE"/>
                  </a:solidFill>
                  <a:latin typeface="+mn-lt"/>
                  <a:ea typeface="+mn-ea"/>
                  <a:cs typeface="+mn-cs"/>
                </a:rPr>
                <a:t>CLASSICAL READOUT</a:t>
              </a:r>
            </a:p>
          </p:txBody>
        </p:sp>
        <p:sp>
          <p:nvSpPr>
            <p:cNvPr id="29" name="TextBox 29"/>
            <p:cNvSpPr txBox="1"/>
            <p:nvPr/>
          </p:nvSpPr>
          <p:spPr>
            <a:xfrm>
              <a:off x="9853328" y="2233136"/>
              <a:ext cx="1495993" cy="337376"/>
            </a:xfrm>
            <a:prstGeom prst="rect">
              <a:avLst/>
            </a:prstGeom>
            <a:noFill/>
            <a:ln>
              <a:noFill/>
            </a:ln>
          </p:spPr>
          <p:txBody>
            <a:bodyPr wrap="none" lIns="0" tIns="0" rIns="0" bIns="0" anchor="t" anchorCtr="0">
              <a:spAutoFit/>
            </a:bodyPr>
            <a:lstStyle/>
            <a:p>
              <a:pPr algn="ctr"/>
              <a:r>
                <a:rPr lang="en-US" sz="1720" b="1" dirty="0">
                  <a:solidFill>
                    <a:srgbClr val="FFFFFF"/>
                  </a:solidFill>
                  <a:latin typeface="+mn-lt"/>
                  <a:ea typeface="+mn-ea"/>
                  <a:cs typeface="+mn-cs"/>
                </a:rPr>
                <a:t>Linear model</a:t>
              </a:r>
            </a:p>
          </p:txBody>
        </p:sp>
        <p:sp>
          <p:nvSpPr>
            <p:cNvPr id="30" name="TextBox 30"/>
            <p:cNvSpPr txBox="1"/>
            <p:nvPr/>
          </p:nvSpPr>
          <p:spPr>
            <a:xfrm>
              <a:off x="10172529" y="2540318"/>
              <a:ext cx="857593" cy="264033"/>
            </a:xfrm>
            <a:prstGeom prst="rect">
              <a:avLst/>
            </a:prstGeom>
            <a:noFill/>
            <a:ln>
              <a:noFill/>
            </a:ln>
          </p:spPr>
          <p:txBody>
            <a:bodyPr wrap="none" lIns="0" tIns="0" rIns="0" bIns="0" anchor="t" anchorCtr="0">
              <a:spAutoFit/>
            </a:bodyPr>
            <a:lstStyle/>
            <a:p>
              <a:pPr algn="ctr"/>
              <a:r>
                <a:rPr lang="en-US" sz="1350" dirty="0">
                  <a:solidFill>
                    <a:srgbClr val="FBF7EE"/>
                  </a:solidFill>
                  <a:latin typeface="+mn-lt"/>
                  <a:ea typeface="+mn-ea"/>
                  <a:cs typeface="+mn-cs"/>
                </a:rPr>
                <a:t>macro-F1</a:t>
              </a:r>
            </a:p>
          </p:txBody>
        </p:sp>
      </p:grpSp>
      <mc:AlternateContent xmlns:mc="http://schemas.openxmlformats.org/markup-compatibility/2006">
        <mc:Choice xmlns:a14="http://schemas.microsoft.com/office/drawing/2010/main" Requires="a14">
          <p:sp>
            <p:nvSpPr>
              <p:cNvPr id="32" name="formula"/>
              <p:cNvSpPr txBox="1">
                <a:spLocks noGrp="1"/>
              </p:cNvSpPr>
              <p:nvPr/>
            </p:nvSpPr>
            <p:spPr>
              <a:xfrm>
                <a:off x="609600" y="3333750"/>
                <a:ext cx="10972800" cy="7810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en-US" sz="2250" dirty="0">
                          <a:solidFill>
                            <a:srgbClr val="1C2D38"/>
                          </a:solidFill>
                          <a:latin typeface="Cambria Math"/>
                          <a:ea typeface="Cambria Math"/>
                          <a:cs typeface="Cambria Math"/>
                        </a:rPr>
                        <m:t>U</m:t>
                      </m:r>
                      <m:d>
                        <m:dPr>
                          <m:begChr m:val="("/>
                          <m:sepChr m:val=""/>
                          <m:endChr m:val=")"/>
                          <m:grow m:val="on"/>
                          <m:ctrlPr>
                            <a:rPr lang="en-US" sz="2250" dirty="0">
                              <a:solidFill>
                                <a:srgbClr val="1C2D38"/>
                              </a:solidFill>
                              <a:latin typeface="Cambria Math"/>
                              <a:ea typeface="Cambria Math"/>
                              <a:cs typeface="Cambria Math"/>
                            </a:rPr>
                          </m:ctrlPr>
                        </m:dPr>
                        <m:e>
                          <m:r>
                            <a:rPr lang="en-US" sz="2250" dirty="0">
                              <a:solidFill>
                                <a:srgbClr val="1C2D38"/>
                              </a:solidFill>
                              <a:latin typeface="Cambria Math"/>
                              <a:ea typeface="Cambria Math"/>
                              <a:cs typeface="Cambria Math"/>
                            </a:rPr>
                            <m:t>x</m:t>
                          </m:r>
                        </m:e>
                      </m:d>
                      <m:r>
                        <m:rPr>
                          <m:sty m:val="p"/>
                        </m:rPr>
                        <a:rPr lang="en-US" sz="2250" dirty="0">
                          <a:solidFill>
                            <a:srgbClr val="1C2D38"/>
                          </a:solidFill>
                          <a:latin typeface="Cambria Math"/>
                          <a:ea typeface="Cambria Math"/>
                          <a:cs typeface="Cambria Math"/>
                        </a:rPr>
                        <m:t>=</m:t>
                      </m:r>
                      <m:r>
                        <a:rPr lang="en-US" sz="2250" dirty="0">
                          <a:solidFill>
                            <a:srgbClr val="1C2D38"/>
                          </a:solidFill>
                          <a:latin typeface="Cambria Math"/>
                          <a:ea typeface="Cambria Math"/>
                          <a:cs typeface="Cambria Math"/>
                        </a:rPr>
                        <m:t>UD</m:t>
                      </m:r>
                      <m:d>
                        <m:dPr>
                          <m:begChr m:val="("/>
                          <m:sepChr m:val=""/>
                          <m:endChr m:val=")"/>
                          <m:grow m:val="on"/>
                          <m:ctrlPr>
                            <a:rPr lang="en-US" sz="2250" dirty="0">
                              <a:solidFill>
                                <a:srgbClr val="1C2D38"/>
                              </a:solidFill>
                              <a:latin typeface="Cambria Math"/>
                              <a:ea typeface="Cambria Math"/>
                              <a:cs typeface="Cambria Math"/>
                            </a:rPr>
                          </m:ctrlPr>
                        </m:dPr>
                        <m:e>
                          <m:r>
                            <a:rPr lang="en-US" sz="2250" dirty="0">
                              <a:solidFill>
                                <a:srgbClr val="1C2D38"/>
                              </a:solidFill>
                              <a:latin typeface="Cambria Math"/>
                              <a:ea typeface="Cambria Math"/>
                              <a:cs typeface="Cambria Math"/>
                            </a:rPr>
                            <m:t>x</m:t>
                          </m:r>
                        </m:e>
                      </m:d>
                      <m:r>
                        <a:rPr lang="en-US" sz="2250" dirty="0">
                          <a:solidFill>
                            <a:srgbClr val="1C2D38"/>
                          </a:solidFill>
                          <a:latin typeface="Cambria Math"/>
                          <a:ea typeface="Cambria Math"/>
                          <a:cs typeface="Cambria Math"/>
                        </a:rPr>
                        <m:t>U</m:t>
                      </m:r>
                      <m:r>
                        <m:rPr>
                          <m:sty m:val="p"/>
                        </m:rPr>
                        <a:rPr lang="en-US" sz="2250" dirty="0">
                          <a:solidFill>
                            <a:srgbClr val="1C2D38"/>
                          </a:solidFill>
                          <a:latin typeface="Cambria Math"/>
                          <a:ea typeface="Cambria Math"/>
                          <a:cs typeface="Cambria Math"/>
                        </a:rPr>
                        <m:t>,</m:t>
                      </m:r>
                      <m:r>
                        <a:rPr lang="en-US" sz="2250" dirty="0">
                          <a:solidFill>
                            <a:srgbClr val="1C2D38"/>
                          </a:solidFill>
                          <a:latin typeface="Cambria Math"/>
                          <a:ea typeface="Cambria Math"/>
                          <a:cs typeface="Cambria Math"/>
                        </a:rPr>
                        <m:t xml:space="preserve"> </m:t>
                      </m:r>
                      <m:sSub>
                        <m:e>
                          <m:r>
                            <a:rPr lang="en-US" sz="2250" dirty="0">
                              <a:solidFill>
                                <a:srgbClr val="1C2D38"/>
                              </a:solidFill>
                              <a:latin typeface="Cambria Math"/>
                              <a:ea typeface="Cambria Math"/>
                              <a:cs typeface="Cambria Math"/>
                            </a:rPr>
                            <m:t>ϕ</m:t>
                          </m:r>
                        </m:e>
                        <m:sub>
                          <m:r>
                            <a:rPr lang="en-US" sz="2250" dirty="0">
                              <a:solidFill>
                                <a:srgbClr val="1C2D38"/>
                              </a:solidFill>
                              <a:latin typeface="Cambria Math"/>
                              <a:ea typeface="Cambria Math"/>
                              <a:cs typeface="Cambria Math"/>
                            </a:rPr>
                            <m:t>Q</m:t>
                          </m:r>
                        </m:sub>
                      </m:sSub>
                      <m:d>
                        <m:dPr>
                          <m:begChr m:val="("/>
                          <m:sepChr m:val=""/>
                          <m:endChr m:val=")"/>
                          <m:grow m:val="on"/>
                          <m:ctrlPr>
                            <a:rPr lang="en-US" sz="2250" dirty="0">
                              <a:solidFill>
                                <a:srgbClr val="1C2D38"/>
                              </a:solidFill>
                              <a:latin typeface="Cambria Math"/>
                              <a:ea typeface="Cambria Math"/>
                              <a:cs typeface="Cambria Math"/>
                            </a:rPr>
                          </m:ctrlPr>
                        </m:dPr>
                        <m:e>
                          <m:r>
                            <a:rPr lang="en-US" sz="2250" dirty="0">
                              <a:solidFill>
                                <a:srgbClr val="1C2D38"/>
                              </a:solidFill>
                              <a:latin typeface="Cambria Math"/>
                              <a:ea typeface="Cambria Math"/>
                              <a:cs typeface="Cambria Math"/>
                            </a:rPr>
                            <m:t>x</m:t>
                          </m:r>
                        </m:e>
                      </m:d>
                      <m:r>
                        <m:rPr>
                          <m:sty m:val="p"/>
                        </m:rPr>
                        <a:rPr lang="en-US" sz="2250" dirty="0">
                          <a:solidFill>
                            <a:srgbClr val="1C2D38"/>
                          </a:solidFill>
                          <a:latin typeface="Cambria Math"/>
                          <a:ea typeface="Cambria Math"/>
                          <a:cs typeface="Cambria Math"/>
                        </a:rPr>
                        <m:t>=</m:t>
                      </m:r>
                      <m:func>
                        <m:funcPr/>
                        <m:fName>
                          <m:r>
                            <m:rPr>
                              <m:sty m:val="p"/>
                            </m:rPr>
                            <a:rPr lang="en-US" sz="2250" dirty="0">
                              <a:solidFill>
                                <a:srgbClr val="1C2D38"/>
                              </a:solidFill>
                              <a:latin typeface="Cambria Math"/>
                              <a:ea typeface="Cambria Math"/>
                              <a:cs typeface="Cambria Math"/>
                            </a:rPr>
                            <m:t>Normalize</m:t>
                          </m:r>
                        </m:fName>
                        <m:e>
                          <m:d>
                            <m:dPr>
                              <m:begChr m:val="("/>
                              <m:sepChr m:val=""/>
                              <m:endChr m:val=")"/>
                              <m:grow m:val="on"/>
                              <m:ctrlPr>
                                <a:rPr lang="en-US" sz="2250" dirty="0">
                                  <a:solidFill>
                                    <a:srgbClr val="1C2D38"/>
                                  </a:solidFill>
                                  <a:latin typeface="Cambria Math"/>
                                  <a:ea typeface="Cambria Math"/>
                                  <a:cs typeface="Cambria Math"/>
                                </a:rPr>
                              </m:ctrlPr>
                            </m:dPr>
                            <m:e>
                              <m:sSub>
                                <m:e>
                                  <m:d>
                                    <m:dPr>
                                      <m:begChr m:val="{"/>
                                      <m:sepChr m:val=""/>
                                      <m:endChr m:val="}"/>
                                      <m:grow m:val="on"/>
                                      <m:ctrlPr>
                                        <a:rPr lang="en-US" sz="2250" dirty="0">
                                          <a:solidFill>
                                            <a:srgbClr val="1C2D38"/>
                                          </a:solidFill>
                                          <a:latin typeface="Cambria Math"/>
                                          <a:ea typeface="Cambria Math"/>
                                          <a:cs typeface="Cambria Math"/>
                                        </a:rPr>
                                      </m:ctrlPr>
                                    </m:dPr>
                                    <m:e>
                                      <m:r>
                                        <a:rPr lang="en-US" sz="2250" dirty="0">
                                          <a:solidFill>
                                            <a:srgbClr val="1C2D38"/>
                                          </a:solidFill>
                                          <a:latin typeface="Cambria Math"/>
                                          <a:ea typeface="Cambria Math"/>
                                          <a:cs typeface="Cambria Math"/>
                                        </a:rPr>
                                        <m:t>P</m:t>
                                      </m:r>
                                      <m:d>
                                        <m:dPr>
                                          <m:begChr m:val="("/>
                                          <m:sepChr m:val=""/>
                                          <m:endChr m:val=")"/>
                                          <m:grow m:val="on"/>
                                          <m:ctrlPr>
                                            <a:rPr lang="en-US" sz="2250" dirty="0">
                                              <a:solidFill>
                                                <a:srgbClr val="1C2D38"/>
                                              </a:solidFill>
                                              <a:latin typeface="Cambria Math"/>
                                              <a:ea typeface="Cambria Math"/>
                                              <a:cs typeface="Cambria Math"/>
                                            </a:rPr>
                                          </m:ctrlPr>
                                        </m:dPr>
                                        <m:e>
                                          <m:r>
                                            <m:rPr>
                                              <m:sty m:val="b"/>
                                            </m:rPr>
                                            <a:rPr lang="en-US" sz="2250" dirty="0">
                                              <a:solidFill>
                                                <a:srgbClr val="1C2D38"/>
                                              </a:solidFill>
                                              <a:latin typeface="Cambria Math"/>
                                              <a:ea typeface="Cambria Math"/>
                                              <a:cs typeface="Cambria Math"/>
                                            </a:rPr>
                                            <m:t>n</m:t>
                                          </m:r>
                                          <m:r>
                                            <m:rPr>
                                              <m:sty m:val="p"/>
                                            </m:rPr>
                                            <a:rPr lang="en-US" sz="2250" dirty="0">
                                              <a:solidFill>
                                                <a:srgbClr val="1C2D38"/>
                                              </a:solidFill>
                                              <a:latin typeface="Cambria Math"/>
                                              <a:ea typeface="Cambria Math"/>
                                              <a:cs typeface="Cambria Math"/>
                                            </a:rPr>
                                            <m:t>∣</m:t>
                                          </m:r>
                                          <m:r>
                                            <a:rPr lang="en-US" sz="2250" dirty="0">
                                              <a:solidFill>
                                                <a:srgbClr val="1C2D38"/>
                                              </a:solidFill>
                                              <a:latin typeface="Cambria Math"/>
                                              <a:ea typeface="Cambria Math"/>
                                              <a:cs typeface="Cambria Math"/>
                                            </a:rPr>
                                            <m:t>x</m:t>
                                          </m:r>
                                        </m:e>
                                      </m:d>
                                    </m:e>
                                  </m:d>
                                </m:e>
                                <m:sub>
                                  <m:r>
                                    <m:rPr>
                                      <m:sty m:val="b"/>
                                    </m:rPr>
                                    <a:rPr lang="en-US" sz="2250" dirty="0">
                                      <a:solidFill>
                                        <a:srgbClr val="1C2D38"/>
                                      </a:solidFill>
                                      <a:latin typeface="Cambria Math"/>
                                      <a:ea typeface="Cambria Math"/>
                                      <a:cs typeface="Cambria Math"/>
                                    </a:rPr>
                                    <m:t>n</m:t>
                                  </m:r>
                                  <m:r>
                                    <m:rPr>
                                      <m:sty m:val="p"/>
                                    </m:rPr>
                                    <a:rPr lang="en-US" sz="2250" dirty="0">
                                      <a:solidFill>
                                        <a:srgbClr val="1C2D38"/>
                                      </a:solidFill>
                                      <a:latin typeface="Cambria Math"/>
                                      <a:ea typeface="Cambria Math"/>
                                      <a:cs typeface="Cambria Math"/>
                                    </a:rPr>
                                    <m:t>∈</m:t>
                                  </m:r>
                                  <m:r>
                                    <m:rPr>
                                      <m:scr m:val="script"/>
                                      <m:sty m:val="p"/>
                                    </m:rPr>
                                    <a:rPr lang="en-US" sz="2250" dirty="0">
                                      <a:solidFill>
                                        <a:srgbClr val="1C2D38"/>
                                      </a:solidFill>
                                      <a:latin typeface="Cambria Math"/>
                                      <a:ea typeface="Cambria Math"/>
                                      <a:cs typeface="Cambria Math"/>
                                    </a:rPr>
                                    <m:t>C</m:t>
                                  </m:r>
                                </m:sub>
                              </m:sSub>
                            </m:e>
                          </m:d>
                        </m:e>
                      </m:func>
                    </m:oMath>
                  </m:oMathPara>
                </a14:m>
              </a:p>
            </p:txBody>
          </p:sp>
        </mc:Choice>
      </mc:AlternateContent>
      <p:grpSp>
        <p:nvGrpSpPr>
          <p:cNvPr id="47" name="Group 47"/>
          <p:cNvGrpSpPr/>
          <p:nvPr/>
        </p:nvGrpSpPr>
        <p:grpSpPr>
          <a:xfrm>
            <a:off x="609600" y="4438650"/>
            <a:ext cx="10972800" cy="1428750"/>
            <a:chOff x="609600" y="4438650"/>
            <a:chExt cx="10972800" cy="1428750"/>
          </a:xfrm>
        </p:grpSpPr>
        <p:sp>
          <p:nvSpPr>
            <p:cNvPr id="33" name="Rectangle 33"/>
            <p:cNvSpPr/>
            <p:nvPr/>
          </p:nvSpPr>
          <p:spPr>
            <a:xfrm>
              <a:off x="609600" y="4438650"/>
              <a:ext cx="3352800" cy="1428750"/>
            </a:xfrm>
            <a:prstGeom prst="rect">
              <a:avLst/>
            </a:prstGeom>
            <a:solidFill>
              <a:schemeClr val="accent3"/>
            </a:solidFill>
            <a:ln>
              <a:noFill/>
            </a:ln>
          </p:spPr>
        </p:sp>
        <p:sp>
          <p:nvSpPr>
            <p:cNvPr id="34" name="TextBox 34"/>
            <p:cNvSpPr txBox="1"/>
            <p:nvPr/>
          </p:nvSpPr>
          <p:spPr>
            <a:xfrm>
              <a:off x="831342" y="4607242"/>
              <a:ext cx="2402975"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1 · PERCEVAL · QUANDELA</a:t>
              </a:r>
            </a:p>
          </p:txBody>
        </p:sp>
        <p:sp>
          <p:nvSpPr>
            <p:cNvPr id="35" name="TextBox 35"/>
            <p:cNvSpPr txBox="1"/>
            <p:nvPr/>
          </p:nvSpPr>
          <p:spPr>
            <a:xfrm>
              <a:off x="826770" y="4891088"/>
              <a:ext cx="328726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Simulation complete</a:t>
              </a:r>
            </a:p>
          </p:txBody>
        </p:sp>
        <p:sp>
          <p:nvSpPr>
            <p:cNvPr id="36" name="TextBox 36"/>
            <p:cNvSpPr txBox="1"/>
            <p:nvPr/>
          </p:nvSpPr>
          <p:spPr>
            <a:xfrm>
              <a:off x="831342" y="5321618"/>
              <a:ext cx="2067344" cy="264033"/>
            </a:xfrm>
            <a:prstGeom prst="rect">
              <a:avLst/>
            </a:prstGeom>
            <a:noFill/>
            <a:ln>
              <a:noFill/>
            </a:ln>
          </p:spPr>
          <p:txBody>
            <a:bodyPr wrap="none" lIns="0" tIns="0" rIns="0" bIns="0" anchor="t" anchorCtr="0">
              <a:spAutoFit/>
            </a:bodyPr>
            <a:lstStyle/>
            <a:p>
              <a:pPr algn="l"/>
              <a:r>
                <a:rPr lang="en-US" sz="1350" dirty="0">
                  <a:solidFill>
                    <a:srgbClr val="FBF7EE"/>
                  </a:solidFill>
                  <a:latin typeface="Consolas"/>
                  <a:ea typeface="Consolas"/>
                  <a:cs typeface="Consolas"/>
                </a:rPr>
                <a:t>max error 4.16 × 10⁻¹⁷</a:t>
              </a:r>
            </a:p>
          </p:txBody>
        </p:sp>
        <p:sp>
          <p:nvSpPr>
            <p:cNvPr id="37" name="Rectangle 37"/>
            <p:cNvSpPr/>
            <p:nvPr/>
          </p:nvSpPr>
          <p:spPr>
            <a:xfrm>
              <a:off x="4191000" y="4438650"/>
              <a:ext cx="3352800" cy="1428750"/>
            </a:xfrm>
            <a:prstGeom prst="rect">
              <a:avLst/>
            </a:prstGeom>
            <a:solidFill>
              <a:srgbClr val="7BA39A"/>
            </a:solidFill>
            <a:ln>
              <a:noFill/>
            </a:ln>
          </p:spPr>
        </p:sp>
        <p:sp>
          <p:nvSpPr>
            <p:cNvPr id="38" name="TextBox 38"/>
            <p:cNvSpPr txBox="1"/>
            <p:nvPr/>
          </p:nvSpPr>
          <p:spPr>
            <a:xfrm>
              <a:off x="4413123" y="4577239"/>
              <a:ext cx="255552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2 · SECOND IMPLEMENTATION</a:t>
              </a:r>
            </a:p>
          </p:txBody>
        </p:sp>
        <p:sp>
          <p:nvSpPr>
            <p:cNvPr id="39" name="TextBox 39"/>
            <p:cNvSpPr txBox="1"/>
            <p:nvPr/>
          </p:nvSpPr>
          <p:spPr>
            <a:xfrm>
              <a:off x="4409313" y="4839176"/>
              <a:ext cx="2994386" cy="396050"/>
            </a:xfrm>
            <a:prstGeom prst="rect">
              <a:avLst/>
            </a:prstGeom>
            <a:noFill/>
            <a:ln>
              <a:noFill/>
            </a:ln>
          </p:spPr>
          <p:txBody>
            <a:bodyPr wrap="none" lIns="0" tIns="0" rIns="0" bIns="0" anchor="t" anchorCtr="0">
              <a:spAutoFit/>
            </a:bodyPr>
            <a:lstStyle/>
            <a:p>
              <a:pPr algn="l"/>
              <a:r>
                <a:rPr lang="en-US" sz="2020" b="1" dirty="0">
                  <a:solidFill>
                    <a:schemeClr val="accent1"/>
                  </a:solidFill>
                  <a:latin typeface="+mj-lt"/>
                  <a:ea typeface="+mj-ea"/>
                  <a:cs typeface="+mj-cs"/>
                </a:rPr>
                <a:t>MerLin cross-check</a:t>
              </a:r>
            </a:p>
          </p:txBody>
        </p:sp>
        <p:sp>
          <p:nvSpPr>
            <p:cNvPr id="40" name="TextBox 40"/>
            <p:cNvSpPr txBox="1"/>
            <p:nvPr/>
          </p:nvSpPr>
          <p:spPr>
            <a:xfrm>
              <a:off x="4414266" y="5220652"/>
              <a:ext cx="1516136"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SEPARATE CODE PATH</a:t>
              </a:r>
            </a:p>
          </p:txBody>
        </p:sp>
        <p:sp>
          <p:nvSpPr>
            <p:cNvPr id="41" name="TextBox 41"/>
            <p:cNvSpPr txBox="1"/>
            <p:nvPr/>
          </p:nvSpPr>
          <p:spPr>
            <a:xfrm>
              <a:off x="4414266" y="5401628"/>
              <a:ext cx="1986595"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NOT EXTERNAL REPLICATION</a:t>
              </a:r>
            </a:p>
          </p:txBody>
        </p:sp>
        <p:sp>
          <p:nvSpPr>
            <p:cNvPr id="42" name="TextBox 42"/>
            <p:cNvSpPr txBox="1"/>
            <p:nvPr/>
          </p:nvSpPr>
          <p:spPr>
            <a:xfrm>
              <a:off x="4413885" y="5622131"/>
              <a:ext cx="1715181" cy="220028"/>
            </a:xfrm>
            <a:prstGeom prst="rect">
              <a:avLst/>
            </a:prstGeom>
            <a:noFill/>
            <a:ln>
              <a:noFill/>
            </a:ln>
          </p:spPr>
          <p:txBody>
            <a:bodyPr wrap="none" lIns="0" tIns="0" rIns="0" bIns="0" anchor="t" anchorCtr="0">
              <a:spAutoFit/>
            </a:bodyPr>
            <a:lstStyle/>
            <a:p>
              <a:pPr algn="l"/>
              <a:r>
                <a:rPr lang="en-US" sz="1120" dirty="0">
                  <a:solidFill>
                    <a:schemeClr val="accent1"/>
                  </a:solidFill>
                  <a:latin typeface="Consolas"/>
                  <a:ea typeface="Consolas"/>
                  <a:cs typeface="Consolas"/>
                </a:rPr>
                <a:t>max error 8.33 × 10⁻¹⁷</a:t>
              </a:r>
            </a:p>
          </p:txBody>
        </p:sp>
        <p:sp>
          <p:nvSpPr>
            <p:cNvPr id="43" name="Rectangle 43"/>
            <p:cNvSpPr/>
            <p:nvPr/>
          </p:nvSpPr>
          <p:spPr>
            <a:xfrm>
              <a:off x="7772400" y="4438650"/>
              <a:ext cx="3810000" cy="1428750"/>
            </a:xfrm>
            <a:prstGeom prst="rect">
              <a:avLst/>
            </a:prstGeom>
            <a:solidFill>
              <a:schemeClr val="lt2"/>
            </a:solidFill>
            <a:ln w="28575">
              <a:solidFill>
                <a:schemeClr val="accent2"/>
              </a:solidFill>
              <a:custDash>
                <a:ds d="333333" sp="233333"/>
              </a:custDash>
            </a:ln>
          </p:spPr>
        </p:sp>
        <p:sp>
          <p:nvSpPr>
            <p:cNvPr id="44" name="TextBox 44"/>
            <p:cNvSpPr txBox="1"/>
            <p:nvPr/>
          </p:nvSpPr>
          <p:spPr>
            <a:xfrm>
              <a:off x="7994142" y="4607242"/>
              <a:ext cx="2261837"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3 · REMOTE QPU SUBSET</a:t>
              </a:r>
            </a:p>
          </p:txBody>
        </p:sp>
        <p:sp>
          <p:nvSpPr>
            <p:cNvPr id="45" name="TextBox 45"/>
            <p:cNvSpPr txBox="1"/>
            <p:nvPr/>
          </p:nvSpPr>
          <p:spPr>
            <a:xfrm>
              <a:off x="7989570" y="4891088"/>
              <a:ext cx="3223960"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Proposed next gate</a:t>
              </a:r>
            </a:p>
          </p:txBody>
        </p:sp>
        <p:sp>
          <p:nvSpPr>
            <p:cNvPr id="46" name="TextBox 46"/>
            <p:cNvSpPr txBox="1"/>
            <p:nvPr/>
          </p:nvSpPr>
          <p:spPr>
            <a:xfrm>
              <a:off x="7994142" y="5321618"/>
              <a:ext cx="1727530"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NOT YET EXECUTED</a:t>
              </a:r>
            </a:p>
          </p:txBody>
        </p:sp>
      </p:grpSp>
      <p:grpSp>
        <p:nvGrpSpPr>
          <p:cNvPr id="49" name="Group 49"/>
          <p:cNvGrpSpPr/>
          <p:nvPr/>
        </p:nvGrpSpPr>
        <p:grpSpPr>
          <a:xfrm>
            <a:off x="603885" y="6069806"/>
            <a:ext cx="7193934" cy="220028"/>
            <a:chOff x="603885" y="6069806"/>
            <a:chExt cx="7193934" cy="220028"/>
          </a:xfrm>
        </p:grpSpPr>
        <p:sp>
          <p:nvSpPr>
            <p:cNvPr id="48" name="TextBox 48"/>
            <p:cNvSpPr txBox="1"/>
            <p:nvPr/>
          </p:nvSpPr>
          <p:spPr>
            <a:xfrm>
              <a:off x="603885" y="6069806"/>
              <a:ext cx="7193934" cy="220028"/>
            </a:xfrm>
            <a:prstGeom prst="rect">
              <a:avLst/>
            </a:prstGeom>
            <a:noFill/>
            <a:ln>
              <a:noFill/>
            </a:ln>
          </p:spPr>
          <p:txBody>
            <a:bodyPr wrap="none" lIns="0" tIns="0" rIns="0" bIns="0" anchor="t" anchorCtr="0">
              <a:spAutoFit/>
            </a:bodyPr>
            <a:lstStyle/>
            <a:p>
              <a:pPr algn="l"/>
              <a:r>
                <a:rPr lang="en-US" sz="1120" dirty="0">
                  <a:solidFill>
                    <a:srgbClr val="766E62"/>
                  </a:solidFill>
                  <a:latin typeface="+mn-lt"/>
                  <a:ea typeface="+mn-ea"/>
                  <a:cs typeface="+mn-cs"/>
                </a:rPr>
                <a:t>Official docs: perceval.quandela.net/docs/v1.2 · merlinquantum.ai/0.4 · local verification.json</a:t>
              </a:r>
            </a:p>
          </p:txBody>
        </p:sp>
      </p:grpSp>
      <p:grpSp>
        <p:nvGrpSpPr>
          <p:cNvPr id="51" name="Group 51"/>
          <p:cNvGrpSpPr/>
          <p:nvPr/>
        </p:nvGrpSpPr>
        <p:grpSpPr>
          <a:xfrm>
            <a:off x="10966723" y="6426518"/>
            <a:ext cx="622535" cy="264033"/>
            <a:chOff x="10966723" y="6426518"/>
            <a:chExt cx="622535" cy="264033"/>
          </a:xfrm>
        </p:grpSpPr>
        <p:sp>
          <p:nvSpPr>
            <p:cNvPr id="50" name="TextBox 50"/>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03 / 10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10877861" cy="913447"/>
            <a:chOff x="594360" y="482918"/>
            <a:chExt cx="10877861" cy="913447"/>
          </a:xfrm>
        </p:grpSpPr>
        <p:sp>
          <p:nvSpPr>
            <p:cNvPr id="3" name="TextBox 3"/>
            <p:cNvSpPr txBox="1"/>
            <p:nvPr/>
          </p:nvSpPr>
          <p:spPr>
            <a:xfrm>
              <a:off x="602742" y="482918"/>
              <a:ext cx="4850107"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FEASIBILITY QUESTION · PREDEFINED DECISION</a:t>
              </a:r>
            </a:p>
          </p:txBody>
        </p:sp>
        <p:sp>
          <p:nvSpPr>
            <p:cNvPr id="4" name="TextBox 4"/>
            <p:cNvSpPr txBox="1"/>
            <p:nvPr/>
          </p:nvSpPr>
          <p:spPr>
            <a:xfrm>
              <a:off x="594360" y="809625"/>
              <a:ext cx="1087786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feasibility question is deliberately falsifiable</a:t>
              </a:r>
            </a:p>
          </p:txBody>
        </p:sp>
      </p:grpSp>
      <p:grpSp>
        <p:nvGrpSpPr>
          <p:cNvPr id="9" name="Group 9"/>
          <p:cNvGrpSpPr/>
          <p:nvPr/>
        </p:nvGrpSpPr>
        <p:grpSpPr>
          <a:xfrm>
            <a:off x="609600" y="1466850"/>
            <a:ext cx="10972800" cy="1101376"/>
            <a:chOff x="609600" y="1466850"/>
            <a:chExt cx="10972800" cy="1101376"/>
          </a:xfrm>
        </p:grpSpPr>
        <p:sp>
          <p:nvSpPr>
            <p:cNvPr id="6" name="Rectangle 6"/>
            <p:cNvSpPr/>
            <p:nvPr/>
          </p:nvSpPr>
          <p:spPr>
            <a:xfrm>
              <a:off x="609600" y="1466850"/>
              <a:ext cx="10972800" cy="1028700"/>
            </a:xfrm>
            <a:prstGeom prst="rect">
              <a:avLst/>
            </a:prstGeom>
            <a:solidFill>
              <a:schemeClr val="accent1"/>
            </a:solidFill>
            <a:ln>
              <a:noFill/>
            </a:ln>
          </p:spPr>
        </p:sp>
        <p:sp>
          <p:nvSpPr>
            <p:cNvPr id="7" name="TextBox 7"/>
            <p:cNvSpPr txBox="1"/>
            <p:nvPr/>
          </p:nvSpPr>
          <p:spPr>
            <a:xfrm>
              <a:off x="831723" y="1624489"/>
              <a:ext cx="2230532" cy="249364"/>
            </a:xfrm>
            <a:prstGeom prst="rect">
              <a:avLst/>
            </a:prstGeom>
            <a:noFill/>
            <a:ln>
              <a:noFill/>
            </a:ln>
          </p:spPr>
          <p:txBody>
            <a:bodyPr wrap="none" lIns="0" tIns="0" rIns="0" bIns="0" anchor="t" anchorCtr="0">
              <a:spAutoFit/>
            </a:bodyPr>
            <a:lstStyle/>
            <a:p>
              <a:pPr algn="l"/>
              <a:r>
                <a:rPr lang="en-US" sz="1280" b="1" dirty="0">
                  <a:solidFill>
                    <a:srgbClr val="B9D0C7"/>
                  </a:solidFill>
                  <a:latin typeface="+mn-lt"/>
                  <a:ea typeface="+mn-ea"/>
                  <a:cs typeface="+mn-cs"/>
                </a:rPr>
                <a:t>AT THE SAME PCA-5 INPUT</a:t>
              </a:r>
            </a:p>
          </p:txBody>
        </p:sp>
        <p:sp>
          <p:nvSpPr>
            <p:cNvPr id="8" name="TextBox 8"/>
            <p:cNvSpPr txBox="1"/>
            <p:nvPr/>
          </p:nvSpPr>
          <p:spPr>
            <a:xfrm>
              <a:off x="827913" y="1867376"/>
              <a:ext cx="8047711" cy="700850"/>
            </a:xfrm>
            <a:prstGeom prst="rect">
              <a:avLst/>
            </a:prstGeom>
            <a:noFill/>
            <a:ln>
              <a:noFill/>
            </a:ln>
          </p:spPr>
          <p:txBody>
            <a:bodyPr wrap="none" lIns="0" tIns="0" rIns="0" bIns="0" anchor="t" anchorCtr="0">
              <a:spAutoFit/>
            </a:bodyPr>
            <a:lstStyle/>
            <a:p>
              <a:pPr algn="l">
                <a:lnSpc>
                  <a:spcPts val="2400"/>
                </a:lnSpc>
              </a:pPr>
              <a:r>
                <a:rPr lang="en-US" sz="2020" b="1" dirty="0">
                  <a:solidFill>
                    <a:srgbClr val="FFFFFF"/>
                  </a:solidFill>
                  <a:latin typeface="+mj-lt"/>
                  <a:ea typeface="+mj-ea"/>
                  <a:cs typeface="+mj-cs"/>
                </a:rPr>
                <a:t>Can Q1’s 15-D photonic features beat matched 15-D controls</a:t>
              </a:r>
              <a:br/>
              <a:r>
                <a:rPr lang="en-US" sz="2020" b="1" dirty="0">
                  <a:solidFill>
                    <a:srgbClr val="FFFFFF"/>
                  </a:solidFill>
                  <a:latin typeface="+mj-lt"/>
                  <a:ea typeface="+mj-ea"/>
                  <a:cs typeface="+mj-cs"/>
                </a:rPr>
                <a:t>and approach PCA-5 RBF-SVM?</a:t>
              </a:r>
            </a:p>
          </p:txBody>
        </p:sp>
      </p:grpSp>
      <p:grpSp>
        <p:nvGrpSpPr>
          <p:cNvPr id="17" name="Group 17"/>
          <p:cNvGrpSpPr/>
          <p:nvPr/>
        </p:nvGrpSpPr>
        <p:grpSpPr>
          <a:xfrm>
            <a:off x="609600" y="2647950"/>
            <a:ext cx="3052886" cy="2971800"/>
            <a:chOff x="609600" y="2647950"/>
            <a:chExt cx="3052886" cy="2971800"/>
          </a:xfrm>
        </p:grpSpPr>
        <p:sp>
          <p:nvSpPr>
            <p:cNvPr id="10" name="Rectangle 10"/>
            <p:cNvSpPr/>
            <p:nvPr/>
          </p:nvSpPr>
          <p:spPr>
            <a:xfrm>
              <a:off x="609600" y="2647950"/>
              <a:ext cx="3048000" cy="2971800"/>
            </a:xfrm>
            <a:prstGeom prst="rect">
              <a:avLst/>
            </a:prstGeom>
            <a:solidFill>
              <a:schemeClr val="lt2"/>
            </a:solidFill>
            <a:ln>
              <a:noFill/>
            </a:ln>
          </p:spPr>
        </p:sp>
        <p:sp>
          <p:nvSpPr>
            <p:cNvPr id="11" name="TextBox 11"/>
            <p:cNvSpPr txBox="1"/>
            <p:nvPr/>
          </p:nvSpPr>
          <p:spPr>
            <a:xfrm>
              <a:off x="831342" y="2845118"/>
              <a:ext cx="1697286"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PAIRED PROTOCOL</a:t>
              </a:r>
            </a:p>
          </p:txBody>
        </p:sp>
        <p:sp>
          <p:nvSpPr>
            <p:cNvPr id="12" name="TextBox 12"/>
            <p:cNvSpPr txBox="1"/>
            <p:nvPr/>
          </p:nvSpPr>
          <p:spPr>
            <a:xfrm>
              <a:off x="826770" y="3148012"/>
              <a:ext cx="1803883"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Consolas"/>
                  <a:ea typeface="Consolas"/>
                  <a:cs typeface="Consolas"/>
                </a:rPr>
                <a:t>12 · 24 · 48</a:t>
              </a:r>
            </a:p>
          </p:txBody>
        </p:sp>
        <p:sp>
          <p:nvSpPr>
            <p:cNvPr id="13" name="TextBox 13"/>
            <p:cNvSpPr txBox="1"/>
            <p:nvPr/>
          </p:nvSpPr>
          <p:spPr>
            <a:xfrm>
              <a:off x="831342" y="3521392"/>
              <a:ext cx="138583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labels per class</a:t>
              </a:r>
            </a:p>
          </p:txBody>
        </p:sp>
        <p:sp>
          <p:nvSpPr>
            <p:cNvPr id="14" name="Line 14"/>
            <p:cNvSpPr/>
            <p:nvPr/>
          </p:nvSpPr>
          <p:spPr>
            <a:xfrm>
              <a:off x="838200" y="3886200"/>
              <a:ext cx="2590800" cy="9525"/>
            </a:xfrm>
            <a:custGeom>
              <a:avLst/>
              <a:gdLst/>
              <a:ahLst/>
              <a:cxnLst/>
              <a:rect l="l" t="t" r="r" b="b"/>
              <a:pathLst>
                <a:path w="2590800" h="9525">
                  <a:moveTo>
                    <a:pt x="0" y="0"/>
                  </a:moveTo>
                  <a:lnTo>
                    <a:pt x="2590800" y="0"/>
                  </a:lnTo>
                </a:path>
              </a:pathLst>
            </a:custGeom>
            <a:noFill/>
            <a:ln w="19050">
              <a:solidFill>
                <a:srgbClr val="C9BDA8"/>
              </a:solidFill>
            </a:ln>
          </p:spPr>
        </p:sp>
        <p:sp>
          <p:nvSpPr>
            <p:cNvPr id="15" name="TextBox 15"/>
            <p:cNvSpPr txBox="1"/>
            <p:nvPr/>
          </p:nvSpPr>
          <p:spPr>
            <a:xfrm>
              <a:off x="831723" y="4034314"/>
              <a:ext cx="2036826" cy="1316164"/>
            </a:xfrm>
            <a:prstGeom prst="rect">
              <a:avLst/>
            </a:prstGeom>
            <a:noFill/>
            <a:ln>
              <a:noFill/>
            </a:ln>
          </p:spPr>
          <p:txBody>
            <a:bodyPr wrap="none" lIns="0" tIns="0" rIns="0" bIns="0" anchor="t" anchorCtr="0">
              <a:spAutoFit/>
            </a:bodyPr>
            <a:lstStyle/>
            <a:p>
              <a:pPr algn="l">
                <a:lnSpc>
                  <a:spcPts val="2100"/>
                </a:lnSpc>
              </a:pPr>
              <a:r>
                <a:rPr lang="en-US" sz="1280" dirty="0">
                  <a:solidFill>
                    <a:schemeClr val="dk1"/>
                  </a:solidFill>
                  <a:latin typeface="+mn-lt"/>
                  <a:ea typeface="+mn-ea"/>
                  <a:cs typeface="+mn-cs"/>
                </a:rPr>
                <a:t>Subset seeds 11 · 22 · 33</a:t>
              </a:r>
              <a:br/>
              <a:r>
                <a:rPr lang="en-US" sz="1280" dirty="0">
                  <a:solidFill>
                    <a:schemeClr val="dk1"/>
                  </a:solidFill>
                  <a:latin typeface="+mn-lt"/>
                  <a:ea typeface="+mn-ea"/>
                  <a:cs typeface="+mn-cs"/>
                </a:rPr>
                <a:t>Map seeds 101 · 202 · 303</a:t>
              </a:r>
              <a:br/>
              <a:r>
                <a:rPr lang="en-US" sz="1280" dirty="0">
                  <a:solidFill>
                    <a:schemeClr val="dk1"/>
                  </a:solidFill>
                  <a:latin typeface="+mn-lt"/>
                  <a:ea typeface="+mn-ea"/>
                  <a:cs typeface="+mn-cs"/>
                </a:rPr>
                <a:t>Validation macro-F1 only</a:t>
              </a:r>
              <a:br/>
              <a:r>
                <a:rPr lang="en-US" sz="1280" dirty="0">
                  <a:solidFill>
                    <a:schemeClr val="dk1"/>
                  </a:solidFill>
                  <a:latin typeface="+mn-lt"/>
                  <a:ea typeface="+mn-ea"/>
                  <a:cs typeface="+mn-cs"/>
                </a:rPr>
                <a:t>One test evaluation per</a:t>
              </a:r>
              <a:br/>
              <a:r>
                <a:rPr lang="en-US" sz="1280" dirty="0">
                  <a:solidFill>
                    <a:schemeClr val="dk1"/>
                  </a:solidFill>
                  <a:latin typeface="+mn-lt"/>
                  <a:ea typeface="+mn-ea"/>
                  <a:cs typeface="+mn-cs"/>
                </a:rPr>
                <a:t>selected fitted pipeline</a:t>
              </a:r>
            </a:p>
          </p:txBody>
        </p:sp>
        <p:sp>
          <p:nvSpPr>
            <p:cNvPr id="16" name="TextBox 16"/>
            <p:cNvSpPr txBox="1"/>
            <p:nvPr/>
          </p:nvSpPr>
          <p:spPr>
            <a:xfrm>
              <a:off x="832485" y="5384006"/>
              <a:ext cx="2830001"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MAP SEEDS AVERAGED · NEVER PICKED</a:t>
              </a:r>
            </a:p>
          </p:txBody>
        </p:sp>
      </p:grpSp>
      <p:grpSp>
        <p:nvGrpSpPr>
          <p:cNvPr id="33" name="Group 33"/>
          <p:cNvGrpSpPr/>
          <p:nvPr/>
        </p:nvGrpSpPr>
        <p:grpSpPr>
          <a:xfrm>
            <a:off x="3880485" y="2802731"/>
            <a:ext cx="3358515" cy="2817019"/>
            <a:chOff x="3880485" y="2802731"/>
            <a:chExt cx="3358515" cy="2817019"/>
          </a:xfrm>
        </p:grpSpPr>
        <p:sp>
          <p:nvSpPr>
            <p:cNvPr id="18" name="TextBox 18"/>
            <p:cNvSpPr txBox="1"/>
            <p:nvPr/>
          </p:nvSpPr>
          <p:spPr>
            <a:xfrm>
              <a:off x="3880485" y="2802731"/>
              <a:ext cx="2938729"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7 FAMILIES · EQUAL-WIDTH SCHEMATIC</a:t>
              </a:r>
            </a:p>
          </p:txBody>
        </p:sp>
        <p:sp>
          <p:nvSpPr>
            <p:cNvPr id="19" name="Rectangle 19"/>
            <p:cNvSpPr/>
            <p:nvPr/>
          </p:nvSpPr>
          <p:spPr>
            <a:xfrm>
              <a:off x="3886200" y="3086100"/>
              <a:ext cx="3352800" cy="323850"/>
            </a:xfrm>
            <a:prstGeom prst="rect">
              <a:avLst/>
            </a:prstGeom>
            <a:solidFill>
              <a:schemeClr val="accent1"/>
            </a:solidFill>
            <a:ln>
              <a:noFill/>
            </a:ln>
          </p:spPr>
        </p:sp>
        <p:sp>
          <p:nvSpPr>
            <p:cNvPr id="20" name="TextBox 20"/>
            <p:cNvSpPr txBox="1"/>
            <p:nvPr/>
          </p:nvSpPr>
          <p:spPr>
            <a:xfrm>
              <a:off x="4032123" y="3177064"/>
              <a:ext cx="1733694"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B1 Full CLIP + linear</a:t>
              </a:r>
            </a:p>
          </p:txBody>
        </p:sp>
        <p:sp>
          <p:nvSpPr>
            <p:cNvPr id="21" name="Rectangle 21"/>
            <p:cNvSpPr/>
            <p:nvPr/>
          </p:nvSpPr>
          <p:spPr>
            <a:xfrm>
              <a:off x="3886200" y="3448050"/>
              <a:ext cx="3352800" cy="323850"/>
            </a:xfrm>
            <a:prstGeom prst="rect">
              <a:avLst/>
            </a:prstGeom>
            <a:solidFill>
              <a:srgbClr val="314552"/>
            </a:solidFill>
            <a:ln>
              <a:noFill/>
            </a:ln>
          </p:spPr>
        </p:sp>
        <p:sp>
          <p:nvSpPr>
            <p:cNvPr id="22" name="TextBox 22"/>
            <p:cNvSpPr txBox="1"/>
            <p:nvPr/>
          </p:nvSpPr>
          <p:spPr>
            <a:xfrm>
              <a:off x="4032123" y="3539014"/>
              <a:ext cx="1913183"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B2 Full CLIP + RBF-SVM</a:t>
              </a:r>
            </a:p>
          </p:txBody>
        </p:sp>
        <p:sp>
          <p:nvSpPr>
            <p:cNvPr id="23" name="Rectangle 23"/>
            <p:cNvSpPr/>
            <p:nvPr/>
          </p:nvSpPr>
          <p:spPr>
            <a:xfrm>
              <a:off x="3886200" y="3810000"/>
              <a:ext cx="3352800" cy="323850"/>
            </a:xfrm>
            <a:prstGeom prst="rect">
              <a:avLst/>
            </a:prstGeom>
            <a:solidFill>
              <a:schemeClr val="lt2"/>
            </a:solidFill>
            <a:ln w="9525">
              <a:solidFill>
                <a:srgbClr val="C9BDA8"/>
              </a:solidFill>
            </a:ln>
          </p:spPr>
        </p:sp>
        <p:sp>
          <p:nvSpPr>
            <p:cNvPr id="24" name="TextBox 24"/>
            <p:cNvSpPr txBox="1"/>
            <p:nvPr/>
          </p:nvSpPr>
          <p:spPr>
            <a:xfrm>
              <a:off x="4032123" y="3900964"/>
              <a:ext cx="144029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B3 PCA-5 + linear</a:t>
              </a:r>
            </a:p>
          </p:txBody>
        </p:sp>
        <p:sp>
          <p:nvSpPr>
            <p:cNvPr id="25" name="Rectangle 25"/>
            <p:cNvSpPr/>
            <p:nvPr/>
          </p:nvSpPr>
          <p:spPr>
            <a:xfrm>
              <a:off x="3886200" y="4171950"/>
              <a:ext cx="3352800" cy="323850"/>
            </a:xfrm>
            <a:prstGeom prst="rect">
              <a:avLst/>
            </a:prstGeom>
            <a:solidFill>
              <a:srgbClr val="E2D7C4"/>
            </a:solidFill>
            <a:ln>
              <a:noFill/>
            </a:ln>
          </p:spPr>
        </p:sp>
        <p:sp>
          <p:nvSpPr>
            <p:cNvPr id="26" name="TextBox 26"/>
            <p:cNvSpPr txBox="1"/>
            <p:nvPr/>
          </p:nvSpPr>
          <p:spPr>
            <a:xfrm>
              <a:off x="4032123" y="4262914"/>
              <a:ext cx="17152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B4 PCA-5 + RBF-SVM</a:t>
              </a:r>
            </a:p>
          </p:txBody>
        </p:sp>
        <p:sp>
          <p:nvSpPr>
            <p:cNvPr id="27" name="Rectangle 27"/>
            <p:cNvSpPr/>
            <p:nvPr/>
          </p:nvSpPr>
          <p:spPr>
            <a:xfrm>
              <a:off x="3886200" y="4533900"/>
              <a:ext cx="3352800" cy="323850"/>
            </a:xfrm>
            <a:prstGeom prst="rect">
              <a:avLst/>
            </a:prstGeom>
            <a:solidFill>
              <a:srgbClr val="D6C9B2"/>
            </a:solidFill>
            <a:ln>
              <a:noFill/>
            </a:ln>
          </p:spPr>
        </p:sp>
        <p:sp>
          <p:nvSpPr>
            <p:cNvPr id="28" name="TextBox 28"/>
            <p:cNvSpPr txBox="1"/>
            <p:nvPr/>
          </p:nvSpPr>
          <p:spPr>
            <a:xfrm>
              <a:off x="4032123" y="4624864"/>
              <a:ext cx="86867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B5 RFF-15</a:t>
              </a:r>
            </a:p>
          </p:txBody>
        </p:sp>
        <p:sp>
          <p:nvSpPr>
            <p:cNvPr id="29" name="Rectangle 29"/>
            <p:cNvSpPr/>
            <p:nvPr/>
          </p:nvSpPr>
          <p:spPr>
            <a:xfrm>
              <a:off x="3886200" y="4895850"/>
              <a:ext cx="3352800" cy="323850"/>
            </a:xfrm>
            <a:prstGeom prst="rect">
              <a:avLst/>
            </a:prstGeom>
            <a:solidFill>
              <a:srgbClr val="B9D0C7"/>
            </a:solidFill>
            <a:ln>
              <a:noFill/>
            </a:ln>
          </p:spPr>
        </p:sp>
        <p:sp>
          <p:nvSpPr>
            <p:cNvPr id="30" name="TextBox 30"/>
            <p:cNvSpPr txBox="1"/>
            <p:nvPr/>
          </p:nvSpPr>
          <p:spPr>
            <a:xfrm>
              <a:off x="4032123" y="4986814"/>
              <a:ext cx="905083" cy="249364"/>
            </a:xfrm>
            <a:prstGeom prst="rect">
              <a:avLst/>
            </a:prstGeom>
            <a:noFill/>
            <a:ln>
              <a:noFill/>
            </a:ln>
          </p:spPr>
          <p:txBody>
            <a:bodyPr wrap="none" lIns="0" tIns="0" rIns="0" bIns="0" anchor="t" anchorCtr="0">
              <a:spAutoFit/>
            </a:bodyPr>
            <a:lstStyle/>
            <a:p>
              <a:pPr algn="l"/>
              <a:r>
                <a:rPr lang="en-US" sz="1280" dirty="0">
                  <a:solidFill>
                    <a:schemeClr val="accent1"/>
                  </a:solidFill>
                  <a:latin typeface="+mn-lt"/>
                  <a:ea typeface="+mn-ea"/>
                  <a:cs typeface="+mn-cs"/>
                </a:rPr>
                <a:t>B6 ELM-15</a:t>
              </a:r>
            </a:p>
          </p:txBody>
        </p:sp>
        <p:sp>
          <p:nvSpPr>
            <p:cNvPr id="31" name="Rectangle 31"/>
            <p:cNvSpPr/>
            <p:nvPr/>
          </p:nvSpPr>
          <p:spPr>
            <a:xfrm>
              <a:off x="3886200" y="5257800"/>
              <a:ext cx="3352800" cy="361950"/>
            </a:xfrm>
            <a:prstGeom prst="rect">
              <a:avLst/>
            </a:prstGeom>
            <a:solidFill>
              <a:schemeClr val="accent5"/>
            </a:solidFill>
            <a:ln>
              <a:noFill/>
            </a:ln>
          </p:spPr>
        </p:sp>
        <p:sp>
          <p:nvSpPr>
            <p:cNvPr id="32" name="TextBox 32"/>
            <p:cNvSpPr txBox="1"/>
            <p:nvPr/>
          </p:nvSpPr>
          <p:spPr>
            <a:xfrm>
              <a:off x="4032123" y="5367814"/>
              <a:ext cx="1368672"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Q1 Photonic-15</a:t>
              </a:r>
            </a:p>
          </p:txBody>
        </p:sp>
      </p:grpSp>
      <p:grpSp>
        <p:nvGrpSpPr>
          <p:cNvPr id="46" name="Group 46"/>
          <p:cNvGrpSpPr/>
          <p:nvPr/>
        </p:nvGrpSpPr>
        <p:grpSpPr>
          <a:xfrm>
            <a:off x="7467600" y="2647950"/>
            <a:ext cx="4114800" cy="2975134"/>
            <a:chOff x="7467600" y="2647950"/>
            <a:chExt cx="4114800" cy="2975134"/>
          </a:xfrm>
        </p:grpSpPr>
        <p:sp>
          <p:nvSpPr>
            <p:cNvPr id="34" name="Rectangle 34"/>
            <p:cNvSpPr/>
            <p:nvPr/>
          </p:nvSpPr>
          <p:spPr>
            <a:xfrm>
              <a:off x="7467600" y="2647950"/>
              <a:ext cx="4114800" cy="990600"/>
            </a:xfrm>
            <a:prstGeom prst="rect">
              <a:avLst/>
            </a:prstGeom>
            <a:solidFill>
              <a:schemeClr val="accent3"/>
            </a:solidFill>
            <a:ln>
              <a:noFill/>
            </a:ln>
          </p:spPr>
        </p:sp>
        <p:sp>
          <p:nvSpPr>
            <p:cNvPr id="35" name="TextBox 35"/>
            <p:cNvSpPr txBox="1"/>
            <p:nvPr/>
          </p:nvSpPr>
          <p:spPr>
            <a:xfrm>
              <a:off x="7689723" y="2805589"/>
              <a:ext cx="2297442" cy="249364"/>
            </a:xfrm>
            <a:prstGeom prst="rect">
              <a:avLst/>
            </a:prstGeom>
            <a:noFill/>
            <a:ln>
              <a:noFill/>
            </a:ln>
          </p:spPr>
          <p:txBody>
            <a:bodyPr wrap="none" lIns="0" tIns="0" rIns="0" bIns="0" anchor="t" anchorCtr="0">
              <a:spAutoFit/>
            </a:bodyPr>
            <a:lstStyle/>
            <a:p>
              <a:pPr algn="l"/>
              <a:r>
                <a:rPr lang="en-US" sz="1280" b="1" dirty="0">
                  <a:solidFill>
                    <a:srgbClr val="FBF7EE"/>
                  </a:solidFill>
                  <a:latin typeface="+mn-lt"/>
                  <a:ea typeface="+mn-ea"/>
                  <a:cs typeface="+mn-cs"/>
                </a:rPr>
                <a:t>PASS A · ACCURACY PARITY</a:t>
              </a:r>
            </a:p>
          </p:txBody>
        </p:sp>
        <p:sp>
          <p:nvSpPr>
            <p:cNvPr id="36" name="TextBox 36"/>
            <p:cNvSpPr txBox="1"/>
            <p:nvPr/>
          </p:nvSpPr>
          <p:spPr>
            <a:xfrm>
              <a:off x="7687437" y="3080861"/>
              <a:ext cx="3199236"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j-lt"/>
                  <a:ea typeface="+mj-ea"/>
                  <a:cs typeface="+mj-cs"/>
                </a:rPr>
                <a:t>Q1@48 ≥ B4@48 − 0.02</a:t>
              </a:r>
            </a:p>
          </p:txBody>
        </p:sp>
        <p:sp>
          <p:nvSpPr>
            <p:cNvPr id="37" name="TextBox 37"/>
            <p:cNvSpPr txBox="1"/>
            <p:nvPr/>
          </p:nvSpPr>
          <p:spPr>
            <a:xfrm>
              <a:off x="7689723" y="3377089"/>
              <a:ext cx="2373650" cy="249364"/>
            </a:xfrm>
            <a:prstGeom prst="rect">
              <a:avLst/>
            </a:prstGeom>
            <a:noFill/>
            <a:ln>
              <a:noFill/>
            </a:ln>
          </p:spPr>
          <p:txBody>
            <a:bodyPr wrap="none" lIns="0" tIns="0" rIns="0" bIns="0" anchor="t" anchorCtr="0">
              <a:spAutoFit/>
            </a:bodyPr>
            <a:lstStyle/>
            <a:p>
              <a:pPr algn="l"/>
              <a:r>
                <a:rPr lang="en-US" sz="1280" dirty="0">
                  <a:solidFill>
                    <a:srgbClr val="FBF7EE"/>
                  </a:solidFill>
                  <a:latin typeface="+mn-lt"/>
                  <a:ea typeface="+mn-ea"/>
                  <a:cs typeface="+mn-cs"/>
                </a:rPr>
                <a:t>on at least 4 / 5 outer folds</a:t>
              </a:r>
            </a:p>
          </p:txBody>
        </p:sp>
        <p:sp>
          <p:nvSpPr>
            <p:cNvPr id="38" name="Rectangle 38"/>
            <p:cNvSpPr/>
            <p:nvPr/>
          </p:nvSpPr>
          <p:spPr>
            <a:xfrm>
              <a:off x="7467600" y="3752850"/>
              <a:ext cx="4114800" cy="1200150"/>
            </a:xfrm>
            <a:prstGeom prst="rect">
              <a:avLst/>
            </a:prstGeom>
            <a:solidFill>
              <a:schemeClr val="accent1"/>
            </a:solidFill>
            <a:ln>
              <a:noFill/>
            </a:ln>
          </p:spPr>
        </p:sp>
        <p:sp>
          <p:nvSpPr>
            <p:cNvPr id="39" name="TextBox 39"/>
            <p:cNvSpPr txBox="1"/>
            <p:nvPr/>
          </p:nvSpPr>
          <p:spPr>
            <a:xfrm>
              <a:off x="7689723" y="3910489"/>
              <a:ext cx="2622432" cy="249364"/>
            </a:xfrm>
            <a:prstGeom prst="rect">
              <a:avLst/>
            </a:prstGeom>
            <a:noFill/>
            <a:ln>
              <a:noFill/>
            </a:ln>
          </p:spPr>
          <p:txBody>
            <a:bodyPr wrap="none" lIns="0" tIns="0" rIns="0" bIns="0" anchor="t" anchorCtr="0">
              <a:spAutoFit/>
            </a:bodyPr>
            <a:lstStyle/>
            <a:p>
              <a:pPr algn="l"/>
              <a:r>
                <a:rPr lang="en-US" sz="1280" b="1" dirty="0">
                  <a:solidFill>
                    <a:srgbClr val="B9D0C7"/>
                  </a:solidFill>
                  <a:latin typeface="+mn-lt"/>
                  <a:ea typeface="+mn-ea"/>
                  <a:cs typeface="+mn-cs"/>
                </a:rPr>
                <a:t>PASS B · 2× LABEL EFFICIENCY</a:t>
              </a:r>
            </a:p>
          </p:txBody>
        </p:sp>
        <p:sp>
          <p:nvSpPr>
            <p:cNvPr id="40" name="TextBox 40"/>
            <p:cNvSpPr txBox="1"/>
            <p:nvPr/>
          </p:nvSpPr>
          <p:spPr>
            <a:xfrm>
              <a:off x="7687818" y="4193858"/>
              <a:ext cx="3068985"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Q1@24 ≥ B4@48 − 0.02</a:t>
              </a:r>
            </a:p>
          </p:txBody>
        </p:sp>
        <p:sp>
          <p:nvSpPr>
            <p:cNvPr id="41" name="TextBox 41"/>
            <p:cNvSpPr txBox="1"/>
            <p:nvPr/>
          </p:nvSpPr>
          <p:spPr>
            <a:xfrm>
              <a:off x="7690104" y="4509135"/>
              <a:ext cx="2750363" cy="234696"/>
            </a:xfrm>
            <a:prstGeom prst="rect">
              <a:avLst/>
            </a:prstGeom>
            <a:noFill/>
            <a:ln>
              <a:noFill/>
            </a:ln>
          </p:spPr>
          <p:txBody>
            <a:bodyPr wrap="none" lIns="0" tIns="0" rIns="0" bIns="0" anchor="t" anchorCtr="0">
              <a:spAutoFit/>
            </a:bodyPr>
            <a:lstStyle/>
            <a:p>
              <a:pPr algn="l"/>
              <a:r>
                <a:rPr lang="en-US" sz="1200" dirty="0">
                  <a:solidFill>
                    <a:srgbClr val="FBF7EE"/>
                  </a:solidFill>
                  <a:latin typeface="+mn-lt"/>
                  <a:ea typeface="+mn-ea"/>
                  <a:cs typeface="+mn-cs"/>
                </a:rPr>
                <a:t>≥4 / 5 folds · ≤2,000 shots / image</a:t>
              </a:r>
            </a:p>
          </p:txBody>
        </p:sp>
        <p:sp>
          <p:nvSpPr>
            <p:cNvPr id="42" name="TextBox 42"/>
            <p:cNvSpPr txBox="1"/>
            <p:nvPr/>
          </p:nvSpPr>
          <p:spPr>
            <a:xfrm>
              <a:off x="7690104" y="4728210"/>
              <a:ext cx="1845716" cy="234696"/>
            </a:xfrm>
            <a:prstGeom prst="rect">
              <a:avLst/>
            </a:prstGeom>
            <a:noFill/>
            <a:ln>
              <a:noFill/>
            </a:ln>
          </p:spPr>
          <p:txBody>
            <a:bodyPr wrap="none" lIns="0" tIns="0" rIns="0" bIns="0" anchor="t" anchorCtr="0">
              <a:spAutoFit/>
            </a:bodyPr>
            <a:lstStyle/>
            <a:p>
              <a:pPr algn="l"/>
              <a:r>
                <a:rPr lang="en-US" sz="1200" dirty="0">
                  <a:solidFill>
                    <a:srgbClr val="FBF7EE"/>
                  </a:solidFill>
                  <a:latin typeface="+mn-lt"/>
                  <a:ea typeface="+mn-ea"/>
                  <a:cs typeface="+mn-cs"/>
                </a:rPr>
                <a:t>acceptance rate ≥ 0.70</a:t>
              </a:r>
            </a:p>
          </p:txBody>
        </p:sp>
        <p:sp>
          <p:nvSpPr>
            <p:cNvPr id="43" name="Rectangle 43"/>
            <p:cNvSpPr/>
            <p:nvPr/>
          </p:nvSpPr>
          <p:spPr>
            <a:xfrm>
              <a:off x="7467600" y="5067300"/>
              <a:ext cx="4114800" cy="552450"/>
            </a:xfrm>
            <a:prstGeom prst="rect">
              <a:avLst/>
            </a:prstGeom>
            <a:solidFill>
              <a:schemeClr val="accent5"/>
            </a:solidFill>
            <a:ln>
              <a:noFill/>
            </a:ln>
          </p:spPr>
        </p:sp>
        <p:sp>
          <p:nvSpPr>
            <p:cNvPr id="44" name="TextBox 44"/>
            <p:cNvSpPr txBox="1"/>
            <p:nvPr/>
          </p:nvSpPr>
          <p:spPr>
            <a:xfrm>
              <a:off x="7690104" y="5185410"/>
              <a:ext cx="2377928"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STOP IF NEITHER PASS HOLDS</a:t>
              </a:r>
            </a:p>
          </p:txBody>
        </p:sp>
        <p:sp>
          <p:nvSpPr>
            <p:cNvPr id="45" name="TextBox 45"/>
            <p:cNvSpPr txBox="1"/>
            <p:nvPr/>
          </p:nvSpPr>
          <p:spPr>
            <a:xfrm>
              <a:off x="7690485" y="5403056"/>
              <a:ext cx="3616278" cy="220028"/>
            </a:xfrm>
            <a:prstGeom prst="rect">
              <a:avLst/>
            </a:prstGeom>
            <a:noFill/>
            <a:ln>
              <a:noFill/>
            </a:ln>
          </p:spPr>
          <p:txBody>
            <a:bodyPr wrap="none" lIns="0" tIns="0" rIns="0" bIns="0" anchor="t" anchorCtr="0">
              <a:spAutoFit/>
            </a:bodyPr>
            <a:lstStyle/>
            <a:p>
              <a:pPr algn="l"/>
              <a:r>
                <a:rPr lang="en-US" sz="1120" dirty="0">
                  <a:solidFill>
                    <a:srgbClr val="FFFFFF"/>
                  </a:solidFill>
                  <a:latin typeface="+mn-lt"/>
                  <a:ea typeface="+mn-ea"/>
                  <a:cs typeface="+mn-cs"/>
                </a:rPr>
                <a:t>or Q1 loses to RFF-15 and ELM-15 on ≥4 / 5 folds</a:t>
              </a:r>
            </a:p>
          </p:txBody>
        </p:sp>
      </p:grpSp>
      <p:grpSp>
        <p:nvGrpSpPr>
          <p:cNvPr id="49" name="Group 49"/>
          <p:cNvGrpSpPr/>
          <p:nvPr/>
        </p:nvGrpSpPr>
        <p:grpSpPr>
          <a:xfrm>
            <a:off x="603885" y="5926931"/>
            <a:ext cx="10597215" cy="420053"/>
            <a:chOff x="603885" y="5926931"/>
            <a:chExt cx="10597215" cy="420053"/>
          </a:xfrm>
        </p:grpSpPr>
        <p:sp>
          <p:nvSpPr>
            <p:cNvPr id="47" name="TextBox 47"/>
            <p:cNvSpPr txBox="1"/>
            <p:nvPr/>
          </p:nvSpPr>
          <p:spPr>
            <a:xfrm>
              <a:off x="603885" y="5926931"/>
              <a:ext cx="6974492" cy="220028"/>
            </a:xfrm>
            <a:prstGeom prst="rect">
              <a:avLst/>
            </a:prstGeom>
            <a:noFill/>
            <a:ln>
              <a:noFill/>
            </a:ln>
          </p:spPr>
          <p:txBody>
            <a:bodyPr wrap="none" lIns="0" tIns="0" rIns="0" bIns="0" anchor="t" anchorCtr="0">
              <a:spAutoFit/>
            </a:bodyPr>
            <a:lstStyle/>
            <a:p>
              <a:pPr algn="l"/>
              <a:r>
                <a:rPr lang="en-US" sz="1120" dirty="0">
                  <a:solidFill>
                    <a:srgbClr val="766E62"/>
                  </a:solidFill>
                  <a:latin typeface="+mn-lt"/>
                  <a:ea typeface="+mn-ea"/>
                  <a:cs typeface="+mn-cs"/>
                </a:rPr>
                <a:t>Matched 15-D controls: Random Fourier Features (RFF) and Extreme Learning Machine (ELM).</a:t>
              </a:r>
            </a:p>
          </p:txBody>
        </p:sp>
        <p:sp>
          <p:nvSpPr>
            <p:cNvPr id="48" name="TextBox 48"/>
            <p:cNvSpPr txBox="1"/>
            <p:nvPr/>
          </p:nvSpPr>
          <p:spPr>
            <a:xfrm>
              <a:off x="603885" y="6126956"/>
              <a:ext cx="10597215" cy="220028"/>
            </a:xfrm>
            <a:prstGeom prst="rect">
              <a:avLst/>
            </a:prstGeom>
            <a:noFill/>
            <a:ln>
              <a:noFill/>
            </a:ln>
          </p:spPr>
          <p:txBody>
            <a:bodyPr wrap="none" lIns="0" tIns="0" rIns="0" bIns="0" anchor="t" anchorCtr="0">
              <a:spAutoFit/>
            </a:bodyPr>
            <a:lstStyle/>
            <a:p>
              <a:pPr algn="l"/>
              <a:r>
                <a:rPr lang="en-US" sz="1120" dirty="0">
                  <a:solidFill>
                    <a:srgbClr val="766E62"/>
                  </a:solidFill>
                  <a:latin typeface="+mn-lt"/>
                  <a:ea typeface="+mn-ea"/>
                  <a:cs typeface="+mn-cs"/>
                </a:rPr>
                <a:t>B4 = PCA-5 radial-basis-function support vector machine (RBF-SVM); resource value = label efficiency under shot and acceptance constraints.</a:t>
              </a:r>
            </a:p>
          </p:txBody>
        </p:sp>
      </p:grpSp>
      <p:grpSp>
        <p:nvGrpSpPr>
          <p:cNvPr id="51" name="Group 51"/>
          <p:cNvGrpSpPr/>
          <p:nvPr/>
        </p:nvGrpSpPr>
        <p:grpSpPr>
          <a:xfrm>
            <a:off x="10966723" y="6426518"/>
            <a:ext cx="622535" cy="264033"/>
            <a:chOff x="10966723" y="6426518"/>
            <a:chExt cx="622535" cy="264033"/>
          </a:xfrm>
        </p:grpSpPr>
        <p:sp>
          <p:nvSpPr>
            <p:cNvPr id="50" name="TextBox 50"/>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04 / 10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11851958" cy="913447"/>
            <a:chOff x="594360" y="482918"/>
            <a:chExt cx="11851958" cy="913447"/>
          </a:xfrm>
        </p:grpSpPr>
        <p:sp>
          <p:nvSpPr>
            <p:cNvPr id="3" name="TextBox 3"/>
            <p:cNvSpPr txBox="1"/>
            <p:nvPr/>
          </p:nvSpPr>
          <p:spPr>
            <a:xfrm>
              <a:off x="602742" y="482918"/>
              <a:ext cx="5590520"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APPROACH · COMPLETED PILOT → PROPOSED PROJECT</a:t>
              </a:r>
            </a:p>
          </p:txBody>
        </p:sp>
        <p:sp>
          <p:nvSpPr>
            <p:cNvPr id="4" name="TextBox 4"/>
            <p:cNvSpPr txBox="1"/>
            <p:nvPr/>
          </p:nvSpPr>
          <p:spPr>
            <a:xfrm>
              <a:off x="594360" y="809625"/>
              <a:ext cx="1185195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12-week project starts after the completed pilot</a:t>
              </a:r>
            </a:p>
          </p:txBody>
        </p:sp>
      </p:grpSp>
      <p:grpSp>
        <p:nvGrpSpPr>
          <p:cNvPr id="9" name="Group 9"/>
          <p:cNvGrpSpPr/>
          <p:nvPr/>
        </p:nvGrpSpPr>
        <p:grpSpPr>
          <a:xfrm>
            <a:off x="609600" y="1390650"/>
            <a:ext cx="10972800" cy="495300"/>
            <a:chOff x="609600" y="1390650"/>
            <a:chExt cx="10972800" cy="495300"/>
          </a:xfrm>
        </p:grpSpPr>
        <p:sp>
          <p:nvSpPr>
            <p:cNvPr id="6" name="Rectangle 6"/>
            <p:cNvSpPr/>
            <p:nvPr/>
          </p:nvSpPr>
          <p:spPr>
            <a:xfrm>
              <a:off x="609600" y="1390650"/>
              <a:ext cx="10972800" cy="495300"/>
            </a:xfrm>
            <a:prstGeom prst="rect">
              <a:avLst/>
            </a:prstGeom>
            <a:solidFill>
              <a:schemeClr val="accent3"/>
            </a:solidFill>
            <a:ln>
              <a:noFill/>
            </a:ln>
          </p:spPr>
        </p:sp>
        <p:sp>
          <p:nvSpPr>
            <p:cNvPr id="7" name="TextBox 7"/>
            <p:cNvSpPr txBox="1"/>
            <p:nvPr/>
          </p:nvSpPr>
          <p:spPr>
            <a:xfrm>
              <a:off x="831342" y="1559242"/>
              <a:ext cx="2927200"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PRE-STUDY · COMPLETED PILOT</a:t>
              </a:r>
            </a:p>
          </p:txBody>
        </p:sp>
        <p:sp>
          <p:nvSpPr>
            <p:cNvPr id="8" name="TextBox 8"/>
            <p:cNvSpPr txBox="1"/>
            <p:nvPr/>
          </p:nvSpPr>
          <p:spPr>
            <a:xfrm>
              <a:off x="3726942" y="1559242"/>
              <a:ext cx="6090095" cy="264033"/>
            </a:xfrm>
            <a:prstGeom prst="rect">
              <a:avLst/>
            </a:prstGeom>
            <a:noFill/>
            <a:ln>
              <a:noFill/>
            </a:ln>
          </p:spPr>
          <p:txBody>
            <a:bodyPr wrap="none" lIns="0" tIns="0" rIns="0" bIns="0" anchor="t" anchorCtr="0">
              <a:spAutoFit/>
            </a:bodyPr>
            <a:lstStyle/>
            <a:p>
              <a:pPr algn="l"/>
              <a:r>
                <a:rPr lang="en-US" sz="1350" dirty="0">
                  <a:solidFill>
                    <a:srgbClr val="FBF7EE"/>
                  </a:solidFill>
                  <a:latin typeface="+mn-lt"/>
                  <a:ea typeface="+mn-ea"/>
                  <a:cs typeface="+mn-cs"/>
                </a:rPr>
                <a:t>Data audit · frozen protocol · simulator verification · fold-0 result</a:t>
              </a:r>
            </a:p>
          </p:txBody>
        </p:sp>
      </p:grpSp>
      <p:grpSp>
        <p:nvGrpSpPr>
          <p:cNvPr id="66" name="Group 66"/>
          <p:cNvGrpSpPr/>
          <p:nvPr/>
        </p:nvGrpSpPr>
        <p:grpSpPr>
          <a:xfrm>
            <a:off x="609600" y="1924050"/>
            <a:ext cx="10972800" cy="3467100"/>
            <a:chOff x="609600" y="1924050"/>
            <a:chExt cx="10972800" cy="3467100"/>
          </a:xfrm>
        </p:grpSpPr>
        <p:sp>
          <p:nvSpPr>
            <p:cNvPr id="10" name="Line 10"/>
            <p:cNvSpPr/>
            <p:nvPr/>
          </p:nvSpPr>
          <p:spPr>
            <a:xfrm>
              <a:off x="1447800" y="2143125"/>
              <a:ext cx="9296400" cy="9525"/>
            </a:xfrm>
            <a:custGeom>
              <a:avLst/>
              <a:gdLst/>
              <a:ahLst/>
              <a:cxnLst/>
              <a:rect l="l" t="t" r="r" b="b"/>
              <a:pathLst>
                <a:path w="9296400" h="9525">
                  <a:moveTo>
                    <a:pt x="0" y="0"/>
                  </a:moveTo>
                  <a:lnTo>
                    <a:pt x="9296400" y="0"/>
                  </a:lnTo>
                </a:path>
              </a:pathLst>
            </a:custGeom>
            <a:noFill/>
            <a:ln w="47625">
              <a:solidFill>
                <a:srgbClr val="C9BDA8"/>
              </a:solidFill>
            </a:ln>
          </p:spPr>
        </p:sp>
        <p:sp>
          <p:nvSpPr>
            <p:cNvPr id="11" name="Ellipse 11"/>
            <p:cNvSpPr/>
            <p:nvPr/>
          </p:nvSpPr>
          <p:spPr>
            <a:xfrm>
              <a:off x="1228725" y="1924050"/>
              <a:ext cx="438150" cy="438150"/>
            </a:xfrm>
            <a:prstGeom prst="ellipse">
              <a:avLst/>
            </a:prstGeom>
            <a:solidFill>
              <a:schemeClr val="accent3"/>
            </a:solidFill>
            <a:ln>
              <a:noFill/>
            </a:ln>
          </p:spPr>
        </p:sp>
        <p:sp>
          <p:nvSpPr>
            <p:cNvPr id="12" name="TextBox 12"/>
            <p:cNvSpPr txBox="1"/>
            <p:nvPr/>
          </p:nvSpPr>
          <p:spPr>
            <a:xfrm>
              <a:off x="1283512" y="2064068"/>
              <a:ext cx="32857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1–2</a:t>
              </a:r>
            </a:p>
          </p:txBody>
        </p:sp>
        <p:sp>
          <p:nvSpPr>
            <p:cNvPr id="13" name="Ellipse 13"/>
            <p:cNvSpPr/>
            <p:nvPr/>
          </p:nvSpPr>
          <p:spPr>
            <a:xfrm>
              <a:off x="3057525" y="1924050"/>
              <a:ext cx="438150" cy="438150"/>
            </a:xfrm>
            <a:prstGeom prst="ellipse">
              <a:avLst/>
            </a:prstGeom>
            <a:solidFill>
              <a:schemeClr val="accent3"/>
            </a:solidFill>
            <a:ln>
              <a:noFill/>
            </a:ln>
          </p:spPr>
        </p:sp>
        <p:sp>
          <p:nvSpPr>
            <p:cNvPr id="14" name="TextBox 14"/>
            <p:cNvSpPr txBox="1"/>
            <p:nvPr/>
          </p:nvSpPr>
          <p:spPr>
            <a:xfrm>
              <a:off x="3112312" y="2064068"/>
              <a:ext cx="32857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3–4</a:t>
              </a:r>
            </a:p>
          </p:txBody>
        </p:sp>
        <p:sp>
          <p:nvSpPr>
            <p:cNvPr id="15" name="Ellipse 15"/>
            <p:cNvSpPr/>
            <p:nvPr/>
          </p:nvSpPr>
          <p:spPr>
            <a:xfrm>
              <a:off x="4886325" y="1924050"/>
              <a:ext cx="438150" cy="438150"/>
            </a:xfrm>
            <a:prstGeom prst="ellipse">
              <a:avLst/>
            </a:prstGeom>
            <a:solidFill>
              <a:schemeClr val="accent3"/>
            </a:solidFill>
            <a:ln>
              <a:noFill/>
            </a:ln>
          </p:spPr>
        </p:sp>
        <p:sp>
          <p:nvSpPr>
            <p:cNvPr id="16" name="TextBox 16"/>
            <p:cNvSpPr txBox="1"/>
            <p:nvPr/>
          </p:nvSpPr>
          <p:spPr>
            <a:xfrm>
              <a:off x="4941112" y="2064068"/>
              <a:ext cx="32857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5–6</a:t>
              </a:r>
            </a:p>
          </p:txBody>
        </p:sp>
        <p:sp>
          <p:nvSpPr>
            <p:cNvPr id="17" name="Ellipse 17"/>
            <p:cNvSpPr/>
            <p:nvPr/>
          </p:nvSpPr>
          <p:spPr>
            <a:xfrm>
              <a:off x="6715125" y="1924050"/>
              <a:ext cx="438150" cy="438150"/>
            </a:xfrm>
            <a:prstGeom prst="ellipse">
              <a:avLst/>
            </a:prstGeom>
            <a:solidFill>
              <a:schemeClr val="accent3"/>
            </a:solidFill>
            <a:ln>
              <a:noFill/>
            </a:ln>
          </p:spPr>
        </p:sp>
        <p:sp>
          <p:nvSpPr>
            <p:cNvPr id="18" name="TextBox 18"/>
            <p:cNvSpPr txBox="1"/>
            <p:nvPr/>
          </p:nvSpPr>
          <p:spPr>
            <a:xfrm>
              <a:off x="6769912" y="2064068"/>
              <a:ext cx="32857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7–8</a:t>
              </a:r>
            </a:p>
          </p:txBody>
        </p:sp>
        <p:sp>
          <p:nvSpPr>
            <p:cNvPr id="19" name="Ellipse 19"/>
            <p:cNvSpPr/>
            <p:nvPr/>
          </p:nvSpPr>
          <p:spPr>
            <a:xfrm>
              <a:off x="8543925" y="1924050"/>
              <a:ext cx="438150" cy="438150"/>
            </a:xfrm>
            <a:prstGeom prst="ellipse">
              <a:avLst/>
            </a:prstGeom>
            <a:solidFill>
              <a:schemeClr val="accent3"/>
            </a:solidFill>
            <a:ln>
              <a:noFill/>
            </a:ln>
          </p:spPr>
        </p:sp>
        <p:sp>
          <p:nvSpPr>
            <p:cNvPr id="20" name="TextBox 20"/>
            <p:cNvSpPr txBox="1"/>
            <p:nvPr/>
          </p:nvSpPr>
          <p:spPr>
            <a:xfrm>
              <a:off x="8546236" y="2064068"/>
              <a:ext cx="4335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Consolas"/>
                  <a:ea typeface="Consolas"/>
                  <a:cs typeface="Consolas"/>
                </a:rPr>
                <a:t>9–10</a:t>
              </a:r>
            </a:p>
          </p:txBody>
        </p:sp>
        <p:sp>
          <p:nvSpPr>
            <p:cNvPr id="21" name="Ellipse 21"/>
            <p:cNvSpPr/>
            <p:nvPr/>
          </p:nvSpPr>
          <p:spPr>
            <a:xfrm>
              <a:off x="10372725" y="1924050"/>
              <a:ext cx="438150" cy="438150"/>
            </a:xfrm>
            <a:prstGeom prst="ellipse">
              <a:avLst/>
            </a:prstGeom>
            <a:solidFill>
              <a:schemeClr val="accent1"/>
            </a:solidFill>
            <a:ln>
              <a:noFill/>
            </a:ln>
          </p:spPr>
        </p:sp>
        <p:sp>
          <p:nvSpPr>
            <p:cNvPr id="22" name="TextBox 22"/>
            <p:cNvSpPr txBox="1"/>
            <p:nvPr/>
          </p:nvSpPr>
          <p:spPr>
            <a:xfrm>
              <a:off x="10352475" y="2080260"/>
              <a:ext cx="478650"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Consolas"/>
                  <a:ea typeface="Consolas"/>
                  <a:cs typeface="Consolas"/>
                </a:rPr>
                <a:t>11–12</a:t>
              </a:r>
            </a:p>
          </p:txBody>
        </p:sp>
        <p:sp>
          <p:nvSpPr>
            <p:cNvPr id="23" name="Rectangle 23"/>
            <p:cNvSpPr/>
            <p:nvPr/>
          </p:nvSpPr>
          <p:spPr>
            <a:xfrm>
              <a:off x="609600" y="2495550"/>
              <a:ext cx="1676400" cy="2895600"/>
            </a:xfrm>
            <a:prstGeom prst="rect">
              <a:avLst/>
            </a:prstGeom>
            <a:solidFill>
              <a:schemeClr val="lt2"/>
            </a:solidFill>
            <a:ln>
              <a:noFill/>
            </a:ln>
          </p:spPr>
        </p:sp>
        <p:sp>
          <p:nvSpPr>
            <p:cNvPr id="24" name="TextBox 24"/>
            <p:cNvSpPr txBox="1"/>
            <p:nvPr/>
          </p:nvSpPr>
          <p:spPr>
            <a:xfrm>
              <a:off x="755142" y="2664142"/>
              <a:ext cx="96135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REPLICATE</a:t>
              </a:r>
            </a:p>
          </p:txBody>
        </p:sp>
        <p:sp>
          <p:nvSpPr>
            <p:cNvPr id="25" name="TextBox 25"/>
            <p:cNvSpPr txBox="1"/>
            <p:nvPr/>
          </p:nvSpPr>
          <p:spPr>
            <a:xfrm>
              <a:off x="753237" y="2976086"/>
              <a:ext cx="1233145" cy="613600"/>
            </a:xfrm>
            <a:prstGeom prst="rect">
              <a:avLst/>
            </a:prstGeom>
            <a:noFill/>
            <a:ln>
              <a:noFill/>
            </a:ln>
          </p:spPr>
          <p:txBody>
            <a:bodyPr wrap="none" lIns="0" tIns="0" rIns="0" bIns="0" anchor="t" anchorCtr="0">
              <a:spAutoFit/>
            </a:bodyPr>
            <a:lstStyle/>
            <a:p>
              <a:pPr algn="l">
                <a:lnSpc>
                  <a:spcPts val="2175"/>
                </a:lnSpc>
              </a:pPr>
              <a:r>
                <a:rPr lang="en-US" sz="1720" b="1" dirty="0">
                  <a:solidFill>
                    <a:schemeClr val="accent1"/>
                  </a:solidFill>
                  <a:latin typeface="+mj-lt"/>
                  <a:ea typeface="+mj-ea"/>
                  <a:cs typeface="+mj-cs"/>
                </a:rPr>
                <a:t>Five-fold</a:t>
              </a:r>
              <a:br/>
              <a:r>
                <a:rPr lang="en-US" sz="1720" b="1" dirty="0">
                  <a:solidFill>
                    <a:schemeClr val="accent1"/>
                  </a:solidFill>
                  <a:latin typeface="+mj-lt"/>
                  <a:ea typeface="+mj-ea"/>
                  <a:cs typeface="+mj-cs"/>
                </a:rPr>
                <a:t>replication</a:t>
              </a:r>
            </a:p>
          </p:txBody>
        </p:sp>
        <p:sp>
          <p:nvSpPr>
            <p:cNvPr id="26" name="TextBox 26"/>
            <p:cNvSpPr txBox="1"/>
            <p:nvPr/>
          </p:nvSpPr>
          <p:spPr>
            <a:xfrm>
              <a:off x="755904" y="3747135"/>
              <a:ext cx="1051682"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mn-lt"/>
                  <a:ea typeface="+mn-ea"/>
                  <a:cs typeface="+mn-cs"/>
                </a:rPr>
                <a:t>DELIVERABLE</a:t>
              </a:r>
            </a:p>
          </p:txBody>
        </p:sp>
        <p:sp>
          <p:nvSpPr>
            <p:cNvPr id="27" name="TextBox 27"/>
            <p:cNvSpPr txBox="1"/>
            <p:nvPr/>
          </p:nvSpPr>
          <p:spPr>
            <a:xfrm>
              <a:off x="755523" y="3996214"/>
              <a:ext cx="13191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Fold-level table</a:t>
              </a:r>
            </a:p>
          </p:txBody>
        </p:sp>
        <p:sp>
          <p:nvSpPr>
            <p:cNvPr id="28" name="TextBox 28"/>
            <p:cNvSpPr txBox="1"/>
            <p:nvPr/>
          </p:nvSpPr>
          <p:spPr>
            <a:xfrm>
              <a:off x="755904" y="4451985"/>
              <a:ext cx="361676" cy="234696"/>
            </a:xfrm>
            <a:prstGeom prst="rect">
              <a:avLst/>
            </a:prstGeom>
            <a:noFill/>
            <a:ln>
              <a:noFill/>
            </a:ln>
          </p:spPr>
          <p:txBody>
            <a:bodyPr wrap="none" lIns="0" tIns="0" rIns="0" bIns="0" anchor="t" anchorCtr="0">
              <a:spAutoFit/>
            </a:bodyPr>
            <a:lstStyle/>
            <a:p>
              <a:pPr algn="l"/>
              <a:r>
                <a:rPr lang="en-US" sz="1200" b="1" dirty="0">
                  <a:solidFill>
                    <a:schemeClr val="accent5"/>
                  </a:solidFill>
                  <a:latin typeface="+mn-lt"/>
                  <a:ea typeface="+mn-ea"/>
                  <a:cs typeface="+mn-cs"/>
                </a:rPr>
                <a:t>EXIT</a:t>
              </a:r>
            </a:p>
          </p:txBody>
        </p:sp>
        <p:sp>
          <p:nvSpPr>
            <p:cNvPr id="29" name="TextBox 29"/>
            <p:cNvSpPr txBox="1"/>
            <p:nvPr/>
          </p:nvSpPr>
          <p:spPr>
            <a:xfrm>
              <a:off x="755523" y="4701064"/>
              <a:ext cx="1142746" cy="487490"/>
            </a:xfrm>
            <a:prstGeom prst="rect">
              <a:avLst/>
            </a:prstGeom>
            <a:noFill/>
            <a:ln>
              <a:noFill/>
            </a:ln>
          </p:spPr>
          <p:txBody>
            <a:bodyPr wrap="none" lIns="0" tIns="0" rIns="0" bIns="0" anchor="t" anchorCtr="0">
              <a:spAutoFit/>
            </a:bodyPr>
            <a:lstStyle/>
            <a:p>
              <a:pPr algn="l">
                <a:lnSpc>
                  <a:spcPts val="1875"/>
                </a:lnSpc>
              </a:pPr>
              <a:r>
                <a:rPr lang="en-US" sz="1280" dirty="0">
                  <a:solidFill>
                    <a:schemeClr val="dk1"/>
                  </a:solidFill>
                  <a:latin typeface="+mn-lt"/>
                  <a:ea typeface="+mn-ea"/>
                  <a:cs typeface="+mn-cs"/>
                </a:rPr>
                <a:t>Ranking stable</a:t>
              </a:r>
              <a:br/>
              <a:r>
                <a:rPr lang="en-US" sz="1280" dirty="0">
                  <a:solidFill>
                    <a:schemeClr val="dk1"/>
                  </a:solidFill>
                  <a:latin typeface="+mn-lt"/>
                  <a:ea typeface="+mn-ea"/>
                  <a:cs typeface="+mn-cs"/>
                </a:rPr>
                <a:t>across folds</a:t>
              </a:r>
            </a:p>
          </p:txBody>
        </p:sp>
        <p:sp>
          <p:nvSpPr>
            <p:cNvPr id="30" name="Rectangle 30"/>
            <p:cNvSpPr/>
            <p:nvPr/>
          </p:nvSpPr>
          <p:spPr>
            <a:xfrm>
              <a:off x="2438400" y="2495550"/>
              <a:ext cx="1676400" cy="2895600"/>
            </a:xfrm>
            <a:prstGeom prst="rect">
              <a:avLst/>
            </a:prstGeom>
            <a:solidFill>
              <a:schemeClr val="accent1"/>
            </a:solidFill>
            <a:ln>
              <a:noFill/>
            </a:ln>
          </p:spPr>
        </p:sp>
        <p:sp>
          <p:nvSpPr>
            <p:cNvPr id="31" name="TextBox 31"/>
            <p:cNvSpPr txBox="1"/>
            <p:nvPr/>
          </p:nvSpPr>
          <p:spPr>
            <a:xfrm>
              <a:off x="2583942" y="2664142"/>
              <a:ext cx="679079"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ABLATE</a:t>
              </a:r>
            </a:p>
          </p:txBody>
        </p:sp>
        <p:sp>
          <p:nvSpPr>
            <p:cNvPr id="32" name="TextBox 32"/>
            <p:cNvSpPr txBox="1"/>
            <p:nvPr/>
          </p:nvSpPr>
          <p:spPr>
            <a:xfrm>
              <a:off x="2582418" y="2984182"/>
              <a:ext cx="162974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PCA · circuit</a:t>
              </a:r>
            </a:p>
          </p:txBody>
        </p:sp>
        <p:sp>
          <p:nvSpPr>
            <p:cNvPr id="33" name="TextBox 33"/>
            <p:cNvSpPr txBox="1"/>
            <p:nvPr/>
          </p:nvSpPr>
          <p:spPr>
            <a:xfrm>
              <a:off x="2583180" y="3276600"/>
              <a:ext cx="1460221"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j-lt"/>
                  <a:ea typeface="+mj-ea"/>
                  <a:cs typeface="+mj-cs"/>
                </a:rPr>
                <a:t>measurement</a:t>
              </a:r>
            </a:p>
          </p:txBody>
        </p:sp>
        <p:sp>
          <p:nvSpPr>
            <p:cNvPr id="34" name="TextBox 34"/>
            <p:cNvSpPr txBox="1"/>
            <p:nvPr/>
          </p:nvSpPr>
          <p:spPr>
            <a:xfrm>
              <a:off x="2584704" y="3747135"/>
              <a:ext cx="1051682" cy="234696"/>
            </a:xfrm>
            <a:prstGeom prst="rect">
              <a:avLst/>
            </a:prstGeom>
            <a:noFill/>
            <a:ln>
              <a:noFill/>
            </a:ln>
          </p:spPr>
          <p:txBody>
            <a:bodyPr wrap="none" lIns="0" tIns="0" rIns="0" bIns="0" anchor="t" anchorCtr="0">
              <a:spAutoFit/>
            </a:bodyPr>
            <a:lstStyle/>
            <a:p>
              <a:pPr algn="l"/>
              <a:r>
                <a:rPr lang="en-US" sz="1200" b="1" dirty="0">
                  <a:solidFill>
                    <a:srgbClr val="B9D0C7"/>
                  </a:solidFill>
                  <a:latin typeface="+mn-lt"/>
                  <a:ea typeface="+mn-ea"/>
                  <a:cs typeface="+mn-cs"/>
                </a:rPr>
                <a:t>DELIVERABLE</a:t>
              </a:r>
            </a:p>
          </p:txBody>
        </p:sp>
        <p:sp>
          <p:nvSpPr>
            <p:cNvPr id="35" name="TextBox 35"/>
            <p:cNvSpPr txBox="1"/>
            <p:nvPr/>
          </p:nvSpPr>
          <p:spPr>
            <a:xfrm>
              <a:off x="2584323" y="3996214"/>
              <a:ext cx="1301881" cy="249364"/>
            </a:xfrm>
            <a:prstGeom prst="rect">
              <a:avLst/>
            </a:prstGeom>
            <a:noFill/>
            <a:ln>
              <a:noFill/>
            </a:ln>
          </p:spPr>
          <p:txBody>
            <a:bodyPr wrap="none" lIns="0" tIns="0" rIns="0" bIns="0" anchor="t" anchorCtr="0">
              <a:spAutoFit/>
            </a:bodyPr>
            <a:lstStyle/>
            <a:p>
              <a:pPr algn="l"/>
              <a:r>
                <a:rPr lang="en-US" sz="1280" dirty="0">
                  <a:solidFill>
                    <a:srgbClr val="FBF7EE"/>
                  </a:solidFill>
                  <a:latin typeface="+mn-lt"/>
                  <a:ea typeface="+mn-ea"/>
                  <a:cs typeface="+mn-cs"/>
                </a:rPr>
                <a:t>Ablation matrix</a:t>
              </a:r>
            </a:p>
          </p:txBody>
        </p:sp>
        <p:sp>
          <p:nvSpPr>
            <p:cNvPr id="36" name="TextBox 36"/>
            <p:cNvSpPr txBox="1"/>
            <p:nvPr/>
          </p:nvSpPr>
          <p:spPr>
            <a:xfrm>
              <a:off x="2584704" y="4451985"/>
              <a:ext cx="361676" cy="234696"/>
            </a:xfrm>
            <a:prstGeom prst="rect">
              <a:avLst/>
            </a:prstGeom>
            <a:noFill/>
            <a:ln>
              <a:noFill/>
            </a:ln>
          </p:spPr>
          <p:txBody>
            <a:bodyPr wrap="none" lIns="0" tIns="0" rIns="0" bIns="0" anchor="t" anchorCtr="0">
              <a:spAutoFit/>
            </a:bodyPr>
            <a:lstStyle/>
            <a:p>
              <a:pPr algn="l"/>
              <a:r>
                <a:rPr lang="en-US" sz="1200" b="1" dirty="0">
                  <a:solidFill>
                    <a:srgbClr val="B9D0C7"/>
                  </a:solidFill>
                  <a:latin typeface="+mn-lt"/>
                  <a:ea typeface="+mn-ea"/>
                  <a:cs typeface="+mn-cs"/>
                </a:rPr>
                <a:t>EXIT</a:t>
              </a:r>
            </a:p>
          </p:txBody>
        </p:sp>
        <p:sp>
          <p:nvSpPr>
            <p:cNvPr id="37" name="TextBox 37"/>
            <p:cNvSpPr txBox="1"/>
            <p:nvPr/>
          </p:nvSpPr>
          <p:spPr>
            <a:xfrm>
              <a:off x="2584323" y="4701064"/>
              <a:ext cx="1394714" cy="487490"/>
            </a:xfrm>
            <a:prstGeom prst="rect">
              <a:avLst/>
            </a:prstGeom>
            <a:noFill/>
            <a:ln>
              <a:noFill/>
            </a:ln>
          </p:spPr>
          <p:txBody>
            <a:bodyPr wrap="none" lIns="0" tIns="0" rIns="0" bIns="0" anchor="t" anchorCtr="0">
              <a:spAutoFit/>
            </a:bodyPr>
            <a:lstStyle/>
            <a:p>
              <a:pPr algn="l">
                <a:lnSpc>
                  <a:spcPts val="1875"/>
                </a:lnSpc>
              </a:pPr>
              <a:r>
                <a:rPr lang="en-US" sz="1280" dirty="0">
                  <a:solidFill>
                    <a:srgbClr val="FBF7EE"/>
                  </a:solidFill>
                  <a:latin typeface="+mn-lt"/>
                  <a:ea typeface="+mn-ea"/>
                  <a:cs typeface="+mn-cs"/>
                </a:rPr>
                <a:t>Candidate beats</a:t>
              </a:r>
              <a:br/>
              <a:r>
                <a:rPr lang="en-US" sz="1280" dirty="0">
                  <a:solidFill>
                    <a:srgbClr val="FBF7EE"/>
                  </a:solidFill>
                  <a:latin typeface="+mn-lt"/>
                  <a:ea typeface="+mn-ea"/>
                  <a:cs typeface="+mn-cs"/>
                </a:rPr>
                <a:t>matched controls</a:t>
              </a:r>
            </a:p>
          </p:txBody>
        </p:sp>
        <p:sp>
          <p:nvSpPr>
            <p:cNvPr id="38" name="Rectangle 38"/>
            <p:cNvSpPr/>
            <p:nvPr/>
          </p:nvSpPr>
          <p:spPr>
            <a:xfrm>
              <a:off x="4267200" y="2495550"/>
              <a:ext cx="1676400" cy="2895600"/>
            </a:xfrm>
            <a:prstGeom prst="rect">
              <a:avLst/>
            </a:prstGeom>
            <a:solidFill>
              <a:schemeClr val="lt2"/>
            </a:solidFill>
            <a:ln>
              <a:noFill/>
            </a:ln>
          </p:spPr>
        </p:sp>
        <p:sp>
          <p:nvSpPr>
            <p:cNvPr id="39" name="TextBox 39"/>
            <p:cNvSpPr txBox="1"/>
            <p:nvPr/>
          </p:nvSpPr>
          <p:spPr>
            <a:xfrm>
              <a:off x="4412742" y="2664142"/>
              <a:ext cx="55810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NOISE</a:t>
              </a:r>
            </a:p>
          </p:txBody>
        </p:sp>
        <p:sp>
          <p:nvSpPr>
            <p:cNvPr id="40" name="TextBox 40"/>
            <p:cNvSpPr txBox="1"/>
            <p:nvPr/>
          </p:nvSpPr>
          <p:spPr>
            <a:xfrm>
              <a:off x="4410837" y="2976086"/>
              <a:ext cx="1359294" cy="613600"/>
            </a:xfrm>
            <a:prstGeom prst="rect">
              <a:avLst/>
            </a:prstGeom>
            <a:noFill/>
            <a:ln>
              <a:noFill/>
            </a:ln>
          </p:spPr>
          <p:txBody>
            <a:bodyPr wrap="none" lIns="0" tIns="0" rIns="0" bIns="0" anchor="t" anchorCtr="0">
              <a:spAutoFit/>
            </a:bodyPr>
            <a:lstStyle/>
            <a:p>
              <a:pPr algn="l">
                <a:lnSpc>
                  <a:spcPts val="2175"/>
                </a:lnSpc>
              </a:pPr>
              <a:r>
                <a:rPr lang="en-US" sz="1720" b="1" dirty="0">
                  <a:solidFill>
                    <a:schemeClr val="accent1"/>
                  </a:solidFill>
                  <a:latin typeface="+mj-lt"/>
                  <a:ea typeface="+mj-ea"/>
                  <a:cs typeface="+mj-cs"/>
                </a:rPr>
                <a:t>Loss · drift</a:t>
              </a:r>
              <a:br/>
              <a:r>
                <a:rPr lang="en-US" sz="1720" b="1" dirty="0">
                  <a:solidFill>
                    <a:schemeClr val="accent1"/>
                  </a:solidFill>
                  <a:latin typeface="+mj-lt"/>
                  <a:ea typeface="+mj-ea"/>
                  <a:cs typeface="+mj-cs"/>
                </a:rPr>
                <a:t>detectors</a:t>
              </a:r>
            </a:p>
          </p:txBody>
        </p:sp>
        <p:sp>
          <p:nvSpPr>
            <p:cNvPr id="41" name="TextBox 41"/>
            <p:cNvSpPr txBox="1"/>
            <p:nvPr/>
          </p:nvSpPr>
          <p:spPr>
            <a:xfrm>
              <a:off x="4413504" y="3747135"/>
              <a:ext cx="1051682"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mn-lt"/>
                  <a:ea typeface="+mn-ea"/>
                  <a:cs typeface="+mn-cs"/>
                </a:rPr>
                <a:t>DELIVERABLE</a:t>
              </a:r>
            </a:p>
          </p:txBody>
        </p:sp>
        <p:sp>
          <p:nvSpPr>
            <p:cNvPr id="42" name="TextBox 42"/>
            <p:cNvSpPr txBox="1"/>
            <p:nvPr/>
          </p:nvSpPr>
          <p:spPr>
            <a:xfrm>
              <a:off x="4413123" y="3996214"/>
              <a:ext cx="158655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Robustness curves</a:t>
              </a:r>
            </a:p>
          </p:txBody>
        </p:sp>
        <p:sp>
          <p:nvSpPr>
            <p:cNvPr id="43" name="TextBox 43"/>
            <p:cNvSpPr txBox="1"/>
            <p:nvPr/>
          </p:nvSpPr>
          <p:spPr>
            <a:xfrm>
              <a:off x="4413504" y="4451985"/>
              <a:ext cx="361676" cy="234696"/>
            </a:xfrm>
            <a:prstGeom prst="rect">
              <a:avLst/>
            </a:prstGeom>
            <a:noFill/>
            <a:ln>
              <a:noFill/>
            </a:ln>
          </p:spPr>
          <p:txBody>
            <a:bodyPr wrap="none" lIns="0" tIns="0" rIns="0" bIns="0" anchor="t" anchorCtr="0">
              <a:spAutoFit/>
            </a:bodyPr>
            <a:lstStyle/>
            <a:p>
              <a:pPr algn="l"/>
              <a:r>
                <a:rPr lang="en-US" sz="1200" b="1" dirty="0">
                  <a:solidFill>
                    <a:schemeClr val="accent5"/>
                  </a:solidFill>
                  <a:latin typeface="+mn-lt"/>
                  <a:ea typeface="+mn-ea"/>
                  <a:cs typeface="+mn-cs"/>
                </a:rPr>
                <a:t>EXIT</a:t>
              </a:r>
            </a:p>
          </p:txBody>
        </p:sp>
        <p:sp>
          <p:nvSpPr>
            <p:cNvPr id="44" name="TextBox 44"/>
            <p:cNvSpPr txBox="1"/>
            <p:nvPr/>
          </p:nvSpPr>
          <p:spPr>
            <a:xfrm>
              <a:off x="4413123" y="4701064"/>
              <a:ext cx="1370330" cy="487490"/>
            </a:xfrm>
            <a:prstGeom prst="rect">
              <a:avLst/>
            </a:prstGeom>
            <a:noFill/>
            <a:ln>
              <a:noFill/>
            </a:ln>
          </p:spPr>
          <p:txBody>
            <a:bodyPr wrap="none" lIns="0" tIns="0" rIns="0" bIns="0" anchor="t" anchorCtr="0">
              <a:spAutoFit/>
            </a:bodyPr>
            <a:lstStyle/>
            <a:p>
              <a:pPr algn="l">
                <a:lnSpc>
                  <a:spcPts val="1875"/>
                </a:lnSpc>
              </a:pPr>
              <a:r>
                <a:rPr lang="en-US" sz="1280" dirty="0">
                  <a:solidFill>
                    <a:schemeClr val="dk1"/>
                  </a:solidFill>
                  <a:latin typeface="+mn-lt"/>
                  <a:ea typeface="+mn-ea"/>
                  <a:cs typeface="+mn-cs"/>
                </a:rPr>
                <a:t>No collapse under</a:t>
              </a:r>
              <a:br/>
              <a:r>
                <a:rPr lang="en-US" sz="1280" dirty="0">
                  <a:solidFill>
                    <a:schemeClr val="dk1"/>
                  </a:solidFill>
                  <a:latin typeface="+mn-lt"/>
                  <a:ea typeface="+mn-ea"/>
                  <a:cs typeface="+mn-cs"/>
                </a:rPr>
                <a:t>credible noise</a:t>
              </a:r>
            </a:p>
          </p:txBody>
        </p:sp>
        <p:sp>
          <p:nvSpPr>
            <p:cNvPr id="45" name="Rectangle 45"/>
            <p:cNvSpPr/>
            <p:nvPr/>
          </p:nvSpPr>
          <p:spPr>
            <a:xfrm>
              <a:off x="6096000" y="2495550"/>
              <a:ext cx="1676400" cy="2895600"/>
            </a:xfrm>
            <a:prstGeom prst="rect">
              <a:avLst/>
            </a:prstGeom>
            <a:solidFill>
              <a:schemeClr val="accent1"/>
            </a:solidFill>
            <a:ln>
              <a:noFill/>
            </a:ln>
          </p:spPr>
        </p:sp>
        <p:sp>
          <p:nvSpPr>
            <p:cNvPr id="46" name="TextBox 46"/>
            <p:cNvSpPr txBox="1"/>
            <p:nvPr/>
          </p:nvSpPr>
          <p:spPr>
            <a:xfrm>
              <a:off x="6241542" y="2664142"/>
              <a:ext cx="679079"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FREEZE</a:t>
              </a:r>
            </a:p>
          </p:txBody>
        </p:sp>
        <p:sp>
          <p:nvSpPr>
            <p:cNvPr id="47" name="TextBox 47"/>
            <p:cNvSpPr txBox="1"/>
            <p:nvPr/>
          </p:nvSpPr>
          <p:spPr>
            <a:xfrm>
              <a:off x="6239637" y="2976086"/>
              <a:ext cx="1095527" cy="613600"/>
            </a:xfrm>
            <a:prstGeom prst="rect">
              <a:avLst/>
            </a:prstGeom>
            <a:noFill/>
            <a:ln>
              <a:noFill/>
            </a:ln>
          </p:spPr>
          <p:txBody>
            <a:bodyPr wrap="none" lIns="0" tIns="0" rIns="0" bIns="0" anchor="t" anchorCtr="0">
              <a:spAutoFit/>
            </a:bodyPr>
            <a:lstStyle/>
            <a:p>
              <a:pPr algn="l">
                <a:lnSpc>
                  <a:spcPts val="2175"/>
                </a:lnSpc>
              </a:pPr>
              <a:r>
                <a:rPr lang="en-US" sz="1720" b="1" dirty="0">
                  <a:solidFill>
                    <a:srgbClr val="FFFFFF"/>
                  </a:solidFill>
                  <a:latin typeface="+mj-lt"/>
                  <a:ea typeface="+mj-ea"/>
                  <a:cs typeface="+mj-cs"/>
                </a:rPr>
                <a:t>Hardware</a:t>
              </a:r>
              <a:br/>
              <a:r>
                <a:rPr lang="en-US" sz="1720" b="1" dirty="0">
                  <a:solidFill>
                    <a:srgbClr val="FFFFFF"/>
                  </a:solidFill>
                  <a:latin typeface="+mj-lt"/>
                  <a:ea typeface="+mj-ea"/>
                  <a:cs typeface="+mj-cs"/>
                </a:rPr>
                <a:t>candidate</a:t>
              </a:r>
            </a:p>
          </p:txBody>
        </p:sp>
        <p:sp>
          <p:nvSpPr>
            <p:cNvPr id="48" name="TextBox 48"/>
            <p:cNvSpPr txBox="1"/>
            <p:nvPr/>
          </p:nvSpPr>
          <p:spPr>
            <a:xfrm>
              <a:off x="6242304" y="3747135"/>
              <a:ext cx="1051682" cy="234696"/>
            </a:xfrm>
            <a:prstGeom prst="rect">
              <a:avLst/>
            </a:prstGeom>
            <a:noFill/>
            <a:ln>
              <a:noFill/>
            </a:ln>
          </p:spPr>
          <p:txBody>
            <a:bodyPr wrap="none" lIns="0" tIns="0" rIns="0" bIns="0" anchor="t" anchorCtr="0">
              <a:spAutoFit/>
            </a:bodyPr>
            <a:lstStyle/>
            <a:p>
              <a:pPr algn="l"/>
              <a:r>
                <a:rPr lang="en-US" sz="1200" b="1" dirty="0">
                  <a:solidFill>
                    <a:srgbClr val="B9D0C7"/>
                  </a:solidFill>
                  <a:latin typeface="+mn-lt"/>
                  <a:ea typeface="+mn-ea"/>
                  <a:cs typeface="+mn-cs"/>
                </a:rPr>
                <a:t>DELIVERABLE</a:t>
              </a:r>
            </a:p>
          </p:txBody>
        </p:sp>
        <p:sp>
          <p:nvSpPr>
            <p:cNvPr id="49" name="TextBox 49"/>
            <p:cNvSpPr txBox="1"/>
            <p:nvPr/>
          </p:nvSpPr>
          <p:spPr>
            <a:xfrm>
              <a:off x="6241923" y="3996214"/>
              <a:ext cx="1354199" cy="249364"/>
            </a:xfrm>
            <a:prstGeom prst="rect">
              <a:avLst/>
            </a:prstGeom>
            <a:noFill/>
            <a:ln>
              <a:noFill/>
            </a:ln>
          </p:spPr>
          <p:txBody>
            <a:bodyPr wrap="none" lIns="0" tIns="0" rIns="0" bIns="0" anchor="t" anchorCtr="0">
              <a:spAutoFit/>
            </a:bodyPr>
            <a:lstStyle/>
            <a:p>
              <a:pPr algn="l"/>
              <a:r>
                <a:rPr lang="en-US" sz="1280" dirty="0">
                  <a:solidFill>
                    <a:srgbClr val="FBF7EE"/>
                  </a:solidFill>
                  <a:latin typeface="+mn-lt"/>
                  <a:ea typeface="+mn-ea"/>
                  <a:cs typeface="+mn-cs"/>
                </a:rPr>
                <a:t>Frozen run spec</a:t>
              </a:r>
            </a:p>
          </p:txBody>
        </p:sp>
        <p:sp>
          <p:nvSpPr>
            <p:cNvPr id="50" name="TextBox 50"/>
            <p:cNvSpPr txBox="1"/>
            <p:nvPr/>
          </p:nvSpPr>
          <p:spPr>
            <a:xfrm>
              <a:off x="6242304" y="4451985"/>
              <a:ext cx="361676" cy="234696"/>
            </a:xfrm>
            <a:prstGeom prst="rect">
              <a:avLst/>
            </a:prstGeom>
            <a:noFill/>
            <a:ln>
              <a:noFill/>
            </a:ln>
          </p:spPr>
          <p:txBody>
            <a:bodyPr wrap="none" lIns="0" tIns="0" rIns="0" bIns="0" anchor="t" anchorCtr="0">
              <a:spAutoFit/>
            </a:bodyPr>
            <a:lstStyle/>
            <a:p>
              <a:pPr algn="l"/>
              <a:r>
                <a:rPr lang="en-US" sz="1200" b="1" dirty="0">
                  <a:solidFill>
                    <a:srgbClr val="B9D0C7"/>
                  </a:solidFill>
                  <a:latin typeface="+mn-lt"/>
                  <a:ea typeface="+mn-ea"/>
                  <a:cs typeface="+mn-cs"/>
                </a:rPr>
                <a:t>EXIT</a:t>
              </a:r>
            </a:p>
          </p:txBody>
        </p:sp>
        <p:sp>
          <p:nvSpPr>
            <p:cNvPr id="51" name="TextBox 51"/>
            <p:cNvSpPr txBox="1"/>
            <p:nvPr/>
          </p:nvSpPr>
          <p:spPr>
            <a:xfrm>
              <a:off x="6242304" y="4709160"/>
              <a:ext cx="1414272" cy="472821"/>
            </a:xfrm>
            <a:prstGeom prst="rect">
              <a:avLst/>
            </a:prstGeom>
            <a:noFill/>
            <a:ln>
              <a:noFill/>
            </a:ln>
          </p:spPr>
          <p:txBody>
            <a:bodyPr wrap="none" lIns="0" tIns="0" rIns="0" bIns="0" anchor="t" anchorCtr="0">
              <a:spAutoFit/>
            </a:bodyPr>
            <a:lstStyle/>
            <a:p>
              <a:pPr algn="l">
                <a:lnSpc>
                  <a:spcPts val="1875"/>
                </a:lnSpc>
              </a:pPr>
              <a:r>
                <a:rPr lang="en-US" sz="1200" dirty="0">
                  <a:solidFill>
                    <a:srgbClr val="FBF7EE"/>
                  </a:solidFill>
                  <a:latin typeface="+mn-lt"/>
                  <a:ea typeface="+mn-ea"/>
                  <a:cs typeface="+mn-cs"/>
                </a:rPr>
                <a:t>Shots · calibration</a:t>
              </a:r>
              <a:br/>
              <a:r>
                <a:rPr lang="en-US" sz="1200" dirty="0">
                  <a:solidFill>
                    <a:srgbClr val="FBF7EE"/>
                  </a:solidFill>
                  <a:latin typeface="+mn-lt"/>
                  <a:ea typeface="+mn-ea"/>
                  <a:cs typeface="+mn-cs"/>
                </a:rPr>
                <a:t>metadata locked</a:t>
              </a:r>
            </a:p>
          </p:txBody>
        </p:sp>
        <p:sp>
          <p:nvSpPr>
            <p:cNvPr id="52" name="Rectangle 52"/>
            <p:cNvSpPr/>
            <p:nvPr/>
          </p:nvSpPr>
          <p:spPr>
            <a:xfrm>
              <a:off x="7924800" y="2495550"/>
              <a:ext cx="1676400" cy="2895600"/>
            </a:xfrm>
            <a:prstGeom prst="rect">
              <a:avLst/>
            </a:prstGeom>
            <a:solidFill>
              <a:schemeClr val="lt2"/>
            </a:solidFill>
            <a:ln w="28575">
              <a:solidFill>
                <a:schemeClr val="accent2"/>
              </a:solidFill>
              <a:custDash>
                <a:ds d="333333" sp="233333"/>
              </a:custDash>
            </a:ln>
          </p:spPr>
        </p:sp>
        <p:sp>
          <p:nvSpPr>
            <p:cNvPr id="53" name="TextBox 53"/>
            <p:cNvSpPr txBox="1"/>
            <p:nvPr/>
          </p:nvSpPr>
          <p:spPr>
            <a:xfrm>
              <a:off x="8070342" y="2664142"/>
              <a:ext cx="890786"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QPU GATE</a:t>
              </a:r>
            </a:p>
          </p:txBody>
        </p:sp>
        <p:sp>
          <p:nvSpPr>
            <p:cNvPr id="54" name="TextBox 54"/>
            <p:cNvSpPr txBox="1"/>
            <p:nvPr/>
          </p:nvSpPr>
          <p:spPr>
            <a:xfrm>
              <a:off x="8068437" y="2976086"/>
              <a:ext cx="1645996" cy="613600"/>
            </a:xfrm>
            <a:prstGeom prst="rect">
              <a:avLst/>
            </a:prstGeom>
            <a:noFill/>
            <a:ln>
              <a:noFill/>
            </a:ln>
          </p:spPr>
          <p:txBody>
            <a:bodyPr wrap="none" lIns="0" tIns="0" rIns="0" bIns="0" anchor="t" anchorCtr="0">
              <a:spAutoFit/>
            </a:bodyPr>
            <a:lstStyle/>
            <a:p>
              <a:pPr algn="l">
                <a:lnSpc>
                  <a:spcPts val="2175"/>
                </a:lnSpc>
              </a:pPr>
              <a:r>
                <a:rPr lang="en-US" sz="1720" b="1" dirty="0">
                  <a:solidFill>
                    <a:schemeClr val="accent1"/>
                  </a:solidFill>
                  <a:latin typeface="+mj-lt"/>
                  <a:ea typeface="+mj-ea"/>
                  <a:cs typeface="+mj-cs"/>
                </a:rPr>
                <a:t>Remote subset</a:t>
              </a:r>
              <a:br/>
              <a:r>
                <a:rPr lang="en-US" sz="1720" b="1" dirty="0">
                  <a:solidFill>
                    <a:schemeClr val="accent1"/>
                  </a:solidFill>
                  <a:latin typeface="+mj-lt"/>
                  <a:ea typeface="+mj-ea"/>
                  <a:cs typeface="+mj-cs"/>
                </a:rPr>
                <a:t>raw counts</a:t>
              </a:r>
            </a:p>
          </p:txBody>
        </p:sp>
        <p:sp>
          <p:nvSpPr>
            <p:cNvPr id="55" name="TextBox 55"/>
            <p:cNvSpPr txBox="1"/>
            <p:nvPr/>
          </p:nvSpPr>
          <p:spPr>
            <a:xfrm>
              <a:off x="8071104" y="3747135"/>
              <a:ext cx="1051682"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mn-lt"/>
                  <a:ea typeface="+mn-ea"/>
                  <a:cs typeface="+mn-cs"/>
                </a:rPr>
                <a:t>DELIVERABLE</a:t>
              </a:r>
            </a:p>
          </p:txBody>
        </p:sp>
        <p:sp>
          <p:nvSpPr>
            <p:cNvPr id="56" name="TextBox 56"/>
            <p:cNvSpPr txBox="1"/>
            <p:nvPr/>
          </p:nvSpPr>
          <p:spPr>
            <a:xfrm>
              <a:off x="8070723" y="3996214"/>
              <a:ext cx="145686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Calibrated result</a:t>
              </a:r>
            </a:p>
          </p:txBody>
        </p:sp>
        <p:sp>
          <p:nvSpPr>
            <p:cNvPr id="57" name="TextBox 57"/>
            <p:cNvSpPr txBox="1"/>
            <p:nvPr/>
          </p:nvSpPr>
          <p:spPr>
            <a:xfrm>
              <a:off x="8071104" y="4451985"/>
              <a:ext cx="361676" cy="234696"/>
            </a:xfrm>
            <a:prstGeom prst="rect">
              <a:avLst/>
            </a:prstGeom>
            <a:noFill/>
            <a:ln>
              <a:noFill/>
            </a:ln>
          </p:spPr>
          <p:txBody>
            <a:bodyPr wrap="none" lIns="0" tIns="0" rIns="0" bIns="0" anchor="t" anchorCtr="0">
              <a:spAutoFit/>
            </a:bodyPr>
            <a:lstStyle/>
            <a:p>
              <a:pPr algn="l"/>
              <a:r>
                <a:rPr lang="en-US" sz="1200" b="1" dirty="0">
                  <a:solidFill>
                    <a:schemeClr val="accent5"/>
                  </a:solidFill>
                  <a:latin typeface="+mn-lt"/>
                  <a:ea typeface="+mn-ea"/>
                  <a:cs typeface="+mn-cs"/>
                </a:rPr>
                <a:t>EXIT</a:t>
              </a:r>
            </a:p>
          </p:txBody>
        </p:sp>
        <p:sp>
          <p:nvSpPr>
            <p:cNvPr id="58" name="TextBox 58"/>
            <p:cNvSpPr txBox="1"/>
            <p:nvPr/>
          </p:nvSpPr>
          <p:spPr>
            <a:xfrm>
              <a:off x="8070723" y="4701064"/>
              <a:ext cx="1321562" cy="487490"/>
            </a:xfrm>
            <a:prstGeom prst="rect">
              <a:avLst/>
            </a:prstGeom>
            <a:noFill/>
            <a:ln>
              <a:noFill/>
            </a:ln>
          </p:spPr>
          <p:txBody>
            <a:bodyPr wrap="none" lIns="0" tIns="0" rIns="0" bIns="0" anchor="t" anchorCtr="0">
              <a:spAutoFit/>
            </a:bodyPr>
            <a:lstStyle/>
            <a:p>
              <a:pPr algn="l">
                <a:lnSpc>
                  <a:spcPts val="1875"/>
                </a:lnSpc>
              </a:pPr>
              <a:r>
                <a:rPr lang="en-US" sz="1280" dirty="0">
                  <a:solidFill>
                    <a:schemeClr val="dk1"/>
                  </a:solidFill>
                  <a:latin typeface="+mn-lt"/>
                  <a:ea typeface="+mn-ea"/>
                  <a:cs typeface="+mn-cs"/>
                </a:rPr>
                <a:t>Run only after</a:t>
              </a:r>
              <a:br/>
              <a:r>
                <a:rPr lang="en-US" sz="1280" dirty="0">
                  <a:solidFill>
                    <a:schemeClr val="dk1"/>
                  </a:solidFill>
                  <a:latin typeface="+mn-lt"/>
                  <a:ea typeface="+mn-ea"/>
                  <a:cs typeface="+mn-cs"/>
                </a:rPr>
                <a:t>prior gates pass</a:t>
              </a:r>
            </a:p>
          </p:txBody>
        </p:sp>
        <p:sp>
          <p:nvSpPr>
            <p:cNvPr id="59" name="Rectangle 59"/>
            <p:cNvSpPr/>
            <p:nvPr/>
          </p:nvSpPr>
          <p:spPr>
            <a:xfrm>
              <a:off x="9753600" y="2495550"/>
              <a:ext cx="1828800" cy="2895600"/>
            </a:xfrm>
            <a:prstGeom prst="rect">
              <a:avLst/>
            </a:prstGeom>
            <a:solidFill>
              <a:schemeClr val="accent3"/>
            </a:solidFill>
            <a:ln>
              <a:noFill/>
            </a:ln>
          </p:spPr>
        </p:sp>
        <p:sp>
          <p:nvSpPr>
            <p:cNvPr id="60" name="TextBox 60"/>
            <p:cNvSpPr txBox="1"/>
            <p:nvPr/>
          </p:nvSpPr>
          <p:spPr>
            <a:xfrm>
              <a:off x="9899142" y="2664142"/>
              <a:ext cx="628673"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DECIDE</a:t>
              </a:r>
            </a:p>
          </p:txBody>
        </p:sp>
        <p:sp>
          <p:nvSpPr>
            <p:cNvPr id="61" name="TextBox 61"/>
            <p:cNvSpPr txBox="1"/>
            <p:nvPr/>
          </p:nvSpPr>
          <p:spPr>
            <a:xfrm>
              <a:off x="9898380" y="2962275"/>
              <a:ext cx="1505426" cy="807720"/>
            </a:xfrm>
            <a:prstGeom prst="rect">
              <a:avLst/>
            </a:prstGeom>
            <a:noFill/>
            <a:ln>
              <a:noFill/>
            </a:ln>
          </p:spPr>
          <p:txBody>
            <a:bodyPr wrap="none" lIns="0" tIns="0" rIns="0" bIns="0" anchor="t" anchorCtr="0">
              <a:spAutoFit/>
            </a:bodyPr>
            <a:lstStyle/>
            <a:p>
              <a:pPr algn="l">
                <a:lnSpc>
                  <a:spcPts val="2025"/>
                </a:lnSpc>
              </a:pPr>
              <a:r>
                <a:rPr lang="en-US" sz="1500" b="1" dirty="0">
                  <a:solidFill>
                    <a:srgbClr val="FFFFFF"/>
                  </a:solidFill>
                  <a:latin typeface="+mj-lt"/>
                  <a:ea typeface="+mj-ea"/>
                  <a:cs typeface="+mj-cs"/>
                </a:rPr>
                <a:t>Harder-data or</a:t>
              </a:r>
              <a:br/>
              <a:r>
                <a:rPr lang="en-US" sz="1500" b="1" dirty="0">
                  <a:solidFill>
                    <a:srgbClr val="FFFFFF"/>
                  </a:solidFill>
                  <a:latin typeface="+mj-lt"/>
                  <a:ea typeface="+mj-ea"/>
                  <a:cs typeface="+mj-cs"/>
                </a:rPr>
                <a:t>independent</a:t>
              </a:r>
              <a:br/>
              <a:r>
                <a:rPr lang="en-US" sz="1500" b="1" dirty="0">
                  <a:solidFill>
                    <a:srgbClr val="FFFFFF"/>
                  </a:solidFill>
                  <a:latin typeface="+mj-lt"/>
                  <a:ea typeface="+mj-ea"/>
                  <a:cs typeface="+mj-cs"/>
                </a:rPr>
                <a:t>replication</a:t>
              </a:r>
            </a:p>
          </p:txBody>
        </p:sp>
        <p:sp>
          <p:nvSpPr>
            <p:cNvPr id="62" name="TextBox 62"/>
            <p:cNvSpPr txBox="1"/>
            <p:nvPr/>
          </p:nvSpPr>
          <p:spPr>
            <a:xfrm>
              <a:off x="9899904" y="3747135"/>
              <a:ext cx="1051682" cy="234696"/>
            </a:xfrm>
            <a:prstGeom prst="rect">
              <a:avLst/>
            </a:prstGeom>
            <a:noFill/>
            <a:ln>
              <a:noFill/>
            </a:ln>
          </p:spPr>
          <p:txBody>
            <a:bodyPr wrap="none" lIns="0" tIns="0" rIns="0" bIns="0" anchor="t" anchorCtr="0">
              <a:spAutoFit/>
            </a:bodyPr>
            <a:lstStyle/>
            <a:p>
              <a:pPr algn="l"/>
              <a:r>
                <a:rPr lang="en-US" sz="1200" b="1" dirty="0">
                  <a:solidFill>
                    <a:srgbClr val="FBF7EE"/>
                  </a:solidFill>
                  <a:latin typeface="+mn-lt"/>
                  <a:ea typeface="+mn-ea"/>
                  <a:cs typeface="+mn-cs"/>
                </a:rPr>
                <a:t>DELIVERABLE</a:t>
              </a:r>
            </a:p>
          </p:txBody>
        </p:sp>
        <p:sp>
          <p:nvSpPr>
            <p:cNvPr id="63" name="TextBox 63"/>
            <p:cNvSpPr txBox="1"/>
            <p:nvPr/>
          </p:nvSpPr>
          <p:spPr>
            <a:xfrm>
              <a:off x="9899523" y="3996214"/>
              <a:ext cx="1190214"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Decision memo</a:t>
              </a:r>
            </a:p>
          </p:txBody>
        </p:sp>
        <p:sp>
          <p:nvSpPr>
            <p:cNvPr id="64" name="TextBox 64"/>
            <p:cNvSpPr txBox="1"/>
            <p:nvPr/>
          </p:nvSpPr>
          <p:spPr>
            <a:xfrm>
              <a:off x="9899904" y="4451985"/>
              <a:ext cx="361676" cy="234696"/>
            </a:xfrm>
            <a:prstGeom prst="rect">
              <a:avLst/>
            </a:prstGeom>
            <a:noFill/>
            <a:ln>
              <a:noFill/>
            </a:ln>
          </p:spPr>
          <p:txBody>
            <a:bodyPr wrap="none" lIns="0" tIns="0" rIns="0" bIns="0" anchor="t" anchorCtr="0">
              <a:spAutoFit/>
            </a:bodyPr>
            <a:lstStyle/>
            <a:p>
              <a:pPr algn="l"/>
              <a:r>
                <a:rPr lang="en-US" sz="1200" b="1" dirty="0">
                  <a:solidFill>
                    <a:srgbClr val="FBF7EE"/>
                  </a:solidFill>
                  <a:latin typeface="+mn-lt"/>
                  <a:ea typeface="+mn-ea"/>
                  <a:cs typeface="+mn-cs"/>
                </a:rPr>
                <a:t>EXIT</a:t>
              </a:r>
            </a:p>
          </p:txBody>
        </p:sp>
        <p:sp>
          <p:nvSpPr>
            <p:cNvPr id="65" name="TextBox 65"/>
            <p:cNvSpPr txBox="1"/>
            <p:nvPr/>
          </p:nvSpPr>
          <p:spPr>
            <a:xfrm>
              <a:off x="9899523" y="4701064"/>
              <a:ext cx="1467866" cy="487490"/>
            </a:xfrm>
            <a:prstGeom prst="rect">
              <a:avLst/>
            </a:prstGeom>
            <a:noFill/>
            <a:ln>
              <a:noFill/>
            </a:ln>
          </p:spPr>
          <p:txBody>
            <a:bodyPr wrap="none" lIns="0" tIns="0" rIns="0" bIns="0" anchor="t" anchorCtr="0">
              <a:spAutoFit/>
            </a:bodyPr>
            <a:lstStyle/>
            <a:p>
              <a:pPr algn="l">
                <a:lnSpc>
                  <a:spcPts val="1875"/>
                </a:lnSpc>
              </a:pPr>
              <a:r>
                <a:rPr lang="en-US" sz="1280" dirty="0">
                  <a:solidFill>
                    <a:srgbClr val="FFFFFF"/>
                  </a:solidFill>
                  <a:latin typeface="+mn-lt"/>
                  <a:ea typeface="+mn-ea"/>
                  <a:cs typeface="+mn-cs"/>
                </a:rPr>
                <a:t>Utility evidence</a:t>
              </a:r>
              <a:br/>
              <a:r>
                <a:rPr lang="en-US" sz="1280" dirty="0">
                  <a:solidFill>
                    <a:srgbClr val="FFFFFF"/>
                  </a:solidFill>
                  <a:latin typeface="+mn-lt"/>
                  <a:ea typeface="+mn-ea"/>
                  <a:cs typeface="+mn-cs"/>
                </a:rPr>
                <a:t>or disciplined stop</a:t>
              </a:r>
            </a:p>
          </p:txBody>
        </p:sp>
      </p:grpSp>
      <p:grpSp>
        <p:nvGrpSpPr>
          <p:cNvPr id="69" name="Group 69"/>
          <p:cNvGrpSpPr/>
          <p:nvPr/>
        </p:nvGrpSpPr>
        <p:grpSpPr>
          <a:xfrm>
            <a:off x="609600" y="5562600"/>
            <a:ext cx="10972800" cy="495300"/>
            <a:chOff x="609600" y="5562600"/>
            <a:chExt cx="10972800" cy="495300"/>
          </a:xfrm>
        </p:grpSpPr>
        <p:sp>
          <p:nvSpPr>
            <p:cNvPr id="67" name="Rectangle 67"/>
            <p:cNvSpPr/>
            <p:nvPr/>
          </p:nvSpPr>
          <p:spPr>
            <a:xfrm>
              <a:off x="609600" y="5562600"/>
              <a:ext cx="10972800" cy="495300"/>
            </a:xfrm>
            <a:prstGeom prst="rect">
              <a:avLst/>
            </a:prstGeom>
            <a:solidFill>
              <a:schemeClr val="lt2"/>
            </a:solidFill>
            <a:ln>
              <a:noFill/>
            </a:ln>
          </p:spPr>
        </p:sp>
        <p:sp>
          <p:nvSpPr>
            <p:cNvPr id="68" name="TextBox 68"/>
            <p:cNvSpPr txBox="1"/>
            <p:nvPr/>
          </p:nvSpPr>
          <p:spPr>
            <a:xfrm>
              <a:off x="1897153" y="5715000"/>
              <a:ext cx="8397694"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n-lt"/>
                  <a:ea typeface="+mn-ea"/>
                  <a:cs typeface="+mn-cs"/>
                </a:rPr>
                <a:t>The 12-week clock begins with five-fold replication—not work already completed.</a:t>
              </a:r>
            </a:p>
          </p:txBody>
        </p:sp>
      </p:grpSp>
      <p:grpSp>
        <p:nvGrpSpPr>
          <p:cNvPr id="71" name="Group 71"/>
          <p:cNvGrpSpPr/>
          <p:nvPr/>
        </p:nvGrpSpPr>
        <p:grpSpPr>
          <a:xfrm>
            <a:off x="10966723" y="6426518"/>
            <a:ext cx="622535" cy="264033"/>
            <a:chOff x="10966723" y="6426518"/>
            <a:chExt cx="622535" cy="264033"/>
          </a:xfrm>
        </p:grpSpPr>
        <p:sp>
          <p:nvSpPr>
            <p:cNvPr id="70" name="TextBox 70"/>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05 / 10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12362021" cy="913447"/>
            <a:chOff x="594360" y="482918"/>
            <a:chExt cx="12362021" cy="913447"/>
          </a:xfrm>
        </p:grpSpPr>
        <p:sp>
          <p:nvSpPr>
            <p:cNvPr id="3" name="TextBox 3"/>
            <p:cNvSpPr txBox="1"/>
            <p:nvPr/>
          </p:nvSpPr>
          <p:spPr>
            <a:xfrm>
              <a:off x="602742" y="482918"/>
              <a:ext cx="4085425"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COMPLETED PILOT · PRIMARY EVIDENCE</a:t>
              </a:r>
            </a:p>
          </p:txBody>
        </p:sp>
        <p:sp>
          <p:nvSpPr>
            <p:cNvPr id="4" name="TextBox 4"/>
            <p:cNvSpPr txBox="1"/>
            <p:nvPr/>
          </p:nvSpPr>
          <p:spPr>
            <a:xfrm>
              <a:off x="594360" y="809625"/>
              <a:ext cx="1236202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pilot shows useful signal—not competitive advantage</a:t>
              </a:r>
            </a:p>
          </p:txBody>
        </p:sp>
      </p:grpSp>
      <p:grpSp>
        <p:nvGrpSpPr>
          <p:cNvPr id="8" name="Group 8"/>
          <p:cNvGrpSpPr/>
          <p:nvPr/>
        </p:nvGrpSpPr>
        <p:grpSpPr>
          <a:xfrm>
            <a:off x="609600" y="1504950"/>
            <a:ext cx="7086600" cy="4286250"/>
            <a:chOff x="609600" y="1504950"/>
            <a:chExt cx="7086600" cy="4286250"/>
          </a:xfrm>
        </p:grpSpPr>
        <p:sp>
          <p:nvSpPr>
            <p:cNvPr id="6" name="Rectangle 6"/>
            <p:cNvSpPr/>
            <p:nvPr/>
          </p:nvSpPr>
          <p:spPr>
            <a:xfrm>
              <a:off x="609600" y="1504950"/>
              <a:ext cx="7086600" cy="4286250"/>
            </a:xfrm>
            <a:prstGeom prst="rect">
              <a:avLst/>
            </a:prstGeom>
            <a:solidFill>
              <a:srgbClr val="FFFFFF"/>
            </a:solidFill>
            <a:ln>
              <a:noFill/>
            </a:ln>
          </p:spPr>
        </p:sp>
        <p:pic>
          <p:nvPicPr>
            <p:cNvPr id="7" name="Image 7"/>
            <p:cNvPicPr>
              <a:picLocks noChangeAspect="1"/>
            </p:cNvPicPr>
            <p:nvPr/>
          </p:nvPicPr>
          <p:blipFill>
            <a:blip r:embed="rId2"/>
            <a:stretch>
              <a:fillRect/>
            </a:stretch>
          </p:blipFill>
          <p:spPr>
            <a:xfrm>
              <a:off x="742950" y="1904892"/>
              <a:ext cx="6819900" cy="3429215"/>
            </a:xfrm>
            <a:prstGeom prst="rect">
              <a:avLst/>
            </a:prstGeom>
          </p:spPr>
        </p:pic>
      </p:grpSp>
      <p:grpSp>
        <p:nvGrpSpPr>
          <p:cNvPr id="21" name="Group 21"/>
          <p:cNvGrpSpPr/>
          <p:nvPr/>
        </p:nvGrpSpPr>
        <p:grpSpPr>
          <a:xfrm>
            <a:off x="7951470" y="1683068"/>
            <a:ext cx="3630930" cy="4128896"/>
            <a:chOff x="7951470" y="1683068"/>
            <a:chExt cx="3630930" cy="4128896"/>
          </a:xfrm>
        </p:grpSpPr>
        <p:sp>
          <p:nvSpPr>
            <p:cNvPr id="9" name="TextBox 9"/>
            <p:cNvSpPr txBox="1"/>
            <p:nvPr/>
          </p:nvSpPr>
          <p:spPr>
            <a:xfrm>
              <a:off x="7956042" y="1683068"/>
              <a:ext cx="1757774"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Q1 · PHOTONIC-15</a:t>
              </a:r>
            </a:p>
          </p:txBody>
        </p:sp>
        <p:sp>
          <p:nvSpPr>
            <p:cNvPr id="10" name="TextBox 10"/>
            <p:cNvSpPr txBox="1"/>
            <p:nvPr/>
          </p:nvSpPr>
          <p:spPr>
            <a:xfrm>
              <a:off x="7951470" y="2033588"/>
              <a:ext cx="2487668"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Consolas"/>
                  <a:ea typeface="Consolas"/>
                  <a:cs typeface="Consolas"/>
                </a:rPr>
                <a:t>0.7812 → 0.7886</a:t>
              </a:r>
            </a:p>
          </p:txBody>
        </p:sp>
        <p:sp>
          <p:nvSpPr>
            <p:cNvPr id="11" name="TextBox 11"/>
            <p:cNvSpPr txBox="1"/>
            <p:nvPr/>
          </p:nvSpPr>
          <p:spPr>
            <a:xfrm>
              <a:off x="7951470" y="2414588"/>
              <a:ext cx="1342725" cy="440055"/>
            </a:xfrm>
            <a:prstGeom prst="rect">
              <a:avLst/>
            </a:prstGeom>
            <a:noFill/>
            <a:ln>
              <a:noFill/>
            </a:ln>
          </p:spPr>
          <p:txBody>
            <a:bodyPr wrap="none" lIns="0" tIns="0" rIns="0" bIns="0" anchor="t" anchorCtr="0">
              <a:spAutoFit/>
            </a:bodyPr>
            <a:lstStyle/>
            <a:p>
              <a:pPr algn="l"/>
              <a:r>
                <a:rPr lang="en-US" sz="2250" b="1" dirty="0">
                  <a:solidFill>
                    <a:schemeClr val="accent5"/>
                  </a:solidFill>
                  <a:latin typeface="Consolas"/>
                  <a:ea typeface="Consolas"/>
                  <a:cs typeface="Consolas"/>
                </a:rPr>
                <a:t>→ 0.8708</a:t>
              </a:r>
            </a:p>
          </p:txBody>
        </p:sp>
        <p:sp>
          <p:nvSpPr>
            <p:cNvPr id="12" name="TextBox 12"/>
            <p:cNvSpPr txBox="1"/>
            <p:nvPr/>
          </p:nvSpPr>
          <p:spPr>
            <a:xfrm>
              <a:off x="7956042" y="2787968"/>
              <a:ext cx="245807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12 · 24 · 48 labels per class</a:t>
              </a:r>
            </a:p>
          </p:txBody>
        </p:sp>
        <p:sp>
          <p:nvSpPr>
            <p:cNvPr id="13" name="Line 13"/>
            <p:cNvSpPr/>
            <p:nvPr/>
          </p:nvSpPr>
          <p:spPr>
            <a:xfrm>
              <a:off x="7962900" y="3162300"/>
              <a:ext cx="3619500" cy="9525"/>
            </a:xfrm>
            <a:custGeom>
              <a:avLst/>
              <a:gdLst/>
              <a:ahLst/>
              <a:cxnLst/>
              <a:rect l="l" t="t" r="r" b="b"/>
              <a:pathLst>
                <a:path w="3619500" h="9525">
                  <a:moveTo>
                    <a:pt x="0" y="0"/>
                  </a:moveTo>
                  <a:lnTo>
                    <a:pt x="3619500" y="0"/>
                  </a:lnTo>
                </a:path>
              </a:pathLst>
            </a:custGeom>
            <a:noFill/>
            <a:ln w="19050">
              <a:solidFill>
                <a:srgbClr val="C9BDA8"/>
              </a:solidFill>
            </a:ln>
          </p:spPr>
        </p:sp>
        <p:sp>
          <p:nvSpPr>
            <p:cNvPr id="14" name="TextBox 14"/>
            <p:cNvSpPr txBox="1"/>
            <p:nvPr/>
          </p:nvSpPr>
          <p:spPr>
            <a:xfrm>
              <a:off x="7956042" y="3378518"/>
              <a:ext cx="221143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B1 · FULL CLIP + LINEAR</a:t>
              </a:r>
            </a:p>
          </p:txBody>
        </p:sp>
        <p:sp>
          <p:nvSpPr>
            <p:cNvPr id="15" name="TextBox 15"/>
            <p:cNvSpPr txBox="1"/>
            <p:nvPr/>
          </p:nvSpPr>
          <p:spPr>
            <a:xfrm>
              <a:off x="7951470" y="3729038"/>
              <a:ext cx="2487668"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Consolas"/>
                  <a:ea typeface="Consolas"/>
                  <a:cs typeface="Consolas"/>
                </a:rPr>
                <a:t>0.9242 → 0.9638</a:t>
              </a:r>
            </a:p>
          </p:txBody>
        </p:sp>
        <p:sp>
          <p:nvSpPr>
            <p:cNvPr id="16" name="TextBox 16"/>
            <p:cNvSpPr txBox="1"/>
            <p:nvPr/>
          </p:nvSpPr>
          <p:spPr>
            <a:xfrm>
              <a:off x="7951470" y="4110038"/>
              <a:ext cx="1342725"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Consolas"/>
                  <a:ea typeface="Consolas"/>
                  <a:cs typeface="Consolas"/>
                </a:rPr>
                <a:t>→ 0.9852</a:t>
              </a:r>
            </a:p>
          </p:txBody>
        </p:sp>
        <p:sp>
          <p:nvSpPr>
            <p:cNvPr id="17" name="Line 17"/>
            <p:cNvSpPr/>
            <p:nvPr/>
          </p:nvSpPr>
          <p:spPr>
            <a:xfrm>
              <a:off x="7962900" y="4610100"/>
              <a:ext cx="3619500" cy="9525"/>
            </a:xfrm>
            <a:custGeom>
              <a:avLst/>
              <a:gdLst/>
              <a:ahLst/>
              <a:cxnLst/>
              <a:rect l="l" t="t" r="r" b="b"/>
              <a:pathLst>
                <a:path w="3619500" h="9525">
                  <a:moveTo>
                    <a:pt x="0" y="0"/>
                  </a:moveTo>
                  <a:lnTo>
                    <a:pt x="3619500" y="0"/>
                  </a:lnTo>
                </a:path>
              </a:pathLst>
            </a:custGeom>
            <a:noFill/>
            <a:ln w="19050">
              <a:solidFill>
                <a:srgbClr val="C9BDA8"/>
              </a:solidFill>
            </a:ln>
          </p:spPr>
        </p:sp>
        <p:sp>
          <p:nvSpPr>
            <p:cNvPr id="18" name="Rectangle 18"/>
            <p:cNvSpPr/>
            <p:nvPr/>
          </p:nvSpPr>
          <p:spPr>
            <a:xfrm>
              <a:off x="7962900" y="4857750"/>
              <a:ext cx="3619500" cy="933450"/>
            </a:xfrm>
            <a:prstGeom prst="rect">
              <a:avLst/>
            </a:prstGeom>
            <a:solidFill>
              <a:schemeClr val="accent1"/>
            </a:solidFill>
            <a:ln>
              <a:noFill/>
            </a:ln>
          </p:spPr>
        </p:sp>
        <p:sp>
          <p:nvSpPr>
            <p:cNvPr id="19" name="TextBox 19"/>
            <p:cNvSpPr txBox="1"/>
            <p:nvPr/>
          </p:nvSpPr>
          <p:spPr>
            <a:xfrm>
              <a:off x="8184642" y="4997768"/>
              <a:ext cx="1344442" cy="264033"/>
            </a:xfrm>
            <a:prstGeom prst="rect">
              <a:avLst/>
            </a:prstGeom>
            <a:noFill/>
            <a:ln>
              <a:noFill/>
            </a:ln>
          </p:spPr>
          <p:txBody>
            <a:bodyPr wrap="none" lIns="0" tIns="0" rIns="0" bIns="0" anchor="t" anchorCtr="0">
              <a:spAutoFit/>
            </a:bodyPr>
            <a:lstStyle/>
            <a:p>
              <a:pPr algn="l"/>
              <a:r>
                <a:rPr lang="en-US" sz="1350" b="1" dirty="0">
                  <a:solidFill>
                    <a:srgbClr val="B9D0C7"/>
                  </a:solidFill>
                  <a:latin typeface="+mn-lt"/>
                  <a:ea typeface="+mn-ea"/>
                  <a:cs typeface="+mn-cs"/>
                </a:rPr>
                <a:t>PILOT VERDICT</a:t>
              </a:r>
            </a:p>
          </p:txBody>
        </p:sp>
        <p:sp>
          <p:nvSpPr>
            <p:cNvPr id="20" name="TextBox 20"/>
            <p:cNvSpPr txBox="1"/>
            <p:nvPr/>
          </p:nvSpPr>
          <p:spPr>
            <a:xfrm>
              <a:off x="8183118" y="5251132"/>
              <a:ext cx="2261044" cy="560832"/>
            </a:xfrm>
            <a:prstGeom prst="rect">
              <a:avLst/>
            </a:prstGeom>
            <a:noFill/>
            <a:ln>
              <a:noFill/>
            </a:ln>
          </p:spPr>
          <p:txBody>
            <a:bodyPr wrap="none" lIns="0" tIns="0" rIns="0" bIns="0" anchor="t" anchorCtr="0">
              <a:spAutoFit/>
            </a:bodyPr>
            <a:lstStyle/>
            <a:p>
              <a:pPr algn="l">
                <a:lnSpc>
                  <a:spcPts val="1875"/>
                </a:lnSpc>
              </a:pPr>
              <a:r>
                <a:rPr lang="en-US" sz="1650" b="1" dirty="0">
                  <a:solidFill>
                    <a:srgbClr val="FFFFFF"/>
                  </a:solidFill>
                  <a:latin typeface="+mj-lt"/>
                  <a:ea typeface="+mj-ea"/>
                  <a:cs typeface="+mj-cs"/>
                </a:rPr>
                <a:t>Learns signal;</a:t>
              </a:r>
              <a:br/>
              <a:r>
                <a:rPr lang="en-US" sz="1650" b="1" dirty="0">
                  <a:solidFill>
                    <a:srgbClr val="FFFFFF"/>
                  </a:solidFill>
                  <a:latin typeface="+mj-lt"/>
                  <a:ea typeface="+mj-ea"/>
                  <a:cs typeface="+mj-cs"/>
                </a:rPr>
                <a:t>not competitive yet.</a:t>
              </a:r>
            </a:p>
          </p:txBody>
        </p:sp>
      </p:grpSp>
      <p:grpSp>
        <p:nvGrpSpPr>
          <p:cNvPr id="23" name="Group 23"/>
          <p:cNvGrpSpPr/>
          <p:nvPr/>
        </p:nvGrpSpPr>
        <p:grpSpPr>
          <a:xfrm>
            <a:off x="602742" y="6045518"/>
            <a:ext cx="7921395" cy="264033"/>
            <a:chOff x="602742" y="6045518"/>
            <a:chExt cx="7921395" cy="264033"/>
          </a:xfrm>
        </p:grpSpPr>
        <p:sp>
          <p:nvSpPr>
            <p:cNvPr id="22" name="TextBox 22"/>
            <p:cNvSpPr txBox="1"/>
            <p:nvPr/>
          </p:nvSpPr>
          <p:spPr>
            <a:xfrm>
              <a:off x="602742" y="6045518"/>
              <a:ext cx="7921395" cy="264033"/>
            </a:xfrm>
            <a:prstGeom prst="rect">
              <a:avLst/>
            </a:prstGeom>
            <a:noFill/>
            <a:ln>
              <a:noFill/>
            </a:ln>
          </p:spPr>
          <p:txBody>
            <a:bodyPr wrap="none" lIns="0" tIns="0" rIns="0" bIns="0" anchor="t" anchorCtr="0">
              <a:spAutoFit/>
            </a:bodyPr>
            <a:lstStyle/>
            <a:p>
              <a:pPr algn="l"/>
              <a:r>
                <a:rPr lang="en-US" sz="1350" dirty="0">
                  <a:solidFill>
                    <a:srgbClr val="766E62"/>
                  </a:solidFill>
                  <a:latin typeface="+mn-lt"/>
                  <a:ea typeface="+mn-ea"/>
                  <a:cs typeface="+mn-cs"/>
                </a:rPr>
                <a:t>Mean ± sample SD across three subset seeds · one outer fold · source: main_results.csv</a:t>
              </a:r>
            </a:p>
          </p:txBody>
        </p:sp>
      </p:grpSp>
      <p:grpSp>
        <p:nvGrpSpPr>
          <p:cNvPr id="25" name="Group 25"/>
          <p:cNvGrpSpPr/>
          <p:nvPr/>
        </p:nvGrpSpPr>
        <p:grpSpPr>
          <a:xfrm>
            <a:off x="10966723" y="6426518"/>
            <a:ext cx="622535" cy="264033"/>
            <a:chOff x="10966723" y="6426518"/>
            <a:chExt cx="622535" cy="264033"/>
          </a:xfrm>
        </p:grpSpPr>
        <p:sp>
          <p:nvSpPr>
            <p:cNvPr id="24" name="TextBox 24"/>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06 / 10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6646" y="482918"/>
            <a:ext cx="10942045" cy="874013"/>
            <a:chOff x="596646" y="482918"/>
            <a:chExt cx="10942045" cy="874013"/>
          </a:xfrm>
        </p:grpSpPr>
        <p:sp>
          <p:nvSpPr>
            <p:cNvPr id="3" name="TextBox 3"/>
            <p:cNvSpPr txBox="1"/>
            <p:nvPr/>
          </p:nvSpPr>
          <p:spPr>
            <a:xfrm>
              <a:off x="602742" y="482918"/>
              <a:ext cx="4714570"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DIAGNOSIS · REPRESENTATION AND CONTROLS</a:t>
              </a:r>
            </a:p>
          </p:txBody>
        </p:sp>
        <p:sp>
          <p:nvSpPr>
            <p:cNvPr id="4" name="TextBox 4"/>
            <p:cNvSpPr txBox="1"/>
            <p:nvPr/>
          </p:nvSpPr>
          <p:spPr>
            <a:xfrm>
              <a:off x="596646" y="858202"/>
              <a:ext cx="1094204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PCA-5 explains most of the gap; the map explains the rest</a:t>
              </a:r>
            </a:p>
          </p:txBody>
        </p:sp>
      </p:grpSp>
      <p:grpSp>
        <p:nvGrpSpPr>
          <p:cNvPr id="8" name="Group 8"/>
          <p:cNvGrpSpPr/>
          <p:nvPr/>
        </p:nvGrpSpPr>
        <p:grpSpPr>
          <a:xfrm>
            <a:off x="609600" y="1504950"/>
            <a:ext cx="6896100" cy="3829050"/>
            <a:chOff x="609600" y="1504950"/>
            <a:chExt cx="6896100" cy="3829050"/>
          </a:xfrm>
        </p:grpSpPr>
        <p:sp>
          <p:nvSpPr>
            <p:cNvPr id="6" name="Rectangle 6"/>
            <p:cNvSpPr/>
            <p:nvPr/>
          </p:nvSpPr>
          <p:spPr>
            <a:xfrm>
              <a:off x="609600" y="1504950"/>
              <a:ext cx="6896100" cy="3829050"/>
            </a:xfrm>
            <a:prstGeom prst="rect">
              <a:avLst/>
            </a:prstGeom>
            <a:solidFill>
              <a:srgbClr val="FFFFFF"/>
            </a:solidFill>
            <a:ln>
              <a:noFill/>
            </a:ln>
          </p:spPr>
        </p:sp>
        <p:pic>
          <p:nvPicPr>
            <p:cNvPr id="7" name="Image 7"/>
            <p:cNvPicPr>
              <a:picLocks noChangeAspect="1"/>
            </p:cNvPicPr>
            <p:nvPr/>
          </p:nvPicPr>
          <p:blipFill>
            <a:blip r:embed="rId2"/>
            <a:stretch>
              <a:fillRect/>
            </a:stretch>
          </p:blipFill>
          <p:spPr>
            <a:xfrm>
              <a:off x="742950" y="1743236"/>
              <a:ext cx="6629400" cy="3333427"/>
            </a:xfrm>
            <a:prstGeom prst="rect">
              <a:avLst/>
            </a:prstGeom>
          </p:spPr>
        </p:pic>
      </p:grpSp>
      <p:grpSp>
        <p:nvGrpSpPr>
          <p:cNvPr id="22" name="Group 22"/>
          <p:cNvGrpSpPr/>
          <p:nvPr/>
        </p:nvGrpSpPr>
        <p:grpSpPr>
          <a:xfrm>
            <a:off x="7761732" y="1664018"/>
            <a:ext cx="3820668" cy="3673316"/>
            <a:chOff x="7761732" y="1664018"/>
            <a:chExt cx="3820668" cy="3673316"/>
          </a:xfrm>
        </p:grpSpPr>
        <p:sp>
          <p:nvSpPr>
            <p:cNvPr id="9" name="TextBox 9"/>
            <p:cNvSpPr txBox="1"/>
            <p:nvPr/>
          </p:nvSpPr>
          <p:spPr>
            <a:xfrm>
              <a:off x="7765542" y="1664018"/>
              <a:ext cx="2987688"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FULL → PCA-5 PENALTY · B1 − B3</a:t>
              </a:r>
            </a:p>
          </p:txBody>
        </p:sp>
        <p:sp>
          <p:nvSpPr>
            <p:cNvPr id="10" name="TextBox 10"/>
            <p:cNvSpPr txBox="1"/>
            <p:nvPr/>
          </p:nvSpPr>
          <p:spPr>
            <a:xfrm>
              <a:off x="7761732" y="1983105"/>
              <a:ext cx="364274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+.1018 · +.0993 · +.0713</a:t>
              </a:r>
            </a:p>
          </p:txBody>
        </p:sp>
        <p:sp>
          <p:nvSpPr>
            <p:cNvPr id="11" name="TextBox 11"/>
            <p:cNvSpPr txBox="1"/>
            <p:nvPr/>
          </p:nvSpPr>
          <p:spPr>
            <a:xfrm>
              <a:off x="7766304" y="2346960"/>
              <a:ext cx="1587246" cy="234696"/>
            </a:xfrm>
            <a:prstGeom prst="rect">
              <a:avLst/>
            </a:prstGeom>
            <a:noFill/>
            <a:ln>
              <a:noFill/>
            </a:ln>
          </p:spPr>
          <p:txBody>
            <a:bodyPr wrap="none" lIns="0" tIns="0" rIns="0" bIns="0" anchor="t" anchorCtr="0">
              <a:spAutoFit/>
            </a:bodyPr>
            <a:lstStyle/>
            <a:p>
              <a:pPr algn="l"/>
              <a:r>
                <a:rPr lang="en-US" sz="1200" dirty="0">
                  <a:solidFill>
                    <a:srgbClr val="766E62"/>
                  </a:solidFill>
                  <a:latin typeface="+mn-lt"/>
                  <a:ea typeface="+mn-ea"/>
                  <a:cs typeface="+mn-cs"/>
                </a:rPr>
                <a:t>budgets 12 · 24 · 48</a:t>
              </a:r>
            </a:p>
          </p:txBody>
        </p:sp>
        <p:sp>
          <p:nvSpPr>
            <p:cNvPr id="12" name="Rectangle 12"/>
            <p:cNvSpPr/>
            <p:nvPr/>
          </p:nvSpPr>
          <p:spPr>
            <a:xfrm>
              <a:off x="7772400" y="2724150"/>
              <a:ext cx="3810000" cy="704850"/>
            </a:xfrm>
            <a:prstGeom prst="rect">
              <a:avLst/>
            </a:prstGeom>
            <a:solidFill>
              <a:schemeClr val="accent3"/>
            </a:solidFill>
            <a:ln>
              <a:noFill/>
            </a:ln>
          </p:spPr>
        </p:sp>
        <p:sp>
          <p:nvSpPr>
            <p:cNvPr id="13" name="TextBox 13"/>
            <p:cNvSpPr txBox="1"/>
            <p:nvPr/>
          </p:nvSpPr>
          <p:spPr>
            <a:xfrm>
              <a:off x="7994142" y="2864168"/>
              <a:ext cx="840379"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Q1 − RFF</a:t>
              </a:r>
            </a:p>
          </p:txBody>
        </p:sp>
        <p:sp>
          <p:nvSpPr>
            <p:cNvPr id="14" name="TextBox 14"/>
            <p:cNvSpPr txBox="1"/>
            <p:nvPr/>
          </p:nvSpPr>
          <p:spPr>
            <a:xfrm>
              <a:off x="7992237" y="3118961"/>
              <a:ext cx="298363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Consolas"/>
                  <a:ea typeface="Consolas"/>
                  <a:cs typeface="Consolas"/>
                </a:rPr>
                <a:t>+.3133 · +.2238 · +.2307</a:t>
              </a:r>
            </a:p>
          </p:txBody>
        </p:sp>
        <p:sp>
          <p:nvSpPr>
            <p:cNvPr id="15" name="Rectangle 15"/>
            <p:cNvSpPr/>
            <p:nvPr/>
          </p:nvSpPr>
          <p:spPr>
            <a:xfrm>
              <a:off x="7772400" y="3562350"/>
              <a:ext cx="3810000" cy="704850"/>
            </a:xfrm>
            <a:prstGeom prst="rect">
              <a:avLst/>
            </a:prstGeom>
            <a:solidFill>
              <a:schemeClr val="accent5"/>
            </a:solidFill>
            <a:ln>
              <a:noFill/>
            </a:ln>
          </p:spPr>
        </p:sp>
        <p:sp>
          <p:nvSpPr>
            <p:cNvPr id="16" name="TextBox 16"/>
            <p:cNvSpPr txBox="1"/>
            <p:nvPr/>
          </p:nvSpPr>
          <p:spPr>
            <a:xfrm>
              <a:off x="7994142" y="3702368"/>
              <a:ext cx="880704"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Q1 − ELM</a:t>
              </a:r>
            </a:p>
          </p:txBody>
        </p:sp>
        <p:sp>
          <p:nvSpPr>
            <p:cNvPr id="17" name="TextBox 17"/>
            <p:cNvSpPr txBox="1"/>
            <p:nvPr/>
          </p:nvSpPr>
          <p:spPr>
            <a:xfrm>
              <a:off x="7992237" y="3957161"/>
              <a:ext cx="298363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Consolas"/>
                  <a:ea typeface="Consolas"/>
                  <a:cs typeface="Consolas"/>
                </a:rPr>
                <a:t>−.0166 · −.0432 · −.0215</a:t>
              </a:r>
            </a:p>
          </p:txBody>
        </p:sp>
        <p:sp>
          <p:nvSpPr>
            <p:cNvPr id="18" name="Rectangle 18"/>
            <p:cNvSpPr/>
            <p:nvPr/>
          </p:nvSpPr>
          <p:spPr>
            <a:xfrm>
              <a:off x="7772400" y="4400550"/>
              <a:ext cx="3810000" cy="933450"/>
            </a:xfrm>
            <a:prstGeom prst="rect">
              <a:avLst/>
            </a:prstGeom>
            <a:solidFill>
              <a:schemeClr val="accent1"/>
            </a:solidFill>
            <a:ln>
              <a:noFill/>
            </a:ln>
          </p:spPr>
        </p:sp>
        <p:sp>
          <p:nvSpPr>
            <p:cNvPr id="19" name="TextBox 19"/>
            <p:cNvSpPr txBox="1"/>
            <p:nvPr/>
          </p:nvSpPr>
          <p:spPr>
            <a:xfrm>
              <a:off x="7994142" y="4540568"/>
              <a:ext cx="1939237"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Q1 − PCA-5 RBF-SVM</a:t>
              </a:r>
            </a:p>
          </p:txBody>
        </p:sp>
        <p:sp>
          <p:nvSpPr>
            <p:cNvPr id="20" name="TextBox 20"/>
            <p:cNvSpPr txBox="1"/>
            <p:nvPr/>
          </p:nvSpPr>
          <p:spPr>
            <a:xfrm>
              <a:off x="7992237" y="4795361"/>
              <a:ext cx="298363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Consolas"/>
                  <a:ea typeface="Consolas"/>
                  <a:cs typeface="Consolas"/>
                </a:rPr>
                <a:t>−.0507 · −.0558 · −.0534</a:t>
              </a:r>
            </a:p>
          </p:txBody>
        </p:sp>
        <p:sp>
          <p:nvSpPr>
            <p:cNvPr id="21" name="TextBox 21"/>
            <p:cNvSpPr txBox="1"/>
            <p:nvPr/>
          </p:nvSpPr>
          <p:spPr>
            <a:xfrm>
              <a:off x="7995285" y="5117306"/>
              <a:ext cx="3419539" cy="220028"/>
            </a:xfrm>
            <a:prstGeom prst="rect">
              <a:avLst/>
            </a:prstGeom>
            <a:noFill/>
            <a:ln>
              <a:noFill/>
            </a:ln>
          </p:spPr>
          <p:txBody>
            <a:bodyPr wrap="none" lIns="0" tIns="0" rIns="0" bIns="0" anchor="t" anchorCtr="0">
              <a:spAutoFit/>
            </a:bodyPr>
            <a:lstStyle/>
            <a:p>
              <a:pPr algn="l"/>
              <a:r>
                <a:rPr lang="en-US" sz="1120" dirty="0">
                  <a:solidFill>
                    <a:srgbClr val="B9D0C7"/>
                  </a:solidFill>
                  <a:latin typeface="+mn-lt"/>
                  <a:ea typeface="+mn-ea"/>
                  <a:cs typeface="+mn-cs"/>
                </a:rPr>
                <a:t>Only win: locked matched RFF-15 comparator.</a:t>
              </a:r>
            </a:p>
          </p:txBody>
        </p:sp>
      </p:grpSp>
      <p:grpSp>
        <p:nvGrpSpPr>
          <p:cNvPr id="25" name="Group 25"/>
          <p:cNvGrpSpPr/>
          <p:nvPr/>
        </p:nvGrpSpPr>
        <p:grpSpPr>
          <a:xfrm>
            <a:off x="609600" y="5524500"/>
            <a:ext cx="10972800" cy="590550"/>
            <a:chOff x="609600" y="5524500"/>
            <a:chExt cx="10972800" cy="590550"/>
          </a:xfrm>
        </p:grpSpPr>
        <p:sp>
          <p:nvSpPr>
            <p:cNvPr id="23" name="Rectangle 23"/>
            <p:cNvSpPr/>
            <p:nvPr/>
          </p:nvSpPr>
          <p:spPr>
            <a:xfrm>
              <a:off x="609600" y="5524500"/>
              <a:ext cx="10972800" cy="590550"/>
            </a:xfrm>
            <a:prstGeom prst="rect">
              <a:avLst/>
            </a:prstGeom>
            <a:solidFill>
              <a:schemeClr val="lt2"/>
            </a:solidFill>
            <a:ln>
              <a:noFill/>
            </a:ln>
          </p:spPr>
        </p:sp>
        <p:sp>
          <p:nvSpPr>
            <p:cNvPr id="24" name="TextBox 24"/>
            <p:cNvSpPr txBox="1"/>
            <p:nvPr/>
          </p:nvSpPr>
          <p:spPr>
            <a:xfrm>
              <a:off x="1896908" y="5734050"/>
              <a:ext cx="8398183"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n-lt"/>
                  <a:ea typeface="+mn-ea"/>
                  <a:cs typeface="+mn-cs"/>
                </a:rPr>
                <a:t>Separate information lost in PCA-5 from the value added by the photonic circuit.</a:t>
              </a:r>
            </a:p>
          </p:txBody>
        </p:sp>
      </p:grpSp>
      <p:grpSp>
        <p:nvGrpSpPr>
          <p:cNvPr id="27" name="Group 27"/>
          <p:cNvGrpSpPr/>
          <p:nvPr/>
        </p:nvGrpSpPr>
        <p:grpSpPr>
          <a:xfrm>
            <a:off x="603504" y="6156960"/>
            <a:ext cx="7303399" cy="234696"/>
            <a:chOff x="603504" y="6156960"/>
            <a:chExt cx="7303399" cy="234696"/>
          </a:xfrm>
        </p:grpSpPr>
        <p:sp>
          <p:nvSpPr>
            <p:cNvPr id="26" name="TextBox 26"/>
            <p:cNvSpPr txBox="1"/>
            <p:nvPr/>
          </p:nvSpPr>
          <p:spPr>
            <a:xfrm>
              <a:off x="603504" y="6156960"/>
              <a:ext cx="7303399" cy="234696"/>
            </a:xfrm>
            <a:prstGeom prst="rect">
              <a:avLst/>
            </a:prstGeom>
            <a:noFill/>
            <a:ln>
              <a:noFill/>
            </a:ln>
          </p:spPr>
          <p:txBody>
            <a:bodyPr wrap="none" lIns="0" tIns="0" rIns="0" bIns="0" anchor="t" anchorCtr="0">
              <a:spAutoFit/>
            </a:bodyPr>
            <a:lstStyle/>
            <a:p>
              <a:pPr algn="l"/>
              <a:r>
                <a:rPr lang="en-US" sz="1200" dirty="0">
                  <a:solidFill>
                    <a:srgbClr val="766E62"/>
                  </a:solidFill>
                  <a:latin typeface="+mn-lt"/>
                  <a:ea typeface="+mn-ea"/>
                  <a:cs typeface="+mn-cs"/>
                </a:rPr>
                <a:t>Source: compression.csv · paired_differences.csv · subset-paired descriptive differences</a:t>
              </a:r>
            </a:p>
          </p:txBody>
        </p:sp>
      </p:grpSp>
      <p:grpSp>
        <p:nvGrpSpPr>
          <p:cNvPr id="29" name="Group 29"/>
          <p:cNvGrpSpPr/>
          <p:nvPr/>
        </p:nvGrpSpPr>
        <p:grpSpPr>
          <a:xfrm>
            <a:off x="10966723" y="6426518"/>
            <a:ext cx="622535" cy="264033"/>
            <a:chOff x="10966723" y="6426518"/>
            <a:chExt cx="622535" cy="264033"/>
          </a:xfrm>
        </p:grpSpPr>
        <p:sp>
          <p:nvSpPr>
            <p:cNvPr id="28" name="TextBox 28"/>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07 / 10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5122" y="482918"/>
            <a:ext cx="12128718" cy="900303"/>
            <a:chOff x="595122" y="482918"/>
            <a:chExt cx="12128718" cy="900303"/>
          </a:xfrm>
        </p:grpSpPr>
        <p:sp>
          <p:nvSpPr>
            <p:cNvPr id="3" name="TextBox 3"/>
            <p:cNvSpPr txBox="1"/>
            <p:nvPr/>
          </p:nvSpPr>
          <p:spPr>
            <a:xfrm>
              <a:off x="602742" y="482918"/>
              <a:ext cx="4241124"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STRESS TEST · FINITE-SHOT FEASIBILITY</a:t>
              </a:r>
            </a:p>
          </p:txBody>
        </p:sp>
        <p:sp>
          <p:nvSpPr>
            <p:cNvPr id="4" name="TextBox 4"/>
            <p:cNvSpPr txBox="1"/>
            <p:nvPr/>
          </p:nvSpPr>
          <p:spPr>
            <a:xfrm>
              <a:off x="595122" y="825818"/>
              <a:ext cx="12128718" cy="557403"/>
            </a:xfrm>
            <a:prstGeom prst="rect">
              <a:avLst/>
            </a:prstGeom>
            <a:noFill/>
            <a:ln>
              <a:noFill/>
            </a:ln>
          </p:spPr>
          <p:txBody>
            <a:bodyPr wrap="none" lIns="0" tIns="0" rIns="0" bIns="0" anchor="t" anchorCtr="0">
              <a:spAutoFit/>
            </a:bodyPr>
            <a:lstStyle/>
            <a:p>
              <a:pPr algn="l"/>
              <a:r>
                <a:rPr lang="en-US" sz="2850" b="1" dirty="0">
                  <a:solidFill>
                    <a:schemeClr val="accent1"/>
                  </a:solidFill>
                  <a:latin typeface="+mj-lt"/>
                  <a:ea typeface="+mj-ea"/>
                  <a:cs typeface="+mj-cs"/>
                </a:rPr>
                <a:t>Finite-shot sampling is stable; accuracy does not recover</a:t>
              </a:r>
            </a:p>
          </p:txBody>
        </p:sp>
      </p:grpSp>
      <p:grpSp>
        <p:nvGrpSpPr>
          <p:cNvPr id="14" name="Group 14"/>
          <p:cNvGrpSpPr/>
          <p:nvPr/>
        </p:nvGrpSpPr>
        <p:grpSpPr>
          <a:xfrm>
            <a:off x="609600" y="1504950"/>
            <a:ext cx="6667500" cy="4095750"/>
            <a:chOff x="609600" y="1504950"/>
            <a:chExt cx="6667500" cy="4095750"/>
          </a:xfrm>
        </p:grpSpPr>
        <p:sp>
          <p:nvSpPr>
            <p:cNvPr id="6" name="Rectangle 6"/>
            <p:cNvSpPr/>
            <p:nvPr/>
          </p:nvSpPr>
          <p:spPr>
            <a:xfrm>
              <a:off x="609600" y="1504950"/>
              <a:ext cx="6667500" cy="4095750"/>
            </a:xfrm>
            <a:prstGeom prst="rect">
              <a:avLst/>
            </a:prstGeom>
            <a:solidFill>
              <a:srgbClr val="FFFFFF"/>
            </a:solidFill>
            <a:ln>
              <a:noFill/>
            </a:ln>
          </p:spPr>
        </p:sp>
        <p:pic>
          <p:nvPicPr>
            <p:cNvPr id="7" name="Image 7"/>
            <p:cNvPicPr>
              <a:picLocks noChangeAspect="1"/>
            </p:cNvPicPr>
            <p:nvPr/>
          </p:nvPicPr>
          <p:blipFill>
            <a:blip r:embed="rId2"/>
            <a:stretch>
              <a:fillRect/>
            </a:stretch>
          </p:blipFill>
          <p:spPr>
            <a:xfrm>
              <a:off x="762000" y="1701446"/>
              <a:ext cx="6362700" cy="3702759"/>
            </a:xfrm>
            <a:prstGeom prst="rect">
              <a:avLst/>
            </a:prstGeom>
          </p:spPr>
        </p:pic>
        <p:sp>
          <p:nvSpPr>
            <p:cNvPr id="8" name="Rectangle 8"/>
            <p:cNvSpPr/>
            <p:nvPr/>
          </p:nvSpPr>
          <p:spPr>
            <a:xfrm>
              <a:off x="895350" y="1752600"/>
              <a:ext cx="2838450" cy="257175"/>
            </a:xfrm>
            <a:prstGeom prst="rect">
              <a:avLst/>
            </a:prstGeom>
            <a:solidFill>
              <a:srgbClr val="FFFFFF">
                <a:alpha val="94000"/>
              </a:srgbClr>
            </a:solidFill>
            <a:ln>
              <a:noFill/>
            </a:ln>
          </p:spPr>
        </p:sp>
        <p:sp>
          <p:nvSpPr>
            <p:cNvPr id="9" name="TextBox 9"/>
            <p:cNvSpPr txBox="1"/>
            <p:nvPr/>
          </p:nvSpPr>
          <p:spPr>
            <a:xfrm>
              <a:off x="966216" y="1820228"/>
              <a:ext cx="2943195"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Q1 · 24 LABELS / CLASS · OUTER FOLD 0</a:t>
              </a:r>
            </a:p>
          </p:txBody>
        </p:sp>
        <p:sp>
          <p:nvSpPr>
            <p:cNvPr id="10" name="Rectangle 10"/>
            <p:cNvSpPr/>
            <p:nvPr/>
          </p:nvSpPr>
          <p:spPr>
            <a:xfrm>
              <a:off x="4762500" y="2228850"/>
              <a:ext cx="1200150" cy="238125"/>
            </a:xfrm>
            <a:prstGeom prst="rect">
              <a:avLst/>
            </a:prstGeom>
            <a:solidFill>
              <a:srgbClr val="FFFFFF">
                <a:alpha val="92000"/>
              </a:srgbClr>
            </a:solidFill>
            <a:ln>
              <a:noFill/>
            </a:ln>
          </p:spPr>
        </p:sp>
        <p:sp>
          <p:nvSpPr>
            <p:cNvPr id="11" name="TextBox 11"/>
            <p:cNvSpPr txBox="1"/>
            <p:nvPr/>
          </p:nvSpPr>
          <p:spPr>
            <a:xfrm>
              <a:off x="4832604" y="2280285"/>
              <a:ext cx="872460" cy="234696"/>
            </a:xfrm>
            <a:prstGeom prst="rect">
              <a:avLst/>
            </a:prstGeom>
            <a:noFill/>
            <a:ln>
              <a:noFill/>
            </a:ln>
          </p:spPr>
          <p:txBody>
            <a:bodyPr wrap="none" lIns="0" tIns="0" rIns="0" bIns="0" anchor="t" anchorCtr="0">
              <a:spAutoFit/>
            </a:bodyPr>
            <a:lstStyle/>
            <a:p>
              <a:pPr algn="l"/>
              <a:r>
                <a:rPr lang="en-US" sz="1200" b="1" dirty="0">
                  <a:solidFill>
                    <a:schemeClr val="accent6"/>
                  </a:solidFill>
                  <a:latin typeface="+mn-lt"/>
                  <a:ea typeface="+mn-ea"/>
                  <a:cs typeface="+mn-cs"/>
                </a:rPr>
                <a:t>MACRO-F1</a:t>
              </a:r>
            </a:p>
          </p:txBody>
        </p:sp>
        <p:sp>
          <p:nvSpPr>
            <p:cNvPr id="12" name="Rectangle 12"/>
            <p:cNvSpPr/>
            <p:nvPr/>
          </p:nvSpPr>
          <p:spPr>
            <a:xfrm>
              <a:off x="4762500" y="2533650"/>
              <a:ext cx="1600200" cy="238125"/>
            </a:xfrm>
            <a:prstGeom prst="rect">
              <a:avLst/>
            </a:prstGeom>
            <a:solidFill>
              <a:srgbClr val="FFFFFF">
                <a:alpha val="92000"/>
              </a:srgbClr>
            </a:solidFill>
            <a:ln>
              <a:noFill/>
            </a:ln>
          </p:spPr>
        </p:sp>
        <p:sp>
          <p:nvSpPr>
            <p:cNvPr id="13" name="TextBox 13"/>
            <p:cNvSpPr txBox="1"/>
            <p:nvPr/>
          </p:nvSpPr>
          <p:spPr>
            <a:xfrm>
              <a:off x="4832604" y="2585085"/>
              <a:ext cx="1445971" cy="234696"/>
            </a:xfrm>
            <a:prstGeom prst="rect">
              <a:avLst/>
            </a:prstGeom>
            <a:noFill/>
            <a:ln>
              <a:noFill/>
            </a:ln>
          </p:spPr>
          <p:txBody>
            <a:bodyPr wrap="none" lIns="0" tIns="0" rIns="0" bIns="0" anchor="t" anchorCtr="0">
              <a:spAutoFit/>
            </a:bodyPr>
            <a:lstStyle/>
            <a:p>
              <a:pPr algn="l"/>
              <a:r>
                <a:rPr lang="en-US" sz="1200" b="1" dirty="0">
                  <a:solidFill>
                    <a:schemeClr val="accent5"/>
                  </a:solidFill>
                  <a:latin typeface="+mn-lt"/>
                  <a:ea typeface="+mn-ea"/>
                  <a:cs typeface="+mn-cs"/>
                </a:rPr>
                <a:t>ACCEPTANCE RATE</a:t>
              </a:r>
            </a:p>
          </p:txBody>
        </p:sp>
      </p:grpSp>
      <p:grpSp>
        <p:nvGrpSpPr>
          <p:cNvPr id="31" name="Group 31"/>
          <p:cNvGrpSpPr/>
          <p:nvPr/>
        </p:nvGrpSpPr>
        <p:grpSpPr>
          <a:xfrm>
            <a:off x="7533132" y="1673542"/>
            <a:ext cx="4498086" cy="3927158"/>
            <a:chOff x="7533132" y="1673542"/>
            <a:chExt cx="4498086" cy="3927158"/>
          </a:xfrm>
        </p:grpSpPr>
        <p:sp>
          <p:nvSpPr>
            <p:cNvPr id="15" name="TextBox 15"/>
            <p:cNvSpPr txBox="1"/>
            <p:nvPr/>
          </p:nvSpPr>
          <p:spPr>
            <a:xfrm>
              <a:off x="7536942" y="1673542"/>
              <a:ext cx="3209475"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MACRO-F1 · 15 EVALUATIONS EACH</a:t>
              </a:r>
            </a:p>
          </p:txBody>
        </p:sp>
        <p:sp>
          <p:nvSpPr>
            <p:cNvPr id="16" name="TextBox 16"/>
            <p:cNvSpPr txBox="1"/>
            <p:nvPr/>
          </p:nvSpPr>
          <p:spPr>
            <a:xfrm>
              <a:off x="7533132" y="2030730"/>
              <a:ext cx="51111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500</a:t>
              </a:r>
            </a:p>
          </p:txBody>
        </p:sp>
        <p:sp>
          <p:nvSpPr>
            <p:cNvPr id="17" name="TextBox 17"/>
            <p:cNvSpPr txBox="1"/>
            <p:nvPr/>
          </p:nvSpPr>
          <p:spPr>
            <a:xfrm>
              <a:off x="8771382" y="2030730"/>
              <a:ext cx="205679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Consolas"/>
                  <a:ea typeface="Consolas"/>
                  <a:cs typeface="Consolas"/>
                </a:rPr>
                <a:t>0.7662 ± .0322</a:t>
              </a:r>
            </a:p>
          </p:txBody>
        </p:sp>
        <p:sp>
          <p:nvSpPr>
            <p:cNvPr id="18" name="TextBox 18"/>
            <p:cNvSpPr txBox="1"/>
            <p:nvPr/>
          </p:nvSpPr>
          <p:spPr>
            <a:xfrm>
              <a:off x="7533132" y="2449830"/>
              <a:ext cx="83763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2,000</a:t>
              </a:r>
            </a:p>
          </p:txBody>
        </p:sp>
        <p:sp>
          <p:nvSpPr>
            <p:cNvPr id="19" name="TextBox 19"/>
            <p:cNvSpPr txBox="1"/>
            <p:nvPr/>
          </p:nvSpPr>
          <p:spPr>
            <a:xfrm>
              <a:off x="8771382" y="2449830"/>
              <a:ext cx="205679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Consolas"/>
                  <a:ea typeface="Consolas"/>
                  <a:cs typeface="Consolas"/>
                </a:rPr>
                <a:t>0.7739 ± .0308</a:t>
              </a:r>
            </a:p>
          </p:txBody>
        </p:sp>
        <p:sp>
          <p:nvSpPr>
            <p:cNvPr id="20" name="TextBox 20"/>
            <p:cNvSpPr txBox="1"/>
            <p:nvPr/>
          </p:nvSpPr>
          <p:spPr>
            <a:xfrm>
              <a:off x="7533132" y="2868930"/>
              <a:ext cx="83763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8,000</a:t>
              </a:r>
            </a:p>
          </p:txBody>
        </p:sp>
        <p:sp>
          <p:nvSpPr>
            <p:cNvPr id="21" name="TextBox 21"/>
            <p:cNvSpPr txBox="1"/>
            <p:nvPr/>
          </p:nvSpPr>
          <p:spPr>
            <a:xfrm>
              <a:off x="8771382" y="2868930"/>
              <a:ext cx="205679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Consolas"/>
                  <a:ea typeface="Consolas"/>
                  <a:cs typeface="Consolas"/>
                </a:rPr>
                <a:t>0.7725 ± .0363</a:t>
              </a:r>
            </a:p>
          </p:txBody>
        </p:sp>
        <p:sp>
          <p:nvSpPr>
            <p:cNvPr id="22" name="Rectangle 22"/>
            <p:cNvSpPr/>
            <p:nvPr/>
          </p:nvSpPr>
          <p:spPr>
            <a:xfrm>
              <a:off x="7543800" y="3333750"/>
              <a:ext cx="4038600" cy="704850"/>
            </a:xfrm>
            <a:prstGeom prst="rect">
              <a:avLst/>
            </a:prstGeom>
            <a:solidFill>
              <a:schemeClr val="accent3"/>
            </a:solidFill>
            <a:ln>
              <a:noFill/>
            </a:ln>
          </p:spPr>
        </p:sp>
        <p:sp>
          <p:nvSpPr>
            <p:cNvPr id="23" name="TextBox 23"/>
            <p:cNvSpPr txBox="1"/>
            <p:nvPr/>
          </p:nvSpPr>
          <p:spPr>
            <a:xfrm>
              <a:off x="7762494" y="3418522"/>
              <a:ext cx="2610776"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Consolas"/>
                  <a:ea typeface="Consolas"/>
                  <a:cs typeface="Consolas"/>
                </a:rPr>
                <a:t>acceptance ≈ 0.754</a:t>
              </a:r>
            </a:p>
          </p:txBody>
        </p:sp>
        <p:sp>
          <p:nvSpPr>
            <p:cNvPr id="24" name="TextBox 24"/>
            <p:cNvSpPr txBox="1"/>
            <p:nvPr/>
          </p:nvSpPr>
          <p:spPr>
            <a:xfrm>
              <a:off x="7765542" y="3759518"/>
              <a:ext cx="2430818" cy="264033"/>
            </a:xfrm>
            <a:prstGeom prst="rect">
              <a:avLst/>
            </a:prstGeom>
            <a:noFill/>
            <a:ln>
              <a:noFill/>
            </a:ln>
          </p:spPr>
          <p:txBody>
            <a:bodyPr wrap="none" lIns="0" tIns="0" rIns="0" bIns="0" anchor="t" anchorCtr="0">
              <a:spAutoFit/>
            </a:bodyPr>
            <a:lstStyle/>
            <a:p>
              <a:pPr algn="l"/>
              <a:r>
                <a:rPr lang="en-US" sz="1350" dirty="0">
                  <a:solidFill>
                    <a:srgbClr val="FBF7EE"/>
                  </a:solidFill>
                  <a:latin typeface="+mn-lt"/>
                  <a:ea typeface="+mn-ea"/>
                  <a:cs typeface="+mn-cs"/>
                </a:rPr>
                <a:t>0 zero-acceptance failures</a:t>
              </a:r>
            </a:p>
          </p:txBody>
        </p:sp>
        <p:sp>
          <p:nvSpPr>
            <p:cNvPr id="25" name="Rectangle 25"/>
            <p:cNvSpPr/>
            <p:nvPr/>
          </p:nvSpPr>
          <p:spPr>
            <a:xfrm>
              <a:off x="7543800" y="4210050"/>
              <a:ext cx="1905000" cy="1390650"/>
            </a:xfrm>
            <a:prstGeom prst="rect">
              <a:avLst/>
            </a:prstGeom>
            <a:solidFill>
              <a:schemeClr val="lt2"/>
            </a:solidFill>
            <a:ln>
              <a:noFill/>
            </a:ln>
          </p:spPr>
        </p:sp>
        <p:sp>
          <p:nvSpPr>
            <p:cNvPr id="26" name="TextBox 26"/>
            <p:cNvSpPr txBox="1"/>
            <p:nvPr/>
          </p:nvSpPr>
          <p:spPr>
            <a:xfrm>
              <a:off x="7765542" y="4369118"/>
              <a:ext cx="679079"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TESTED</a:t>
              </a:r>
            </a:p>
          </p:txBody>
        </p:sp>
        <p:sp>
          <p:nvSpPr>
            <p:cNvPr id="27" name="TextBox 27"/>
            <p:cNvSpPr txBox="1"/>
            <p:nvPr/>
          </p:nvSpPr>
          <p:spPr>
            <a:xfrm>
              <a:off x="7765542" y="4712018"/>
              <a:ext cx="1822514" cy="778383"/>
            </a:xfrm>
            <a:prstGeom prst="rect">
              <a:avLst/>
            </a:prstGeom>
            <a:noFill/>
            <a:ln>
              <a:noFill/>
            </a:ln>
          </p:spPr>
          <p:txBody>
            <a:bodyPr wrap="none" lIns="0" tIns="0" rIns="0" bIns="0" anchor="t" anchorCtr="0">
              <a:spAutoFit/>
            </a:bodyPr>
            <a:lstStyle/>
            <a:p>
              <a:pPr algn="l">
                <a:lnSpc>
                  <a:spcPts val="2025"/>
                </a:lnSpc>
              </a:pPr>
              <a:r>
                <a:rPr lang="en-US" sz="1350" dirty="0">
                  <a:solidFill>
                    <a:schemeClr val="dk1"/>
                  </a:solidFill>
                  <a:latin typeface="+mn-lt"/>
                  <a:ea typeface="+mn-ea"/>
                  <a:cs typeface="+mn-cs"/>
                </a:rPr>
                <a:t>Shot sampling</a:t>
              </a:r>
              <a:br/>
              <a:r>
                <a:rPr lang="en-US" sz="1350" dirty="0">
                  <a:solidFill>
                    <a:schemeClr val="dk1"/>
                  </a:solidFill>
                  <a:latin typeface="+mn-lt"/>
                  <a:ea typeface="+mn-ea"/>
                  <a:cs typeface="+mn-cs"/>
                </a:rPr>
                <a:t>Acceptance</a:t>
              </a:r>
              <a:br/>
              <a:r>
                <a:rPr lang="en-US" sz="1350" dirty="0">
                  <a:solidFill>
                    <a:schemeClr val="dk1"/>
                  </a:solidFill>
                  <a:latin typeface="+mn-lt"/>
                  <a:ea typeface="+mn-ea"/>
                  <a:cs typeface="+mn-cs"/>
                </a:rPr>
                <a:t>Ideal-trained readout</a:t>
              </a:r>
            </a:p>
          </p:txBody>
        </p:sp>
        <p:sp>
          <p:nvSpPr>
            <p:cNvPr id="28" name="Rectangle 28"/>
            <p:cNvSpPr/>
            <p:nvPr/>
          </p:nvSpPr>
          <p:spPr>
            <a:xfrm>
              <a:off x="9601200" y="4210050"/>
              <a:ext cx="1981200" cy="1390650"/>
            </a:xfrm>
            <a:prstGeom prst="rect">
              <a:avLst/>
            </a:prstGeom>
            <a:solidFill>
              <a:srgbClr val="E8C2B4"/>
            </a:solidFill>
            <a:ln>
              <a:noFill/>
            </a:ln>
          </p:spPr>
        </p:sp>
        <p:sp>
          <p:nvSpPr>
            <p:cNvPr id="29" name="TextBox 29"/>
            <p:cNvSpPr txBox="1"/>
            <p:nvPr/>
          </p:nvSpPr>
          <p:spPr>
            <a:xfrm>
              <a:off x="9822942" y="4369118"/>
              <a:ext cx="1505742"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NOT YET TESTED</a:t>
              </a:r>
            </a:p>
          </p:txBody>
        </p:sp>
        <p:sp>
          <p:nvSpPr>
            <p:cNvPr id="30" name="TextBox 30"/>
            <p:cNvSpPr txBox="1"/>
            <p:nvPr/>
          </p:nvSpPr>
          <p:spPr>
            <a:xfrm>
              <a:off x="9822942" y="4712018"/>
              <a:ext cx="2208276" cy="778383"/>
            </a:xfrm>
            <a:prstGeom prst="rect">
              <a:avLst/>
            </a:prstGeom>
            <a:noFill/>
            <a:ln>
              <a:noFill/>
            </a:ln>
          </p:spPr>
          <p:txBody>
            <a:bodyPr wrap="none" lIns="0" tIns="0" rIns="0" bIns="0" anchor="t" anchorCtr="0">
              <a:spAutoFit/>
            </a:bodyPr>
            <a:lstStyle/>
            <a:p>
              <a:pPr algn="l">
                <a:lnSpc>
                  <a:spcPts val="2025"/>
                </a:lnSpc>
              </a:pPr>
              <a:r>
                <a:rPr lang="en-US" sz="1350" dirty="0">
                  <a:solidFill>
                    <a:schemeClr val="dk1"/>
                  </a:solidFill>
                  <a:latin typeface="+mn-lt"/>
                  <a:ea typeface="+mn-ea"/>
                  <a:cs typeface="+mn-cs"/>
                </a:rPr>
                <a:t>Loss · phase drift</a:t>
              </a:r>
              <a:br/>
              <a:r>
                <a:rPr lang="en-US" sz="1350" dirty="0">
                  <a:solidFill>
                    <a:schemeClr val="dk1"/>
                  </a:solidFill>
                  <a:latin typeface="+mn-lt"/>
                  <a:ea typeface="+mn-ea"/>
                  <a:cs typeface="+mn-cs"/>
                </a:rPr>
                <a:t>Distinguishability</a:t>
              </a:r>
              <a:br/>
              <a:r>
                <a:rPr lang="en-US" sz="1350" dirty="0">
                  <a:solidFill>
                    <a:schemeClr val="dk1"/>
                  </a:solidFill>
                  <a:latin typeface="+mn-lt"/>
                  <a:ea typeface="+mn-ea"/>
                  <a:cs typeface="+mn-cs"/>
                </a:rPr>
                <a:t>Detectors · noise training</a:t>
              </a:r>
            </a:p>
          </p:txBody>
        </p:sp>
      </p:grpSp>
      <p:grpSp>
        <p:nvGrpSpPr>
          <p:cNvPr id="33" name="Group 33"/>
          <p:cNvGrpSpPr/>
          <p:nvPr/>
        </p:nvGrpSpPr>
        <p:grpSpPr>
          <a:xfrm>
            <a:off x="603504" y="6061710"/>
            <a:ext cx="8848649" cy="234696"/>
            <a:chOff x="603504" y="6061710"/>
            <a:chExt cx="8848649" cy="234696"/>
          </a:xfrm>
        </p:grpSpPr>
        <p:sp>
          <p:nvSpPr>
            <p:cNvPr id="32" name="TextBox 32"/>
            <p:cNvSpPr txBox="1"/>
            <p:nvPr/>
          </p:nvSpPr>
          <p:spPr>
            <a:xfrm>
              <a:off x="603504" y="6061710"/>
              <a:ext cx="8848649" cy="234696"/>
            </a:xfrm>
            <a:prstGeom prst="rect">
              <a:avLst/>
            </a:prstGeom>
            <a:noFill/>
            <a:ln>
              <a:noFill/>
            </a:ln>
          </p:spPr>
          <p:txBody>
            <a:bodyPr wrap="none" lIns="0" tIns="0" rIns="0" bIns="0" anchor="t" anchorCtr="0">
              <a:spAutoFit/>
            </a:bodyPr>
            <a:lstStyle/>
            <a:p>
              <a:pPr algn="l"/>
              <a:r>
                <a:rPr lang="en-US" sz="1200" dirty="0">
                  <a:solidFill>
                    <a:srgbClr val="766E62"/>
                  </a:solidFill>
                  <a:latin typeface="+mn-lt"/>
                  <a:ea typeface="+mn-ea"/>
                  <a:cs typeface="+mn-cs"/>
                </a:rPr>
                <a:t>45 evaluations = 3 map seeds × 5 sampling seeds × 3 shot levels · same outer test fold · source: finite_shot.csv</a:t>
              </a:r>
            </a:p>
          </p:txBody>
        </p:sp>
      </p:grpSp>
      <p:grpSp>
        <p:nvGrpSpPr>
          <p:cNvPr id="35" name="Group 35"/>
          <p:cNvGrpSpPr/>
          <p:nvPr/>
        </p:nvGrpSpPr>
        <p:grpSpPr>
          <a:xfrm>
            <a:off x="10966723" y="6426518"/>
            <a:ext cx="622535" cy="264033"/>
            <a:chOff x="10966723" y="6426518"/>
            <a:chExt cx="622535" cy="264033"/>
          </a:xfrm>
        </p:grpSpPr>
        <p:sp>
          <p:nvSpPr>
            <p:cNvPr id="34" name="TextBox 34"/>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08 / 10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6646" y="482918"/>
            <a:ext cx="12067708" cy="874013"/>
            <a:chOff x="596646" y="482918"/>
            <a:chExt cx="12067708" cy="874013"/>
          </a:xfrm>
        </p:grpSpPr>
        <p:sp>
          <p:nvSpPr>
            <p:cNvPr id="3" name="TextBox 3"/>
            <p:cNvSpPr txBox="1"/>
            <p:nvPr/>
          </p:nvSpPr>
          <p:spPr>
            <a:xfrm>
              <a:off x="602742" y="482918"/>
              <a:ext cx="4140685"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CURRENT VERDICT · EVIDENCE BOUNDARY</a:t>
              </a:r>
            </a:p>
          </p:txBody>
        </p:sp>
        <p:sp>
          <p:nvSpPr>
            <p:cNvPr id="4" name="TextBox 4"/>
            <p:cNvSpPr txBox="1"/>
            <p:nvPr/>
          </p:nvSpPr>
          <p:spPr>
            <a:xfrm>
              <a:off x="596646" y="858202"/>
              <a:ext cx="12067708"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Simulation pipeline demonstrated; hardware feasibility untested</a:t>
              </a:r>
            </a:p>
          </p:txBody>
        </p:sp>
      </p:grpSp>
      <p:grpSp>
        <p:nvGrpSpPr>
          <p:cNvPr id="18" name="Group 18"/>
          <p:cNvGrpSpPr/>
          <p:nvPr/>
        </p:nvGrpSpPr>
        <p:grpSpPr>
          <a:xfrm>
            <a:off x="609600" y="1504950"/>
            <a:ext cx="10972800" cy="2266950"/>
            <a:chOff x="609600" y="1504950"/>
            <a:chExt cx="10972800" cy="2266950"/>
          </a:xfrm>
        </p:grpSpPr>
        <p:sp>
          <p:nvSpPr>
            <p:cNvPr id="6" name="Rectangle 6"/>
            <p:cNvSpPr/>
            <p:nvPr/>
          </p:nvSpPr>
          <p:spPr>
            <a:xfrm>
              <a:off x="609600" y="1504950"/>
              <a:ext cx="3352800" cy="2266950"/>
            </a:xfrm>
            <a:prstGeom prst="rect">
              <a:avLst/>
            </a:prstGeom>
            <a:solidFill>
              <a:schemeClr val="accent3"/>
            </a:solidFill>
            <a:ln>
              <a:noFill/>
            </a:ln>
          </p:spPr>
        </p:sp>
        <p:sp>
          <p:nvSpPr>
            <p:cNvPr id="7" name="TextBox 7"/>
            <p:cNvSpPr txBox="1"/>
            <p:nvPr/>
          </p:nvSpPr>
          <p:spPr>
            <a:xfrm>
              <a:off x="831342" y="1702118"/>
              <a:ext cx="1425092" cy="264033"/>
            </a:xfrm>
            <a:prstGeom prst="rect">
              <a:avLst/>
            </a:prstGeom>
            <a:noFill/>
            <a:ln>
              <a:noFill/>
            </a:ln>
          </p:spPr>
          <p:txBody>
            <a:bodyPr wrap="none" lIns="0" tIns="0" rIns="0" bIns="0" anchor="t" anchorCtr="0">
              <a:spAutoFit/>
            </a:bodyPr>
            <a:lstStyle/>
            <a:p>
              <a:pPr algn="l"/>
              <a:r>
                <a:rPr lang="en-US" sz="1350" b="1" dirty="0">
                  <a:solidFill>
                    <a:srgbClr val="FBF7EE"/>
                  </a:solidFill>
                  <a:latin typeface="+mn-lt"/>
                  <a:ea typeface="+mn-ea"/>
                  <a:cs typeface="+mn-cs"/>
                </a:rPr>
                <a:t>DEMONSTRATED</a:t>
              </a:r>
            </a:p>
          </p:txBody>
        </p:sp>
        <p:sp>
          <p:nvSpPr>
            <p:cNvPr id="8" name="TextBox 8"/>
            <p:cNvSpPr txBox="1"/>
            <p:nvPr/>
          </p:nvSpPr>
          <p:spPr>
            <a:xfrm>
              <a:off x="826770" y="2005012"/>
              <a:ext cx="304923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Simulation pipeline</a:t>
              </a:r>
            </a:p>
          </p:txBody>
        </p:sp>
        <p:sp>
          <p:nvSpPr>
            <p:cNvPr id="9" name="TextBox 9"/>
            <p:cNvSpPr txBox="1"/>
            <p:nvPr/>
          </p:nvSpPr>
          <p:spPr>
            <a:xfrm>
              <a:off x="830580" y="2495550"/>
              <a:ext cx="2129790" cy="883920"/>
            </a:xfrm>
            <a:prstGeom prst="rect">
              <a:avLst/>
            </a:prstGeom>
            <a:noFill/>
            <a:ln>
              <a:noFill/>
            </a:ln>
          </p:spPr>
          <p:txBody>
            <a:bodyPr wrap="none" lIns="0" tIns="0" rIns="0" bIns="0" anchor="t" anchorCtr="0">
              <a:spAutoFit/>
            </a:bodyPr>
            <a:lstStyle/>
            <a:p>
              <a:pPr algn="l">
                <a:lnSpc>
                  <a:spcPts val="2325"/>
                </a:lnSpc>
              </a:pPr>
              <a:r>
                <a:rPr lang="en-US" sz="1500" dirty="0">
                  <a:solidFill>
                    <a:srgbClr val="FBF7EE"/>
                  </a:solidFill>
                  <a:latin typeface="+mn-lt"/>
                  <a:ea typeface="+mn-ea"/>
                  <a:cs typeface="+mn-cs"/>
                </a:rPr>
                <a:t>Executable pipeline</a:t>
              </a:r>
              <a:br/>
              <a:r>
                <a:rPr lang="en-US" sz="1500" dirty="0">
                  <a:solidFill>
                    <a:srgbClr val="FBF7EE"/>
                  </a:solidFill>
                  <a:latin typeface="+mn-lt"/>
                  <a:ea typeface="+mn-ea"/>
                  <a:cs typeface="+mn-cs"/>
                </a:rPr>
                <a:t>Simulator consistency</a:t>
              </a:r>
              <a:br/>
              <a:r>
                <a:rPr lang="en-US" sz="1500" dirty="0">
                  <a:solidFill>
                    <a:srgbClr val="FBF7EE"/>
                  </a:solidFill>
                  <a:latin typeface="+mn-lt"/>
                  <a:ea typeface="+mn-ea"/>
                  <a:cs typeface="+mn-cs"/>
                </a:rPr>
                <a:t>Reproducible artifacts</a:t>
              </a:r>
            </a:p>
          </p:txBody>
        </p:sp>
        <p:sp>
          <p:nvSpPr>
            <p:cNvPr id="10" name="Rectangle 10"/>
            <p:cNvSpPr/>
            <p:nvPr/>
          </p:nvSpPr>
          <p:spPr>
            <a:xfrm>
              <a:off x="4191000" y="1504950"/>
              <a:ext cx="3352800" cy="2266950"/>
            </a:xfrm>
            <a:prstGeom prst="rect">
              <a:avLst/>
            </a:prstGeom>
            <a:solidFill>
              <a:srgbClr val="7BA39A"/>
            </a:solidFill>
            <a:ln>
              <a:noFill/>
            </a:ln>
          </p:spPr>
        </p:sp>
        <p:sp>
          <p:nvSpPr>
            <p:cNvPr id="11" name="TextBox 11"/>
            <p:cNvSpPr txBox="1"/>
            <p:nvPr/>
          </p:nvSpPr>
          <p:spPr>
            <a:xfrm>
              <a:off x="4412742" y="1702118"/>
              <a:ext cx="194931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PARTIALLY ANSWERED</a:t>
              </a:r>
            </a:p>
          </p:txBody>
        </p:sp>
        <p:sp>
          <p:nvSpPr>
            <p:cNvPr id="12" name="TextBox 12"/>
            <p:cNvSpPr txBox="1"/>
            <p:nvPr/>
          </p:nvSpPr>
          <p:spPr>
            <a:xfrm>
              <a:off x="4408170" y="2005012"/>
              <a:ext cx="2881194"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Application signal</a:t>
              </a:r>
            </a:p>
          </p:txBody>
        </p:sp>
        <p:sp>
          <p:nvSpPr>
            <p:cNvPr id="13" name="TextBox 13"/>
            <p:cNvSpPr txBox="1"/>
            <p:nvPr/>
          </p:nvSpPr>
          <p:spPr>
            <a:xfrm>
              <a:off x="4411980" y="2495550"/>
              <a:ext cx="2186940" cy="883920"/>
            </a:xfrm>
            <a:prstGeom prst="rect">
              <a:avLst/>
            </a:prstGeom>
            <a:noFill/>
            <a:ln>
              <a:noFill/>
            </a:ln>
          </p:spPr>
          <p:txBody>
            <a:bodyPr wrap="none" lIns="0" tIns="0" rIns="0" bIns="0" anchor="t" anchorCtr="0">
              <a:spAutoFit/>
            </a:bodyPr>
            <a:lstStyle/>
            <a:p>
              <a:pPr algn="l">
                <a:lnSpc>
                  <a:spcPts val="2325"/>
                </a:lnSpc>
              </a:pPr>
              <a:r>
                <a:rPr lang="en-US" sz="1500" dirty="0">
                  <a:solidFill>
                    <a:schemeClr val="accent1"/>
                  </a:solidFill>
                  <a:latin typeface="+mn-lt"/>
                  <a:ea typeface="+mn-ea"/>
                  <a:cs typeface="+mn-cs"/>
                </a:rPr>
                <a:t>Learning with labels</a:t>
              </a:r>
              <a:br/>
              <a:r>
                <a:rPr lang="en-US" sz="1500" dirty="0">
                  <a:solidFill>
                    <a:schemeClr val="accent1"/>
                  </a:solidFill>
                  <a:latin typeface="+mn-lt"/>
                  <a:ea typeface="+mn-ea"/>
                  <a:cs typeface="+mn-cs"/>
                </a:rPr>
                <a:t>Paired one-fold ranking</a:t>
              </a:r>
              <a:br/>
              <a:r>
                <a:rPr lang="en-US" sz="1500" dirty="0">
                  <a:solidFill>
                    <a:schemeClr val="accent1"/>
                  </a:solidFill>
                  <a:latin typeface="+mn-lt"/>
                  <a:ea typeface="+mn-ea"/>
                  <a:cs typeface="+mn-cs"/>
                </a:rPr>
                <a:t>Finite-shot sampling</a:t>
              </a:r>
            </a:p>
          </p:txBody>
        </p:sp>
        <p:sp>
          <p:nvSpPr>
            <p:cNvPr id="14" name="Rectangle 14"/>
            <p:cNvSpPr/>
            <p:nvPr/>
          </p:nvSpPr>
          <p:spPr>
            <a:xfrm>
              <a:off x="7772400" y="1504950"/>
              <a:ext cx="3810000" cy="2266950"/>
            </a:xfrm>
            <a:prstGeom prst="rect">
              <a:avLst/>
            </a:prstGeom>
            <a:solidFill>
              <a:srgbClr val="E8C2B4"/>
            </a:solidFill>
            <a:ln>
              <a:noFill/>
            </a:ln>
          </p:spPr>
        </p:sp>
        <p:sp>
          <p:nvSpPr>
            <p:cNvPr id="15" name="TextBox 15"/>
            <p:cNvSpPr txBox="1"/>
            <p:nvPr/>
          </p:nvSpPr>
          <p:spPr>
            <a:xfrm>
              <a:off x="7994142" y="1702118"/>
              <a:ext cx="1162980"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UNANSWERED</a:t>
              </a:r>
            </a:p>
          </p:txBody>
        </p:sp>
        <p:sp>
          <p:nvSpPr>
            <p:cNvPr id="16" name="TextBox 16"/>
            <p:cNvSpPr txBox="1"/>
            <p:nvPr/>
          </p:nvSpPr>
          <p:spPr>
            <a:xfrm>
              <a:off x="7989570" y="2005012"/>
              <a:ext cx="2696119"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Practical utility</a:t>
              </a:r>
            </a:p>
          </p:txBody>
        </p:sp>
        <p:sp>
          <p:nvSpPr>
            <p:cNvPr id="17" name="TextBox 17"/>
            <p:cNvSpPr txBox="1"/>
            <p:nvPr/>
          </p:nvSpPr>
          <p:spPr>
            <a:xfrm>
              <a:off x="7993380" y="2495550"/>
              <a:ext cx="2567940" cy="883920"/>
            </a:xfrm>
            <a:prstGeom prst="rect">
              <a:avLst/>
            </a:prstGeom>
            <a:noFill/>
            <a:ln>
              <a:noFill/>
            </a:ln>
          </p:spPr>
          <p:txBody>
            <a:bodyPr wrap="none" lIns="0" tIns="0" rIns="0" bIns="0" anchor="t" anchorCtr="0">
              <a:spAutoFit/>
            </a:bodyPr>
            <a:lstStyle/>
            <a:p>
              <a:pPr algn="l">
                <a:lnSpc>
                  <a:spcPts val="2325"/>
                </a:lnSpc>
              </a:pPr>
              <a:r>
                <a:rPr lang="en-US" sz="1500" dirty="0">
                  <a:solidFill>
                    <a:schemeClr val="dk1"/>
                  </a:solidFill>
                  <a:latin typeface="+mn-lt"/>
                  <a:ea typeface="+mn-ea"/>
                  <a:cs typeface="+mn-cs"/>
                </a:rPr>
                <a:t>Five-fold generalization</a:t>
              </a:r>
              <a:br/>
              <a:r>
                <a:rPr lang="en-US" sz="1500" dirty="0">
                  <a:solidFill>
                    <a:schemeClr val="dk1"/>
                  </a:solidFill>
                  <a:latin typeface="+mn-lt"/>
                  <a:ea typeface="+mn-ea"/>
                  <a:cs typeface="+mn-cs"/>
                </a:rPr>
                <a:t>Realistic photonic noise</a:t>
              </a:r>
              <a:br/>
              <a:r>
                <a:rPr lang="en-US" sz="1500" dirty="0">
                  <a:solidFill>
                    <a:schemeClr val="dk1"/>
                  </a:solidFill>
                  <a:latin typeface="+mn-lt"/>
                  <a:ea typeface="+mn-ea"/>
                  <a:cs typeface="+mn-cs"/>
                </a:rPr>
                <a:t>Remote hardware execution</a:t>
              </a:r>
            </a:p>
          </p:txBody>
        </p:sp>
      </p:grpSp>
      <p:grpSp>
        <p:nvGrpSpPr>
          <p:cNvPr id="34" name="Group 34"/>
          <p:cNvGrpSpPr/>
          <p:nvPr/>
        </p:nvGrpSpPr>
        <p:grpSpPr>
          <a:xfrm>
            <a:off x="609600" y="4057650"/>
            <a:ext cx="10972800" cy="1733550"/>
            <a:chOff x="609600" y="4057650"/>
            <a:chExt cx="10972800" cy="1733550"/>
          </a:xfrm>
        </p:grpSpPr>
        <p:sp>
          <p:nvSpPr>
            <p:cNvPr id="19" name="Rectangle 19"/>
            <p:cNvSpPr/>
            <p:nvPr/>
          </p:nvSpPr>
          <p:spPr>
            <a:xfrm>
              <a:off x="609600" y="4057650"/>
              <a:ext cx="3352800" cy="1733550"/>
            </a:xfrm>
            <a:prstGeom prst="rect">
              <a:avLst/>
            </a:prstGeom>
            <a:solidFill>
              <a:schemeClr val="lt2"/>
            </a:solidFill>
            <a:ln>
              <a:noFill/>
            </a:ln>
          </p:spPr>
        </p:sp>
        <p:sp>
          <p:nvSpPr>
            <p:cNvPr id="20" name="TextBox 20"/>
            <p:cNvSpPr txBox="1"/>
            <p:nvPr/>
          </p:nvSpPr>
          <p:spPr>
            <a:xfrm>
              <a:off x="831723" y="4253389"/>
              <a:ext cx="2479054" cy="249364"/>
            </a:xfrm>
            <a:prstGeom prst="rect">
              <a:avLst/>
            </a:prstGeom>
            <a:noFill/>
            <a:ln>
              <a:noFill/>
            </a:ln>
          </p:spPr>
          <p:txBody>
            <a:bodyPr wrap="none" lIns="0" tIns="0" rIns="0" bIns="0" anchor="t" anchorCtr="0">
              <a:spAutoFit/>
            </a:bodyPr>
            <a:lstStyle/>
            <a:p>
              <a:pPr algn="l"/>
              <a:r>
                <a:rPr lang="en-US" sz="1280" b="1" dirty="0">
                  <a:solidFill>
                    <a:schemeClr val="accent6"/>
                  </a:solidFill>
                  <a:latin typeface="+mn-lt"/>
                  <a:ea typeface="+mn-ea"/>
                  <a:cs typeface="+mn-cs"/>
                </a:rPr>
                <a:t>OPENCLIP EMBEDDINGS · CPU</a:t>
              </a:r>
            </a:p>
          </p:txBody>
        </p:sp>
        <p:sp>
          <p:nvSpPr>
            <p:cNvPr id="21" name="TextBox 21"/>
            <p:cNvSpPr txBox="1"/>
            <p:nvPr/>
          </p:nvSpPr>
          <p:spPr>
            <a:xfrm>
              <a:off x="820674" y="4637722"/>
              <a:ext cx="1790631"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Consolas"/>
                  <a:ea typeface="Consolas"/>
                  <a:cs typeface="Consolas"/>
                </a:rPr>
                <a:t>96.57 s</a:t>
              </a:r>
            </a:p>
          </p:txBody>
        </p:sp>
        <p:sp>
          <p:nvSpPr>
            <p:cNvPr id="22" name="TextBox 22"/>
            <p:cNvSpPr txBox="1"/>
            <p:nvPr/>
          </p:nvSpPr>
          <p:spPr>
            <a:xfrm>
              <a:off x="831342" y="5245418"/>
              <a:ext cx="22189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One cached feature pass</a:t>
              </a:r>
            </a:p>
          </p:txBody>
        </p:sp>
        <p:sp>
          <p:nvSpPr>
            <p:cNvPr id="23" name="TextBox 23"/>
            <p:cNvSpPr txBox="1"/>
            <p:nvPr/>
          </p:nvSpPr>
          <p:spPr>
            <a:xfrm>
              <a:off x="832104" y="5509260"/>
              <a:ext cx="2731618" cy="234696"/>
            </a:xfrm>
            <a:prstGeom prst="rect">
              <a:avLst/>
            </a:prstGeom>
            <a:noFill/>
            <a:ln>
              <a:noFill/>
            </a:ln>
          </p:spPr>
          <p:txBody>
            <a:bodyPr wrap="none" lIns="0" tIns="0" rIns="0" bIns="0" anchor="t" anchorCtr="0">
              <a:spAutoFit/>
            </a:bodyPr>
            <a:lstStyle/>
            <a:p>
              <a:pPr algn="l"/>
              <a:r>
                <a:rPr lang="en-US" sz="1200" dirty="0">
                  <a:solidFill>
                    <a:srgbClr val="766E62"/>
                  </a:solidFill>
                  <a:latin typeface="+mn-lt"/>
                  <a:ea typeface="+mn-ea"/>
                  <a:cs typeface="+mn-cs"/>
                </a:rPr>
                <a:t>Reused across every model family.</a:t>
              </a:r>
            </a:p>
          </p:txBody>
        </p:sp>
        <p:sp>
          <p:nvSpPr>
            <p:cNvPr id="24" name="Rectangle 24"/>
            <p:cNvSpPr/>
            <p:nvPr/>
          </p:nvSpPr>
          <p:spPr>
            <a:xfrm>
              <a:off x="4191000" y="4057650"/>
              <a:ext cx="3352800" cy="1733550"/>
            </a:xfrm>
            <a:prstGeom prst="rect">
              <a:avLst/>
            </a:prstGeom>
            <a:solidFill>
              <a:srgbClr val="B9D0C7"/>
            </a:solidFill>
            <a:ln>
              <a:noFill/>
            </a:ln>
          </p:spPr>
        </p:sp>
        <p:sp>
          <p:nvSpPr>
            <p:cNvPr id="25" name="TextBox 25"/>
            <p:cNvSpPr txBox="1"/>
            <p:nvPr/>
          </p:nvSpPr>
          <p:spPr>
            <a:xfrm>
              <a:off x="4413123" y="4253389"/>
              <a:ext cx="2154064"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PILOT MODEL GRID · CPU</a:t>
              </a:r>
            </a:p>
          </p:txBody>
        </p:sp>
        <p:sp>
          <p:nvSpPr>
            <p:cNvPr id="26" name="TextBox 26"/>
            <p:cNvSpPr txBox="1"/>
            <p:nvPr/>
          </p:nvSpPr>
          <p:spPr>
            <a:xfrm>
              <a:off x="4402074" y="4637722"/>
              <a:ext cx="1790631"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Consolas"/>
                  <a:ea typeface="Consolas"/>
                  <a:cs typeface="Consolas"/>
                </a:rPr>
                <a:t>≈59.9 s</a:t>
              </a:r>
            </a:p>
          </p:txBody>
        </p:sp>
        <p:sp>
          <p:nvSpPr>
            <p:cNvPr id="27" name="TextBox 27"/>
            <p:cNvSpPr txBox="1"/>
            <p:nvPr/>
          </p:nvSpPr>
          <p:spPr>
            <a:xfrm>
              <a:off x="4412742" y="5245418"/>
              <a:ext cx="2754387"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Broader validation is tractable</a:t>
              </a:r>
            </a:p>
          </p:txBody>
        </p:sp>
        <p:sp>
          <p:nvSpPr>
            <p:cNvPr id="28" name="TextBox 28"/>
            <p:cNvSpPr txBox="1"/>
            <p:nvPr/>
          </p:nvSpPr>
          <p:spPr>
            <a:xfrm>
              <a:off x="4413504" y="5509260"/>
              <a:ext cx="2699243"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Five folds fit the project window.</a:t>
              </a:r>
            </a:p>
          </p:txBody>
        </p:sp>
        <p:sp>
          <p:nvSpPr>
            <p:cNvPr id="29" name="Rectangle 29"/>
            <p:cNvSpPr/>
            <p:nvPr/>
          </p:nvSpPr>
          <p:spPr>
            <a:xfrm>
              <a:off x="7772400" y="4057650"/>
              <a:ext cx="3810000" cy="1733550"/>
            </a:xfrm>
            <a:prstGeom prst="rect">
              <a:avLst/>
            </a:prstGeom>
            <a:solidFill>
              <a:schemeClr val="accent1"/>
            </a:solidFill>
            <a:ln>
              <a:noFill/>
            </a:ln>
          </p:spPr>
        </p:sp>
        <p:sp>
          <p:nvSpPr>
            <p:cNvPr id="30" name="TextBox 30"/>
            <p:cNvSpPr txBox="1"/>
            <p:nvPr/>
          </p:nvSpPr>
          <p:spPr>
            <a:xfrm>
              <a:off x="7994523" y="4253389"/>
              <a:ext cx="1895984" cy="249364"/>
            </a:xfrm>
            <a:prstGeom prst="rect">
              <a:avLst/>
            </a:prstGeom>
            <a:noFill/>
            <a:ln>
              <a:noFill/>
            </a:ln>
          </p:spPr>
          <p:txBody>
            <a:bodyPr wrap="none" lIns="0" tIns="0" rIns="0" bIns="0" anchor="t" anchorCtr="0">
              <a:spAutoFit/>
            </a:bodyPr>
            <a:lstStyle/>
            <a:p>
              <a:pPr algn="l"/>
              <a:r>
                <a:rPr lang="en-US" sz="1280" b="1" dirty="0">
                  <a:solidFill>
                    <a:srgbClr val="B9D0C7"/>
                  </a:solidFill>
                  <a:latin typeface="+mn-lt"/>
                  <a:ea typeface="+mn-ea"/>
                  <a:cs typeface="+mn-cs"/>
                </a:rPr>
                <a:t>DECISION CONSTRAINT</a:t>
              </a:r>
            </a:p>
          </p:txBody>
        </p:sp>
        <p:sp>
          <p:nvSpPr>
            <p:cNvPr id="31" name="TextBox 31"/>
            <p:cNvSpPr txBox="1"/>
            <p:nvPr/>
          </p:nvSpPr>
          <p:spPr>
            <a:xfrm>
              <a:off x="7990332" y="4583430"/>
              <a:ext cx="2782481"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j-lt"/>
                  <a:ea typeface="+mj-ea"/>
                  <a:cs typeface="+mj-cs"/>
                </a:rPr>
                <a:t>Scientific validity</a:t>
              </a:r>
            </a:p>
          </p:txBody>
        </p:sp>
        <p:sp>
          <p:nvSpPr>
            <p:cNvPr id="32" name="TextBox 32"/>
            <p:cNvSpPr txBox="1"/>
            <p:nvPr/>
          </p:nvSpPr>
          <p:spPr>
            <a:xfrm>
              <a:off x="7993761" y="4999196"/>
              <a:ext cx="3323717" cy="545402"/>
            </a:xfrm>
            <a:prstGeom prst="rect">
              <a:avLst/>
            </a:prstGeom>
            <a:noFill/>
            <a:ln>
              <a:noFill/>
            </a:ln>
          </p:spPr>
          <p:txBody>
            <a:bodyPr wrap="none" lIns="0" tIns="0" rIns="0" bIns="0" anchor="t" anchorCtr="0">
              <a:spAutoFit/>
            </a:bodyPr>
            <a:lstStyle/>
            <a:p>
              <a:pPr algn="l">
                <a:lnSpc>
                  <a:spcPts val="2100"/>
                </a:lnSpc>
              </a:pPr>
              <a:r>
                <a:rPr lang="en-US" sz="1420" dirty="0">
                  <a:solidFill>
                    <a:srgbClr val="FBF7EE"/>
                  </a:solidFill>
                  <a:latin typeface="+mn-lt"/>
                  <a:ea typeface="+mn-ea"/>
                  <a:cs typeface="+mn-cs"/>
                </a:rPr>
                <a:t>One outer fold · small validation cells</a:t>
              </a:r>
              <a:br/>
              <a:r>
                <a:rPr lang="en-US" sz="1420" dirty="0">
                  <a:solidFill>
                    <a:srgbClr val="FBF7EE"/>
                  </a:solidFill>
                  <a:latin typeface="+mn-lt"/>
                  <a:ea typeface="+mn-ea"/>
                  <a:cs typeface="+mn-cs"/>
                </a:rPr>
                <a:t>ideal optics · B1 near ceiling</a:t>
              </a:r>
            </a:p>
          </p:txBody>
        </p:sp>
        <p:sp>
          <p:nvSpPr>
            <p:cNvPr id="33" name="TextBox 33"/>
            <p:cNvSpPr txBox="1"/>
            <p:nvPr/>
          </p:nvSpPr>
          <p:spPr>
            <a:xfrm>
              <a:off x="7994523" y="5501164"/>
              <a:ext cx="2890071" cy="249364"/>
            </a:xfrm>
            <a:prstGeom prst="rect">
              <a:avLst/>
            </a:prstGeom>
            <a:noFill/>
            <a:ln>
              <a:noFill/>
            </a:ln>
          </p:spPr>
          <p:txBody>
            <a:bodyPr wrap="none" lIns="0" tIns="0" rIns="0" bIns="0" anchor="t" anchorCtr="0">
              <a:spAutoFit/>
            </a:bodyPr>
            <a:lstStyle/>
            <a:p>
              <a:pPr algn="l"/>
              <a:r>
                <a:rPr lang="en-US" sz="1280" b="1" dirty="0">
                  <a:solidFill>
                    <a:srgbClr val="F18B6C"/>
                  </a:solidFill>
                  <a:latin typeface="+mn-lt"/>
                  <a:ea typeface="+mn-ea"/>
                  <a:cs typeface="+mn-cs"/>
                </a:rPr>
                <a:t>RUNTIME IS NOT THE BOTTLENECK</a:t>
              </a:r>
            </a:p>
          </p:txBody>
        </p:sp>
      </p:grpSp>
      <p:grpSp>
        <p:nvGrpSpPr>
          <p:cNvPr id="36" name="Group 36"/>
          <p:cNvGrpSpPr/>
          <p:nvPr/>
        </p:nvGrpSpPr>
        <p:grpSpPr>
          <a:xfrm>
            <a:off x="602742" y="6045518"/>
            <a:ext cx="6274727" cy="264033"/>
            <a:chOff x="602742" y="6045518"/>
            <a:chExt cx="6274727" cy="264033"/>
          </a:xfrm>
        </p:grpSpPr>
        <p:sp>
          <p:nvSpPr>
            <p:cNvPr id="35" name="TextBox 35"/>
            <p:cNvSpPr txBox="1"/>
            <p:nvPr/>
          </p:nvSpPr>
          <p:spPr>
            <a:xfrm>
              <a:off x="602742" y="6045518"/>
              <a:ext cx="6274727" cy="264033"/>
            </a:xfrm>
            <a:prstGeom prst="rect">
              <a:avLst/>
            </a:prstGeom>
            <a:noFill/>
            <a:ln>
              <a:noFill/>
            </a:ln>
          </p:spPr>
          <p:txBody>
            <a:bodyPr wrap="none" lIns="0" tIns="0" rIns="0" bIns="0" anchor="t" anchorCtr="0">
              <a:spAutoFit/>
            </a:bodyPr>
            <a:lstStyle/>
            <a:p>
              <a:pPr algn="l"/>
              <a:r>
                <a:rPr lang="en-US" sz="1350" dirty="0">
                  <a:solidFill>
                    <a:srgbClr val="766E62"/>
                  </a:solidFill>
                  <a:latin typeface="+mn-lt"/>
                  <a:ea typeface="+mn-ea"/>
                  <a:cs typeface="+mn-cs"/>
                </a:rPr>
                <a:t>Local CPU profile · no loss, phase drift, detector noise, or QPU queue</a:t>
              </a:r>
            </a:p>
          </p:txBody>
        </p:sp>
      </p:grpSp>
      <p:grpSp>
        <p:nvGrpSpPr>
          <p:cNvPr id="38" name="Group 38"/>
          <p:cNvGrpSpPr/>
          <p:nvPr/>
        </p:nvGrpSpPr>
        <p:grpSpPr>
          <a:xfrm>
            <a:off x="10966723" y="6426518"/>
            <a:ext cx="622535" cy="264033"/>
            <a:chOff x="10966723" y="6426518"/>
            <a:chExt cx="622535" cy="264033"/>
          </a:xfrm>
        </p:grpSpPr>
        <p:sp>
          <p:nvSpPr>
            <p:cNvPr id="37" name="TextBox 37"/>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09 / 10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solidFill>
            <a:schemeClr val="accent3"/>
          </a:solidFill>
          <a:ln>
            <a:noFill/>
          </a:ln>
        </p:spPr>
      </p:sp>
      <p:grpSp>
        <p:nvGrpSpPr>
          <p:cNvPr id="5" name="Group 5"/>
          <p:cNvGrpSpPr/>
          <p:nvPr/>
        </p:nvGrpSpPr>
        <p:grpSpPr>
          <a:xfrm>
            <a:off x="594360" y="482918"/>
            <a:ext cx="10300884" cy="913447"/>
            <a:chOff x="594360" y="482918"/>
            <a:chExt cx="10300884" cy="913447"/>
          </a:xfrm>
        </p:grpSpPr>
        <p:sp>
          <p:nvSpPr>
            <p:cNvPr id="3" name="TextBox 3"/>
            <p:cNvSpPr txBox="1"/>
            <p:nvPr/>
          </p:nvSpPr>
          <p:spPr>
            <a:xfrm>
              <a:off x="602742" y="482918"/>
              <a:ext cx="5464691" cy="264033"/>
            </a:xfrm>
            <a:prstGeom prst="rect">
              <a:avLst/>
            </a:prstGeom>
            <a:noFill/>
            <a:ln>
              <a:noFill/>
            </a:ln>
          </p:spPr>
          <p:txBody>
            <a:bodyPr wrap="none" lIns="0" tIns="0" rIns="0" bIns="0" anchor="t" anchorCtr="0">
              <a:spAutoFit/>
            </a:bodyPr>
            <a:lstStyle/>
            <a:p>
              <a:pPr algn="l"/>
              <a:r>
                <a:rPr lang="en-US" sz="1350" b="1" spc="105" dirty="0">
                  <a:solidFill>
                    <a:schemeClr val="accent6"/>
                  </a:solidFill>
                  <a:latin typeface="+mn-lt"/>
                  <a:ea typeface="+mn-ea"/>
                  <a:cs typeface="+mn-cs"/>
                </a:rPr>
                <a:t>RECOMMENDATION · ANSWER TO THE RESEARCH TEAM</a:t>
              </a:r>
            </a:p>
          </p:txBody>
        </p:sp>
        <p:sp>
          <p:nvSpPr>
            <p:cNvPr id="4" name="TextBox 4"/>
            <p:cNvSpPr txBox="1"/>
            <p:nvPr/>
          </p:nvSpPr>
          <p:spPr>
            <a:xfrm>
              <a:off x="594360" y="809625"/>
              <a:ext cx="1030088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Continue only through a decision-changing test</a:t>
              </a:r>
            </a:p>
          </p:txBody>
        </p:sp>
      </p:grpSp>
      <p:grpSp>
        <p:nvGrpSpPr>
          <p:cNvPr id="18" name="Group 18"/>
          <p:cNvGrpSpPr/>
          <p:nvPr/>
        </p:nvGrpSpPr>
        <p:grpSpPr>
          <a:xfrm>
            <a:off x="609600" y="1562100"/>
            <a:ext cx="6109724" cy="3905250"/>
            <a:chOff x="609600" y="1562100"/>
            <a:chExt cx="6109724" cy="3905250"/>
          </a:xfrm>
        </p:grpSpPr>
        <p:sp>
          <p:nvSpPr>
            <p:cNvPr id="6" name="Rectangle 6"/>
            <p:cNvSpPr/>
            <p:nvPr/>
          </p:nvSpPr>
          <p:spPr>
            <a:xfrm>
              <a:off x="609600" y="1562100"/>
              <a:ext cx="5715000" cy="1104900"/>
            </a:xfrm>
            <a:prstGeom prst="rect">
              <a:avLst/>
            </a:prstGeom>
            <a:solidFill>
              <a:schemeClr val="lt2"/>
            </a:solidFill>
            <a:ln>
              <a:noFill/>
            </a:ln>
          </p:spPr>
        </p:sp>
        <p:sp>
          <p:nvSpPr>
            <p:cNvPr id="7" name="TextBox 7"/>
            <p:cNvSpPr txBox="1"/>
            <p:nvPr/>
          </p:nvSpPr>
          <p:spPr>
            <a:xfrm>
              <a:off x="831342" y="1740218"/>
              <a:ext cx="1888830"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WHICH APPLICATION?</a:t>
              </a:r>
            </a:p>
          </p:txBody>
        </p:sp>
        <p:sp>
          <p:nvSpPr>
            <p:cNvPr id="8" name="TextBox 8"/>
            <p:cNvSpPr txBox="1"/>
            <p:nvPr/>
          </p:nvSpPr>
          <p:spPr>
            <a:xfrm>
              <a:off x="827532" y="2040255"/>
              <a:ext cx="5891792"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j-lt"/>
                  <a:ea typeface="+mj-ea"/>
                  <a:cs typeface="+mj-cs"/>
                </a:rPr>
                <a:t>Few-label industrial defect inspection</a:t>
              </a:r>
            </a:p>
          </p:txBody>
        </p:sp>
        <p:sp>
          <p:nvSpPr>
            <p:cNvPr id="9" name="TextBox 9"/>
            <p:cNvSpPr txBox="1"/>
            <p:nvPr/>
          </p:nvSpPr>
          <p:spPr>
            <a:xfrm>
              <a:off x="831342" y="2378392"/>
              <a:ext cx="278520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with a fixed photonic reservoir</a:t>
              </a:r>
            </a:p>
          </p:txBody>
        </p:sp>
        <p:sp>
          <p:nvSpPr>
            <p:cNvPr id="10" name="Rectangle 10"/>
            <p:cNvSpPr/>
            <p:nvPr/>
          </p:nvSpPr>
          <p:spPr>
            <a:xfrm>
              <a:off x="609600" y="2819400"/>
              <a:ext cx="5715000" cy="1104900"/>
            </a:xfrm>
            <a:prstGeom prst="rect">
              <a:avLst/>
            </a:prstGeom>
            <a:solidFill>
              <a:schemeClr val="accent3"/>
            </a:solidFill>
            <a:ln>
              <a:noFill/>
            </a:ln>
          </p:spPr>
        </p:sp>
        <p:sp>
          <p:nvSpPr>
            <p:cNvPr id="11" name="TextBox 11"/>
            <p:cNvSpPr txBox="1"/>
            <p:nvPr/>
          </p:nvSpPr>
          <p:spPr>
            <a:xfrm>
              <a:off x="831342" y="2997518"/>
              <a:ext cx="1404930"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WHY THIS IDEA?</a:t>
              </a:r>
            </a:p>
          </p:txBody>
        </p:sp>
        <p:sp>
          <p:nvSpPr>
            <p:cNvPr id="12" name="TextBox 12"/>
            <p:cNvSpPr txBox="1"/>
            <p:nvPr/>
          </p:nvSpPr>
          <p:spPr>
            <a:xfrm>
              <a:off x="829056" y="3329940"/>
              <a:ext cx="5872243"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Real label scarcity · compact phase encoding</a:t>
              </a:r>
            </a:p>
          </p:txBody>
        </p:sp>
        <p:sp>
          <p:nvSpPr>
            <p:cNvPr id="13" name="TextBox 13"/>
            <p:cNvSpPr txBox="1"/>
            <p:nvPr/>
          </p:nvSpPr>
          <p:spPr>
            <a:xfrm>
              <a:off x="831342" y="3635692"/>
              <a:ext cx="4963787" cy="264033"/>
            </a:xfrm>
            <a:prstGeom prst="rect">
              <a:avLst/>
            </a:prstGeom>
            <a:noFill/>
            <a:ln>
              <a:noFill/>
            </a:ln>
          </p:spPr>
          <p:txBody>
            <a:bodyPr wrap="none" lIns="0" tIns="0" rIns="0" bIns="0" anchor="t" anchorCtr="0">
              <a:spAutoFit/>
            </a:bodyPr>
            <a:lstStyle/>
            <a:p>
              <a:pPr algn="l"/>
              <a:r>
                <a:rPr lang="en-US" sz="1350" dirty="0">
                  <a:solidFill>
                    <a:srgbClr val="FBF7EE"/>
                  </a:solidFill>
                  <a:latin typeface="+mn-lt"/>
                  <a:ea typeface="+mn-ea"/>
                  <a:cs typeface="+mn-cs"/>
                </a:rPr>
                <a:t>Quandela simulator → hardware path · 12-week evidence</a:t>
              </a:r>
            </a:p>
          </p:txBody>
        </p:sp>
        <p:sp>
          <p:nvSpPr>
            <p:cNvPr id="14" name="Rectangle 14"/>
            <p:cNvSpPr/>
            <p:nvPr/>
          </p:nvSpPr>
          <p:spPr>
            <a:xfrm>
              <a:off x="609600" y="4076700"/>
              <a:ext cx="5715000" cy="1390650"/>
            </a:xfrm>
            <a:prstGeom prst="rect">
              <a:avLst/>
            </a:prstGeom>
            <a:solidFill>
              <a:srgbClr val="7BA39A"/>
            </a:solidFill>
            <a:ln>
              <a:noFill/>
            </a:ln>
          </p:spPr>
        </p:sp>
        <p:sp>
          <p:nvSpPr>
            <p:cNvPr id="15" name="TextBox 15"/>
            <p:cNvSpPr txBox="1"/>
            <p:nvPr/>
          </p:nvSpPr>
          <p:spPr>
            <a:xfrm>
              <a:off x="831342" y="4254818"/>
              <a:ext cx="157631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CURRENT VERDICT</a:t>
              </a:r>
            </a:p>
          </p:txBody>
        </p:sp>
        <p:sp>
          <p:nvSpPr>
            <p:cNvPr id="16" name="TextBox 16"/>
            <p:cNvSpPr txBox="1"/>
            <p:nvPr/>
          </p:nvSpPr>
          <p:spPr>
            <a:xfrm>
              <a:off x="827913" y="4486751"/>
              <a:ext cx="3333788" cy="691324"/>
            </a:xfrm>
            <a:prstGeom prst="rect">
              <a:avLst/>
            </a:prstGeom>
            <a:noFill/>
            <a:ln>
              <a:noFill/>
            </a:ln>
          </p:spPr>
          <p:txBody>
            <a:bodyPr wrap="none" lIns="0" tIns="0" rIns="0" bIns="0" anchor="t" anchorCtr="0">
              <a:spAutoFit/>
            </a:bodyPr>
            <a:lstStyle/>
            <a:p>
              <a:pPr algn="l">
                <a:lnSpc>
                  <a:spcPts val="2325"/>
                </a:lnSpc>
              </a:pPr>
              <a:r>
                <a:rPr lang="en-US" sz="2020" b="1" dirty="0">
                  <a:solidFill>
                    <a:schemeClr val="accent1"/>
                  </a:solidFill>
                  <a:latin typeface="+mj-lt"/>
                  <a:ea typeface="+mj-ea"/>
                  <a:cs typeface="+mj-cs"/>
                </a:rPr>
                <a:t>Feasible in simulation and</a:t>
              </a:r>
              <a:br/>
              <a:r>
                <a:rPr lang="en-US" sz="2020" b="1" dirty="0">
                  <a:solidFill>
                    <a:schemeClr val="accent1"/>
                  </a:solidFill>
                  <a:latin typeface="+mj-lt"/>
                  <a:ea typeface="+mj-ea"/>
                  <a:cs typeface="+mj-cs"/>
                </a:rPr>
                <a:t>scientifically interesting</a:t>
              </a:r>
            </a:p>
          </p:txBody>
        </p:sp>
        <p:sp>
          <p:nvSpPr>
            <p:cNvPr id="17" name="TextBox 17"/>
            <p:cNvSpPr txBox="1"/>
            <p:nvPr/>
          </p:nvSpPr>
          <p:spPr>
            <a:xfrm>
              <a:off x="831723" y="5196364"/>
              <a:ext cx="3645195"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HARDWARE FEASIBILITY REMAINS UNTESTED</a:t>
              </a:r>
            </a:p>
          </p:txBody>
        </p:sp>
      </p:grpSp>
      <p:grpSp>
        <p:nvGrpSpPr>
          <p:cNvPr id="32" name="Group 32"/>
          <p:cNvGrpSpPr/>
          <p:nvPr/>
        </p:nvGrpSpPr>
        <p:grpSpPr>
          <a:xfrm>
            <a:off x="6598044" y="1562100"/>
            <a:ext cx="5015711" cy="3905250"/>
            <a:chOff x="6598044" y="1562100"/>
            <a:chExt cx="5015711" cy="3905250"/>
          </a:xfrm>
        </p:grpSpPr>
        <p:sp>
          <p:nvSpPr>
            <p:cNvPr id="19" name="Rectangle 19"/>
            <p:cNvSpPr/>
            <p:nvPr/>
          </p:nvSpPr>
          <p:spPr>
            <a:xfrm>
              <a:off x="6629400" y="1562100"/>
              <a:ext cx="4953000" cy="1847850"/>
            </a:xfrm>
            <a:prstGeom prst="rect">
              <a:avLst/>
            </a:prstGeom>
            <a:solidFill>
              <a:schemeClr val="accent1"/>
            </a:solidFill>
            <a:ln>
              <a:noFill/>
            </a:ln>
          </p:spPr>
        </p:sp>
        <p:sp>
          <p:nvSpPr>
            <p:cNvPr id="20" name="TextBox 20"/>
            <p:cNvSpPr txBox="1"/>
            <p:nvPr/>
          </p:nvSpPr>
          <p:spPr>
            <a:xfrm>
              <a:off x="6890004" y="1775460"/>
              <a:ext cx="3363651" cy="234696"/>
            </a:xfrm>
            <a:prstGeom prst="rect">
              <a:avLst/>
            </a:prstGeom>
            <a:noFill/>
            <a:ln>
              <a:noFill/>
            </a:ln>
          </p:spPr>
          <p:txBody>
            <a:bodyPr wrap="none" lIns="0" tIns="0" rIns="0" bIns="0" anchor="t" anchorCtr="0">
              <a:spAutoFit/>
            </a:bodyPr>
            <a:lstStyle/>
            <a:p>
              <a:pPr algn="l"/>
              <a:r>
                <a:rPr lang="en-US" sz="1200" b="1" dirty="0">
                  <a:solidFill>
                    <a:srgbClr val="B9D0C7"/>
                  </a:solidFill>
                  <a:latin typeface="+mn-lt"/>
                  <a:ea typeface="+mn-ea"/>
                  <a:cs typeface="+mn-cs"/>
                </a:rPr>
                <a:t>CONTINUE ONLY IF · B4 = PCA-5 RBF-SVM</a:t>
              </a:r>
            </a:p>
          </p:txBody>
        </p:sp>
        <p:sp>
          <p:nvSpPr>
            <p:cNvPr id="21" name="TextBox 21"/>
            <p:cNvSpPr txBox="1"/>
            <p:nvPr/>
          </p:nvSpPr>
          <p:spPr>
            <a:xfrm>
              <a:off x="6888480" y="2076450"/>
              <a:ext cx="3932530"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j-lt"/>
                  <a:ea typeface="+mj-ea"/>
                  <a:cs typeface="+mj-cs"/>
                </a:rPr>
                <a:t>PASS A · Q1@48 ≥ B4@48 − 0.02</a:t>
              </a:r>
            </a:p>
          </p:txBody>
        </p:sp>
        <p:sp>
          <p:nvSpPr>
            <p:cNvPr id="22" name="TextBox 22"/>
            <p:cNvSpPr txBox="1"/>
            <p:nvPr/>
          </p:nvSpPr>
          <p:spPr>
            <a:xfrm>
              <a:off x="7118604" y="2356485"/>
              <a:ext cx="1280312" cy="234696"/>
            </a:xfrm>
            <a:prstGeom prst="rect">
              <a:avLst/>
            </a:prstGeom>
            <a:noFill/>
            <a:ln>
              <a:noFill/>
            </a:ln>
          </p:spPr>
          <p:txBody>
            <a:bodyPr wrap="none" lIns="0" tIns="0" rIns="0" bIns="0" anchor="t" anchorCtr="0">
              <a:spAutoFit/>
            </a:bodyPr>
            <a:lstStyle/>
            <a:p>
              <a:pPr algn="l"/>
              <a:r>
                <a:rPr lang="en-US" sz="1200" dirty="0">
                  <a:solidFill>
                    <a:srgbClr val="FBF7EE"/>
                  </a:solidFill>
                  <a:latin typeface="+mn-lt"/>
                  <a:ea typeface="+mn-ea"/>
                  <a:cs typeface="+mn-cs"/>
                </a:rPr>
                <a:t>↳ on ≥4 / 5 folds</a:t>
              </a:r>
            </a:p>
          </p:txBody>
        </p:sp>
        <p:sp>
          <p:nvSpPr>
            <p:cNvPr id="23" name="TextBox 23"/>
            <p:cNvSpPr txBox="1"/>
            <p:nvPr/>
          </p:nvSpPr>
          <p:spPr>
            <a:xfrm>
              <a:off x="6888480" y="2619375"/>
              <a:ext cx="3932530"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j-lt"/>
                  <a:ea typeface="+mj-ea"/>
                  <a:cs typeface="+mj-cs"/>
                </a:rPr>
                <a:t>PASS B · Q1@24 ≥ B4@48 − 0.02</a:t>
              </a:r>
            </a:p>
          </p:txBody>
        </p:sp>
        <p:sp>
          <p:nvSpPr>
            <p:cNvPr id="24" name="TextBox 24"/>
            <p:cNvSpPr txBox="1"/>
            <p:nvPr/>
          </p:nvSpPr>
          <p:spPr>
            <a:xfrm>
              <a:off x="7118604" y="2899410"/>
              <a:ext cx="3113837" cy="234696"/>
            </a:xfrm>
            <a:prstGeom prst="rect">
              <a:avLst/>
            </a:prstGeom>
            <a:noFill/>
            <a:ln>
              <a:noFill/>
            </a:ln>
          </p:spPr>
          <p:txBody>
            <a:bodyPr wrap="none" lIns="0" tIns="0" rIns="0" bIns="0" anchor="t" anchorCtr="0">
              <a:spAutoFit/>
            </a:bodyPr>
            <a:lstStyle/>
            <a:p>
              <a:pPr algn="l"/>
              <a:r>
                <a:rPr lang="en-US" sz="1200" dirty="0">
                  <a:solidFill>
                    <a:srgbClr val="FBF7EE"/>
                  </a:solidFill>
                  <a:latin typeface="+mn-lt"/>
                  <a:ea typeface="+mn-ea"/>
                  <a:cs typeface="+mn-cs"/>
                </a:rPr>
                <a:t>↳ on ≥4 / 5 folds · ≤2,000 shots / image</a:t>
              </a:r>
            </a:p>
          </p:txBody>
        </p:sp>
        <p:sp>
          <p:nvSpPr>
            <p:cNvPr id="25" name="TextBox 25"/>
            <p:cNvSpPr txBox="1"/>
            <p:nvPr/>
          </p:nvSpPr>
          <p:spPr>
            <a:xfrm>
              <a:off x="7118604" y="3137535"/>
              <a:ext cx="1579169" cy="234696"/>
            </a:xfrm>
            <a:prstGeom prst="rect">
              <a:avLst/>
            </a:prstGeom>
            <a:noFill/>
            <a:ln>
              <a:noFill/>
            </a:ln>
          </p:spPr>
          <p:txBody>
            <a:bodyPr wrap="none" lIns="0" tIns="0" rIns="0" bIns="0" anchor="t" anchorCtr="0">
              <a:spAutoFit/>
            </a:bodyPr>
            <a:lstStyle/>
            <a:p>
              <a:pPr algn="l"/>
              <a:r>
                <a:rPr lang="en-US" sz="1200" dirty="0">
                  <a:solidFill>
                    <a:srgbClr val="FBF7EE"/>
                  </a:solidFill>
                  <a:latin typeface="+mn-lt"/>
                  <a:ea typeface="+mn-ea"/>
                  <a:cs typeface="+mn-cs"/>
                </a:rPr>
                <a:t>↳ acceptance ≥ 0.70</a:t>
              </a:r>
            </a:p>
          </p:txBody>
        </p:sp>
        <p:sp>
          <p:nvSpPr>
            <p:cNvPr id="26" name="Rectangle 26"/>
            <p:cNvSpPr/>
            <p:nvPr/>
          </p:nvSpPr>
          <p:spPr>
            <a:xfrm>
              <a:off x="6629400" y="3562350"/>
              <a:ext cx="4953000" cy="1143000"/>
            </a:xfrm>
            <a:prstGeom prst="rect">
              <a:avLst/>
            </a:prstGeom>
            <a:solidFill>
              <a:schemeClr val="accent5"/>
            </a:solidFill>
            <a:ln>
              <a:noFill/>
            </a:ln>
          </p:spPr>
        </p:sp>
        <p:sp>
          <p:nvSpPr>
            <p:cNvPr id="27" name="TextBox 27"/>
            <p:cNvSpPr txBox="1"/>
            <p:nvPr/>
          </p:nvSpPr>
          <p:spPr>
            <a:xfrm>
              <a:off x="6889242" y="3740468"/>
              <a:ext cx="1535986"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STOP CONDITION</a:t>
              </a:r>
            </a:p>
          </p:txBody>
        </p:sp>
        <p:sp>
          <p:nvSpPr>
            <p:cNvPr id="28" name="TextBox 28"/>
            <p:cNvSpPr txBox="1"/>
            <p:nvPr/>
          </p:nvSpPr>
          <p:spPr>
            <a:xfrm>
              <a:off x="6886575" y="4055269"/>
              <a:ext cx="2551476" cy="366712"/>
            </a:xfrm>
            <a:prstGeom prst="rect">
              <a:avLst/>
            </a:prstGeom>
            <a:noFill/>
            <a:ln>
              <a:noFill/>
            </a:ln>
          </p:spPr>
          <p:txBody>
            <a:bodyPr wrap="none" lIns="0" tIns="0" rIns="0" bIns="0" anchor="t" anchorCtr="0">
              <a:spAutoFit/>
            </a:bodyPr>
            <a:lstStyle/>
            <a:p>
              <a:pPr algn="l"/>
              <a:r>
                <a:rPr lang="en-US" sz="1880" b="1" dirty="0">
                  <a:solidFill>
                    <a:srgbClr val="FFFFFF"/>
                  </a:solidFill>
                  <a:latin typeface="+mj-lt"/>
                  <a:ea typeface="+mj-ea"/>
                  <a:cs typeface="+mj-cs"/>
                </a:rPr>
                <a:t>Neither pass holds</a:t>
              </a:r>
            </a:p>
          </p:txBody>
        </p:sp>
        <p:sp>
          <p:nvSpPr>
            <p:cNvPr id="29" name="TextBox 29"/>
            <p:cNvSpPr txBox="1"/>
            <p:nvPr/>
          </p:nvSpPr>
          <p:spPr>
            <a:xfrm>
              <a:off x="6889242" y="4426268"/>
              <a:ext cx="4682655"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or Q1 loses to RFF-15 and ELM-15 on ≥4 / 5 folds.</a:t>
              </a:r>
            </a:p>
          </p:txBody>
        </p:sp>
        <p:sp>
          <p:nvSpPr>
            <p:cNvPr id="30" name="Rectangle 30"/>
            <p:cNvSpPr/>
            <p:nvPr/>
          </p:nvSpPr>
          <p:spPr>
            <a:xfrm>
              <a:off x="6629400" y="4857750"/>
              <a:ext cx="4953000" cy="609600"/>
            </a:xfrm>
            <a:prstGeom prst="rect">
              <a:avLst/>
            </a:prstGeom>
            <a:solidFill>
              <a:schemeClr val="lt2"/>
            </a:solidFill>
            <a:ln>
              <a:noFill/>
            </a:ln>
          </p:spPr>
        </p:sp>
        <p:sp>
          <p:nvSpPr>
            <p:cNvPr id="31" name="TextBox 31"/>
            <p:cNvSpPr txBox="1"/>
            <p:nvPr/>
          </p:nvSpPr>
          <p:spPr>
            <a:xfrm>
              <a:off x="6598044" y="5076825"/>
              <a:ext cx="5015711"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n-lt"/>
                  <a:ea typeface="+mn-ea"/>
                  <a:cs typeface="+mn-cs"/>
                </a:rPr>
                <a:t>Evidence first · hardware only after gates pass</a:t>
              </a:r>
            </a:p>
          </p:txBody>
        </p:sp>
      </p:grpSp>
      <p:grpSp>
        <p:nvGrpSpPr>
          <p:cNvPr id="36" name="Group 36"/>
          <p:cNvGrpSpPr/>
          <p:nvPr/>
        </p:nvGrpSpPr>
        <p:grpSpPr>
          <a:xfrm>
            <a:off x="609600" y="5734050"/>
            <a:ext cx="10972800" cy="514350"/>
            <a:chOff x="609600" y="5734050"/>
            <a:chExt cx="10972800" cy="514350"/>
          </a:xfrm>
        </p:grpSpPr>
        <p:grpSp>
          <p:nvGrpSpPr>
            <p:cNvPr id="35" name="Group 35"/>
            <p:cNvGrpSpPr/>
            <p:nvPr/>
          </p:nvGrpSpPr>
          <p:grpSpPr>
            <a:xfrm>
              <a:off x="609600" y="5734050"/>
              <a:ext cx="10972800" cy="514350"/>
              <a:chOff x="609600" y="5734050"/>
              <a:chExt cx="10972800" cy="514350"/>
            </a:xfrm>
          </p:grpSpPr>
          <p:sp>
            <p:nvSpPr>
              <p:cNvPr id="33" name="Rectangle 33">
                <a:hlinkClick r:id="rId2"/>
              </p:cNvPr>
              <p:cNvSpPr/>
              <p:nvPr/>
            </p:nvSpPr>
            <p:spPr>
              <a:xfrm>
                <a:off x="609600" y="5734050"/>
                <a:ext cx="10972800" cy="514350"/>
              </a:xfrm>
              <a:prstGeom prst="rect">
                <a:avLst/>
              </a:prstGeom>
              <a:solidFill>
                <a:schemeClr val="accent3"/>
              </a:solidFill>
              <a:ln>
                <a:noFill/>
              </a:ln>
            </p:spPr>
          </p:sp>
          <p:sp>
            <p:nvSpPr>
              <p:cNvPr id="34" name="TextBox 34">
                <a:hlinkClick r:id="rId2"/>
              </p:cNvPr>
              <p:cNvSpPr txBox="1"/>
              <p:nvPr/>
            </p:nvSpPr>
            <p:spPr>
              <a:xfrm>
                <a:off x="831342" y="5912168"/>
                <a:ext cx="6630353"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Repository · github.com/MonsieurNam/Quanova_Photonic_Defect_QML</a:t>
                </a:r>
              </a:p>
            </p:txBody>
          </p:sp>
        </p:grpSp>
      </p:grpSp>
      <p:grpSp>
        <p:nvGrpSpPr>
          <p:cNvPr id="38" name="Group 38"/>
          <p:cNvGrpSpPr/>
          <p:nvPr/>
        </p:nvGrpSpPr>
        <p:grpSpPr>
          <a:xfrm>
            <a:off x="10966723" y="6426518"/>
            <a:ext cx="622535" cy="264033"/>
            <a:chOff x="10966723" y="6426518"/>
            <a:chExt cx="622535" cy="264033"/>
          </a:xfrm>
        </p:grpSpPr>
        <p:sp>
          <p:nvSpPr>
            <p:cNvPr id="37" name="TextBox 37"/>
            <p:cNvSpPr txBox="1"/>
            <p:nvPr/>
          </p:nvSpPr>
          <p:spPr>
            <a:xfrm>
              <a:off x="10966723" y="6426518"/>
              <a:ext cx="622535" cy="264033"/>
            </a:xfrm>
            <a:prstGeom prst="rect">
              <a:avLst/>
            </a:prstGeom>
            <a:noFill/>
            <a:ln>
              <a:noFill/>
            </a:ln>
          </p:spPr>
          <p:txBody>
            <a:bodyPr wrap="none" lIns="0" tIns="0" rIns="0" bIns="0" anchor="t" anchorCtr="0">
              <a:spAutoFit/>
            </a:bodyPr>
            <a:lstStyle/>
            <a:p>
              <a:pPr algn="r"/>
              <a:r>
                <a:rPr lang="en-US" sz="1350" dirty="0">
                  <a:solidFill>
                    <a:srgbClr val="766E62"/>
                  </a:solidFill>
                  <a:latin typeface="+mn-lt"/>
                  <a:ea typeface="+mn-ea"/>
                  <a:cs typeface="+mn-cs"/>
                </a:rPr>
                <a:t>10 / 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quanova_interview_case_study">
  <a:themeElements>
    <a:clrScheme name="quanova_interview_case_study">
      <a:dk1>
        <a:srgbClr val="222222"/>
      </a:dk1>
      <a:lt1>
        <a:srgbClr val="FBF7EE"/>
      </a:lt1>
      <a:dk2>
        <a:srgbClr val="1F497D"/>
      </a:dk2>
      <a:lt2>
        <a:srgbClr val="EFE6D5"/>
      </a:lt2>
      <a:accent1>
        <a:srgbClr val="1C2D38"/>
      </a:accent1>
      <a:accent2>
        <a:srgbClr val="D84924"/>
      </a:accent2>
      <a:accent3>
        <a:srgbClr val="2D7A78"/>
      </a:accent3>
      <a:accent4>
        <a:srgbClr val="1C2D38"/>
      </a:accent4>
      <a:accent5>
        <a:srgbClr val="9B2D17"/>
      </a:accent5>
      <a:accent6>
        <a:srgbClr val="1B5756"/>
      </a:accent6>
      <a:hlink>
        <a:srgbClr val="D84924"/>
      </a:hlink>
      <a:folHlink>
        <a:srgbClr val="2D7A78"/>
      </a:folHlink>
    </a:clrScheme>
    <a:fontScheme name="quanova_interview_case_study">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anova_interview_case_stu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quanova_interview_case_study">
  <a:themeElements>
    <a:clrScheme name="quanova_interview_case_study">
      <a:dk1>
        <a:srgbClr val="222222"/>
      </a:dk1>
      <a:lt1>
        <a:srgbClr val="FBF7EE"/>
      </a:lt1>
      <a:dk2>
        <a:srgbClr val="1F497D"/>
      </a:dk2>
      <a:lt2>
        <a:srgbClr val="EFE6D5"/>
      </a:lt2>
      <a:accent1>
        <a:srgbClr val="1C2D38"/>
      </a:accent1>
      <a:accent2>
        <a:srgbClr val="D84924"/>
      </a:accent2>
      <a:accent3>
        <a:srgbClr val="2D7A78"/>
      </a:accent3>
      <a:accent4>
        <a:srgbClr val="1C2D38"/>
      </a:accent4>
      <a:accent5>
        <a:srgbClr val="9B2D17"/>
      </a:accent5>
      <a:accent6>
        <a:srgbClr val="1B5756"/>
      </a:accent6>
      <a:hlink>
        <a:srgbClr val="D84924"/>
      </a:hlink>
      <a:folHlink>
        <a:srgbClr val="2D7A78"/>
      </a:folHlink>
    </a:clrScheme>
    <a:fontScheme name="quanova_interview_case_study">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anova_interview_case_stu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Photonic Reservoir for Few-Label Industrial Defect Inspection</dc:title>
  <dc:subject>Quandela R&amp;D Quantum Optics Engineer Case-Study Interview</dc:subject>
  <dc:creator>Nguyen Ngo Nhat Nam</dc:creator>
  <cp:keywords>Quandela; Perceval; MerLin; photonic quantum machine learning; industrial defect inspection</cp:keywords>
  <dc:description/>
  <dc:language>en-US</dc:language>
  <cp:lastModifiedBy>Nguyen Ngo Nhat Nam</cp:lastModifiedBy>
  <cp:revision>1</cp:revision>
  <dcterms:created xsi:type="dcterms:W3CDTF">2026-09-12T11:07:57Z</dcterms:created>
  <dcterms:modified xsi:type="dcterms:W3CDTF">2026-09-12T11:07:57Z</dcterms:modified>
  <cp:category/>
  <cp:contentStatus/>
</cp:coreProperties>
</file>